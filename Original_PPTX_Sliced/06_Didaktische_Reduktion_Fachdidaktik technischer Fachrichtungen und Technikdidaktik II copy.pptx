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40" r:id="rId1"/>
    <p:sldMasterId id="2147483769" r:id="rId2"/>
  </p:sldMasterIdLst>
  <p:notesMasterIdLst>
    <p:notesMasterId r:id="rId71"/>
  </p:notesMasterIdLst>
  <p:handoutMasterIdLst>
    <p:handoutMasterId r:id="rId72"/>
  </p:handoutMasterIdLst>
  <p:sldIdLst>
    <p:sldId id="566" r:id="rId3"/>
    <p:sldId id="561" r:id="rId4"/>
    <p:sldId id="564" r:id="rId5"/>
    <p:sldId id="565" r:id="rId6"/>
    <p:sldId id="562" r:id="rId7"/>
    <p:sldId id="721" r:id="rId8"/>
    <p:sldId id="726" r:id="rId9"/>
    <p:sldId id="722" r:id="rId10"/>
    <p:sldId id="723" r:id="rId11"/>
    <p:sldId id="725" r:id="rId12"/>
    <p:sldId id="724" r:id="rId13"/>
    <p:sldId id="567" r:id="rId14"/>
    <p:sldId id="568" r:id="rId15"/>
    <p:sldId id="712" r:id="rId16"/>
    <p:sldId id="713" r:id="rId17"/>
    <p:sldId id="714" r:id="rId18"/>
    <p:sldId id="715" r:id="rId19"/>
    <p:sldId id="716" r:id="rId20"/>
    <p:sldId id="571" r:id="rId21"/>
    <p:sldId id="569" r:id="rId22"/>
    <p:sldId id="570" r:id="rId23"/>
    <p:sldId id="572" r:id="rId24"/>
    <p:sldId id="573" r:id="rId25"/>
    <p:sldId id="576" r:id="rId26"/>
    <p:sldId id="577" r:id="rId27"/>
    <p:sldId id="574" r:id="rId28"/>
    <p:sldId id="578" r:id="rId29"/>
    <p:sldId id="579" r:id="rId30"/>
    <p:sldId id="580" r:id="rId31"/>
    <p:sldId id="575" r:id="rId32"/>
    <p:sldId id="582" r:id="rId33"/>
    <p:sldId id="581" r:id="rId34"/>
    <p:sldId id="586" r:id="rId35"/>
    <p:sldId id="585" r:id="rId36"/>
    <p:sldId id="583" r:id="rId37"/>
    <p:sldId id="584" r:id="rId38"/>
    <p:sldId id="587" r:id="rId39"/>
    <p:sldId id="589" r:id="rId40"/>
    <p:sldId id="588" r:id="rId41"/>
    <p:sldId id="591" r:id="rId42"/>
    <p:sldId id="590" r:id="rId43"/>
    <p:sldId id="595" r:id="rId44"/>
    <p:sldId id="592" r:id="rId45"/>
    <p:sldId id="593" r:id="rId46"/>
    <p:sldId id="596" r:id="rId47"/>
    <p:sldId id="594" r:id="rId48"/>
    <p:sldId id="597" r:id="rId49"/>
    <p:sldId id="598" r:id="rId50"/>
    <p:sldId id="599" r:id="rId51"/>
    <p:sldId id="601" r:id="rId52"/>
    <p:sldId id="602" r:id="rId53"/>
    <p:sldId id="600" r:id="rId54"/>
    <p:sldId id="603" r:id="rId55"/>
    <p:sldId id="604" r:id="rId56"/>
    <p:sldId id="605" r:id="rId57"/>
    <p:sldId id="608" r:id="rId58"/>
    <p:sldId id="609" r:id="rId59"/>
    <p:sldId id="606" r:id="rId60"/>
    <p:sldId id="610" r:id="rId61"/>
    <p:sldId id="611" r:id="rId62"/>
    <p:sldId id="612" r:id="rId63"/>
    <p:sldId id="613" r:id="rId64"/>
    <p:sldId id="614" r:id="rId65"/>
    <p:sldId id="615" r:id="rId66"/>
    <p:sldId id="607" r:id="rId67"/>
    <p:sldId id="616" r:id="rId68"/>
    <p:sldId id="617" r:id="rId69"/>
    <p:sldId id="618" r:id="rId70"/>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5.xml"/><Relationship Id="rId1" Type="http://schemas.openxmlformats.org/officeDocument/2006/relationships/slide" Target="slides/slide14.xml"/><Relationship Id="rId5" Type="http://schemas.openxmlformats.org/officeDocument/2006/relationships/slide" Target="slides/slide18.xml"/><Relationship Id="rId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12F08462-A6CB-4CDF-B233-8E4BB04E3C16}" type="slidenum">
              <a:rPr lang="de-DE" smtClean="0"/>
              <a:pPr>
                <a:defRPr/>
              </a:pPr>
              <a:t>12</a:t>
            </a:fld>
            <a:endParaRPr lang="de-DE"/>
          </a:p>
        </p:txBody>
      </p:sp>
    </p:spTree>
    <p:extLst>
      <p:ext uri="{BB962C8B-B14F-4D97-AF65-F5344CB8AC3E}">
        <p14:creationId xmlns:p14="http://schemas.microsoft.com/office/powerpoint/2010/main" val="2605930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kumimoji="1" lang="de-DE" sz="1000" b="1" kern="1200" dirty="0">
                <a:solidFill>
                  <a:schemeClr val="tx1"/>
                </a:solidFill>
                <a:latin typeface="Tahoma" pitchFamily="34" charset="0"/>
                <a:ea typeface="+mn-ea"/>
                <a:cs typeface="+mn-cs"/>
              </a:rPr>
              <a:t>6 Moleküle Wasser und 6 Moleküle Kohlenstoffdioxid ergeben </a:t>
            </a:r>
            <a:br>
              <a:rPr kumimoji="1" lang="de-DE" sz="1000" b="1" kern="1200" dirty="0">
                <a:solidFill>
                  <a:schemeClr val="tx1"/>
                </a:solidFill>
                <a:latin typeface="Tahoma" pitchFamily="34" charset="0"/>
                <a:ea typeface="+mn-ea"/>
                <a:cs typeface="+mn-cs"/>
              </a:rPr>
            </a:br>
            <a:r>
              <a:rPr kumimoji="1" lang="de-DE" sz="1000" b="1" kern="1200" dirty="0">
                <a:solidFill>
                  <a:schemeClr val="tx1"/>
                </a:solidFill>
                <a:latin typeface="Tahoma" pitchFamily="34" charset="0"/>
                <a:ea typeface="+mn-ea"/>
                <a:cs typeface="+mn-cs"/>
              </a:rPr>
              <a:t>unter Einwirkung von Sonnenlicht </a:t>
            </a:r>
            <a:br>
              <a:rPr kumimoji="1" lang="de-DE" sz="1000" b="1" kern="1200" dirty="0">
                <a:solidFill>
                  <a:schemeClr val="tx1"/>
                </a:solidFill>
                <a:latin typeface="Tahoma" pitchFamily="34" charset="0"/>
                <a:ea typeface="+mn-ea"/>
                <a:cs typeface="+mn-cs"/>
              </a:rPr>
            </a:br>
            <a:r>
              <a:rPr kumimoji="1" lang="de-DE" sz="1000" b="1" kern="1200" dirty="0">
                <a:solidFill>
                  <a:schemeClr val="tx1"/>
                </a:solidFill>
                <a:latin typeface="Tahoma" pitchFamily="34" charset="0"/>
                <a:ea typeface="+mn-ea"/>
                <a:cs typeface="+mn-cs"/>
              </a:rPr>
              <a:t>1 Molekül Glucose und 6 Moleküle Sauerstoff.</a:t>
            </a:r>
          </a:p>
          <a:p>
            <a:endParaRPr kumimoji="1" lang="de-DE" sz="1000" b="1" kern="1200" dirty="0">
              <a:solidFill>
                <a:schemeClr val="tx1"/>
              </a:solidFill>
              <a:latin typeface="Tahoma" pitchFamily="34" charset="0"/>
              <a:ea typeface="+mn-ea"/>
              <a:cs typeface="+mn-cs"/>
            </a:endParaRPr>
          </a:p>
          <a:p>
            <a:r>
              <a:rPr lang="de-DE" dirty="0"/>
              <a:t>Mithilfe von Experimenten konnte schließlich nachgewiesen werden, dass der Sauerstoff der Glucose aus dem Kohlenstoffdioxid stammt (und entsprechend der freigesetzte Sauerstoff aus dem Wasser stammt).</a:t>
            </a:r>
          </a:p>
        </p:txBody>
      </p:sp>
      <p:sp>
        <p:nvSpPr>
          <p:cNvPr id="4" name="Foliennummernplatzhalter 3"/>
          <p:cNvSpPr>
            <a:spLocks noGrp="1"/>
          </p:cNvSpPr>
          <p:nvPr>
            <p:ph type="sldNum" sz="quarter" idx="10"/>
          </p:nvPr>
        </p:nvSpPr>
        <p:spPr/>
        <p:txBody>
          <a:bodyPr/>
          <a:lstStyle/>
          <a:p>
            <a:pPr>
              <a:defRPr/>
            </a:pPr>
            <a:fld id="{12F08462-A6CB-4CDF-B233-8E4BB04E3C16}" type="slidenum">
              <a:rPr lang="de-DE" smtClean="0"/>
              <a:pPr>
                <a:defRPr/>
              </a:pPr>
              <a:t>15</a:t>
            </a:fld>
            <a:endParaRPr lang="de-DE"/>
          </a:p>
        </p:txBody>
      </p:sp>
    </p:spTree>
    <p:extLst>
      <p:ext uri="{BB962C8B-B14F-4D97-AF65-F5344CB8AC3E}">
        <p14:creationId xmlns:p14="http://schemas.microsoft.com/office/powerpoint/2010/main" val="299163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pPr>
              <a:defRPr/>
            </a:pPr>
            <a:fld id="{12F08462-A6CB-4CDF-B233-8E4BB04E3C16}" type="slidenum">
              <a:rPr lang="de-DE" smtClean="0"/>
              <a:pPr>
                <a:defRPr/>
              </a:pPr>
              <a:t>24</a:t>
            </a:fld>
            <a:endParaRPr lang="de-DE"/>
          </a:p>
        </p:txBody>
      </p:sp>
    </p:spTree>
    <p:extLst>
      <p:ext uri="{BB962C8B-B14F-4D97-AF65-F5344CB8AC3E}">
        <p14:creationId xmlns:p14="http://schemas.microsoft.com/office/powerpoint/2010/main" val="1027792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Ref idx="1001">
        <a:schemeClr val="bg1"/>
      </p:bgRef>
    </p:bg>
    <p:spTree>
      <p:nvGrpSpPr>
        <p:cNvPr id="1" name=""/>
        <p:cNvGrpSpPr/>
        <p:nvPr/>
      </p:nvGrpSpPr>
      <p:grpSpPr>
        <a:xfrm>
          <a:off x="0" y="0"/>
          <a:ext cx="0" cy="0"/>
          <a:chOff x="0" y="0"/>
          <a:chExt cx="0" cy="0"/>
        </a:xfrm>
      </p:grpSpPr>
      <p:sp>
        <p:nvSpPr>
          <p:cNvPr id="8" name="Titel 7"/>
          <p:cNvSpPr>
            <a:spLocks noGrp="1"/>
          </p:cNvSpPr>
          <p:nvPr>
            <p:ph type="ctrTitle"/>
          </p:nvPr>
        </p:nvSpPr>
        <p:spPr>
          <a:xfrm>
            <a:off x="2286000" y="3124200"/>
            <a:ext cx="6172200" cy="1894362"/>
          </a:xfrm>
        </p:spPr>
        <p:txBody>
          <a:bodyPr/>
          <a:lstStyle>
            <a:lvl1pPr>
              <a:defRPr b="1"/>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10" name="Rechteck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hteck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hteck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Gerade Verbindung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Gerade Verbindung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Gerade Verbindung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hteck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Foliennummernplatzhalter 28"/>
          <p:cNvSpPr>
            <a:spLocks noGrp="1"/>
          </p:cNvSpPr>
          <p:nvPr>
            <p:ph type="sldNum" sz="quarter" idx="12"/>
          </p:nvPr>
        </p:nvSpPr>
        <p:spPr bwMode="auto">
          <a:xfrm>
            <a:off x="1325544" y="4928702"/>
            <a:ext cx="609600" cy="517524"/>
          </a:xfrm>
        </p:spPr>
        <p:txBody>
          <a:bodyPr/>
          <a:lstStyle/>
          <a:p>
            <a:pPr>
              <a:defRPr/>
            </a:pPr>
            <a:fld id="{EE7F088D-B82F-4692-9881-D4F6EC89926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kumimoji="0" lang="de-DE"/>
              <a:t>Titelmasterformat durch Klicken bearbeiten</a:t>
            </a:r>
            <a:endParaRPr kumimoji="0"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p:txBody>
      </p:sp>
      <p:sp>
        <p:nvSpPr>
          <p:cNvPr id="9" name="Foliennummernplatzhalter 8"/>
          <p:cNvSpPr>
            <a:spLocks noGrp="1"/>
          </p:cNvSpPr>
          <p:nvPr>
            <p:ph type="sldNum" sz="quarter" idx="15"/>
          </p:nvPr>
        </p:nvSpPr>
        <p:spPr/>
        <p:txBody>
          <a:bodyPr rtlCol="0"/>
          <a:lstStyle/>
          <a:p>
            <a:fld id="{33548601-C4B6-4D19-A7D5-04150560F062}"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9" name="Rechteck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hteck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hteck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Gerade Verbindung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Gerade Verbindung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hteck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Gerade Verbindung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Foliennummernplatzhalter 5"/>
          <p:cNvSpPr>
            <a:spLocks noGrp="1"/>
          </p:cNvSpPr>
          <p:nvPr>
            <p:ph type="sldNum" sz="quarter" idx="12"/>
          </p:nvPr>
        </p:nvSpPr>
        <p:spPr bwMode="auto">
          <a:xfrm>
            <a:off x="1340616" y="4928702"/>
            <a:ext cx="609600" cy="517524"/>
          </a:xfrm>
        </p:spPr>
        <p:txBody>
          <a:bodyPr/>
          <a:lstStyle/>
          <a:p>
            <a:fld id="{33548601-C4B6-4D19-A7D5-04150560F062}" type="slidenum">
              <a:rPr lang="de-DE" smtClean="0"/>
              <a:pPr/>
              <a:t>‹#›</a:t>
            </a:fld>
            <a:endParaRPr lang="de-D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7" name="Foliennummernplatzhalter 6"/>
          <p:cNvSpPr>
            <a:spLocks noGrp="1"/>
          </p:cNvSpPr>
          <p:nvPr>
            <p:ph type="sldNum" sz="quarter" idx="12"/>
          </p:nvPr>
        </p:nvSpPr>
        <p:spPr/>
        <p:txBody>
          <a:bodyPr/>
          <a:lstStyle/>
          <a:p>
            <a:fld id="{33548601-C4B6-4D19-A7D5-04150560F062}" type="slidenum">
              <a:rPr lang="de-DE" smtClean="0"/>
              <a:pPr/>
              <a:t>‹#›</a:t>
            </a:fld>
            <a:endParaRPr lang="de-DE"/>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8"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9" name="Foliennummernplatzhalter 8"/>
          <p:cNvSpPr>
            <a:spLocks noGrp="1"/>
          </p:cNvSpPr>
          <p:nvPr>
            <p:ph type="sldNum" sz="quarter" idx="12"/>
          </p:nvPr>
        </p:nvSpPr>
        <p:spPr/>
        <p:txBody>
          <a:bodyPr/>
          <a:lstStyle/>
          <a:p>
            <a:fld id="{33548601-C4B6-4D19-A7D5-04150560F062}" type="slidenum">
              <a:rPr lang="de-DE" smtClean="0"/>
              <a:pPr/>
              <a:t>‹#›</a:t>
            </a:fld>
            <a:endParaRPr lang="de-DE"/>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0"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7" name="Foliennummernplatzhalter 6"/>
          <p:cNvSpPr>
            <a:spLocks noGrp="1"/>
          </p:cNvSpPr>
          <p:nvPr>
            <p:ph type="sldNum" sz="quarter" idx="11"/>
          </p:nvPr>
        </p:nvSpPr>
        <p:spPr/>
        <p:txBody>
          <a:bodyPr rtlCol="0"/>
          <a:lstStyle/>
          <a:p>
            <a:fld id="{33548601-C4B6-4D19-A7D5-04150560F062}" type="slidenum">
              <a:rPr lang="de-DE" smtClean="0"/>
              <a:pPr/>
              <a:t>‹#›</a:t>
            </a:fld>
            <a:endParaRPr lang="de-DE"/>
          </a:p>
        </p:txBody>
      </p:sp>
      <p:sp>
        <p:nvSpPr>
          <p:cNvPr id="9"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bg>
      <p:bgRef idx="1001">
        <a:schemeClr val="bg1"/>
      </p:bgRef>
    </p:bg>
    <p:spTree>
      <p:nvGrpSpPr>
        <p:cNvPr id="1" name=""/>
        <p:cNvGrpSpPr/>
        <p:nvPr/>
      </p:nvGrpSpPr>
      <p:grpSpPr>
        <a:xfrm>
          <a:off x="0" y="0"/>
          <a:ext cx="0" cy="0"/>
          <a:chOff x="0" y="0"/>
          <a:chExt cx="0" cy="0"/>
        </a:xfrm>
      </p:grpSpPr>
      <p:sp>
        <p:nvSpPr>
          <p:cNvPr id="10" name="Gerade Verbindung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el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8" name="Gerade Verbindung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erade Verbindung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Gerade Verbindung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hteck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nhaltsplatzhalter 17"/>
          <p:cNvSpPr>
            <a:spLocks noGrp="1"/>
          </p:cNvSpPr>
          <p:nvPr>
            <p:ph sz="quarter" idx="1"/>
          </p:nvPr>
        </p:nvSpPr>
        <p:spPr>
          <a:xfrm>
            <a:off x="304800" y="274320"/>
            <a:ext cx="5638800" cy="6327648"/>
          </a:xfrm>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1" name="Datumsplatzhalter 20"/>
          <p:cNvSpPr>
            <a:spLocks noGrp="1"/>
          </p:cNvSpPr>
          <p:nvPr>
            <p:ph type="dt" sz="half" idx="14"/>
          </p:nvPr>
        </p:nvSpPr>
        <p:spPr/>
        <p:txBody>
          <a:bodyPr rtlCol="0"/>
          <a:lstStyle/>
          <a:p>
            <a:endParaRPr lang="de-DE"/>
          </a:p>
        </p:txBody>
      </p:sp>
      <p:sp>
        <p:nvSpPr>
          <p:cNvPr id="22" name="Foliennummernplatzhalter 21"/>
          <p:cNvSpPr>
            <a:spLocks noGrp="1"/>
          </p:cNvSpPr>
          <p:nvPr>
            <p:ph type="sldNum" sz="quarter" idx="15"/>
          </p:nvPr>
        </p:nvSpPr>
        <p:spPr/>
        <p:txBody>
          <a:bodyPr rtlCol="0"/>
          <a:lstStyle/>
          <a:p>
            <a:fld id="{33548601-C4B6-4D19-A7D5-04150560F062}" type="slidenum">
              <a:rPr lang="de-DE" smtClean="0"/>
              <a:pPr/>
              <a:t>‹#›</a:t>
            </a:fld>
            <a:endParaRPr lang="de-DE"/>
          </a:p>
        </p:txBody>
      </p:sp>
      <p:sp>
        <p:nvSpPr>
          <p:cNvPr id="23" name="Fußzeilenplatzhalter 22"/>
          <p:cNvSpPr>
            <a:spLocks noGrp="1"/>
          </p:cNvSpPr>
          <p:nvPr>
            <p:ph type="ftr" sz="quarter" idx="16"/>
          </p:nvPr>
        </p:nvSpPr>
        <p:spPr/>
        <p:txBody>
          <a:bodyPr rtlCol="0"/>
          <a:lstStyle/>
          <a:p>
            <a:endParaRPr lang="de-D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9" name="Gerade Verbindung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el 1"/>
          <p:cNvSpPr>
            <a:spLocks noGrp="1"/>
          </p:cNvSpPr>
          <p:nvPr>
            <p:ph type="title"/>
          </p:nvPr>
        </p:nvSpPr>
        <p:spPr>
          <a:xfrm rot="5400000">
            <a:off x="3350133" y="3200400"/>
            <a:ext cx="6309360" cy="457200"/>
          </a:xfrm>
        </p:spPr>
        <p:txBody>
          <a:bodyPr anchor="b"/>
          <a:lstStyle>
            <a:lvl1pPr algn="l">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de-DE"/>
              <a:t>Bild durch Klicken auf Symbol hinzufügen</a:t>
            </a:r>
            <a:endParaRPr kumimoji="0" lang="en-US"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de-DE"/>
              <a:t>Textmasterformat bearbeiten</a:t>
            </a:r>
          </a:p>
        </p:txBody>
      </p:sp>
      <p:sp>
        <p:nvSpPr>
          <p:cNvPr id="10" name="Gerade Verbindung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hteck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Gerade Verbindung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Gerade Verbindung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Gerade Verbindung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umsplatzhalter 16"/>
          <p:cNvSpPr>
            <a:spLocks noGrp="1"/>
          </p:cNvSpPr>
          <p:nvPr>
            <p:ph type="dt" sz="half" idx="10"/>
          </p:nvPr>
        </p:nvSpPr>
        <p:spPr/>
        <p:txBody>
          <a:bodyPr rtlCol="0"/>
          <a:lstStyle/>
          <a:p>
            <a:endParaRPr lang="de-DE"/>
          </a:p>
        </p:txBody>
      </p:sp>
      <p:sp>
        <p:nvSpPr>
          <p:cNvPr id="18" name="Foliennummernplatzhalter 17"/>
          <p:cNvSpPr>
            <a:spLocks noGrp="1"/>
          </p:cNvSpPr>
          <p:nvPr>
            <p:ph type="sldNum" sz="quarter" idx="11"/>
          </p:nvPr>
        </p:nvSpPr>
        <p:spPr/>
        <p:txBody>
          <a:bodyPr rtlCol="0"/>
          <a:lstStyle/>
          <a:p>
            <a:fld id="{33548601-C4B6-4D19-A7D5-04150560F062}" type="slidenum">
              <a:rPr lang="de-DE" smtClean="0"/>
              <a:pPr/>
              <a:t>‹#›</a:t>
            </a:fld>
            <a:endParaRPr lang="de-DE"/>
          </a:p>
        </p:txBody>
      </p:sp>
      <p:sp>
        <p:nvSpPr>
          <p:cNvPr id="21" name="Fußzeilenplatzhalter 20"/>
          <p:cNvSpPr>
            <a:spLocks noGrp="1"/>
          </p:cNvSpPr>
          <p:nvPr>
            <p:ph type="ftr" sz="quarter" idx="12"/>
          </p:nvPr>
        </p:nvSpPr>
        <p:spPr/>
        <p:txBody>
          <a:bodyPr rtlCol="0"/>
          <a:lstStyle/>
          <a:p>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3405188A-E5F9-4DDE-97AF-A8E018C865B2}" type="slidenum">
              <a:rPr lang="de-DE"/>
              <a:pPr>
                <a:defRPr/>
              </a:pPr>
              <a:t>‹#›</a:t>
            </a:fld>
            <a:endParaRPr lang="de-DE"/>
          </a:p>
        </p:txBody>
      </p:sp>
    </p:spTree>
    <p:extLst>
      <p:ext uri="{BB962C8B-B14F-4D97-AF65-F5344CB8AC3E}">
        <p14:creationId xmlns:p14="http://schemas.microsoft.com/office/powerpoint/2010/main" val="4743862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7188" y="6357938"/>
            <a:ext cx="12858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E1EAD199-F4D6-4932-A8DD-6DE4CF271C2F}" type="slidenum">
              <a:rPr lang="de-DE"/>
              <a:pPr>
                <a:defRPr/>
              </a:pPr>
              <a:t>‹#›</a:t>
            </a:fld>
            <a:endParaRPr lang="de-DE"/>
          </a:p>
        </p:txBody>
      </p:sp>
    </p:spTree>
    <p:extLst>
      <p:ext uri="{BB962C8B-B14F-4D97-AF65-F5344CB8AC3E}">
        <p14:creationId xmlns:p14="http://schemas.microsoft.com/office/powerpoint/2010/main" val="217865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7DD58880-2E45-41BD-BF49-423CAB338498}" type="slidenum">
              <a:rPr lang="de-DE"/>
              <a:pPr>
                <a:defRPr/>
              </a:pPr>
              <a:t>‹#›</a:t>
            </a:fld>
            <a:endParaRPr lang="de-DE"/>
          </a:p>
        </p:txBody>
      </p:sp>
    </p:spTree>
    <p:extLst>
      <p:ext uri="{BB962C8B-B14F-4D97-AF65-F5344CB8AC3E}">
        <p14:creationId xmlns:p14="http://schemas.microsoft.com/office/powerpoint/2010/main" val="58935702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12E88B20-3529-4E09-9D3C-82DF28CF38A6}" type="slidenum">
              <a:rPr lang="de-DE"/>
              <a:pPr>
                <a:defRPr/>
              </a:pPr>
              <a:t>‹#›</a:t>
            </a:fld>
            <a:endParaRPr lang="de-DE"/>
          </a:p>
        </p:txBody>
      </p:sp>
    </p:spTree>
    <p:extLst>
      <p:ext uri="{BB962C8B-B14F-4D97-AF65-F5344CB8AC3E}">
        <p14:creationId xmlns:p14="http://schemas.microsoft.com/office/powerpoint/2010/main" val="35958530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7D70C7BB-B7CE-42A6-B7A0-A8D35543B10C}" type="slidenum">
              <a:rPr lang="de-DE"/>
              <a:pPr>
                <a:defRPr/>
              </a:pPr>
              <a:t>‹#›</a:t>
            </a:fld>
            <a:endParaRPr lang="de-DE"/>
          </a:p>
        </p:txBody>
      </p:sp>
    </p:spTree>
    <p:extLst>
      <p:ext uri="{BB962C8B-B14F-4D97-AF65-F5344CB8AC3E}">
        <p14:creationId xmlns:p14="http://schemas.microsoft.com/office/powerpoint/2010/main" val="124468704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DFF4C0D2-F585-4BDA-BCF6-7CFA29A26E52}" type="slidenum">
              <a:rPr lang="de-DE"/>
              <a:pPr>
                <a:defRPr/>
              </a:pPr>
              <a:t>‹#›</a:t>
            </a:fld>
            <a:endParaRPr lang="de-DE"/>
          </a:p>
        </p:txBody>
      </p:sp>
    </p:spTree>
    <p:extLst>
      <p:ext uri="{BB962C8B-B14F-4D97-AF65-F5344CB8AC3E}">
        <p14:creationId xmlns:p14="http://schemas.microsoft.com/office/powerpoint/2010/main" val="164122118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fld id="{AD7994A4-3EA6-416D-B5B8-AF58ACC8DB5A}" type="datetimeFigureOut">
              <a:rPr lang="en-US">
                <a:solidFill>
                  <a:srgbClr val="464653"/>
                </a:solidFill>
              </a:rPr>
              <a:pPr>
                <a:defRPr/>
              </a:pPr>
              <a:t>9/22/26</a:t>
            </a:fld>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D1D48CC8-DC1B-4C80-A29C-E62550CAAEF4}" type="slidenum">
              <a:rPr lang="de-DE"/>
              <a:pPr>
                <a:defRPr/>
              </a:pPr>
              <a:t>‹#›</a:t>
            </a:fld>
            <a:endParaRPr lang="de-DE"/>
          </a:p>
        </p:txBody>
      </p:sp>
    </p:spTree>
    <p:extLst>
      <p:ext uri="{BB962C8B-B14F-4D97-AF65-F5344CB8AC3E}">
        <p14:creationId xmlns:p14="http://schemas.microsoft.com/office/powerpoint/2010/main" val="3459523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fld id="{E5EA74D1-F734-4E0A-8BBE-2788A29B17AE}" type="datetimeFigureOut">
              <a:rPr lang="en-US">
                <a:solidFill>
                  <a:srgbClr val="464653"/>
                </a:solidFill>
              </a:rPr>
              <a:pPr>
                <a:defRPr/>
              </a:pPr>
              <a:t>9/22/26</a:t>
            </a:fld>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4F929730-C6EE-4C27-B33F-F8E5500E7589}"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2756507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fld id="{24C394BD-AA8D-45B7-AB86-B8526A170CAC}" type="datetimeFigureOut">
              <a:rPr lang="en-US">
                <a:solidFill>
                  <a:srgbClr val="464653"/>
                </a:solidFill>
              </a:rPr>
              <a:pPr>
                <a:defRPr/>
              </a:pPr>
              <a:t>9/22/26</a:t>
            </a:fld>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DDCEF3E8-631B-4F9C-88CD-8913E55F5CA1}"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516128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E2C5196A-941C-4F4D-A55B-4D4E367443C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A41119E4-F49F-44AE-A94F-4121505D914E}" type="slidenum">
              <a:rPr lang="de-DE"/>
              <a:pPr>
                <a:defRPr/>
              </a:pPr>
              <a:t>‹#›</a:t>
            </a:fld>
            <a:endParaRPr lang="de-DE"/>
          </a:p>
        </p:txBody>
      </p:sp>
    </p:spTree>
    <p:extLst>
      <p:ext uri="{BB962C8B-B14F-4D97-AF65-F5344CB8AC3E}">
        <p14:creationId xmlns:p14="http://schemas.microsoft.com/office/powerpoint/2010/main" val="89823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63D5E341-8269-4939-972C-AD0B4D5A288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C3662087-E383-4CE7-86C5-E5AA1DD8434C}" type="slidenum">
              <a:rPr lang="de-DE"/>
              <a:pPr>
                <a:defRPr/>
              </a:pPr>
              <a:t>‹#›</a:t>
            </a:fld>
            <a:endParaRPr lang="de-DE"/>
          </a:p>
        </p:txBody>
      </p:sp>
    </p:spTree>
    <p:extLst>
      <p:ext uri="{BB962C8B-B14F-4D97-AF65-F5344CB8AC3E}">
        <p14:creationId xmlns:p14="http://schemas.microsoft.com/office/powerpoint/2010/main" val="3728540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98453007-BE9A-4008-B474-0CCEDEE2D831}" type="slidenum">
              <a:rPr lang="de-DE"/>
              <a:pPr>
                <a:defRPr/>
              </a:pPr>
              <a:t>‹#›</a:t>
            </a:fld>
            <a:endParaRPr lang="de-DE"/>
          </a:p>
        </p:txBody>
      </p:sp>
    </p:spTree>
    <p:extLst>
      <p:ext uri="{BB962C8B-B14F-4D97-AF65-F5344CB8AC3E}">
        <p14:creationId xmlns:p14="http://schemas.microsoft.com/office/powerpoint/2010/main" val="896194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98B8E929-94FB-45CD-9D45-4984F34B9E01}" type="slidenum">
              <a:rPr lang="de-DE"/>
              <a:pPr>
                <a:defRPr/>
              </a:pPr>
              <a:t>‹#›</a:t>
            </a:fld>
            <a:endParaRPr lang="de-DE"/>
          </a:p>
        </p:txBody>
      </p:sp>
    </p:spTree>
    <p:extLst>
      <p:ext uri="{BB962C8B-B14F-4D97-AF65-F5344CB8AC3E}">
        <p14:creationId xmlns:p14="http://schemas.microsoft.com/office/powerpoint/2010/main" val="2933341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143C6CFB-1D54-4A46-9DAB-95E7EEAEB634}" type="slidenum">
              <a:rPr lang="de-DE"/>
              <a:pPr>
                <a:defRPr/>
              </a:pPr>
              <a:t>‹#›</a:t>
            </a:fld>
            <a:endParaRPr lang="de-DE"/>
          </a:p>
        </p:txBody>
      </p:sp>
    </p:spTree>
    <p:extLst>
      <p:ext uri="{BB962C8B-B14F-4D97-AF65-F5344CB8AC3E}">
        <p14:creationId xmlns:p14="http://schemas.microsoft.com/office/powerpoint/2010/main" val="3454945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A4203A62-1233-4A4C-955D-FABE4F9B2291}" type="slidenum">
              <a:rPr lang="de-DE"/>
              <a:pPr>
                <a:defRPr/>
              </a:pPr>
              <a:t>‹#›</a:t>
            </a:fld>
            <a:endParaRPr lang="de-DE"/>
          </a:p>
        </p:txBody>
      </p:sp>
    </p:spTree>
    <p:extLst>
      <p:ext uri="{BB962C8B-B14F-4D97-AF65-F5344CB8AC3E}">
        <p14:creationId xmlns:p14="http://schemas.microsoft.com/office/powerpoint/2010/main" val="31073435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9A05D395-2999-46F7-93A2-67091598DEB8}" type="slidenum">
              <a:rPr lang="de-DE"/>
              <a:pPr>
                <a:defRPr/>
              </a:pPr>
              <a:t>‹#›</a:t>
            </a:fld>
            <a:endParaRPr lang="de-DE"/>
          </a:p>
        </p:txBody>
      </p:sp>
    </p:spTree>
    <p:extLst>
      <p:ext uri="{BB962C8B-B14F-4D97-AF65-F5344CB8AC3E}">
        <p14:creationId xmlns:p14="http://schemas.microsoft.com/office/powerpoint/2010/main" val="1070793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kumimoji="0" lang="de-DE" dirty="0"/>
              <a:t>Titelmasterformat durch Klicken bearbeiten</a:t>
            </a:r>
            <a:endParaRPr kumimoji="0" lang="en-US" dirty="0"/>
          </a:p>
        </p:txBody>
      </p:sp>
      <p:sp>
        <p:nvSpPr>
          <p:cNvPr id="13" name="Textplatzhalt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de-DE"/>
              <a:t>Textmasterformate durch Klicken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lgn="r" eaLnBrk="1" latinLnBrk="0" hangingPunct="1"/>
            <a:endParaRPr lang="en-US" sz="1200">
              <a:solidFill>
                <a:schemeClr val="bg2">
                  <a:shade val="50000"/>
                </a:schemeClr>
              </a:solidFill>
            </a:endParaRPr>
          </a:p>
        </p:txBody>
      </p:sp>
      <p:sp>
        <p:nvSpPr>
          <p:cNvPr id="3" name="Fußzeilenplatzhalt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kumimoji="0" lang="en-US" sz="1200">
              <a:solidFill>
                <a:schemeClr val="bg2">
                  <a:shade val="50000"/>
                </a:schemeClr>
              </a:solidFill>
              <a:effectLst/>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Gerade Verbindung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Foliennummernplatzhalt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3548601-C4B6-4D19-A7D5-04150560F062}" type="slidenum">
              <a:rPr lang="de-DE" smtClean="0"/>
              <a:pPr/>
              <a:t>‹#›</a:t>
            </a:fld>
            <a:endParaRPr lang="de-DE"/>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fld id="{D4186DAE-0811-49CA-B507-F48A2B2A4134}" type="datetimeFigureOut">
              <a:rPr lang="en-US" b="0">
                <a:solidFill>
                  <a:srgbClr val="464653"/>
                </a:solidFill>
              </a:rPr>
              <a:pPr>
                <a:defRPr/>
              </a:pPr>
              <a:t>9/22/26</a:t>
            </a:fld>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pPr>
              <a:defRPr/>
            </a:pPr>
            <a:fld id="{2C1B35C4-6AEB-490B-B369-3E9B8FA4D091}" type="slidenum">
              <a:rPr lang="de-DE"/>
              <a:pPr>
                <a:defRPr/>
              </a:pPr>
              <a:t>‹#›</a:t>
            </a:fld>
            <a:endParaRPr lang="de-DE"/>
          </a:p>
        </p:txBody>
      </p:sp>
    </p:spTree>
    <p:extLst>
      <p:ext uri="{BB962C8B-B14F-4D97-AF65-F5344CB8AC3E}">
        <p14:creationId xmlns:p14="http://schemas.microsoft.com/office/powerpoint/2010/main" val="210769548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a:defRPr>
      </a:lvl2pPr>
      <a:lvl3pPr algn="l" rtl="0" eaLnBrk="0" fontAlgn="base" hangingPunct="0">
        <a:spcBef>
          <a:spcPct val="0"/>
        </a:spcBef>
        <a:spcAft>
          <a:spcPct val="0"/>
        </a:spcAft>
        <a:defRPr sz="3000">
          <a:solidFill>
            <a:schemeClr val="tx2"/>
          </a:solidFill>
          <a:latin typeface="Century Schoolbook"/>
        </a:defRPr>
      </a:lvl3pPr>
      <a:lvl4pPr algn="l" rtl="0" eaLnBrk="0" fontAlgn="base" hangingPunct="0">
        <a:spcBef>
          <a:spcPct val="0"/>
        </a:spcBef>
        <a:spcAft>
          <a:spcPct val="0"/>
        </a:spcAft>
        <a:defRPr sz="3000">
          <a:solidFill>
            <a:schemeClr val="tx2"/>
          </a:solidFill>
          <a:latin typeface="Century Schoolbook"/>
        </a:defRPr>
      </a:lvl4pPr>
      <a:lvl5pPr algn="l" rtl="0" eaLnBrk="0" fontAlgn="base" hangingPunct="0">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9.png"/><Relationship Id="rId5" Type="http://schemas.openxmlformats.org/officeDocument/2006/relationships/image" Target="../media/image28.png"/><Relationship Id="rId10" Type="http://schemas.openxmlformats.org/officeDocument/2006/relationships/image" Target="../media/image8.png"/><Relationship Id="rId4" Type="http://schemas.openxmlformats.org/officeDocument/2006/relationships/image" Target="../media/image27.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a:t>
            </a:fld>
            <a:endParaRPr lang="de-DE">
              <a:solidFill>
                <a:srgbClr val="FFFFFF"/>
              </a:solidFill>
            </a:endParaRPr>
          </a:p>
        </p:txBody>
      </p:sp>
      <p:sp>
        <p:nvSpPr>
          <p:cNvPr id="16387" name="Textfeld 2"/>
          <p:cNvSpPr txBox="1">
            <a:spLocks noChangeArrowheads="1"/>
          </p:cNvSpPr>
          <p:nvPr/>
        </p:nvSpPr>
        <p:spPr bwMode="auto">
          <a:xfrm>
            <a:off x="755650" y="2852738"/>
            <a:ext cx="74882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Didaktische Reduktion           nach GRÜNER</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6</a:t>
            </a:r>
          </a:p>
        </p:txBody>
      </p:sp>
    </p:spTree>
    <p:extLst>
      <p:ext uri="{BB962C8B-B14F-4D97-AF65-F5344CB8AC3E}">
        <p14:creationId xmlns:p14="http://schemas.microsoft.com/office/powerpoint/2010/main" val="3457967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6.1 Definition Didaktische Reduktion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a:t>
            </a:fld>
            <a:endParaRPr lang="de-DE"/>
          </a:p>
        </p:txBody>
      </p:sp>
      <p:sp>
        <p:nvSpPr>
          <p:cNvPr id="5" name="Rectangle 3"/>
          <p:cNvSpPr txBox="1">
            <a:spLocks noChangeArrowheads="1"/>
          </p:cNvSpPr>
          <p:nvPr/>
        </p:nvSpPr>
        <p:spPr>
          <a:xfrm>
            <a:off x="404241" y="1700808"/>
            <a:ext cx="8704263"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de-DE" b="0" dirty="0"/>
              <a:t>Widerspruchsfreien Übergang von wissenschaftlicher Aussage zu einer verständlicheren vereinfachten Aussage</a:t>
            </a:r>
          </a:p>
          <a:p>
            <a:r>
              <a:rPr lang="de-DE" b="0" dirty="0"/>
              <a:t>Abgeleitete Aussage muss unter Nennung der Einschränkungen immer korrekt bleiben</a:t>
            </a:r>
          </a:p>
        </p:txBody>
      </p:sp>
      <p:pic>
        <p:nvPicPr>
          <p:cNvPr id="6" name="Content Placeholder 5"/>
          <p:cNvPicPr>
            <a:picLocks noGrp="1" noChangeAspect="1" noChangeArrowheads="1"/>
          </p:cNvPicPr>
          <p:nvPr>
            <p:ph sz="half" idx="4294967295"/>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395536" y="3501008"/>
            <a:ext cx="8172450" cy="2138363"/>
          </a:xfrm>
          <a:prstGeom prst="rect">
            <a:avLst/>
          </a:prstGeom>
          <a:solidFill>
            <a:srgbClr val="FFFFFF"/>
          </a:solidFill>
        </p:spPr>
      </p:pic>
    </p:spTree>
    <p:extLst>
      <p:ext uri="{BB962C8B-B14F-4D97-AF65-F5344CB8AC3E}">
        <p14:creationId xmlns:p14="http://schemas.microsoft.com/office/powerpoint/2010/main" val="206155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6.2 Reduktionsmethoden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eaLnBrk="1" hangingPunct="1"/>
            <a:r>
              <a:rPr lang="de-DE" dirty="0"/>
              <a:t>Kernproblem ist Fasslichkeit</a:t>
            </a:r>
          </a:p>
          <a:p>
            <a:pPr lvl="1" eaLnBrk="1" hangingPunct="1"/>
            <a:r>
              <a:rPr lang="de-DE" sz="2000" dirty="0"/>
              <a:t>Ausgangsaussage zu abstrakt</a:t>
            </a:r>
          </a:p>
          <a:p>
            <a:pPr lvl="1" eaLnBrk="1" hangingPunct="1"/>
            <a:r>
              <a:rPr lang="de-DE" sz="2000" dirty="0"/>
              <a:t>Ausgangsaussage zu komplex</a:t>
            </a:r>
          </a:p>
          <a:p>
            <a:pPr eaLnBrk="1" hangingPunct="1"/>
            <a:r>
              <a:rPr lang="de-DE" dirty="0"/>
              <a:t>Durch Reduktionsmethoden fasslicher machen</a:t>
            </a:r>
          </a:p>
          <a:p>
            <a:pPr lvl="1" eaLnBrk="1" hangingPunct="1"/>
            <a:r>
              <a:rPr lang="de-DE" sz="2000" dirty="0"/>
              <a:t>Einschränkung auf wichtige Sonderfälle</a:t>
            </a:r>
          </a:p>
          <a:p>
            <a:pPr lvl="1" eaLnBrk="1" hangingPunct="1"/>
            <a:r>
              <a:rPr lang="de-DE" sz="2000" dirty="0"/>
              <a:t>Verdeutlichung durch Beispiele</a:t>
            </a:r>
          </a:p>
          <a:p>
            <a:pPr lvl="1" eaLnBrk="1" hangingPunct="1"/>
            <a:r>
              <a:rPr lang="de-DE" sz="2000" dirty="0"/>
              <a:t>Veranschaulichung durch </a:t>
            </a:r>
            <a:r>
              <a:rPr lang="de-DE" sz="2000" dirty="0" err="1"/>
              <a:t>Prinzipskizzen</a:t>
            </a:r>
            <a:r>
              <a:rPr lang="de-DE" sz="2000" dirty="0"/>
              <a:t>, Kennlinie, Experiment, Computeranimationen, Analogien, …</a:t>
            </a:r>
          </a:p>
          <a:p>
            <a:pPr lvl="1" eaLnBrk="1" hangingPunct="1"/>
            <a:r>
              <a:rPr lang="de-DE" sz="2000" dirty="0"/>
              <a:t>Verbale Erläuterungen oder Merkregeln, statt mathematischer Gleichungen</a:t>
            </a:r>
          </a:p>
          <a:p>
            <a:pPr lvl="1" eaLnBrk="1" hangingPunct="1"/>
            <a:r>
              <a:rPr lang="de-DE" sz="2000" dirty="0"/>
              <a:t>Vernachlässigung von „Randeffekten“</a:t>
            </a:r>
          </a:p>
        </p:txBody>
      </p:sp>
    </p:spTree>
    <p:extLst>
      <p:ext uri="{BB962C8B-B14F-4D97-AF65-F5344CB8AC3E}">
        <p14:creationId xmlns:p14="http://schemas.microsoft.com/office/powerpoint/2010/main" val="3190536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6.3 Arten Didaktischer Reduktion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a:t>
            </a:fld>
            <a:endParaRPr lang="de-DE"/>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18183" y="3789040"/>
            <a:ext cx="4562475" cy="2765425"/>
          </a:xfrm>
          <a:prstGeom prst="rect">
            <a:avLst/>
          </a:prstGeom>
          <a:solidFill>
            <a:srgbClr val="FFFFFF"/>
          </a:solidFill>
        </p:spPr>
      </p:pic>
      <p:sp>
        <p:nvSpPr>
          <p:cNvPr id="6" name="Rectangle 7"/>
          <p:cNvSpPr txBox="1">
            <a:spLocks noChangeArrowheads="1"/>
          </p:cNvSpPr>
          <p:nvPr/>
        </p:nvSpPr>
        <p:spPr>
          <a:xfrm>
            <a:off x="682873" y="1628800"/>
            <a:ext cx="3889127" cy="4114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nSpc>
                <a:spcPct val="90000"/>
              </a:lnSpc>
            </a:pPr>
            <a:r>
              <a:rPr lang="de-DE" b="0" dirty="0"/>
              <a:t>Vertikale Reduktion</a:t>
            </a:r>
          </a:p>
          <a:p>
            <a:pPr lvl="1">
              <a:lnSpc>
                <a:spcPct val="90000"/>
              </a:lnSpc>
            </a:pPr>
            <a:r>
              <a:rPr lang="de-DE" sz="2000" b="0" dirty="0"/>
              <a:t>Gültigkeitsumfang wird reduziert</a:t>
            </a:r>
          </a:p>
          <a:p>
            <a:pPr lvl="1">
              <a:lnSpc>
                <a:spcPct val="90000"/>
              </a:lnSpc>
            </a:pPr>
            <a:r>
              <a:rPr lang="de-DE" sz="2000" b="0" dirty="0"/>
              <a:t>Erfolgt </a:t>
            </a:r>
            <a:r>
              <a:rPr lang="de-DE" sz="2000" b="0" dirty="0" err="1"/>
              <a:t>Ausschnittsbildung</a:t>
            </a:r>
            <a:r>
              <a:rPr lang="de-DE" sz="2000" b="0" dirty="0"/>
              <a:t> aus der Ausgangsaussage durch Betrachtung von Sonderfällen</a:t>
            </a:r>
          </a:p>
        </p:txBody>
      </p:sp>
      <p:sp>
        <p:nvSpPr>
          <p:cNvPr id="7" name="Rectangle 7"/>
          <p:cNvSpPr txBox="1">
            <a:spLocks noChangeArrowheads="1"/>
          </p:cNvSpPr>
          <p:nvPr/>
        </p:nvSpPr>
        <p:spPr>
          <a:xfrm>
            <a:off x="4499421" y="1618456"/>
            <a:ext cx="3889003" cy="4114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nSpc>
                <a:spcPct val="90000"/>
              </a:lnSpc>
            </a:pPr>
            <a:r>
              <a:rPr lang="de-DE" b="0" dirty="0"/>
              <a:t>Horizontale Reduktion</a:t>
            </a:r>
          </a:p>
          <a:p>
            <a:pPr lvl="1">
              <a:lnSpc>
                <a:spcPct val="90000"/>
              </a:lnSpc>
            </a:pPr>
            <a:r>
              <a:rPr lang="de-DE" sz="2000" b="0" dirty="0"/>
              <a:t>Gültigkeitsumfang bleibt erhalten</a:t>
            </a:r>
          </a:p>
          <a:p>
            <a:pPr lvl="1">
              <a:lnSpc>
                <a:spcPct val="90000"/>
              </a:lnSpc>
            </a:pPr>
            <a:r>
              <a:rPr lang="de-DE" sz="2000" b="0" dirty="0"/>
              <a:t>Konkretere Aussage ist Ausgangsaussage nebengeordnet</a:t>
            </a:r>
          </a:p>
        </p:txBody>
      </p:sp>
    </p:spTree>
    <p:extLst>
      <p:ext uri="{BB962C8B-B14F-4D97-AF65-F5344CB8AC3E}">
        <p14:creationId xmlns:p14="http://schemas.microsoft.com/office/powerpoint/2010/main" val="130443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 Didaktische Reduktion nach GRÜNER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01700" indent="-901700" eaLnBrk="1" hangingPunct="1">
              <a:buFont typeface="Wingdings" pitchFamily="2" charset="2"/>
              <a:buNone/>
            </a:pPr>
            <a:r>
              <a:rPr lang="de-DE" dirty="0"/>
              <a:t>6.4	Beispiel für vertikale didaktische Reduktion (Elektrotechnik)</a:t>
            </a:r>
          </a:p>
          <a:p>
            <a:pPr marL="901700" indent="-901700" eaLnBrk="1" hangingPunct="1">
              <a:buFont typeface="Wingdings" pitchFamily="2" charset="2"/>
              <a:buNone/>
            </a:pPr>
            <a:r>
              <a:rPr lang="de-DE" dirty="0"/>
              <a:t>6.5	Beispiel für vertikale didaktische Reduktion (Bautechnik)</a:t>
            </a:r>
          </a:p>
          <a:p>
            <a:pPr marL="901700" indent="-901700" eaLnBrk="1" hangingPunct="1">
              <a:buFont typeface="Wingdings" pitchFamily="2" charset="2"/>
              <a:buNone/>
            </a:pPr>
            <a:r>
              <a:rPr lang="de-DE" dirty="0"/>
              <a:t>6.6	Beispiel für horizontale didaktische Reduktion (Elektrotechnik)</a:t>
            </a:r>
          </a:p>
          <a:p>
            <a:pPr marL="901700" indent="-901700" eaLnBrk="1" hangingPunct="1">
              <a:buFont typeface="Wingdings" pitchFamily="2" charset="2"/>
              <a:buNone/>
            </a:pPr>
            <a:r>
              <a:rPr lang="de-DE" dirty="0"/>
              <a:t>6.7	Beispiel für horizontale didaktische Reduktion (Bautechnik)</a:t>
            </a:r>
          </a:p>
        </p:txBody>
      </p:sp>
    </p:spTree>
    <p:extLst>
      <p:ext uri="{BB962C8B-B14F-4D97-AF65-F5344CB8AC3E}">
        <p14:creationId xmlns:p14="http://schemas.microsoft.com/office/powerpoint/2010/main" val="60238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6</a:t>
            </a:fld>
            <a:endParaRPr lang="de-DE"/>
          </a:p>
        </p:txBody>
      </p:sp>
      <p:sp>
        <p:nvSpPr>
          <p:cNvPr id="10" name="Titel 1">
            <a:extLst>
              <a:ext uri="{FF2B5EF4-FFF2-40B4-BE49-F238E27FC236}">
                <a16:creationId xmlns:a16="http://schemas.microsoft.com/office/drawing/2014/main" id="{94252EA7-C614-4256-9A69-8382BFA4E907}"/>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6.4 Beispiel für vertikale didaktische Reduktion Elektrotechnik</a:t>
            </a:r>
          </a:p>
        </p:txBody>
      </p:sp>
      <p:pic>
        <p:nvPicPr>
          <p:cNvPr id="9" name="Grafik 8">
            <a:extLst>
              <a:ext uri="{FF2B5EF4-FFF2-40B4-BE49-F238E27FC236}">
                <a16:creationId xmlns:a16="http://schemas.microsoft.com/office/drawing/2014/main" id="{B145CDE2-370B-40B6-9BFD-8470F2B4C6D9}"/>
              </a:ext>
            </a:extLst>
          </p:cNvPr>
          <p:cNvPicPr>
            <a:picLocks noChangeAspect="1"/>
          </p:cNvPicPr>
          <p:nvPr/>
        </p:nvPicPr>
        <p:blipFill>
          <a:blip r:embed="rId2"/>
          <a:stretch>
            <a:fillRect/>
          </a:stretch>
        </p:blipFill>
        <p:spPr>
          <a:xfrm>
            <a:off x="1581893" y="1124387"/>
            <a:ext cx="5840772" cy="4609663"/>
          </a:xfrm>
          <a:prstGeom prst="rect">
            <a:avLst/>
          </a:prstGeom>
        </p:spPr>
      </p:pic>
      <p:sp>
        <p:nvSpPr>
          <p:cNvPr id="11" name="Rechteck 10">
            <a:extLst>
              <a:ext uri="{FF2B5EF4-FFF2-40B4-BE49-F238E27FC236}">
                <a16:creationId xmlns:a16="http://schemas.microsoft.com/office/drawing/2014/main" id="{1E386644-BC08-45A1-937B-D48C1731F605}"/>
              </a:ext>
            </a:extLst>
          </p:cNvPr>
          <p:cNvSpPr/>
          <p:nvPr/>
        </p:nvSpPr>
        <p:spPr>
          <a:xfrm>
            <a:off x="7454115" y="1155775"/>
            <a:ext cx="1326004" cy="276999"/>
          </a:xfrm>
          <a:prstGeom prst="rect">
            <a:avLst/>
          </a:prstGeom>
        </p:spPr>
        <p:txBody>
          <a:bodyPr wrap="none">
            <a:spAutoFit/>
          </a:bodyPr>
          <a:lstStyle/>
          <a:p>
            <a:pPr algn="just">
              <a:spcAft>
                <a:spcPts val="0"/>
              </a:spcAft>
            </a:pPr>
            <a:r>
              <a:rPr lang="de-DE" sz="1200" b="0" dirty="0">
                <a:solidFill>
                  <a:srgbClr val="000000"/>
                </a:solidFill>
                <a:latin typeface="+mn-lt"/>
                <a:ea typeface="DKJNDH+TimesNewRoman"/>
              </a:rPr>
              <a:t>(</a:t>
            </a:r>
            <a:r>
              <a:rPr lang="de-DE" sz="1200" b="0" cap="small" dirty="0">
                <a:solidFill>
                  <a:srgbClr val="000000"/>
                </a:solidFill>
                <a:latin typeface="+mn-lt"/>
                <a:ea typeface="DKJNDH+TimesNewRoman"/>
              </a:rPr>
              <a:t>Wagner, </a:t>
            </a:r>
            <a:r>
              <a:rPr lang="de-DE" sz="1200" b="0" dirty="0">
                <a:solidFill>
                  <a:srgbClr val="000000"/>
                </a:solidFill>
                <a:latin typeface="+mn-lt"/>
                <a:ea typeface="DKJNDH+TimesNewRoman"/>
              </a:rPr>
              <a:t>2006)</a:t>
            </a:r>
            <a:endParaRPr lang="de-DE" sz="1200" b="0" dirty="0">
              <a:effectLst/>
              <a:latin typeface="+mn-lt"/>
              <a:ea typeface="Times New Roman" panose="02020603050405020304" pitchFamily="18" charset="0"/>
            </a:endParaRPr>
          </a:p>
        </p:txBody>
      </p:sp>
      <p:sp>
        <p:nvSpPr>
          <p:cNvPr id="12" name="Rechteck 11">
            <a:extLst>
              <a:ext uri="{FF2B5EF4-FFF2-40B4-BE49-F238E27FC236}">
                <a16:creationId xmlns:a16="http://schemas.microsoft.com/office/drawing/2014/main" id="{5943F616-4B75-4634-8C48-E24BA17AD5FE}"/>
              </a:ext>
            </a:extLst>
          </p:cNvPr>
          <p:cNvSpPr/>
          <p:nvPr/>
        </p:nvSpPr>
        <p:spPr>
          <a:xfrm>
            <a:off x="208136" y="5796754"/>
            <a:ext cx="6452096" cy="938719"/>
          </a:xfrm>
          <a:prstGeom prst="rect">
            <a:avLst/>
          </a:prstGeom>
        </p:spPr>
        <p:txBody>
          <a:bodyPr wrap="square">
            <a:spAutoFit/>
          </a:bodyPr>
          <a:lstStyle/>
          <a:p>
            <a:pPr algn="just">
              <a:spcAft>
                <a:spcPts val="0"/>
              </a:spcAft>
            </a:pPr>
            <a:r>
              <a:rPr lang="de-DE" sz="1100" b="0" dirty="0">
                <a:solidFill>
                  <a:srgbClr val="000000"/>
                </a:solidFill>
                <a:latin typeface="+mn-lt"/>
                <a:ea typeface="DKJNDH+TimesNewRoman"/>
              </a:rPr>
              <a:t>E	elektrische Feldstärke		H	magnetische Feldstärke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D	Verschiebungsdichte		S	Stromdichte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A	Querschnittsfläche im Raum	B	Flussdichte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Θ	Durchflutung			l	Länge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γ	elektrische Leitfähigkeit </a:t>
            </a:r>
            <a:endParaRPr lang="de-DE" sz="1100" b="0" dirty="0">
              <a:latin typeface="+mn-lt"/>
              <a:ea typeface="Times New Roman" panose="02020603050405020304" pitchFamily="18" charset="0"/>
            </a:endParaRPr>
          </a:p>
        </p:txBody>
      </p:sp>
    </p:spTree>
    <p:extLst>
      <p:ext uri="{BB962C8B-B14F-4D97-AF65-F5344CB8AC3E}">
        <p14:creationId xmlns:p14="http://schemas.microsoft.com/office/powerpoint/2010/main" val="1391624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7</a:t>
            </a:fld>
            <a:endParaRPr lang="de-DE"/>
          </a:p>
        </p:txBody>
      </p:sp>
      <p:sp>
        <p:nvSpPr>
          <p:cNvPr id="10" name="Titel 1">
            <a:extLst>
              <a:ext uri="{FF2B5EF4-FFF2-40B4-BE49-F238E27FC236}">
                <a16:creationId xmlns:a16="http://schemas.microsoft.com/office/drawing/2014/main" id="{94252EA7-C614-4256-9A69-8382BFA4E907}"/>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6.4 Beispiel für vertikale didaktische Reduktion Elektrotechnik</a:t>
            </a:r>
          </a:p>
        </p:txBody>
      </p:sp>
      <p:sp>
        <p:nvSpPr>
          <p:cNvPr id="11" name="Rechteck 10">
            <a:extLst>
              <a:ext uri="{FF2B5EF4-FFF2-40B4-BE49-F238E27FC236}">
                <a16:creationId xmlns:a16="http://schemas.microsoft.com/office/drawing/2014/main" id="{1E386644-BC08-45A1-937B-D48C1731F605}"/>
              </a:ext>
            </a:extLst>
          </p:cNvPr>
          <p:cNvSpPr/>
          <p:nvPr/>
        </p:nvSpPr>
        <p:spPr>
          <a:xfrm>
            <a:off x="7454115" y="1155775"/>
            <a:ext cx="1326004" cy="276999"/>
          </a:xfrm>
          <a:prstGeom prst="rect">
            <a:avLst/>
          </a:prstGeom>
        </p:spPr>
        <p:txBody>
          <a:bodyPr wrap="none">
            <a:spAutoFit/>
          </a:bodyPr>
          <a:lstStyle/>
          <a:p>
            <a:pPr algn="just">
              <a:spcAft>
                <a:spcPts val="0"/>
              </a:spcAft>
            </a:pPr>
            <a:r>
              <a:rPr lang="de-DE" sz="1200" b="0" dirty="0">
                <a:solidFill>
                  <a:srgbClr val="000000"/>
                </a:solidFill>
                <a:latin typeface="+mn-lt"/>
                <a:ea typeface="DKJNDH+TimesNewRoman"/>
              </a:rPr>
              <a:t>(</a:t>
            </a:r>
            <a:r>
              <a:rPr lang="de-DE" sz="1200" b="0" cap="small" dirty="0">
                <a:solidFill>
                  <a:srgbClr val="000000"/>
                </a:solidFill>
                <a:latin typeface="+mn-lt"/>
                <a:ea typeface="DKJNDH+TimesNewRoman"/>
              </a:rPr>
              <a:t>Wagner, </a:t>
            </a:r>
            <a:r>
              <a:rPr lang="de-DE" sz="1200" b="0" dirty="0">
                <a:solidFill>
                  <a:srgbClr val="000000"/>
                </a:solidFill>
                <a:latin typeface="+mn-lt"/>
                <a:ea typeface="DKJNDH+TimesNewRoman"/>
              </a:rPr>
              <a:t>2006)</a:t>
            </a:r>
            <a:endParaRPr lang="de-DE" sz="1200" b="0" dirty="0">
              <a:effectLst/>
              <a:latin typeface="+mn-lt"/>
              <a:ea typeface="Times New Roman" panose="02020603050405020304" pitchFamily="18" charset="0"/>
            </a:endParaRPr>
          </a:p>
        </p:txBody>
      </p:sp>
      <p:sp>
        <p:nvSpPr>
          <p:cNvPr id="12" name="Rechteck 11">
            <a:extLst>
              <a:ext uri="{FF2B5EF4-FFF2-40B4-BE49-F238E27FC236}">
                <a16:creationId xmlns:a16="http://schemas.microsoft.com/office/drawing/2014/main" id="{5943F616-4B75-4634-8C48-E24BA17AD5FE}"/>
              </a:ext>
            </a:extLst>
          </p:cNvPr>
          <p:cNvSpPr/>
          <p:nvPr/>
        </p:nvSpPr>
        <p:spPr>
          <a:xfrm>
            <a:off x="208136" y="5796754"/>
            <a:ext cx="6452096" cy="938719"/>
          </a:xfrm>
          <a:prstGeom prst="rect">
            <a:avLst/>
          </a:prstGeom>
        </p:spPr>
        <p:txBody>
          <a:bodyPr wrap="square">
            <a:spAutoFit/>
          </a:bodyPr>
          <a:lstStyle/>
          <a:p>
            <a:pPr algn="just">
              <a:spcAft>
                <a:spcPts val="0"/>
              </a:spcAft>
            </a:pPr>
            <a:r>
              <a:rPr lang="de-DE" sz="1100" b="0" dirty="0">
                <a:solidFill>
                  <a:srgbClr val="000000"/>
                </a:solidFill>
                <a:latin typeface="+mn-lt"/>
                <a:ea typeface="DKJNDH+TimesNewRoman"/>
              </a:rPr>
              <a:t>E	elektrische Feldstärke		H	magnetische Feldstärke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D	Verschiebungsdichte		S	Stromdichte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A	Querschnittsfläche im Raum	B	Flussdichte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Θ	Durchflutung			l	Länge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γ	elektrische Leitfähigkeit </a:t>
            </a:r>
            <a:endParaRPr lang="de-DE" sz="1100" b="0" dirty="0">
              <a:latin typeface="+mn-lt"/>
              <a:ea typeface="Times New Roman" panose="02020603050405020304" pitchFamily="18" charset="0"/>
            </a:endParaRPr>
          </a:p>
        </p:txBody>
      </p:sp>
      <p:pic>
        <p:nvPicPr>
          <p:cNvPr id="2" name="Grafik 1">
            <a:extLst>
              <a:ext uri="{FF2B5EF4-FFF2-40B4-BE49-F238E27FC236}">
                <a16:creationId xmlns:a16="http://schemas.microsoft.com/office/drawing/2014/main" id="{00BCC201-5D78-4C93-81EE-7F13712365B5}"/>
              </a:ext>
            </a:extLst>
          </p:cNvPr>
          <p:cNvPicPr>
            <a:picLocks noChangeAspect="1"/>
          </p:cNvPicPr>
          <p:nvPr/>
        </p:nvPicPr>
        <p:blipFill>
          <a:blip r:embed="rId2"/>
          <a:stretch>
            <a:fillRect/>
          </a:stretch>
        </p:blipFill>
        <p:spPr>
          <a:xfrm>
            <a:off x="2195737" y="1311007"/>
            <a:ext cx="4609428" cy="4477258"/>
          </a:xfrm>
          <a:prstGeom prst="rect">
            <a:avLst/>
          </a:prstGeom>
        </p:spPr>
      </p:pic>
    </p:spTree>
    <p:extLst>
      <p:ext uri="{BB962C8B-B14F-4D97-AF65-F5344CB8AC3E}">
        <p14:creationId xmlns:p14="http://schemas.microsoft.com/office/powerpoint/2010/main" val="196043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8</a:t>
            </a:fld>
            <a:endParaRPr lang="de-DE"/>
          </a:p>
        </p:txBody>
      </p:sp>
      <p:graphicFrame>
        <p:nvGraphicFramePr>
          <p:cNvPr id="12" name="Tabelle 11">
            <a:extLst>
              <a:ext uri="{FF2B5EF4-FFF2-40B4-BE49-F238E27FC236}">
                <a16:creationId xmlns:a16="http://schemas.microsoft.com/office/drawing/2014/main" id="{93996DDC-C03F-46EE-8736-0323823E83B1}"/>
              </a:ext>
            </a:extLst>
          </p:cNvPr>
          <p:cNvGraphicFramePr>
            <a:graphicFrameLocks noGrp="1"/>
          </p:cNvGraphicFramePr>
          <p:nvPr>
            <p:extLst>
              <p:ext uri="{D42A27DB-BD31-4B8C-83A1-F6EECF244321}">
                <p14:modId xmlns:p14="http://schemas.microsoft.com/office/powerpoint/2010/main" val="3045679799"/>
              </p:ext>
            </p:extLst>
          </p:nvPr>
        </p:nvGraphicFramePr>
        <p:xfrm>
          <a:off x="190128" y="1277648"/>
          <a:ext cx="8496944" cy="5159078"/>
        </p:xfrm>
        <a:graphic>
          <a:graphicData uri="http://schemas.openxmlformats.org/drawingml/2006/table">
            <a:tbl>
              <a:tblPr firstRow="1" bandRow="1">
                <a:tableStyleId>{5940675A-B579-460E-94D1-54222C63F5DA}</a:tableStyleId>
              </a:tblPr>
              <a:tblGrid>
                <a:gridCol w="8496944">
                  <a:extLst>
                    <a:ext uri="{9D8B030D-6E8A-4147-A177-3AD203B41FA5}">
                      <a16:colId xmlns:a16="http://schemas.microsoft.com/office/drawing/2014/main" val="804652359"/>
                    </a:ext>
                  </a:extLst>
                </a:gridCol>
              </a:tblGrid>
              <a:tr h="1619419">
                <a:tc>
                  <a:txBody>
                    <a:bodyPr/>
                    <a:lstStyle/>
                    <a:p>
                      <a:r>
                        <a:rPr lang="de-DE" dirty="0"/>
                        <a:t>1. Streckenlast z.B. Schüttlast</a:t>
                      </a:r>
                    </a:p>
                  </a:txBody>
                  <a:tcPr/>
                </a:tc>
                <a:extLst>
                  <a:ext uri="{0D108BD9-81ED-4DB2-BD59-A6C34878D82A}">
                    <a16:rowId xmlns:a16="http://schemas.microsoft.com/office/drawing/2014/main" val="2492781851"/>
                  </a:ext>
                </a:extLst>
              </a:tr>
              <a:tr h="1619419">
                <a:tc>
                  <a:txBody>
                    <a:bodyPr/>
                    <a:lstStyle/>
                    <a:p>
                      <a:r>
                        <a:rPr lang="de-DE" dirty="0"/>
                        <a:t>2. Flächenlast</a:t>
                      </a:r>
                    </a:p>
                  </a:txBody>
                  <a:tcPr/>
                </a:tc>
                <a:extLst>
                  <a:ext uri="{0D108BD9-81ED-4DB2-BD59-A6C34878D82A}">
                    <a16:rowId xmlns:a16="http://schemas.microsoft.com/office/drawing/2014/main" val="3242146795"/>
                  </a:ext>
                </a:extLst>
              </a:tr>
              <a:tr h="1619419">
                <a:tc>
                  <a:txBody>
                    <a:bodyPr/>
                    <a:lstStyle/>
                    <a:p>
                      <a:r>
                        <a:rPr lang="de-DE" dirty="0"/>
                        <a:t>3. Punktlast</a:t>
                      </a:r>
                    </a:p>
                    <a:p>
                      <a:endParaRPr lang="de-DE" dirty="0"/>
                    </a:p>
                    <a:p>
                      <a:r>
                        <a:rPr kumimoji="0" lang="de-DE" sz="1200" b="1" kern="1200" dirty="0">
                          <a:solidFill>
                            <a:schemeClr val="tx1"/>
                          </a:solidFill>
                          <a:effectLst/>
                          <a:latin typeface="+mn-lt"/>
                          <a:ea typeface="+mn-ea"/>
                          <a:cs typeface="+mn-cs"/>
                        </a:rPr>
                        <a:t>Einschränkung:</a:t>
                      </a:r>
                    </a:p>
                    <a:p>
                      <a:pPr lvl="0"/>
                      <a:r>
                        <a:rPr kumimoji="0" lang="de-DE" sz="1200" kern="1200" dirty="0">
                          <a:solidFill>
                            <a:schemeClr val="tx1"/>
                          </a:solidFill>
                          <a:effectLst/>
                          <a:latin typeface="+mn-lt"/>
                          <a:ea typeface="+mn-ea"/>
                          <a:cs typeface="+mn-cs"/>
                        </a:rPr>
                        <a:t>Richtung der Einzellast stimmt mit der </a:t>
                      </a:r>
                    </a:p>
                    <a:p>
                      <a:pPr lvl="0"/>
                      <a:r>
                        <a:rPr kumimoji="0" lang="de-DE" sz="1200" kern="1200" dirty="0">
                          <a:solidFill>
                            <a:schemeClr val="tx1"/>
                          </a:solidFill>
                          <a:effectLst/>
                          <a:latin typeface="+mn-lt"/>
                          <a:ea typeface="+mn-ea"/>
                          <a:cs typeface="+mn-cs"/>
                        </a:rPr>
                        <a:t>Wirkungsrichtung der Streckenlast überein.</a:t>
                      </a:r>
                    </a:p>
                    <a:p>
                      <a:pPr lvl="0"/>
                      <a:r>
                        <a:rPr kumimoji="0" lang="de-DE" sz="1200" kern="1200" dirty="0">
                          <a:solidFill>
                            <a:schemeClr val="tx1"/>
                          </a:solidFill>
                          <a:effectLst/>
                          <a:latin typeface="+mn-lt"/>
                          <a:ea typeface="+mn-ea"/>
                          <a:cs typeface="+mn-cs"/>
                        </a:rPr>
                        <a:t>Die Größe der Einzellast entspricht der Fläche </a:t>
                      </a:r>
                    </a:p>
                    <a:p>
                      <a:pPr lvl="0"/>
                      <a:r>
                        <a:rPr kumimoji="0" lang="de-DE" sz="1200" kern="1200" dirty="0">
                          <a:solidFill>
                            <a:schemeClr val="tx1"/>
                          </a:solidFill>
                          <a:effectLst/>
                          <a:latin typeface="+mn-lt"/>
                          <a:ea typeface="+mn-ea"/>
                          <a:cs typeface="+mn-cs"/>
                        </a:rPr>
                        <a:t>der Belastungsfigur.</a:t>
                      </a:r>
                    </a:p>
                    <a:p>
                      <a:r>
                        <a:rPr kumimoji="0" lang="de-DE" sz="1200" kern="1200" dirty="0">
                          <a:solidFill>
                            <a:schemeClr val="tx1"/>
                          </a:solidFill>
                          <a:effectLst/>
                          <a:latin typeface="+mn-lt"/>
                          <a:ea typeface="+mn-ea"/>
                          <a:cs typeface="+mn-cs"/>
                        </a:rPr>
                        <a:t>Die Wirkungslinie der Einzellast verläuft</a:t>
                      </a:r>
                    </a:p>
                    <a:p>
                      <a:r>
                        <a:rPr kumimoji="0" lang="de-DE" sz="1200" kern="1200" dirty="0">
                          <a:solidFill>
                            <a:schemeClr val="tx1"/>
                          </a:solidFill>
                          <a:effectLst/>
                          <a:latin typeface="+mn-lt"/>
                          <a:ea typeface="+mn-ea"/>
                          <a:cs typeface="+mn-cs"/>
                        </a:rPr>
                        <a:t> durch den Schwerpunkt der Belastungsfigur.</a:t>
                      </a:r>
                      <a:endParaRPr lang="de-DE" sz="1200" dirty="0"/>
                    </a:p>
                  </a:txBody>
                  <a:tcPr/>
                </a:tc>
                <a:extLst>
                  <a:ext uri="{0D108BD9-81ED-4DB2-BD59-A6C34878D82A}">
                    <a16:rowId xmlns:a16="http://schemas.microsoft.com/office/drawing/2014/main" val="486764914"/>
                  </a:ext>
                </a:extLst>
              </a:tr>
            </a:tbl>
          </a:graphicData>
        </a:graphic>
      </p:graphicFrame>
      <mc:AlternateContent xmlns:mc="http://schemas.openxmlformats.org/markup-compatibility/2006" xmlns:a14="http://schemas.microsoft.com/office/drawing/2010/main">
        <mc:Choice Requires="a14">
          <p:sp>
            <p:nvSpPr>
              <p:cNvPr id="17" name="Rechteck 16">
                <a:extLst>
                  <a:ext uri="{FF2B5EF4-FFF2-40B4-BE49-F238E27FC236}">
                    <a16:creationId xmlns:a16="http://schemas.microsoft.com/office/drawing/2014/main" id="{1FAD5E11-8B04-4A08-8CE0-12C950E34A25}"/>
                  </a:ext>
                </a:extLst>
              </p:cNvPr>
              <p:cNvSpPr/>
              <p:nvPr/>
            </p:nvSpPr>
            <p:spPr>
              <a:xfrm>
                <a:off x="3479220" y="2386376"/>
                <a:ext cx="1875322" cy="379848"/>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𝐹</m:t>
                      </m:r>
                      <m:r>
                        <a:rPr lang="de-DE" i="1">
                          <a:latin typeface="Cambria Math" panose="02040503050406030204" pitchFamily="18" charset="0"/>
                        </a:rPr>
                        <m:t>=∫</m:t>
                      </m:r>
                      <m:r>
                        <a:rPr lang="de-DE" i="1">
                          <a:latin typeface="Cambria Math" panose="02040503050406030204" pitchFamily="18" charset="0"/>
                        </a:rPr>
                        <m:t>𝑔𝑑𝑙</m:t>
                      </m:r>
                      <m:r>
                        <a:rPr lang="de-DE" i="1">
                          <a:latin typeface="Cambria Math" panose="02040503050406030204" pitchFamily="18" charset="0"/>
                        </a:rPr>
                        <m:t>=</m:t>
                      </m:r>
                      <m:d>
                        <m:dPr>
                          <m:begChr m:val="["/>
                          <m:endChr m:val="]"/>
                          <m:ctrlPr>
                            <a:rPr lang="de-DE" i="1">
                              <a:latin typeface="Cambria Math" panose="02040503050406030204" pitchFamily="18" charset="0"/>
                            </a:rPr>
                          </m:ctrlPr>
                        </m:dPr>
                        <m:e>
                          <m:r>
                            <a:rPr lang="de-DE" i="1">
                              <a:latin typeface="Cambria Math" panose="02040503050406030204" pitchFamily="18" charset="0"/>
                            </a:rPr>
                            <m:t>𝑁</m:t>
                          </m:r>
                        </m:e>
                      </m:d>
                    </m:oMath>
                  </m:oMathPara>
                </a14:m>
                <a:endParaRPr lang="de-DE" dirty="0"/>
              </a:p>
            </p:txBody>
          </p:sp>
        </mc:Choice>
        <mc:Fallback xmlns="">
          <p:sp>
            <p:nvSpPr>
              <p:cNvPr id="17" name="Rechteck 16">
                <a:extLst>
                  <a:ext uri="{FF2B5EF4-FFF2-40B4-BE49-F238E27FC236}">
                    <a16:creationId xmlns:a16="http://schemas.microsoft.com/office/drawing/2014/main" id="{1FAD5E11-8B04-4A08-8CE0-12C950E34A25}"/>
                  </a:ext>
                </a:extLst>
              </p:cNvPr>
              <p:cNvSpPr>
                <a:spLocks noRot="1" noChangeAspect="1" noMove="1" noResize="1" noEditPoints="1" noAdjustHandles="1" noChangeArrowheads="1" noChangeShapeType="1" noTextEdit="1"/>
              </p:cNvSpPr>
              <p:nvPr/>
            </p:nvSpPr>
            <p:spPr>
              <a:xfrm>
                <a:off x="3479220" y="2386376"/>
                <a:ext cx="1875322" cy="379848"/>
              </a:xfrm>
              <a:prstGeom prst="rect">
                <a:avLst/>
              </a:prstGeom>
              <a:blipFill>
                <a:blip r:embed="rId3"/>
                <a:stretch>
                  <a:fillRect b="-19048"/>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Rechteck 17">
                <a:extLst>
                  <a:ext uri="{FF2B5EF4-FFF2-40B4-BE49-F238E27FC236}">
                    <a16:creationId xmlns:a16="http://schemas.microsoft.com/office/drawing/2014/main" id="{4960CDAF-9BEC-485D-8458-DE1952F9600C}"/>
                  </a:ext>
                </a:extLst>
              </p:cNvPr>
              <p:cNvSpPr/>
              <p:nvPr/>
            </p:nvSpPr>
            <p:spPr>
              <a:xfrm>
                <a:off x="4031006" y="1687808"/>
                <a:ext cx="981551" cy="618246"/>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𝑑𝐹</m:t>
                          </m:r>
                        </m:num>
                        <m:den>
                          <m:r>
                            <a:rPr lang="de-DE" i="1">
                              <a:latin typeface="Cambria Math" panose="02040503050406030204" pitchFamily="18" charset="0"/>
                            </a:rPr>
                            <m:t>𝑑𝑙</m:t>
                          </m:r>
                        </m:den>
                      </m:f>
                    </m:oMath>
                  </m:oMathPara>
                </a14:m>
                <a:endParaRPr lang="de-DE" dirty="0"/>
              </a:p>
            </p:txBody>
          </p:sp>
        </mc:Choice>
        <mc:Fallback xmlns="">
          <p:sp>
            <p:nvSpPr>
              <p:cNvPr id="18" name="Rechteck 17">
                <a:extLst>
                  <a:ext uri="{FF2B5EF4-FFF2-40B4-BE49-F238E27FC236}">
                    <a16:creationId xmlns:a16="http://schemas.microsoft.com/office/drawing/2014/main" id="{4960CDAF-9BEC-485D-8458-DE1952F9600C}"/>
                  </a:ext>
                </a:extLst>
              </p:cNvPr>
              <p:cNvSpPr>
                <a:spLocks noRot="1" noChangeAspect="1" noMove="1" noResize="1" noEditPoints="1" noAdjustHandles="1" noChangeArrowheads="1" noChangeShapeType="1" noTextEdit="1"/>
              </p:cNvSpPr>
              <p:nvPr/>
            </p:nvSpPr>
            <p:spPr>
              <a:xfrm>
                <a:off x="4031006" y="1687808"/>
                <a:ext cx="981551" cy="618246"/>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Rechteck 18">
                <a:extLst>
                  <a:ext uri="{FF2B5EF4-FFF2-40B4-BE49-F238E27FC236}">
                    <a16:creationId xmlns:a16="http://schemas.microsoft.com/office/drawing/2014/main" id="{A0EC9A37-7982-47AA-A527-4F109F4213F4}"/>
                  </a:ext>
                </a:extLst>
              </p:cNvPr>
              <p:cNvSpPr/>
              <p:nvPr/>
            </p:nvSpPr>
            <p:spPr>
              <a:xfrm>
                <a:off x="4034371" y="3160958"/>
                <a:ext cx="989566" cy="6127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𝛥</m:t>
                          </m:r>
                          <m:r>
                            <a:rPr lang="de-DE" i="1">
                              <a:latin typeface="Cambria Math" panose="02040503050406030204" pitchFamily="18" charset="0"/>
                            </a:rPr>
                            <m:t>𝐹</m:t>
                          </m:r>
                        </m:num>
                        <m:den>
                          <m:r>
                            <a:rPr lang="de-DE" i="1">
                              <a:latin typeface="Cambria Math" panose="02040503050406030204" pitchFamily="18" charset="0"/>
                            </a:rPr>
                            <m:t>𝛥</m:t>
                          </m:r>
                          <m:r>
                            <a:rPr lang="de-DE" i="1">
                              <a:latin typeface="Cambria Math" panose="02040503050406030204" pitchFamily="18" charset="0"/>
                            </a:rPr>
                            <m:t>𝑙</m:t>
                          </m:r>
                        </m:den>
                      </m:f>
                    </m:oMath>
                  </m:oMathPara>
                </a14:m>
                <a:endParaRPr lang="de-DE" dirty="0"/>
              </a:p>
            </p:txBody>
          </p:sp>
        </mc:Choice>
        <mc:Fallback xmlns="">
          <p:sp>
            <p:nvSpPr>
              <p:cNvPr id="19" name="Rechteck 18">
                <a:extLst>
                  <a:ext uri="{FF2B5EF4-FFF2-40B4-BE49-F238E27FC236}">
                    <a16:creationId xmlns:a16="http://schemas.microsoft.com/office/drawing/2014/main" id="{A0EC9A37-7982-47AA-A527-4F109F4213F4}"/>
                  </a:ext>
                </a:extLst>
              </p:cNvPr>
              <p:cNvSpPr>
                <a:spLocks noRot="1" noChangeAspect="1" noMove="1" noResize="1" noEditPoints="1" noAdjustHandles="1" noChangeArrowheads="1" noChangeShapeType="1" noTextEdit="1"/>
              </p:cNvSpPr>
              <p:nvPr/>
            </p:nvSpPr>
            <p:spPr>
              <a:xfrm>
                <a:off x="4034371" y="3160958"/>
                <a:ext cx="989566" cy="612732"/>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Rechteck 19">
                <a:extLst>
                  <a:ext uri="{FF2B5EF4-FFF2-40B4-BE49-F238E27FC236}">
                    <a16:creationId xmlns:a16="http://schemas.microsoft.com/office/drawing/2014/main" id="{C742AB55-8DD6-4735-9CBE-9596F42EA35F}"/>
                  </a:ext>
                </a:extLst>
              </p:cNvPr>
              <p:cNvSpPr/>
              <p:nvPr/>
            </p:nvSpPr>
            <p:spPr>
              <a:xfrm>
                <a:off x="3926105" y="3873983"/>
                <a:ext cx="1206099" cy="3693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𝛥</m:t>
                      </m:r>
                      <m:r>
                        <a:rPr lang="de-DE" i="1">
                          <a:latin typeface="Cambria Math" panose="02040503050406030204" pitchFamily="18" charset="0"/>
                        </a:rPr>
                        <m:t>𝐹</m:t>
                      </m:r>
                      <m:r>
                        <a:rPr lang="de-DE" i="0">
                          <a:latin typeface="Cambria Math" panose="02040503050406030204" pitchFamily="18" charset="0"/>
                        </a:rPr>
                        <m:t>=</m:t>
                      </m:r>
                      <m:r>
                        <a:rPr lang="de-DE" i="1">
                          <a:latin typeface="Cambria Math" panose="02040503050406030204" pitchFamily="18" charset="0"/>
                        </a:rPr>
                        <m:t>𝑔</m:t>
                      </m:r>
                      <m:r>
                        <a:rPr lang="de-DE" i="1">
                          <a:latin typeface="Cambria Math" panose="02040503050406030204" pitchFamily="18" charset="0"/>
                        </a:rPr>
                        <m:t>𝛥</m:t>
                      </m:r>
                      <m:r>
                        <a:rPr lang="de-DE" i="1">
                          <a:latin typeface="Cambria Math" panose="02040503050406030204" pitchFamily="18" charset="0"/>
                        </a:rPr>
                        <m:t>𝑙</m:t>
                      </m:r>
                    </m:oMath>
                  </m:oMathPara>
                </a14:m>
                <a:endParaRPr lang="de-DE" dirty="0"/>
              </a:p>
            </p:txBody>
          </p:sp>
        </mc:Choice>
        <mc:Fallback xmlns="">
          <p:sp>
            <p:nvSpPr>
              <p:cNvPr id="20" name="Rechteck 19">
                <a:extLst>
                  <a:ext uri="{FF2B5EF4-FFF2-40B4-BE49-F238E27FC236}">
                    <a16:creationId xmlns:a16="http://schemas.microsoft.com/office/drawing/2014/main" id="{C742AB55-8DD6-4735-9CBE-9596F42EA35F}"/>
                  </a:ext>
                </a:extLst>
              </p:cNvPr>
              <p:cNvSpPr>
                <a:spLocks noRot="1" noChangeAspect="1" noMove="1" noResize="1" noEditPoints="1" noAdjustHandles="1" noChangeArrowheads="1" noChangeShapeType="1" noTextEdit="1"/>
              </p:cNvSpPr>
              <p:nvPr/>
            </p:nvSpPr>
            <p:spPr>
              <a:xfrm>
                <a:off x="3926105" y="3873983"/>
                <a:ext cx="1206099" cy="369332"/>
              </a:xfrm>
              <a:prstGeom prst="rect">
                <a:avLst/>
              </a:prstGeom>
              <a:blipFill>
                <a:blip r:embed="rId6"/>
                <a:stretch>
                  <a:fillRect b="-1639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Rechteck 20">
                <a:extLst>
                  <a:ext uri="{FF2B5EF4-FFF2-40B4-BE49-F238E27FC236}">
                    <a16:creationId xmlns:a16="http://schemas.microsoft.com/office/drawing/2014/main" id="{6E4CBDC2-A789-4107-AA99-F115ED5D14D6}"/>
                  </a:ext>
                </a:extLst>
              </p:cNvPr>
              <p:cNvSpPr/>
              <p:nvPr/>
            </p:nvSpPr>
            <p:spPr>
              <a:xfrm>
                <a:off x="4164055" y="4817213"/>
                <a:ext cx="848502" cy="610873"/>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𝐹</m:t>
                          </m:r>
                        </m:num>
                        <m:den>
                          <m:r>
                            <a:rPr lang="de-DE" i="1">
                              <a:latin typeface="Cambria Math" panose="02040503050406030204" pitchFamily="18" charset="0"/>
                            </a:rPr>
                            <m:t>𝑙</m:t>
                          </m:r>
                        </m:den>
                      </m:f>
                    </m:oMath>
                  </m:oMathPara>
                </a14:m>
                <a:endParaRPr lang="de-DE" dirty="0"/>
              </a:p>
            </p:txBody>
          </p:sp>
        </mc:Choice>
        <mc:Fallback xmlns="">
          <p:sp>
            <p:nvSpPr>
              <p:cNvPr id="21" name="Rechteck 20">
                <a:extLst>
                  <a:ext uri="{FF2B5EF4-FFF2-40B4-BE49-F238E27FC236}">
                    <a16:creationId xmlns:a16="http://schemas.microsoft.com/office/drawing/2014/main" id="{6E4CBDC2-A789-4107-AA99-F115ED5D14D6}"/>
                  </a:ext>
                </a:extLst>
              </p:cNvPr>
              <p:cNvSpPr>
                <a:spLocks noRot="1" noChangeAspect="1" noMove="1" noResize="1" noEditPoints="1" noAdjustHandles="1" noChangeArrowheads="1" noChangeShapeType="1" noTextEdit="1"/>
              </p:cNvSpPr>
              <p:nvPr/>
            </p:nvSpPr>
            <p:spPr>
              <a:xfrm>
                <a:off x="4164055" y="4817213"/>
                <a:ext cx="848502" cy="610873"/>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2" name="Rechteck 21">
                <a:extLst>
                  <a:ext uri="{FF2B5EF4-FFF2-40B4-BE49-F238E27FC236}">
                    <a16:creationId xmlns:a16="http://schemas.microsoft.com/office/drawing/2014/main" id="{ACB21FED-CD30-4401-BAC6-B280239691E0}"/>
                  </a:ext>
                </a:extLst>
              </p:cNvPr>
              <p:cNvSpPr/>
              <p:nvPr/>
            </p:nvSpPr>
            <p:spPr>
              <a:xfrm>
                <a:off x="4126320" y="5479090"/>
                <a:ext cx="923971" cy="3693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𝐹</m:t>
                      </m:r>
                      <m:r>
                        <a:rPr lang="de-DE" i="0">
                          <a:latin typeface="Cambria Math" panose="02040503050406030204" pitchFamily="18" charset="0"/>
                        </a:rPr>
                        <m:t>=</m:t>
                      </m:r>
                      <m:r>
                        <a:rPr lang="de-DE" i="1">
                          <a:latin typeface="Cambria Math" panose="02040503050406030204" pitchFamily="18" charset="0"/>
                        </a:rPr>
                        <m:t>𝑔𝑙</m:t>
                      </m:r>
                    </m:oMath>
                  </m:oMathPara>
                </a14:m>
                <a:endParaRPr lang="de-DE" dirty="0"/>
              </a:p>
            </p:txBody>
          </p:sp>
        </mc:Choice>
        <mc:Fallback xmlns="">
          <p:sp>
            <p:nvSpPr>
              <p:cNvPr id="22" name="Rechteck 21">
                <a:extLst>
                  <a:ext uri="{FF2B5EF4-FFF2-40B4-BE49-F238E27FC236}">
                    <a16:creationId xmlns:a16="http://schemas.microsoft.com/office/drawing/2014/main" id="{ACB21FED-CD30-4401-BAC6-B280239691E0}"/>
                  </a:ext>
                </a:extLst>
              </p:cNvPr>
              <p:cNvSpPr>
                <a:spLocks noRot="1" noChangeAspect="1" noMove="1" noResize="1" noEditPoints="1" noAdjustHandles="1" noChangeArrowheads="1" noChangeShapeType="1" noTextEdit="1"/>
              </p:cNvSpPr>
              <p:nvPr/>
            </p:nvSpPr>
            <p:spPr>
              <a:xfrm>
                <a:off x="4126320" y="5479090"/>
                <a:ext cx="923971" cy="369332"/>
              </a:xfrm>
              <a:prstGeom prst="rect">
                <a:avLst/>
              </a:prstGeom>
              <a:blipFill>
                <a:blip r:embed="rId8"/>
                <a:stretch>
                  <a:fillRect b="-16667"/>
                </a:stretch>
              </a:blipFill>
            </p:spPr>
            <p:txBody>
              <a:bodyPr/>
              <a:lstStyle/>
              <a:p>
                <a:r>
                  <a:rPr lang="de-DE">
                    <a:noFill/>
                  </a:rPr>
                  <a:t> </a:t>
                </a:r>
              </a:p>
            </p:txBody>
          </p:sp>
        </mc:Fallback>
      </mc:AlternateContent>
      <p:grpSp>
        <p:nvGrpSpPr>
          <p:cNvPr id="23" name="Gruppieren 22">
            <a:extLst>
              <a:ext uri="{FF2B5EF4-FFF2-40B4-BE49-F238E27FC236}">
                <a16:creationId xmlns:a16="http://schemas.microsoft.com/office/drawing/2014/main" id="{B5752FF7-02B6-41AA-80D8-E2022FCE651C}"/>
              </a:ext>
            </a:extLst>
          </p:cNvPr>
          <p:cNvGrpSpPr/>
          <p:nvPr/>
        </p:nvGrpSpPr>
        <p:grpSpPr>
          <a:xfrm>
            <a:off x="5696770" y="1474234"/>
            <a:ext cx="2952325" cy="4781023"/>
            <a:chOff x="5652122" y="1806526"/>
            <a:chExt cx="2952325" cy="4598910"/>
          </a:xfrm>
        </p:grpSpPr>
        <p:pic>
          <p:nvPicPr>
            <p:cNvPr id="4117" name="Picture 21" descr="b1">
              <a:extLst>
                <a:ext uri="{FF2B5EF4-FFF2-40B4-BE49-F238E27FC236}">
                  <a16:creationId xmlns:a16="http://schemas.microsoft.com/office/drawing/2014/main" id="{508B03E5-516C-4A47-ABDC-1015E28342D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5958" b="21653"/>
            <a:stretch/>
          </p:blipFill>
          <p:spPr bwMode="auto">
            <a:xfrm>
              <a:off x="5652122" y="1806526"/>
              <a:ext cx="2808310" cy="117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8" name="Picture 22" descr="b2">
              <a:extLst>
                <a:ext uri="{FF2B5EF4-FFF2-40B4-BE49-F238E27FC236}">
                  <a16:creationId xmlns:a16="http://schemas.microsoft.com/office/drawing/2014/main" id="{BF80D3BD-8FC6-4CDE-B8A0-CE5457480B7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5958" b="18774"/>
            <a:stretch/>
          </p:blipFill>
          <p:spPr bwMode="auto">
            <a:xfrm>
              <a:off x="5685324" y="3406427"/>
              <a:ext cx="2808310" cy="117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9" name="Picture 23" descr="b3">
              <a:extLst>
                <a:ext uri="{FF2B5EF4-FFF2-40B4-BE49-F238E27FC236}">
                  <a16:creationId xmlns:a16="http://schemas.microsoft.com/office/drawing/2014/main" id="{49E2E1AF-D2FB-407C-A9A2-4375B3BA91F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6105"/>
            <a:stretch/>
          </p:blipFill>
          <p:spPr bwMode="auto">
            <a:xfrm>
              <a:off x="5724128" y="4959344"/>
              <a:ext cx="2880319" cy="1446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 name="Titel 1">
            <a:extLst>
              <a:ext uri="{FF2B5EF4-FFF2-40B4-BE49-F238E27FC236}">
                <a16:creationId xmlns:a16="http://schemas.microsoft.com/office/drawing/2014/main" id="{809088D4-8B88-46C3-8148-DE1DFA164352}"/>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6.5 Beispiel für vertikale didaktische Reduktion Bautechnik</a:t>
            </a:r>
          </a:p>
        </p:txBody>
      </p:sp>
    </p:spTree>
    <p:extLst>
      <p:ext uri="{BB962C8B-B14F-4D97-AF65-F5344CB8AC3E}">
        <p14:creationId xmlns:p14="http://schemas.microsoft.com/office/powerpoint/2010/main" val="1289272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9</a:t>
            </a:fld>
            <a:endParaRPr lang="de-DE"/>
          </a:p>
        </p:txBody>
      </p:sp>
      <p:pic>
        <p:nvPicPr>
          <p:cNvPr id="3073" name="Picture 1">
            <a:extLst>
              <a:ext uri="{FF2B5EF4-FFF2-40B4-BE49-F238E27FC236}">
                <a16:creationId xmlns:a16="http://schemas.microsoft.com/office/drawing/2014/main" id="{6393989E-2F86-47BD-B76B-11D98723B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837" y="1160194"/>
            <a:ext cx="6184326" cy="18722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4" name="Picture 2">
            <a:extLst>
              <a:ext uri="{FF2B5EF4-FFF2-40B4-BE49-F238E27FC236}">
                <a16:creationId xmlns:a16="http://schemas.microsoft.com/office/drawing/2014/main" id="{013264E5-BEDB-4247-98EB-B316DF657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039" y="3781954"/>
            <a:ext cx="5398140" cy="20148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Rechteck 2">
            <a:extLst>
              <a:ext uri="{FF2B5EF4-FFF2-40B4-BE49-F238E27FC236}">
                <a16:creationId xmlns:a16="http://schemas.microsoft.com/office/drawing/2014/main" id="{E7E08E0D-BCB5-468C-A699-8CE01ABA0C6C}"/>
              </a:ext>
            </a:extLst>
          </p:cNvPr>
          <p:cNvSpPr/>
          <p:nvPr/>
        </p:nvSpPr>
        <p:spPr>
          <a:xfrm>
            <a:off x="7372111" y="1190044"/>
            <a:ext cx="1513810" cy="276999"/>
          </a:xfrm>
          <a:prstGeom prst="rect">
            <a:avLst/>
          </a:prstGeom>
        </p:spPr>
        <p:txBody>
          <a:bodyPr wrap="square">
            <a:spAutoFit/>
          </a:bodyPr>
          <a:lstStyle/>
          <a:p>
            <a:pPr algn="just">
              <a:spcAft>
                <a:spcPts val="0"/>
              </a:spcAft>
              <a:tabLst>
                <a:tab pos="457200" algn="l"/>
              </a:tabLst>
            </a:pPr>
            <a:r>
              <a:rPr lang="de-DE" sz="1200" b="0" cap="small" dirty="0">
                <a:solidFill>
                  <a:srgbClr val="000000"/>
                </a:solidFill>
                <a:latin typeface="+mn-lt"/>
                <a:ea typeface="Arial" panose="020B0604020202020204" pitchFamily="34" charset="0"/>
              </a:rPr>
              <a:t>(</a:t>
            </a:r>
            <a:r>
              <a:rPr lang="de-DE" sz="1200" b="0" cap="small" dirty="0">
                <a:solidFill>
                  <a:srgbClr val="000000"/>
                </a:solidFill>
                <a:latin typeface="+mn-lt"/>
                <a:ea typeface="DKJNDH+TimesNewRoman"/>
              </a:rPr>
              <a:t>Arnold,</a:t>
            </a:r>
            <a:r>
              <a:rPr lang="de-DE" sz="1200" b="0" dirty="0">
                <a:solidFill>
                  <a:srgbClr val="000000"/>
                </a:solidFill>
                <a:latin typeface="+mn-lt"/>
                <a:ea typeface="DKJNDH+TimesNewRoman"/>
              </a:rPr>
              <a:t> 1990)</a:t>
            </a:r>
            <a:endParaRPr lang="de-DE" sz="1200" b="0" dirty="0">
              <a:effectLst/>
              <a:latin typeface="+mn-lt"/>
              <a:ea typeface="Times New Roman" panose="02020603050405020304" pitchFamily="18" charset="0"/>
            </a:endParaRPr>
          </a:p>
        </p:txBody>
      </p:sp>
      <p:sp>
        <p:nvSpPr>
          <p:cNvPr id="8" name="Rechteck 7">
            <a:extLst>
              <a:ext uri="{FF2B5EF4-FFF2-40B4-BE49-F238E27FC236}">
                <a16:creationId xmlns:a16="http://schemas.microsoft.com/office/drawing/2014/main" id="{6EA85BD7-66F9-41F1-AAC3-29C7303980CB}"/>
              </a:ext>
            </a:extLst>
          </p:cNvPr>
          <p:cNvSpPr/>
          <p:nvPr/>
        </p:nvSpPr>
        <p:spPr>
          <a:xfrm>
            <a:off x="7255006" y="3802169"/>
            <a:ext cx="1287532" cy="276999"/>
          </a:xfrm>
          <a:prstGeom prst="rect">
            <a:avLst/>
          </a:prstGeom>
        </p:spPr>
        <p:txBody>
          <a:bodyPr wrap="none">
            <a:spAutoFit/>
          </a:bodyPr>
          <a:lstStyle/>
          <a:p>
            <a:pPr algn="just">
              <a:spcAft>
                <a:spcPts val="0"/>
              </a:spcAft>
              <a:tabLst>
                <a:tab pos="457200" algn="l"/>
              </a:tabLst>
            </a:pPr>
            <a:r>
              <a:rPr lang="de-DE" sz="1200" b="0" cap="small" dirty="0">
                <a:solidFill>
                  <a:srgbClr val="000000"/>
                </a:solidFill>
                <a:latin typeface="+mn-lt"/>
                <a:ea typeface="Arial" panose="020B0604020202020204" pitchFamily="34" charset="0"/>
              </a:rPr>
              <a:t>(</a:t>
            </a:r>
            <a:r>
              <a:rPr lang="de-DE" sz="1200" b="0" cap="small" dirty="0">
                <a:solidFill>
                  <a:srgbClr val="000000"/>
                </a:solidFill>
                <a:latin typeface="+mn-lt"/>
                <a:ea typeface="DKJNDH+TimesNewRoman"/>
              </a:rPr>
              <a:t>Arnold,</a:t>
            </a:r>
            <a:r>
              <a:rPr lang="de-DE" sz="1200" b="0" dirty="0">
                <a:solidFill>
                  <a:srgbClr val="000000"/>
                </a:solidFill>
                <a:latin typeface="+mn-lt"/>
                <a:ea typeface="DKJNDH+TimesNewRoman"/>
              </a:rPr>
              <a:t> 1990)</a:t>
            </a:r>
            <a:endParaRPr lang="de-DE" sz="1400" b="0" dirty="0">
              <a:effectLst/>
              <a:latin typeface="+mn-lt"/>
              <a:ea typeface="Times New Roman" panose="02020603050405020304" pitchFamily="18" charset="0"/>
            </a:endParaRPr>
          </a:p>
        </p:txBody>
      </p:sp>
      <p:sp>
        <p:nvSpPr>
          <p:cNvPr id="5" name="Rechteck 4">
            <a:extLst>
              <a:ext uri="{FF2B5EF4-FFF2-40B4-BE49-F238E27FC236}">
                <a16:creationId xmlns:a16="http://schemas.microsoft.com/office/drawing/2014/main" id="{700B77C3-FA3D-43C8-8ADD-147D466BEC06}"/>
              </a:ext>
            </a:extLst>
          </p:cNvPr>
          <p:cNvSpPr/>
          <p:nvPr/>
        </p:nvSpPr>
        <p:spPr>
          <a:xfrm>
            <a:off x="166998" y="2967335"/>
            <a:ext cx="6534472" cy="584775"/>
          </a:xfrm>
          <a:prstGeom prst="rect">
            <a:avLst/>
          </a:prstGeom>
        </p:spPr>
        <p:txBody>
          <a:bodyPr wrap="square">
            <a:spAutoFit/>
          </a:bodyPr>
          <a:lstStyle/>
          <a:p>
            <a:r>
              <a:rPr lang="de-DE" sz="1600" b="0" dirty="0">
                <a:solidFill>
                  <a:srgbClr val="000000"/>
                </a:solidFill>
                <a:latin typeface="+mn-lt"/>
                <a:ea typeface="Arial" panose="020B0604020202020204" pitchFamily="34" charset="0"/>
              </a:rPr>
              <a:t>Der Gültigkeitsumfang bleibt erhalten, die konkretere Aussage ist der Ausgangsaussage nur nebengeordnet.</a:t>
            </a:r>
            <a:endParaRPr lang="de-DE" sz="1600" b="0" dirty="0">
              <a:latin typeface="+mn-lt"/>
            </a:endParaRPr>
          </a:p>
        </p:txBody>
      </p:sp>
      <p:sp>
        <p:nvSpPr>
          <p:cNvPr id="12" name="Titel 1">
            <a:extLst>
              <a:ext uri="{FF2B5EF4-FFF2-40B4-BE49-F238E27FC236}">
                <a16:creationId xmlns:a16="http://schemas.microsoft.com/office/drawing/2014/main" id="{A6E0680D-CBCC-448F-91E6-FF9F603EFEA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6.6 Beispiel für Horizontal didaktische Reduktion Elektrotechnik</a:t>
            </a:r>
          </a:p>
        </p:txBody>
      </p:sp>
      <p:sp>
        <p:nvSpPr>
          <p:cNvPr id="13" name="Rechteck 12">
            <a:extLst>
              <a:ext uri="{FF2B5EF4-FFF2-40B4-BE49-F238E27FC236}">
                <a16:creationId xmlns:a16="http://schemas.microsoft.com/office/drawing/2014/main" id="{BEC9B5F5-BFDD-4D3D-9B78-4A62B062E1BA}"/>
              </a:ext>
            </a:extLst>
          </p:cNvPr>
          <p:cNvSpPr/>
          <p:nvPr/>
        </p:nvSpPr>
        <p:spPr>
          <a:xfrm>
            <a:off x="179512" y="5821088"/>
            <a:ext cx="7877496" cy="584775"/>
          </a:xfrm>
          <a:prstGeom prst="rect">
            <a:avLst/>
          </a:prstGeom>
        </p:spPr>
        <p:txBody>
          <a:bodyPr wrap="square">
            <a:spAutoFit/>
          </a:bodyPr>
          <a:lstStyle/>
          <a:p>
            <a:pPr algn="just">
              <a:spcAft>
                <a:spcPts val="0"/>
              </a:spcAft>
            </a:pPr>
            <a:r>
              <a:rPr lang="de-DE" sz="1600" b="0" dirty="0">
                <a:solidFill>
                  <a:srgbClr val="000000"/>
                </a:solidFill>
                <a:latin typeface="+mn-lt"/>
                <a:ea typeface="Arial" panose="020B0604020202020204" pitchFamily="34" charset="0"/>
              </a:rPr>
              <a:t>Elektrostatisches Feld zwischen zwei Kugeln gleicher Ladung unterschiedlicher Vorzeichen</a:t>
            </a:r>
            <a:endParaRPr lang="de-DE" sz="1600" b="0" dirty="0">
              <a:effectLst/>
              <a:latin typeface="+mn-lt"/>
              <a:ea typeface="Times New Roman" panose="02020603050405020304" pitchFamily="18" charset="0"/>
            </a:endParaRPr>
          </a:p>
        </p:txBody>
      </p:sp>
    </p:spTree>
    <p:extLst>
      <p:ext uri="{BB962C8B-B14F-4D97-AF65-F5344CB8AC3E}">
        <p14:creationId xmlns:p14="http://schemas.microsoft.com/office/powerpoint/2010/main" val="298144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10</a:t>
            </a:fld>
            <a:endParaRPr lang="de-DE"/>
          </a:p>
        </p:txBody>
      </p:sp>
      <p:pic>
        <p:nvPicPr>
          <p:cNvPr id="3075" name="Picture 3">
            <a:extLst>
              <a:ext uri="{FF2B5EF4-FFF2-40B4-BE49-F238E27FC236}">
                <a16:creationId xmlns:a16="http://schemas.microsoft.com/office/drawing/2014/main" id="{156C9A60-8A79-4B17-802F-865255419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97951"/>
            <a:ext cx="5335105" cy="27363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Rechteck 7">
            <a:extLst>
              <a:ext uri="{FF2B5EF4-FFF2-40B4-BE49-F238E27FC236}">
                <a16:creationId xmlns:a16="http://schemas.microsoft.com/office/drawing/2014/main" id="{23FF765C-D6D1-40CB-9EC4-C6E07993755C}"/>
              </a:ext>
            </a:extLst>
          </p:cNvPr>
          <p:cNvSpPr/>
          <p:nvPr/>
        </p:nvSpPr>
        <p:spPr>
          <a:xfrm>
            <a:off x="7080790" y="1597951"/>
            <a:ext cx="1657826" cy="338554"/>
          </a:xfrm>
          <a:prstGeom prst="rect">
            <a:avLst/>
          </a:prstGeom>
        </p:spPr>
        <p:txBody>
          <a:bodyPr wrap="none">
            <a:spAutoFit/>
          </a:bodyPr>
          <a:lstStyle/>
          <a:p>
            <a:pPr algn="just">
              <a:spcAft>
                <a:spcPts val="0"/>
              </a:spcAft>
              <a:tabLst>
                <a:tab pos="457200" algn="l"/>
              </a:tabLst>
            </a:pPr>
            <a:r>
              <a:rPr lang="de-DE" sz="1600" b="0" cap="small" dirty="0">
                <a:solidFill>
                  <a:srgbClr val="000000"/>
                </a:solidFill>
                <a:latin typeface="+mn-lt"/>
                <a:ea typeface="Arial" panose="020B0604020202020204" pitchFamily="34" charset="0"/>
              </a:rPr>
              <a:t>(</a:t>
            </a:r>
            <a:r>
              <a:rPr lang="de-DE" sz="1600" b="0" cap="small" dirty="0">
                <a:solidFill>
                  <a:srgbClr val="000000"/>
                </a:solidFill>
                <a:latin typeface="+mn-lt"/>
                <a:ea typeface="DKJNDH+TimesNewRoman"/>
              </a:rPr>
              <a:t>Arnold,</a:t>
            </a:r>
            <a:r>
              <a:rPr lang="de-DE" sz="1600" b="0" dirty="0">
                <a:solidFill>
                  <a:srgbClr val="000000"/>
                </a:solidFill>
                <a:latin typeface="+mn-lt"/>
                <a:ea typeface="DKJNDH+TimesNewRoman"/>
              </a:rPr>
              <a:t> 1990)</a:t>
            </a:r>
            <a:endParaRPr lang="de-DE" sz="1600" b="0" dirty="0">
              <a:effectLst/>
              <a:latin typeface="+mn-lt"/>
              <a:ea typeface="Times New Roman" panose="02020603050405020304" pitchFamily="18" charset="0"/>
            </a:endParaRPr>
          </a:p>
        </p:txBody>
      </p:sp>
      <p:sp>
        <p:nvSpPr>
          <p:cNvPr id="11" name="Titel 1">
            <a:extLst>
              <a:ext uri="{FF2B5EF4-FFF2-40B4-BE49-F238E27FC236}">
                <a16:creationId xmlns:a16="http://schemas.microsoft.com/office/drawing/2014/main" id="{FEF04873-94A1-4487-8A3B-4E745EF23F7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6.6 Beispiel für Horizontal didaktische Reduktion Elektrotechnik</a:t>
            </a:r>
          </a:p>
        </p:txBody>
      </p:sp>
    </p:spTree>
    <p:extLst>
      <p:ext uri="{BB962C8B-B14F-4D97-AF65-F5344CB8AC3E}">
        <p14:creationId xmlns:p14="http://schemas.microsoft.com/office/powerpoint/2010/main" val="355654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11</a:t>
            </a:fld>
            <a:endParaRPr lang="de-DE"/>
          </a:p>
        </p:txBody>
      </p:sp>
      <mc:AlternateContent xmlns:mc="http://schemas.openxmlformats.org/markup-compatibility/2006" xmlns:a14="http://schemas.microsoft.com/office/drawing/2010/main">
        <mc:Choice Requires="a14">
          <p:graphicFrame>
            <p:nvGraphicFramePr>
              <p:cNvPr id="8" name="Tabelle 7">
                <a:extLst>
                  <a:ext uri="{FF2B5EF4-FFF2-40B4-BE49-F238E27FC236}">
                    <a16:creationId xmlns:a16="http://schemas.microsoft.com/office/drawing/2014/main" id="{DC6BF008-D88E-4089-8BED-AC520372E28E}"/>
                  </a:ext>
                </a:extLst>
              </p:cNvPr>
              <p:cNvGraphicFramePr>
                <a:graphicFrameLocks noGrp="1"/>
              </p:cNvGraphicFramePr>
              <p:nvPr>
                <p:extLst>
                  <p:ext uri="{D42A27DB-BD31-4B8C-83A1-F6EECF244321}">
                    <p14:modId xmlns:p14="http://schemas.microsoft.com/office/powerpoint/2010/main" val="4234019997"/>
                  </p:ext>
                </p:extLst>
              </p:nvPr>
            </p:nvGraphicFramePr>
            <p:xfrm>
              <a:off x="188424" y="1458941"/>
              <a:ext cx="8424936" cy="5154491"/>
            </p:xfrm>
            <a:graphic>
              <a:graphicData uri="http://schemas.openxmlformats.org/drawingml/2006/table">
                <a:tbl>
                  <a:tblPr firstRow="1" bandRow="1">
                    <a:tableStyleId>{5940675A-B579-460E-94D1-54222C63F5DA}</a:tableStyleId>
                  </a:tblPr>
                  <a:tblGrid>
                    <a:gridCol w="1800200">
                      <a:extLst>
                        <a:ext uri="{9D8B030D-6E8A-4147-A177-3AD203B41FA5}">
                          <a16:colId xmlns:a16="http://schemas.microsoft.com/office/drawing/2014/main" val="3646398856"/>
                        </a:ext>
                      </a:extLst>
                    </a:gridCol>
                    <a:gridCol w="2232248">
                      <a:extLst>
                        <a:ext uri="{9D8B030D-6E8A-4147-A177-3AD203B41FA5}">
                          <a16:colId xmlns:a16="http://schemas.microsoft.com/office/drawing/2014/main" val="4044950682"/>
                        </a:ext>
                      </a:extLst>
                    </a:gridCol>
                    <a:gridCol w="2304256">
                      <a:extLst>
                        <a:ext uri="{9D8B030D-6E8A-4147-A177-3AD203B41FA5}">
                          <a16:colId xmlns:a16="http://schemas.microsoft.com/office/drawing/2014/main" val="1856672583"/>
                        </a:ext>
                      </a:extLst>
                    </a:gridCol>
                    <a:gridCol w="2088232">
                      <a:extLst>
                        <a:ext uri="{9D8B030D-6E8A-4147-A177-3AD203B41FA5}">
                          <a16:colId xmlns:a16="http://schemas.microsoft.com/office/drawing/2014/main" val="219504422"/>
                        </a:ext>
                      </a:extLst>
                    </a:gridCol>
                  </a:tblGrid>
                  <a:tr h="288032">
                    <a:tc>
                      <a:txBody>
                        <a:bodyPr/>
                        <a:lstStyle/>
                        <a:p>
                          <a:endParaRPr lang="de-DE" sz="1600" dirty="0"/>
                        </a:p>
                      </a:txBody>
                      <a:tcPr>
                        <a:solidFill>
                          <a:schemeClr val="bg1"/>
                        </a:solidFill>
                      </a:tcPr>
                    </a:tc>
                    <a:tc>
                      <a:txBody>
                        <a:bodyPr/>
                        <a:lstStyle/>
                        <a:p>
                          <a:r>
                            <a:rPr lang="de-DE" sz="1600" dirty="0"/>
                            <a:t>Skizze</a:t>
                          </a:r>
                        </a:p>
                      </a:txBody>
                      <a:tcPr>
                        <a:solidFill>
                          <a:schemeClr val="bg1"/>
                        </a:solidFill>
                      </a:tcPr>
                    </a:tc>
                    <a:tc>
                      <a:txBody>
                        <a:bodyPr/>
                        <a:lstStyle/>
                        <a:p>
                          <a:r>
                            <a:rPr lang="de-DE" sz="1600" dirty="0"/>
                            <a:t>Verbalformulierung</a:t>
                          </a:r>
                        </a:p>
                      </a:txBody>
                      <a:tcPr>
                        <a:solidFill>
                          <a:schemeClr val="bg1"/>
                        </a:solidFill>
                      </a:tcPr>
                    </a:tc>
                    <a:tc>
                      <a:txBody>
                        <a:bodyPr/>
                        <a:lstStyle/>
                        <a:p>
                          <a:r>
                            <a:rPr lang="de-DE" sz="1600" dirty="0"/>
                            <a:t>Einschränkungen</a:t>
                          </a:r>
                        </a:p>
                      </a:txBody>
                      <a:tcPr>
                        <a:solidFill>
                          <a:schemeClr val="bg1"/>
                        </a:solidFill>
                      </a:tcPr>
                    </a:tc>
                    <a:extLst>
                      <a:ext uri="{0D108BD9-81ED-4DB2-BD59-A6C34878D82A}">
                        <a16:rowId xmlns:a16="http://schemas.microsoft.com/office/drawing/2014/main" val="3562000493"/>
                      </a:ext>
                    </a:extLst>
                  </a:tr>
                  <a:tr h="1636609">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𝐹</m:t>
                                </m:r>
                                <m:r>
                                  <a:rPr kumimoji="0" lang="de-DE" sz="1800" i="1" kern="1200" smtClean="0">
                                    <a:solidFill>
                                      <a:schemeClr val="tx1"/>
                                    </a:solidFill>
                                    <a:effectLst/>
                                    <a:latin typeface="Cambria Math" panose="02040503050406030204" pitchFamily="18" charset="0"/>
                                    <a:ea typeface="+mn-ea"/>
                                    <a:cs typeface="+mn-cs"/>
                                  </a:rPr>
                                  <m:t>=∫</m:t>
                                </m:r>
                                <m:r>
                                  <a:rPr kumimoji="0" lang="de-DE" sz="1800" i="1" kern="1200">
                                    <a:solidFill>
                                      <a:schemeClr val="tx1"/>
                                    </a:solidFill>
                                    <a:effectLst/>
                                    <a:latin typeface="Cambria Math" panose="02040503050406030204" pitchFamily="18" charset="0"/>
                                    <a:ea typeface="+mn-ea"/>
                                    <a:cs typeface="+mn-cs"/>
                                  </a:rPr>
                                  <m:t>𝑔𝑑𝑙</m:t>
                                </m:r>
                                <m:r>
                                  <a:rPr kumimoji="0" lang="de-DE" sz="1800" i="1" kern="1200">
                                    <a:solidFill>
                                      <a:schemeClr val="tx1"/>
                                    </a:solidFill>
                                    <a:effectLst/>
                                    <a:latin typeface="Cambria Math" panose="02040503050406030204" pitchFamily="18" charset="0"/>
                                    <a:ea typeface="+mn-ea"/>
                                    <a:cs typeface="+mn-cs"/>
                                  </a:rPr>
                                  <m:t>=</m:t>
                                </m:r>
                                <m:d>
                                  <m:dPr>
                                    <m:begChr m:val="["/>
                                    <m:endChr m:val="]"/>
                                    <m:ctrlPr>
                                      <a:rPr kumimoji="0" lang="de-DE" sz="1800" i="1" kern="1200">
                                        <a:solidFill>
                                          <a:schemeClr val="tx1"/>
                                        </a:solidFill>
                                        <a:effectLst/>
                                        <a:latin typeface="Cambria Math" panose="02040503050406030204" pitchFamily="18" charset="0"/>
                                        <a:ea typeface="+mn-ea"/>
                                        <a:cs typeface="+mn-cs"/>
                                      </a:rPr>
                                    </m:ctrlPr>
                                  </m:dPr>
                                  <m:e>
                                    <m:r>
                                      <a:rPr kumimoji="0" lang="de-DE" sz="1800" i="1" kern="1200">
                                        <a:solidFill>
                                          <a:schemeClr val="tx1"/>
                                        </a:solidFill>
                                        <a:effectLst/>
                                        <a:latin typeface="Cambria Math" panose="02040503050406030204" pitchFamily="18" charset="0"/>
                                        <a:ea typeface="+mn-ea"/>
                                        <a:cs typeface="+mn-cs"/>
                                      </a:rPr>
                                      <m:t>𝑁</m:t>
                                    </m:r>
                                  </m:e>
                                </m:d>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Berechnung der Fläche unter der Funktion, die die Streckenlast beschreibt.</a:t>
                          </a:r>
                          <a:endParaRPr lang="de-DE" sz="1400" dirty="0"/>
                        </a:p>
                      </a:txBody>
                      <a:tcPr>
                        <a:solidFill>
                          <a:schemeClr val="bg1"/>
                        </a:solidFill>
                      </a:tcPr>
                    </a:tc>
                    <a:tc>
                      <a:txBody>
                        <a:bodyPr/>
                        <a:lstStyle/>
                        <a:p>
                          <a:r>
                            <a:rPr lang="de-DE" sz="1400" dirty="0"/>
                            <a:t>gilt immer</a:t>
                          </a:r>
                        </a:p>
                      </a:txBody>
                      <a:tcPr>
                        <a:solidFill>
                          <a:schemeClr val="bg1"/>
                        </a:solidFill>
                      </a:tcPr>
                    </a:tc>
                    <a:extLst>
                      <a:ext uri="{0D108BD9-81ED-4DB2-BD59-A6C34878D82A}">
                        <a16:rowId xmlns:a16="http://schemas.microsoft.com/office/drawing/2014/main" val="64451563"/>
                      </a:ext>
                    </a:extLst>
                  </a:tr>
                  <a:tr h="1591301">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𝛥</m:t>
                                </m:r>
                                <m:r>
                                  <a:rPr kumimoji="0" lang="de-DE" sz="1800" i="1" kern="1200">
                                    <a:solidFill>
                                      <a:schemeClr val="tx1"/>
                                    </a:solidFill>
                                    <a:effectLst/>
                                    <a:latin typeface="Cambria Math" panose="02040503050406030204" pitchFamily="18" charset="0"/>
                                    <a:ea typeface="+mn-ea"/>
                                    <a:cs typeface="+mn-cs"/>
                                  </a:rPr>
                                  <m:t>𝐹</m:t>
                                </m:r>
                                <m:r>
                                  <a:rPr kumimoji="0" lang="de-DE" sz="1800" i="1" kern="1200">
                                    <a:solidFill>
                                      <a:schemeClr val="tx1"/>
                                    </a:solidFill>
                                    <a:effectLst/>
                                    <a:latin typeface="Cambria Math" panose="02040503050406030204" pitchFamily="18" charset="0"/>
                                    <a:ea typeface="+mn-ea"/>
                                    <a:cs typeface="+mn-cs"/>
                                  </a:rPr>
                                  <m:t>=</m:t>
                                </m:r>
                                <m:r>
                                  <a:rPr kumimoji="0" lang="de-DE" sz="1800" i="1" kern="1200">
                                    <a:solidFill>
                                      <a:schemeClr val="tx1"/>
                                    </a:solidFill>
                                    <a:effectLst/>
                                    <a:latin typeface="Cambria Math" panose="02040503050406030204" pitchFamily="18" charset="0"/>
                                    <a:ea typeface="+mn-ea"/>
                                    <a:cs typeface="+mn-cs"/>
                                  </a:rPr>
                                  <m:t>𝑔</m:t>
                                </m:r>
                                <m:r>
                                  <a:rPr kumimoji="0" lang="de-DE" sz="1800" i="1" kern="1200">
                                    <a:solidFill>
                                      <a:schemeClr val="tx1"/>
                                    </a:solidFill>
                                    <a:effectLst/>
                                    <a:latin typeface="Cambria Math" panose="02040503050406030204" pitchFamily="18" charset="0"/>
                                    <a:ea typeface="+mn-ea"/>
                                    <a:cs typeface="+mn-cs"/>
                                  </a:rPr>
                                  <m:t>𝛥</m:t>
                                </m:r>
                                <m:r>
                                  <a:rPr kumimoji="0" lang="de-DE" sz="1800" i="1" kern="1200">
                                    <a:solidFill>
                                      <a:schemeClr val="tx1"/>
                                    </a:solidFill>
                                    <a:effectLst/>
                                    <a:latin typeface="Cambria Math" panose="02040503050406030204" pitchFamily="18" charset="0"/>
                                    <a:ea typeface="+mn-ea"/>
                                    <a:cs typeface="+mn-cs"/>
                                  </a:rPr>
                                  <m:t>𝑙</m:t>
                                </m:r>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Streckenlast multipliziert mit dem Abstand der Auflage (l).</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wenn angenommen werden kann, dass die Kraftverteilung über das Bauteil nahezu symmetrisch ist.</a:t>
                          </a:r>
                          <a:endParaRPr lang="de-DE" sz="1400" dirty="0"/>
                        </a:p>
                      </a:txBody>
                      <a:tcPr>
                        <a:solidFill>
                          <a:schemeClr val="bg1"/>
                        </a:solidFill>
                      </a:tcPr>
                    </a:tc>
                    <a:extLst>
                      <a:ext uri="{0D108BD9-81ED-4DB2-BD59-A6C34878D82A}">
                        <a16:rowId xmlns:a16="http://schemas.microsoft.com/office/drawing/2014/main" val="3668860012"/>
                      </a:ext>
                    </a:extLst>
                  </a:tr>
                  <a:tr h="1591301">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𝐹</m:t>
                                </m:r>
                                <m:r>
                                  <a:rPr kumimoji="0" lang="de-DE" sz="1800" i="1" kern="1200" smtClean="0">
                                    <a:solidFill>
                                      <a:schemeClr val="tx1"/>
                                    </a:solidFill>
                                    <a:effectLst/>
                                    <a:latin typeface="Cambria Math" panose="02040503050406030204" pitchFamily="18" charset="0"/>
                                    <a:ea typeface="+mn-ea"/>
                                    <a:cs typeface="+mn-cs"/>
                                  </a:rPr>
                                  <m:t>=</m:t>
                                </m:r>
                                <m:r>
                                  <a:rPr kumimoji="0" lang="de-DE" sz="1800" i="1" kern="1200" smtClean="0">
                                    <a:solidFill>
                                      <a:schemeClr val="tx1"/>
                                    </a:solidFill>
                                    <a:effectLst/>
                                    <a:latin typeface="Cambria Math" panose="02040503050406030204" pitchFamily="18" charset="0"/>
                                    <a:ea typeface="+mn-ea"/>
                                    <a:cs typeface="+mn-cs"/>
                                  </a:rPr>
                                  <m:t>𝑔𝑙</m:t>
                                </m:r>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aus einer Streckenlast wirkt im Mittelpunkt des Bauteils. Sie ergibt sich aus der Länge multipliziert mit der Streckenlast.</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für denn Fall, dass sie Annahme der wirkenden Kraft als Punktlast für das Berechnungsverfahren hinreichen ist.</a:t>
                          </a:r>
                          <a:endParaRPr lang="de-DE" sz="1400" dirty="0"/>
                        </a:p>
                      </a:txBody>
                      <a:tcPr>
                        <a:solidFill>
                          <a:schemeClr val="bg1"/>
                        </a:solidFill>
                      </a:tcPr>
                    </a:tc>
                    <a:extLst>
                      <a:ext uri="{0D108BD9-81ED-4DB2-BD59-A6C34878D82A}">
                        <a16:rowId xmlns:a16="http://schemas.microsoft.com/office/drawing/2014/main" val="556854566"/>
                      </a:ext>
                    </a:extLst>
                  </a:tr>
                </a:tbl>
              </a:graphicData>
            </a:graphic>
          </p:graphicFrame>
        </mc:Choice>
        <mc:Fallback xmlns="">
          <p:graphicFrame>
            <p:nvGraphicFramePr>
              <p:cNvPr id="8" name="Tabelle 7">
                <a:extLst>
                  <a:ext uri="{FF2B5EF4-FFF2-40B4-BE49-F238E27FC236}">
                    <a16:creationId xmlns:a16="http://schemas.microsoft.com/office/drawing/2014/main" id="{DC6BF008-D88E-4089-8BED-AC520372E28E}"/>
                  </a:ext>
                </a:extLst>
              </p:cNvPr>
              <p:cNvGraphicFramePr>
                <a:graphicFrameLocks noGrp="1"/>
              </p:cNvGraphicFramePr>
              <p:nvPr>
                <p:extLst>
                  <p:ext uri="{D42A27DB-BD31-4B8C-83A1-F6EECF244321}">
                    <p14:modId xmlns:p14="http://schemas.microsoft.com/office/powerpoint/2010/main" val="4234019997"/>
                  </p:ext>
                </p:extLst>
              </p:nvPr>
            </p:nvGraphicFramePr>
            <p:xfrm>
              <a:off x="188424" y="1458941"/>
              <a:ext cx="8424936" cy="5154491"/>
            </p:xfrm>
            <a:graphic>
              <a:graphicData uri="http://schemas.openxmlformats.org/drawingml/2006/table">
                <a:tbl>
                  <a:tblPr firstRow="1" bandRow="1">
                    <a:tableStyleId>{5940675A-B579-460E-94D1-54222C63F5DA}</a:tableStyleId>
                  </a:tblPr>
                  <a:tblGrid>
                    <a:gridCol w="1800200">
                      <a:extLst>
                        <a:ext uri="{9D8B030D-6E8A-4147-A177-3AD203B41FA5}">
                          <a16:colId xmlns:a16="http://schemas.microsoft.com/office/drawing/2014/main" val="3646398856"/>
                        </a:ext>
                      </a:extLst>
                    </a:gridCol>
                    <a:gridCol w="2232248">
                      <a:extLst>
                        <a:ext uri="{9D8B030D-6E8A-4147-A177-3AD203B41FA5}">
                          <a16:colId xmlns:a16="http://schemas.microsoft.com/office/drawing/2014/main" val="4044950682"/>
                        </a:ext>
                      </a:extLst>
                    </a:gridCol>
                    <a:gridCol w="2304256">
                      <a:extLst>
                        <a:ext uri="{9D8B030D-6E8A-4147-A177-3AD203B41FA5}">
                          <a16:colId xmlns:a16="http://schemas.microsoft.com/office/drawing/2014/main" val="1856672583"/>
                        </a:ext>
                      </a:extLst>
                    </a:gridCol>
                    <a:gridCol w="2088232">
                      <a:extLst>
                        <a:ext uri="{9D8B030D-6E8A-4147-A177-3AD203B41FA5}">
                          <a16:colId xmlns:a16="http://schemas.microsoft.com/office/drawing/2014/main" val="219504422"/>
                        </a:ext>
                      </a:extLst>
                    </a:gridCol>
                  </a:tblGrid>
                  <a:tr h="335280">
                    <a:tc>
                      <a:txBody>
                        <a:bodyPr/>
                        <a:lstStyle/>
                        <a:p>
                          <a:endParaRPr lang="de-DE" sz="1600" dirty="0"/>
                        </a:p>
                      </a:txBody>
                      <a:tcPr>
                        <a:solidFill>
                          <a:schemeClr val="bg1"/>
                        </a:solidFill>
                      </a:tcPr>
                    </a:tc>
                    <a:tc>
                      <a:txBody>
                        <a:bodyPr/>
                        <a:lstStyle/>
                        <a:p>
                          <a:r>
                            <a:rPr lang="de-DE" sz="1600" dirty="0"/>
                            <a:t>Skizze</a:t>
                          </a:r>
                        </a:p>
                      </a:txBody>
                      <a:tcPr>
                        <a:solidFill>
                          <a:schemeClr val="bg1"/>
                        </a:solidFill>
                      </a:tcPr>
                    </a:tc>
                    <a:tc>
                      <a:txBody>
                        <a:bodyPr/>
                        <a:lstStyle/>
                        <a:p>
                          <a:r>
                            <a:rPr lang="de-DE" sz="1600" dirty="0"/>
                            <a:t>Verbalformulierung</a:t>
                          </a:r>
                        </a:p>
                      </a:txBody>
                      <a:tcPr>
                        <a:solidFill>
                          <a:schemeClr val="bg1"/>
                        </a:solidFill>
                      </a:tcPr>
                    </a:tc>
                    <a:tc>
                      <a:txBody>
                        <a:bodyPr/>
                        <a:lstStyle/>
                        <a:p>
                          <a:r>
                            <a:rPr lang="de-DE" sz="1600" dirty="0"/>
                            <a:t>Einschränkungen</a:t>
                          </a:r>
                        </a:p>
                      </a:txBody>
                      <a:tcPr>
                        <a:solidFill>
                          <a:schemeClr val="bg1"/>
                        </a:solidFill>
                      </a:tcPr>
                    </a:tc>
                    <a:extLst>
                      <a:ext uri="{0D108BD9-81ED-4DB2-BD59-A6C34878D82A}">
                        <a16:rowId xmlns:a16="http://schemas.microsoft.com/office/drawing/2014/main" val="3562000493"/>
                      </a:ext>
                    </a:extLst>
                  </a:tr>
                  <a:tr h="1636609">
                    <a:tc>
                      <a:txBody>
                        <a:bodyPr/>
                        <a:lstStyle/>
                        <a:p>
                          <a:endParaRPr lang="de-DE"/>
                        </a:p>
                      </a:txBody>
                      <a:tcPr>
                        <a:blipFill>
                          <a:blip r:embed="rId2"/>
                          <a:stretch>
                            <a:fillRect l="-338" t="-21561" r="-368243" b="-19739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Berechnung der Fläche unter der Funktion, die die Streckenlast beschreibt.</a:t>
                          </a:r>
                          <a:endParaRPr lang="de-DE" sz="1400" dirty="0"/>
                        </a:p>
                      </a:txBody>
                      <a:tcPr>
                        <a:solidFill>
                          <a:schemeClr val="bg1"/>
                        </a:solidFill>
                      </a:tcPr>
                    </a:tc>
                    <a:tc>
                      <a:txBody>
                        <a:bodyPr/>
                        <a:lstStyle/>
                        <a:p>
                          <a:r>
                            <a:rPr lang="de-DE" sz="1400" dirty="0"/>
                            <a:t>gilt immer</a:t>
                          </a:r>
                        </a:p>
                      </a:txBody>
                      <a:tcPr>
                        <a:solidFill>
                          <a:schemeClr val="bg1"/>
                        </a:solidFill>
                      </a:tcPr>
                    </a:tc>
                    <a:extLst>
                      <a:ext uri="{0D108BD9-81ED-4DB2-BD59-A6C34878D82A}">
                        <a16:rowId xmlns:a16="http://schemas.microsoft.com/office/drawing/2014/main" val="64451563"/>
                      </a:ext>
                    </a:extLst>
                  </a:tr>
                  <a:tr h="1591301">
                    <a:tc>
                      <a:txBody>
                        <a:bodyPr/>
                        <a:lstStyle/>
                        <a:p>
                          <a:endParaRPr lang="de-DE"/>
                        </a:p>
                      </a:txBody>
                      <a:tcPr>
                        <a:blipFill>
                          <a:blip r:embed="rId2"/>
                          <a:stretch>
                            <a:fillRect l="-338" t="-125287" r="-368243" b="-10344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Streckenlast multipliziert mit dem Abstand der Auflage (l).</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wenn angenommen werden kann, dass die Kraftverteilung über das Bauteil nahezu symmetrisch ist.</a:t>
                          </a:r>
                          <a:endParaRPr lang="de-DE" sz="1400" dirty="0"/>
                        </a:p>
                      </a:txBody>
                      <a:tcPr>
                        <a:solidFill>
                          <a:schemeClr val="bg1"/>
                        </a:solidFill>
                      </a:tcPr>
                    </a:tc>
                    <a:extLst>
                      <a:ext uri="{0D108BD9-81ED-4DB2-BD59-A6C34878D82A}">
                        <a16:rowId xmlns:a16="http://schemas.microsoft.com/office/drawing/2014/main" val="3668860012"/>
                      </a:ext>
                    </a:extLst>
                  </a:tr>
                  <a:tr h="1591301">
                    <a:tc>
                      <a:txBody>
                        <a:bodyPr/>
                        <a:lstStyle/>
                        <a:p>
                          <a:endParaRPr lang="de-DE"/>
                        </a:p>
                      </a:txBody>
                      <a:tcPr>
                        <a:blipFill>
                          <a:blip r:embed="rId2"/>
                          <a:stretch>
                            <a:fillRect l="-338" t="-225287" r="-368243" b="-344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aus einer Streckenlast wirkt im Mittelpunkt des Bauteils. Sie ergibt sich aus der Länge multipliziert mit der Streckenlast.</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für denn Fall, dass sie Annahme der wirkenden Kraft als Punktlast für das Berechnungsverfahren hinreichen ist.</a:t>
                          </a:r>
                          <a:endParaRPr lang="de-DE" sz="1400" dirty="0"/>
                        </a:p>
                      </a:txBody>
                      <a:tcPr>
                        <a:solidFill>
                          <a:schemeClr val="bg1"/>
                        </a:solidFill>
                      </a:tcPr>
                    </a:tc>
                    <a:extLst>
                      <a:ext uri="{0D108BD9-81ED-4DB2-BD59-A6C34878D82A}">
                        <a16:rowId xmlns:a16="http://schemas.microsoft.com/office/drawing/2014/main" val="556854566"/>
                      </a:ext>
                    </a:extLst>
                  </a:tr>
                </a:tbl>
              </a:graphicData>
            </a:graphic>
          </p:graphicFrame>
        </mc:Fallback>
      </mc:AlternateContent>
      <p:grpSp>
        <p:nvGrpSpPr>
          <p:cNvPr id="9" name="Gruppieren 8">
            <a:extLst>
              <a:ext uri="{FF2B5EF4-FFF2-40B4-BE49-F238E27FC236}">
                <a16:creationId xmlns:a16="http://schemas.microsoft.com/office/drawing/2014/main" id="{752A3A30-1BED-4CC8-966F-D405E7ABAA96}"/>
              </a:ext>
            </a:extLst>
          </p:cNvPr>
          <p:cNvGrpSpPr/>
          <p:nvPr/>
        </p:nvGrpSpPr>
        <p:grpSpPr>
          <a:xfrm>
            <a:off x="1995395" y="2316376"/>
            <a:ext cx="2200245" cy="4269547"/>
            <a:chOff x="1995395" y="2316376"/>
            <a:chExt cx="2200245" cy="4269547"/>
          </a:xfrm>
        </p:grpSpPr>
        <p:pic>
          <p:nvPicPr>
            <p:cNvPr id="2055" name="Picture 7" descr="b1">
              <a:extLst>
                <a:ext uri="{FF2B5EF4-FFF2-40B4-BE49-F238E27FC236}">
                  <a16:creationId xmlns:a16="http://schemas.microsoft.com/office/drawing/2014/main" id="{7DD4153C-33B3-4718-B222-D11E22157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806" b="23551"/>
            <a:stretch/>
          </p:blipFill>
          <p:spPr bwMode="auto">
            <a:xfrm>
              <a:off x="1995395" y="2316376"/>
              <a:ext cx="2200245" cy="87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8" descr="b2">
              <a:extLst>
                <a:ext uri="{FF2B5EF4-FFF2-40B4-BE49-F238E27FC236}">
                  <a16:creationId xmlns:a16="http://schemas.microsoft.com/office/drawing/2014/main" id="{86D0F381-92AC-43BC-84B3-5A9BD469C6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63" r="7471" b="21428"/>
            <a:stretch/>
          </p:blipFill>
          <p:spPr bwMode="auto">
            <a:xfrm>
              <a:off x="2039256" y="3861048"/>
              <a:ext cx="212156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Picture 9" descr="b3">
              <a:extLst>
                <a:ext uri="{FF2B5EF4-FFF2-40B4-BE49-F238E27FC236}">
                  <a16:creationId xmlns:a16="http://schemas.microsoft.com/office/drawing/2014/main" id="{7C224AE4-5D04-496F-9476-C913A07738E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678" r="5066" b="3474"/>
            <a:stretch/>
          </p:blipFill>
          <p:spPr bwMode="auto">
            <a:xfrm>
              <a:off x="2030739" y="5361786"/>
              <a:ext cx="2132005" cy="122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Titel 1">
            <a:extLst>
              <a:ext uri="{FF2B5EF4-FFF2-40B4-BE49-F238E27FC236}">
                <a16:creationId xmlns:a16="http://schemas.microsoft.com/office/drawing/2014/main" id="{2EE19000-985A-4872-950C-49914605153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6.7 Beispiel für Horizontal didaktische Reduktion </a:t>
            </a:r>
            <a:r>
              <a:rPr lang="de-DE" sz="2500" dirty="0" err="1"/>
              <a:t>bautechnik</a:t>
            </a:r>
            <a:endParaRPr lang="de-DE" sz="2500" dirty="0"/>
          </a:p>
        </p:txBody>
      </p:sp>
    </p:spTree>
    <p:extLst>
      <p:ext uri="{BB962C8B-B14F-4D97-AF65-F5344CB8AC3E}">
        <p14:creationId xmlns:p14="http://schemas.microsoft.com/office/powerpoint/2010/main" val="1549414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6.8 Didaktisches Reduktionsfeld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12</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Entscheidungsschritte zur didaktische Reduktion nach ARNOLD</a:t>
            </a:r>
          </a:p>
          <a:p>
            <a:pPr marL="990600" lvl="1" indent="-366713" eaLnBrk="1" hangingPunct="1">
              <a:buFont typeface="Wingdings" pitchFamily="2" charset="2"/>
              <a:buAutoNum type="arabicPeriod"/>
            </a:pPr>
            <a:r>
              <a:rPr lang="de-DE" sz="2000" dirty="0"/>
              <a:t>Sachanalyse</a:t>
            </a:r>
          </a:p>
          <a:p>
            <a:pPr marL="1524000" lvl="2" indent="-354013" eaLnBrk="1" hangingPunct="1"/>
            <a:r>
              <a:rPr lang="de-DE" dirty="0"/>
              <a:t>Durch welche Begriffe, Elemente ist die Komplexität des Unterrichts bestimmt</a:t>
            </a:r>
          </a:p>
          <a:p>
            <a:pPr marL="990600" lvl="1" indent="-366713" eaLnBrk="1" hangingPunct="1">
              <a:buFont typeface="Wingdings" pitchFamily="2" charset="2"/>
              <a:buAutoNum type="arabicPeriod"/>
            </a:pPr>
            <a:r>
              <a:rPr lang="de-DE" sz="2000" dirty="0"/>
              <a:t>Didaktische Strukturierung</a:t>
            </a:r>
          </a:p>
          <a:p>
            <a:pPr marL="1524000" lvl="2" indent="-354013" eaLnBrk="1" hangingPunct="1"/>
            <a:r>
              <a:rPr lang="de-DE" dirty="0"/>
              <a:t>Welche Bestandteile sind von zentraler Bedeutung, um den Gegenstand zu verstehen</a:t>
            </a:r>
          </a:p>
          <a:p>
            <a:pPr marL="990600" lvl="1" indent="-366713" eaLnBrk="1" hangingPunct="1">
              <a:buFont typeface="Wingdings" pitchFamily="2" charset="2"/>
              <a:buAutoNum type="arabicPeriod"/>
            </a:pPr>
            <a:r>
              <a:rPr lang="de-DE" sz="2000" dirty="0"/>
              <a:t>Restriktionsanalyse</a:t>
            </a:r>
          </a:p>
          <a:p>
            <a:pPr marL="1524000" lvl="2" indent="-354013" eaLnBrk="1" hangingPunct="1"/>
            <a:r>
              <a:rPr lang="de-DE" dirty="0"/>
              <a:t>Erwartete Lernschwierigkeiten der Adressaten in die Planung einbeziehen</a:t>
            </a:r>
          </a:p>
        </p:txBody>
      </p:sp>
    </p:spTree>
    <p:extLst>
      <p:ext uri="{BB962C8B-B14F-4D97-AF65-F5344CB8AC3E}">
        <p14:creationId xmlns:p14="http://schemas.microsoft.com/office/powerpoint/2010/main" val="1406417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6.8 Didaktisches Reduktionsfeld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13</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Entscheidungsschritte zur didaktische Reduktion nach ARNOLD</a:t>
            </a:r>
          </a:p>
          <a:p>
            <a:pPr marL="990600" lvl="1" indent="-366713" eaLnBrk="1" hangingPunct="1">
              <a:buFont typeface="Wingdings" pitchFamily="2" charset="2"/>
              <a:buAutoNum type="arabicPeriod" startAt="4"/>
            </a:pPr>
            <a:r>
              <a:rPr lang="de-DE" sz="2000" dirty="0"/>
              <a:t>Horizontale didaktische Reduktion</a:t>
            </a:r>
          </a:p>
          <a:p>
            <a:pPr marL="1524000" lvl="2" indent="-354013" eaLnBrk="1" hangingPunct="1"/>
            <a:r>
              <a:rPr lang="de-DE" dirty="0"/>
              <a:t>Förderung des Verständnisses durch Beispiele, Analogien, usw.</a:t>
            </a:r>
          </a:p>
          <a:p>
            <a:pPr marL="990600" lvl="1" indent="-366713" eaLnBrk="1" hangingPunct="1">
              <a:buFont typeface="Wingdings" pitchFamily="2" charset="2"/>
              <a:buAutoNum type="arabicPeriod" startAt="4"/>
            </a:pPr>
            <a:r>
              <a:rPr lang="de-DE" sz="2000" dirty="0"/>
              <a:t>Vertikale didaktische Reduktion I</a:t>
            </a:r>
          </a:p>
          <a:p>
            <a:pPr marL="1524000" lvl="2" indent="-354013" eaLnBrk="1" hangingPunct="1"/>
            <a:r>
              <a:rPr lang="de-DE" dirty="0"/>
              <a:t>Auf welche Bestandteile kann verzichtet werden, ohne die Gültigkeit einzuschränken</a:t>
            </a:r>
          </a:p>
          <a:p>
            <a:pPr marL="990600" lvl="1" indent="-366713" eaLnBrk="1" hangingPunct="1">
              <a:buFont typeface="Wingdings" pitchFamily="2" charset="2"/>
              <a:buAutoNum type="arabicPeriod" startAt="4"/>
            </a:pPr>
            <a:r>
              <a:rPr lang="de-DE" sz="2000" dirty="0"/>
              <a:t>Vertikale didaktische Reduktion II</a:t>
            </a:r>
          </a:p>
          <a:p>
            <a:pPr marL="1524000" lvl="2" indent="-354013" eaLnBrk="1" hangingPunct="1"/>
            <a:r>
              <a:rPr lang="de-DE" dirty="0"/>
              <a:t>Welche Einschränkungen des Gültigkeitsumfanges können verantwortet werden, um das Verständnis zu fördern</a:t>
            </a:r>
          </a:p>
        </p:txBody>
      </p:sp>
    </p:spTree>
    <p:extLst>
      <p:ext uri="{BB962C8B-B14F-4D97-AF65-F5344CB8AC3E}">
        <p14:creationId xmlns:p14="http://schemas.microsoft.com/office/powerpoint/2010/main" val="2480448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Hauptsatz der didaktischen Vereinfachung</a:t>
            </a:r>
            <a:br>
              <a:rPr lang="de-DE" altLang="de-DE" sz="2800">
                <a:latin typeface="Arial Narrow" panose="020B0606020202030204" pitchFamily="34" charset="0"/>
              </a:rPr>
            </a:br>
            <a:r>
              <a:rPr lang="de-DE" altLang="de-DE" sz="2800">
                <a:latin typeface="Arial Narrow" panose="020B0606020202030204" pitchFamily="34" charset="0"/>
              </a:rPr>
              <a:t>nach HERING</a:t>
            </a:r>
          </a:p>
        </p:txBody>
      </p:sp>
      <p:sp>
        <p:nvSpPr>
          <p:cNvPr id="3075" name="Rectangle 3"/>
          <p:cNvSpPr>
            <a:spLocks noGrp="1" noChangeArrowheads="1"/>
          </p:cNvSpPr>
          <p:nvPr>
            <p:ph type="body" idx="1"/>
          </p:nvPr>
        </p:nvSpPr>
        <p:spPr>
          <a:xfrm>
            <a:off x="762000" y="1143000"/>
            <a:ext cx="7772400" cy="5257800"/>
          </a:xfrm>
        </p:spPr>
        <p:txBody>
          <a:bodyPr>
            <a:normAutofit lnSpcReduction="10000"/>
          </a:bodyPr>
          <a:lstStyle/>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r>
              <a:rPr lang="de-DE" altLang="de-DE" sz="2000" dirty="0">
                <a:latin typeface="Arial Narrow" panose="020B0606020202030204" pitchFamily="34" charset="0"/>
              </a:rPr>
              <a:t>„Didaktische Vereinfachung einer wissenschaftlichen Aussage ist der Übergang von einer (in die besonderen Merkmale des Gegenstandes) </a:t>
            </a:r>
            <a:r>
              <a:rPr lang="de-DE" altLang="de-DE" sz="2000" i="1" dirty="0">
                <a:latin typeface="Arial Narrow" panose="020B0606020202030204" pitchFamily="34" charset="0"/>
              </a:rPr>
              <a:t>differenzierten</a:t>
            </a:r>
            <a:r>
              <a:rPr lang="de-DE" altLang="de-DE" sz="2000" dirty="0">
                <a:latin typeface="Arial Narrow" panose="020B0606020202030204" pitchFamily="34" charset="0"/>
              </a:rPr>
              <a:t> Aussage zu einer </a:t>
            </a:r>
            <a:r>
              <a:rPr lang="de-DE" altLang="de-DE" sz="2000" i="1" dirty="0">
                <a:latin typeface="Arial Narrow" panose="020B0606020202030204" pitchFamily="34" charset="0"/>
              </a:rPr>
              <a:t>allgemeinen</a:t>
            </a:r>
            <a:r>
              <a:rPr lang="de-DE" altLang="de-DE" sz="2000" dirty="0">
                <a:latin typeface="Arial Narrow" panose="020B0606020202030204" pitchFamily="34" charset="0"/>
              </a:rPr>
              <a:t> Aussage (gleichen Gültigkeitsumfangs über den gleichen Gegenstand unter gleichem Aspekt)“.</a:t>
            </a: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r>
              <a:rPr lang="de-DE" altLang="de-DE" sz="2000" dirty="0">
                <a:latin typeface="Arial Narrow" panose="020B0606020202030204" pitchFamily="34" charset="0"/>
              </a:rPr>
              <a:t>Hering: Zur </a:t>
            </a:r>
            <a:r>
              <a:rPr lang="de-DE" altLang="de-DE" sz="2000" dirty="0" err="1">
                <a:latin typeface="Arial Narrow" panose="020B0606020202030204" pitchFamily="34" charset="0"/>
              </a:rPr>
              <a:t>Faßlichkeit</a:t>
            </a:r>
            <a:r>
              <a:rPr lang="de-DE" altLang="de-DE" sz="2000" dirty="0">
                <a:latin typeface="Arial Narrow" panose="020B0606020202030204" pitchFamily="34" charset="0"/>
              </a:rPr>
              <a:t> naturwissenschaftlicher und technischer Aussagen. – Berlin, 1959, S.92</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697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Bsp.: Bilanzgleichung der Photosynthese</a:t>
            </a:r>
          </a:p>
        </p:txBody>
      </p:sp>
      <p:sp>
        <p:nvSpPr>
          <p:cNvPr id="4099" name="Rectangle 3"/>
          <p:cNvSpPr>
            <a:spLocks noGrp="1" noChangeArrowheads="1"/>
          </p:cNvSpPr>
          <p:nvPr>
            <p:ph type="body" idx="1"/>
          </p:nvPr>
        </p:nvSpPr>
        <p:spPr>
          <a:xfrm>
            <a:off x="762000" y="1143000"/>
            <a:ext cx="7772400" cy="5257800"/>
          </a:xfrm>
        </p:spPr>
        <p:txBody>
          <a:bodyPr/>
          <a:lstStyle/>
          <a:p>
            <a:pPr marL="0" indent="0" defTabSz="800100" eaLnBrk="1" hangingPunct="1">
              <a:buFontTx/>
              <a:buNone/>
            </a:pPr>
            <a:r>
              <a:rPr lang="de-DE" altLang="de-DE" sz="1800" dirty="0">
                <a:latin typeface="Arial Narrow" panose="020B0606020202030204" pitchFamily="34" charset="0"/>
              </a:rPr>
              <a:t>				Lichtenergie,</a:t>
            </a:r>
          </a:p>
          <a:p>
            <a:pPr marL="0" indent="0" defTabSz="800100" eaLnBrk="1" hangingPunct="1">
              <a:buFontTx/>
              <a:buNone/>
            </a:pPr>
            <a:r>
              <a:rPr lang="de-DE" altLang="de-DE" sz="1800" dirty="0">
                <a:latin typeface="Arial Narrow" panose="020B0606020202030204" pitchFamily="34" charset="0"/>
              </a:rPr>
              <a:t>				Chlorophyll</a:t>
            </a:r>
          </a:p>
          <a:p>
            <a:pPr marL="0" indent="0" defTabSz="800100" eaLnBrk="1" hangingPunct="1">
              <a:buFontTx/>
              <a:buNone/>
            </a:pPr>
            <a:endParaRPr lang="de-DE" altLang="de-DE" sz="1800" dirty="0">
              <a:latin typeface="Arial Narrow" panose="020B0606020202030204" pitchFamily="34" charset="0"/>
            </a:endParaRPr>
          </a:p>
          <a:p>
            <a:pPr marL="0" indent="0" defTabSz="800100" eaLnBrk="1" hangingPunct="1">
              <a:buFontTx/>
              <a:buNone/>
            </a:pPr>
            <a:r>
              <a:rPr lang="de-DE" altLang="de-DE" sz="1800" dirty="0">
                <a:latin typeface="Arial Narrow" panose="020B0606020202030204" pitchFamily="34" charset="0"/>
              </a:rPr>
              <a:t>6 CO</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		+          6	H</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O 			C</a:t>
            </a:r>
            <a:r>
              <a:rPr lang="de-DE" altLang="de-DE" sz="1800" baseline="-25000" dirty="0">
                <a:latin typeface="Arial Narrow" panose="020B0606020202030204" pitchFamily="34" charset="0"/>
              </a:rPr>
              <a:t>6</a:t>
            </a:r>
            <a:r>
              <a:rPr lang="de-DE" altLang="de-DE" sz="1800" dirty="0">
                <a:latin typeface="Arial Narrow" panose="020B0606020202030204" pitchFamily="34" charset="0"/>
              </a:rPr>
              <a:t>H</a:t>
            </a:r>
            <a:r>
              <a:rPr lang="de-DE" altLang="de-DE" sz="1800" baseline="-25000" dirty="0">
                <a:latin typeface="Arial Narrow" panose="020B0606020202030204" pitchFamily="34" charset="0"/>
              </a:rPr>
              <a:t>12</a:t>
            </a:r>
            <a:r>
              <a:rPr lang="de-DE" altLang="de-DE" sz="1800" dirty="0">
                <a:latin typeface="Arial Narrow" panose="020B0606020202030204" pitchFamily="34" charset="0"/>
              </a:rPr>
              <a:t>O</a:t>
            </a:r>
            <a:r>
              <a:rPr lang="de-DE" altLang="de-DE" sz="1800" baseline="-25000" dirty="0">
                <a:latin typeface="Arial Narrow" panose="020B0606020202030204" pitchFamily="34" charset="0"/>
              </a:rPr>
              <a:t>6</a:t>
            </a:r>
            <a:r>
              <a:rPr lang="de-DE" altLang="de-DE" sz="1800" dirty="0">
                <a:latin typeface="Arial Narrow" panose="020B0606020202030204" pitchFamily="34" charset="0"/>
              </a:rPr>
              <a:t>       +	6O</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					2827 kJ</a:t>
            </a:r>
          </a:p>
          <a:p>
            <a:pPr marL="0" indent="0" defTabSz="800100" eaLnBrk="1" hangingPunct="1">
              <a:buFontTx/>
              <a:buNone/>
            </a:pPr>
            <a:endParaRPr lang="de-DE" altLang="de-DE" sz="1800" dirty="0">
              <a:latin typeface="Arial Narrow" panose="020B0606020202030204" pitchFamily="34" charset="0"/>
            </a:endParaRPr>
          </a:p>
          <a:p>
            <a:pPr marL="0" indent="0" defTabSz="800100" eaLnBrk="1" hangingPunct="1">
              <a:buFontTx/>
              <a:buNone/>
            </a:pPr>
            <a:r>
              <a:rPr lang="de-DE" altLang="de-DE" sz="1600" dirty="0">
                <a:latin typeface="Arial Narrow" panose="020B0606020202030204" pitchFamily="34" charset="0"/>
              </a:rPr>
              <a:t>Kohlenstoff-		Wasser			Glucose		Sauerstoff</a:t>
            </a:r>
          </a:p>
          <a:p>
            <a:pPr marL="0" indent="0" defTabSz="800100" eaLnBrk="1" hangingPunct="1">
              <a:buFontTx/>
              <a:buNone/>
            </a:pPr>
            <a:r>
              <a:rPr lang="de-DE" altLang="de-DE" sz="1600" dirty="0" err="1">
                <a:latin typeface="Arial Narrow" panose="020B0606020202030204" pitchFamily="34" charset="0"/>
              </a:rPr>
              <a:t>dioxid</a:t>
            </a:r>
            <a:endParaRPr lang="de-DE" altLang="de-DE" sz="1600" dirty="0">
              <a:latin typeface="Arial Narrow" panose="020B0606020202030204"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Line 5"/>
          <p:cNvSpPr>
            <a:spLocks noChangeShapeType="1"/>
          </p:cNvSpPr>
          <p:nvPr/>
        </p:nvSpPr>
        <p:spPr bwMode="auto">
          <a:xfrm>
            <a:off x="3733800" y="19812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Tree>
    <p:extLst>
      <p:ext uri="{BB962C8B-B14F-4D97-AF65-F5344CB8AC3E}">
        <p14:creationId xmlns:p14="http://schemas.microsoft.com/office/powerpoint/2010/main" val="864882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5123"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a:tabLst>
                <a:tab pos="1809750" algn="l"/>
              </a:tabLst>
            </a:pPr>
            <a:r>
              <a:rPr lang="de-DE" altLang="de-DE" sz="1800" b="1">
                <a:solidFill>
                  <a:srgbClr val="FF0000"/>
                </a:solidFill>
                <a:latin typeface="Arial Narrow" panose="020B0606020202030204" pitchFamily="34" charset="0"/>
              </a:rPr>
              <a:t>   Tilgung untergeordneter Aussagen</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Es wird ein Oberbegriff gebildet, der die Teilaussagen mit einschließt.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Die elektrische Leitfähigkeit in Werkstoffen wird durch Elektronen, Defektelektronen und/oder Ionen ermöglicht.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Die elektrische Leitfähigkeit in Werkstoffen wird durch frei bewegliche Ladungsträger ermöglicht.</a:t>
            </a:r>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17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6147"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startAt="2"/>
              <a:tabLst>
                <a:tab pos="1809750" algn="l"/>
              </a:tabLst>
            </a:pPr>
            <a:r>
              <a:rPr lang="de-DE" altLang="de-DE" sz="1800" b="1">
                <a:solidFill>
                  <a:srgbClr val="FF0000"/>
                </a:solidFill>
                <a:latin typeface="Arial Narrow" panose="020B0606020202030204" pitchFamily="34" charset="0"/>
              </a:rPr>
              <a:t>   Indizierte Tilgung nebengeordneter Aussagen</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Ausgewählte Tilgung von Aussagen – es werden diejenigen Teilaussagen getilgt, die zunächst unwesentlich für die Zielstellung erscheinen.</a:t>
            </a:r>
          </a:p>
          <a:p>
            <a:pPr marL="0" indent="0" eaLnBrk="1" hangingPunct="1">
              <a:buFontTx/>
              <a:buNone/>
              <a:tabLst>
                <a:tab pos="1809750" algn="l"/>
              </a:tabLst>
            </a:pPr>
            <a:r>
              <a:rPr lang="de-DE" altLang="de-DE" sz="1800">
                <a:latin typeface="Arial Narrow" panose="020B0606020202030204" pitchFamily="34" charset="0"/>
              </a:rPr>
              <a:t>Anwendung erfolgt vorrangig, wenn kein Oberbegriff gefunden werden kann, der die Merkmale aller Teilaussagen vereint.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Als Zuschläge im Hochofenprozess kommen Quarz, Feldspat, Schiefer, Kalkstein und Dolomit in Betracht.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Als Zuschlag im Hochofenprozess kommt vorwiegend Kalkstein in Betracht. Bestimmte andere Zuschläge sind möglich.</a:t>
            </a: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4157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7171"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startAt="3"/>
              <a:tabLst>
                <a:tab pos="1809750" algn="l"/>
              </a:tabLst>
            </a:pPr>
            <a:r>
              <a:rPr lang="de-DE" altLang="de-DE" sz="1800" b="1">
                <a:solidFill>
                  <a:srgbClr val="FF0000"/>
                </a:solidFill>
                <a:latin typeface="Arial Narrow" panose="020B0606020202030204" pitchFamily="34" charset="0"/>
              </a:rPr>
              <a:t>   Indizierte Verallgemeinerung</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Es wird eine allgemeinere Aussage getroffen und Einschränkungen zum Gültigkeitsumfang werden genannt.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Als Zuschläge im Hochofenprozess kommen Quarz, Feldspat, Schiefer, Kalkstein und Dolomit in Betracht.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Als Zuschlag im Hochofenprozess werden bestimmte Stoffe benutzt, meist Kalk.</a:t>
            </a:r>
          </a:p>
        </p:txBody>
      </p:sp>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57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19</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Sozialformen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7</a:t>
            </a:r>
          </a:p>
        </p:txBody>
      </p:sp>
    </p:spTree>
    <p:extLst>
      <p:ext uri="{BB962C8B-B14F-4D97-AF65-F5344CB8AC3E}">
        <p14:creationId xmlns:p14="http://schemas.microsoft.com/office/powerpoint/2010/main" val="2982545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 Sozialformen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20</a:t>
            </a:fld>
            <a:endParaRPr lang="de-DE"/>
          </a:p>
        </p:txBody>
      </p:sp>
      <p:sp>
        <p:nvSpPr>
          <p:cNvPr id="5" name="Rectangle 3"/>
          <p:cNvSpPr txBox="1">
            <a:spLocks noChangeArrowheads="1"/>
          </p:cNvSpPr>
          <p:nvPr/>
        </p:nvSpPr>
        <p:spPr>
          <a:xfrm>
            <a:off x="620265" y="1591816"/>
            <a:ext cx="8704263"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de-DE" b="0" dirty="0"/>
              <a:t>Sind Organisationsformen, durch unterschiedliche Möglichkeiten der Lehrer-Schüler-Interaktion definiert</a:t>
            </a:r>
          </a:p>
          <a:p>
            <a:r>
              <a:rPr lang="de-DE" b="0" dirty="0"/>
              <a:t>Bestimmen die organisatorische Seite der Interaktionsmöglichkeiten im Unterricht</a:t>
            </a:r>
          </a:p>
        </p:txBody>
      </p:sp>
      <p:graphicFrame>
        <p:nvGraphicFramePr>
          <p:cNvPr id="6" name="Group 23"/>
          <p:cNvGraphicFramePr>
            <a:graphicFrameLocks noGrp="1"/>
          </p:cNvGraphicFramePr>
          <p:nvPr>
            <p:ph sz="half" idx="4294967295"/>
            <p:extLst>
              <p:ext uri="{D42A27DB-BD31-4B8C-83A1-F6EECF244321}">
                <p14:modId xmlns:p14="http://schemas.microsoft.com/office/powerpoint/2010/main" val="2910517166"/>
              </p:ext>
            </p:extLst>
          </p:nvPr>
        </p:nvGraphicFramePr>
        <p:xfrm>
          <a:off x="684213" y="3356992"/>
          <a:ext cx="7920037" cy="2316412"/>
        </p:xfrm>
        <a:graphic>
          <a:graphicData uri="http://schemas.openxmlformats.org/drawingml/2006/table">
            <a:tbl>
              <a:tblPr/>
              <a:tblGrid>
                <a:gridCol w="3752850">
                  <a:extLst>
                    <a:ext uri="{9D8B030D-6E8A-4147-A177-3AD203B41FA5}">
                      <a16:colId xmlns:a16="http://schemas.microsoft.com/office/drawing/2014/main" val="20000"/>
                    </a:ext>
                  </a:extLst>
                </a:gridCol>
                <a:gridCol w="4167187">
                  <a:extLst>
                    <a:ext uri="{9D8B030D-6E8A-4147-A177-3AD203B41FA5}">
                      <a16:colId xmlns:a16="http://schemas.microsoft.com/office/drawing/2014/main" val="20001"/>
                    </a:ext>
                  </a:extLst>
                </a:gridCol>
              </a:tblGrid>
              <a:tr h="45712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Sozialformen</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Häufigkeit (nach MEYER)</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59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Gruppenunterricht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Klassenkooperation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Frontalunterricht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Partnerarbeit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Einzelarbeit</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7,4 %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76,86 %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2,88 %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10,24 %</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2651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7.1 Frontalunterricht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Gemeinsames Vorgehen unter unmittelbarer Führung des Lehrers</a:t>
            </a:r>
          </a:p>
          <a:p>
            <a:pPr marL="444500" indent="-444500" eaLnBrk="1" hangingPunct="1"/>
            <a:r>
              <a:rPr lang="de-DE" sz="2000" dirty="0"/>
              <a:t>Lehrer richtet seine Impulse an die gesamte Klasse und vereinigt alle Reaktionen der Schüler wieder auf sich</a:t>
            </a:r>
          </a:p>
          <a:p>
            <a:pPr marL="444500" indent="-444500" eaLnBrk="1" hangingPunct="1"/>
            <a:r>
              <a:rPr lang="de-DE" sz="2000" dirty="0"/>
              <a:t>Typisch dafür sind: Lehrervortrag, Demonstration, Unterrichtsgespräch</a:t>
            </a:r>
          </a:p>
          <a:p>
            <a:pPr marL="444500" indent="-444500" eaLnBrk="1" hangingPunct="1"/>
            <a:r>
              <a:rPr lang="de-DE" sz="2000" dirty="0"/>
              <a:t>Eine rationelle Organisationsform</a:t>
            </a:r>
          </a:p>
          <a:p>
            <a:pPr marL="444500" indent="-444500" eaLnBrk="1" hangingPunct="1"/>
            <a:r>
              <a:rPr lang="de-DE" sz="2000" dirty="0"/>
              <a:t>Nicht immer rationellste, da die Selbstständigkeit der Schüler missachtet wird</a:t>
            </a:r>
          </a:p>
          <a:p>
            <a:pPr marL="444500" indent="-444500" eaLnBrk="1" hangingPunct="1"/>
            <a:r>
              <a:rPr lang="de-DE" sz="2000" dirty="0"/>
              <a:t>Schnell auf den direkten Weg der Erkenntnis geführt</a:t>
            </a:r>
          </a:p>
          <a:p>
            <a:pPr marL="444500" indent="-444500" eaLnBrk="1" hangingPunct="1"/>
            <a:r>
              <a:rPr lang="de-DE" sz="2000" dirty="0"/>
              <a:t>Individualität wird für die Klasse aufgegeben</a:t>
            </a:r>
          </a:p>
          <a:p>
            <a:pPr marL="444500" indent="-444500" eaLnBrk="1" hangingPunct="1"/>
            <a:r>
              <a:rPr lang="de-DE" sz="2000" dirty="0"/>
              <a:t>Überprüfung der Lernergebnisse ist unbedingt erforderlich, besonders bei den schwächeren Schülern</a:t>
            </a:r>
          </a:p>
        </p:txBody>
      </p:sp>
    </p:spTree>
    <p:extLst>
      <p:ext uri="{BB962C8B-B14F-4D97-AF65-F5344CB8AC3E}">
        <p14:creationId xmlns:p14="http://schemas.microsoft.com/office/powerpoint/2010/main" val="2918359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7.2 Einzelarbeit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22</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hangingPunct="1"/>
            <a:r>
              <a:rPr lang="de-DE" sz="2000" dirty="0"/>
              <a:t>Selbstständiges individuelles Lösen von Aufgaben ohne Informationsaustausch zwischen Schülern</a:t>
            </a:r>
          </a:p>
          <a:p>
            <a:pPr marL="444500" indent="-444500" eaLnBrk="1" hangingPunct="1"/>
            <a:r>
              <a:rPr lang="de-DE" sz="2000" dirty="0"/>
              <a:t>Während des Arbeitsaktes mittelbare Führung durch den Lehrer</a:t>
            </a:r>
          </a:p>
          <a:p>
            <a:pPr marL="444500" indent="-444500" eaLnBrk="1" hangingPunct="1"/>
            <a:r>
              <a:rPr lang="de-DE" sz="2000" dirty="0"/>
              <a:t>Jeder Schüler muss die vom Lehrer gestellte Aufgabe lösen</a:t>
            </a:r>
          </a:p>
          <a:p>
            <a:pPr marL="444500" indent="-444500" eaLnBrk="1" hangingPunct="1"/>
            <a:r>
              <a:rPr lang="de-DE" sz="2000" dirty="0"/>
              <a:t>Kann während einer Durchführung einer Übung oder zur Erarbeitung, Erweiterung und Vertiefung des Wissens eingesetzt werden</a:t>
            </a:r>
          </a:p>
          <a:p>
            <a:pPr marL="444500" indent="-444500" eaLnBrk="1" hangingPunct="1"/>
            <a:r>
              <a:rPr lang="de-DE" sz="2000" dirty="0"/>
              <a:t>Vom Schüler wir Selbstständigkeit, Energie, Beharrlichkeit verlangt und Selbstvertrauen gestärkt</a:t>
            </a:r>
          </a:p>
          <a:p>
            <a:pPr marL="444500" indent="-444500" eaLnBrk="1" hangingPunct="1"/>
            <a:r>
              <a:rPr lang="de-DE" sz="2000" dirty="0"/>
              <a:t>Tatsächliche Leistung des Schülers kann besser eingeschätzt werden</a:t>
            </a:r>
          </a:p>
          <a:p>
            <a:pPr marL="444500" indent="-444500" eaLnBrk="1" hangingPunct="1"/>
            <a:r>
              <a:rPr lang="de-DE" sz="2000" dirty="0"/>
              <a:t>Gibt Anleitung, Hilfe und Unterstützung durch den Lehrer und die Mitschüler</a:t>
            </a:r>
          </a:p>
          <a:p>
            <a:pPr marL="444500" indent="-444500" eaLnBrk="1" hangingPunct="1"/>
            <a:r>
              <a:rPr lang="de-DE" sz="2000" dirty="0"/>
              <a:t>Um Schüler zum selbstständigen Lösen zu befähigen</a:t>
            </a:r>
          </a:p>
        </p:txBody>
      </p:sp>
    </p:spTree>
    <p:extLst>
      <p:ext uri="{BB962C8B-B14F-4D97-AF65-F5344CB8AC3E}">
        <p14:creationId xmlns:p14="http://schemas.microsoft.com/office/powerpoint/2010/main" val="3242816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Selbstständiges Arbeiten in der Gruppe</a:t>
            </a:r>
          </a:p>
          <a:p>
            <a:pPr marL="444500" indent="-444500" eaLnBrk="1" hangingPunct="1"/>
            <a:r>
              <a:rPr lang="de-DE" sz="2000" dirty="0"/>
              <a:t>Arbeitsphasen durch Zusammenspiel von kooperativem und individuellen Lernen gekennzeichnet</a:t>
            </a:r>
          </a:p>
          <a:p>
            <a:pPr marL="444500" indent="-444500" eaLnBrk="1" hangingPunct="1"/>
            <a:r>
              <a:rPr lang="de-DE" sz="2000" dirty="0"/>
              <a:t>Zwischen den Schülern erfolgt ein Informationsaustausch</a:t>
            </a:r>
          </a:p>
          <a:p>
            <a:pPr marL="444500" indent="-444500" eaLnBrk="1" hangingPunct="1"/>
            <a:r>
              <a:rPr lang="de-DE" sz="2000" dirty="0"/>
              <a:t>Unmittelbare Führung des Lehrers tritt nach der Aufgabenstellung bis zur Kontrolle des Ergebnisses zurück</a:t>
            </a:r>
          </a:p>
          <a:p>
            <a:pPr marL="444500" indent="-444500" eaLnBrk="1" hangingPunct="1"/>
            <a:r>
              <a:rPr lang="de-DE" sz="2000" dirty="0"/>
              <a:t>Sozialfähigkeit wird geübt</a:t>
            </a:r>
          </a:p>
          <a:p>
            <a:pPr marL="444500" indent="-444500" eaLnBrk="1" hangingPunct="1"/>
            <a:r>
              <a:rPr lang="de-DE" sz="2000" dirty="0"/>
              <a:t>Spaltung von Klassen in aktive und passive Schüler kann vermindert werden</a:t>
            </a:r>
          </a:p>
          <a:p>
            <a:pPr marL="444500" indent="-444500" eaLnBrk="1" hangingPunct="1"/>
            <a:r>
              <a:rPr lang="de-DE" sz="2000" dirty="0"/>
              <a:t>Es gibt mehrere Varianten der Gruppenarbeit</a:t>
            </a:r>
          </a:p>
        </p:txBody>
      </p:sp>
    </p:spTree>
    <p:extLst>
      <p:ext uri="{BB962C8B-B14F-4D97-AF65-F5344CB8AC3E}">
        <p14:creationId xmlns:p14="http://schemas.microsoft.com/office/powerpoint/2010/main" val="2652965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24</a:t>
            </a:fld>
            <a:endParaRPr lang="de-DE"/>
          </a:p>
        </p:txBody>
      </p:sp>
      <p:graphicFrame>
        <p:nvGraphicFramePr>
          <p:cNvPr id="6" name="Group 429"/>
          <p:cNvGraphicFramePr>
            <a:graphicFrameLocks/>
          </p:cNvGraphicFramePr>
          <p:nvPr>
            <p:extLst>
              <p:ext uri="{D42A27DB-BD31-4B8C-83A1-F6EECF244321}">
                <p14:modId xmlns:p14="http://schemas.microsoft.com/office/powerpoint/2010/main" val="2393603461"/>
              </p:ext>
            </p:extLst>
          </p:nvPr>
        </p:nvGraphicFramePr>
        <p:xfrm>
          <a:off x="323528" y="1484784"/>
          <a:ext cx="7920880" cy="4178300"/>
        </p:xfrm>
        <a:graphic>
          <a:graphicData uri="http://schemas.openxmlformats.org/drawingml/2006/table">
            <a:tbl>
              <a:tblPr/>
              <a:tblGrid>
                <a:gridCol w="1790700">
                  <a:extLst>
                    <a:ext uri="{9D8B030D-6E8A-4147-A177-3AD203B41FA5}">
                      <a16:colId xmlns:a16="http://schemas.microsoft.com/office/drawing/2014/main" val="20000"/>
                    </a:ext>
                  </a:extLst>
                </a:gridCol>
                <a:gridCol w="2890515">
                  <a:extLst>
                    <a:ext uri="{9D8B030D-6E8A-4147-A177-3AD203B41FA5}">
                      <a16:colId xmlns:a16="http://schemas.microsoft.com/office/drawing/2014/main" val="20001"/>
                    </a:ext>
                  </a:extLst>
                </a:gridCol>
                <a:gridCol w="3239665">
                  <a:extLst>
                    <a:ext uri="{9D8B030D-6E8A-4147-A177-3AD203B41FA5}">
                      <a16:colId xmlns:a16="http://schemas.microsoft.com/office/drawing/2014/main" val="20002"/>
                    </a:ext>
                  </a:extLst>
                </a:gridCol>
              </a:tblGrid>
              <a:tr h="550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aufgabengleich</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gleiche Aufgaben) </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aufgabenverschieden</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unterschiedliche Aufgaben)</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319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arbeitsgleich</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3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de-DE" sz="1000" b="0" i="0" u="none" strike="noStrike" cap="none" normalizeH="0" baseline="0">
                          <a:ln>
                            <a:noFill/>
                          </a:ln>
                          <a:solidFill>
                            <a:schemeClr val="tx1"/>
                          </a:solidFill>
                          <a:effectLst/>
                          <a:latin typeface="Times New Roman" pitchFamily="18" charset="0"/>
                          <a:cs typeface="Times New Roman" pitchFamily="18" charset="0"/>
                        </a:rPr>
                      </a:br>
                      <a:endParaRPr kumimoji="0" lang="de-DE"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arbeitsteilig</a:t>
                      </a:r>
                      <a:endParaRPr kumimoji="0" lang="de-DE" sz="18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Oval 202"/>
          <p:cNvSpPr>
            <a:spLocks noChangeArrowheads="1"/>
          </p:cNvSpPr>
          <p:nvPr/>
        </p:nvSpPr>
        <p:spPr bwMode="auto">
          <a:xfrm>
            <a:off x="2406799"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8" name="Oval 191"/>
          <p:cNvSpPr>
            <a:spLocks noChangeArrowheads="1"/>
          </p:cNvSpPr>
          <p:nvPr/>
        </p:nvSpPr>
        <p:spPr bwMode="auto">
          <a:xfrm>
            <a:off x="2184301"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0" name="Oval 199"/>
          <p:cNvSpPr>
            <a:spLocks noChangeArrowheads="1"/>
          </p:cNvSpPr>
          <p:nvPr/>
        </p:nvSpPr>
        <p:spPr bwMode="auto">
          <a:xfrm>
            <a:off x="2771800" y="3356992"/>
            <a:ext cx="3841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1" name="Line 195"/>
          <p:cNvSpPr>
            <a:spLocks noChangeShapeType="1"/>
          </p:cNvSpPr>
          <p:nvPr/>
        </p:nvSpPr>
        <p:spPr bwMode="auto">
          <a:xfrm flipH="1">
            <a:off x="2358926"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194"/>
          <p:cNvSpPr>
            <a:spLocks noChangeShapeType="1"/>
          </p:cNvSpPr>
          <p:nvPr/>
        </p:nvSpPr>
        <p:spPr bwMode="auto">
          <a:xfrm>
            <a:off x="2771800"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 Box 198"/>
          <p:cNvSpPr txBox="1">
            <a:spLocks noChangeArrowheads="1"/>
          </p:cNvSpPr>
          <p:nvPr/>
        </p:nvSpPr>
        <p:spPr bwMode="auto">
          <a:xfrm>
            <a:off x="2889523" y="3423344"/>
            <a:ext cx="3143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13" name="Oval 202"/>
          <p:cNvSpPr>
            <a:spLocks noChangeArrowheads="1"/>
          </p:cNvSpPr>
          <p:nvPr/>
        </p:nvSpPr>
        <p:spPr bwMode="auto">
          <a:xfrm>
            <a:off x="3774951"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4" name="Oval 202"/>
          <p:cNvSpPr>
            <a:spLocks noChangeArrowheads="1"/>
          </p:cNvSpPr>
          <p:nvPr/>
        </p:nvSpPr>
        <p:spPr bwMode="auto">
          <a:xfrm>
            <a:off x="5508104"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5" name="Oval 202"/>
          <p:cNvSpPr>
            <a:spLocks noChangeArrowheads="1"/>
          </p:cNvSpPr>
          <p:nvPr/>
        </p:nvSpPr>
        <p:spPr bwMode="auto">
          <a:xfrm>
            <a:off x="7092280"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6" name="Oval 202"/>
          <p:cNvSpPr>
            <a:spLocks noChangeArrowheads="1"/>
          </p:cNvSpPr>
          <p:nvPr/>
        </p:nvSpPr>
        <p:spPr bwMode="auto">
          <a:xfrm>
            <a:off x="2406799"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7" name="Oval 202"/>
          <p:cNvSpPr>
            <a:spLocks noChangeArrowheads="1"/>
          </p:cNvSpPr>
          <p:nvPr/>
        </p:nvSpPr>
        <p:spPr bwMode="auto">
          <a:xfrm>
            <a:off x="3851920"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8" name="Oval 202"/>
          <p:cNvSpPr>
            <a:spLocks noChangeArrowheads="1"/>
          </p:cNvSpPr>
          <p:nvPr/>
        </p:nvSpPr>
        <p:spPr bwMode="auto">
          <a:xfrm>
            <a:off x="5575151" y="4114974"/>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9" name="Oval 202"/>
          <p:cNvSpPr>
            <a:spLocks noChangeArrowheads="1"/>
          </p:cNvSpPr>
          <p:nvPr/>
        </p:nvSpPr>
        <p:spPr bwMode="auto">
          <a:xfrm>
            <a:off x="7164288" y="4186982"/>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20" name="Oval 191"/>
          <p:cNvSpPr>
            <a:spLocks noChangeArrowheads="1"/>
          </p:cNvSpPr>
          <p:nvPr/>
        </p:nvSpPr>
        <p:spPr bwMode="auto">
          <a:xfrm>
            <a:off x="3563888"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1" name="Oval 191"/>
          <p:cNvSpPr>
            <a:spLocks noChangeArrowheads="1"/>
          </p:cNvSpPr>
          <p:nvPr/>
        </p:nvSpPr>
        <p:spPr bwMode="auto">
          <a:xfrm>
            <a:off x="420052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2" name="Oval 191"/>
          <p:cNvSpPr>
            <a:spLocks noChangeArrowheads="1"/>
          </p:cNvSpPr>
          <p:nvPr/>
        </p:nvSpPr>
        <p:spPr bwMode="auto">
          <a:xfrm>
            <a:off x="2184301"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3" name="Oval 191"/>
          <p:cNvSpPr>
            <a:spLocks noChangeArrowheads="1"/>
          </p:cNvSpPr>
          <p:nvPr/>
        </p:nvSpPr>
        <p:spPr bwMode="auto">
          <a:xfrm>
            <a:off x="284380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4" name="Oval 191"/>
          <p:cNvSpPr>
            <a:spLocks noChangeArrowheads="1"/>
          </p:cNvSpPr>
          <p:nvPr/>
        </p:nvSpPr>
        <p:spPr bwMode="auto">
          <a:xfrm>
            <a:off x="356388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5" name="Oval 191"/>
          <p:cNvSpPr>
            <a:spLocks noChangeArrowheads="1"/>
          </p:cNvSpPr>
          <p:nvPr/>
        </p:nvSpPr>
        <p:spPr bwMode="auto">
          <a:xfrm>
            <a:off x="4355976"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6" name="Oval 191"/>
          <p:cNvSpPr>
            <a:spLocks noChangeArrowheads="1"/>
          </p:cNvSpPr>
          <p:nvPr/>
        </p:nvSpPr>
        <p:spPr bwMode="auto">
          <a:xfrm>
            <a:off x="528064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7" name="Oval 191"/>
          <p:cNvSpPr>
            <a:spLocks noChangeArrowheads="1"/>
          </p:cNvSpPr>
          <p:nvPr/>
        </p:nvSpPr>
        <p:spPr bwMode="auto">
          <a:xfrm>
            <a:off x="5940152"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8" name="Oval 191"/>
          <p:cNvSpPr>
            <a:spLocks noChangeArrowheads="1"/>
          </p:cNvSpPr>
          <p:nvPr/>
        </p:nvSpPr>
        <p:spPr bwMode="auto">
          <a:xfrm>
            <a:off x="6876256"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9" name="Oval 191"/>
          <p:cNvSpPr>
            <a:spLocks noChangeArrowheads="1"/>
          </p:cNvSpPr>
          <p:nvPr/>
        </p:nvSpPr>
        <p:spPr bwMode="auto">
          <a:xfrm>
            <a:off x="5940152"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0" name="Oval 191"/>
          <p:cNvSpPr>
            <a:spLocks noChangeArrowheads="1"/>
          </p:cNvSpPr>
          <p:nvPr/>
        </p:nvSpPr>
        <p:spPr bwMode="auto">
          <a:xfrm>
            <a:off x="5292080"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1" name="Oval 191"/>
          <p:cNvSpPr>
            <a:spLocks noChangeArrowheads="1"/>
          </p:cNvSpPr>
          <p:nvPr/>
        </p:nvSpPr>
        <p:spPr bwMode="auto">
          <a:xfrm>
            <a:off x="7452320" y="3351336"/>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2" name="Oval 191"/>
          <p:cNvSpPr>
            <a:spLocks noChangeArrowheads="1"/>
          </p:cNvSpPr>
          <p:nvPr/>
        </p:nvSpPr>
        <p:spPr bwMode="auto">
          <a:xfrm>
            <a:off x="6936829"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3" name="Oval 191"/>
          <p:cNvSpPr>
            <a:spLocks noChangeArrowheads="1"/>
          </p:cNvSpPr>
          <p:nvPr/>
        </p:nvSpPr>
        <p:spPr bwMode="auto">
          <a:xfrm>
            <a:off x="7524328"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4" name="Line 195"/>
          <p:cNvSpPr>
            <a:spLocks noChangeShapeType="1"/>
          </p:cNvSpPr>
          <p:nvPr/>
        </p:nvSpPr>
        <p:spPr bwMode="auto">
          <a:xfrm flipH="1">
            <a:off x="3727078"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5" name="Line 195"/>
          <p:cNvSpPr>
            <a:spLocks noChangeShapeType="1"/>
          </p:cNvSpPr>
          <p:nvPr/>
        </p:nvSpPr>
        <p:spPr bwMode="auto">
          <a:xfrm flipH="1">
            <a:off x="5508104"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6" name="Line 195"/>
          <p:cNvSpPr>
            <a:spLocks noChangeShapeType="1"/>
          </p:cNvSpPr>
          <p:nvPr/>
        </p:nvSpPr>
        <p:spPr bwMode="auto">
          <a:xfrm flipH="1">
            <a:off x="7020272"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 name="Line 195"/>
          <p:cNvSpPr>
            <a:spLocks noChangeShapeType="1"/>
          </p:cNvSpPr>
          <p:nvPr/>
        </p:nvSpPr>
        <p:spPr bwMode="auto">
          <a:xfrm flipH="1">
            <a:off x="2358926" y="4653136"/>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8" name="Line 195"/>
          <p:cNvSpPr>
            <a:spLocks noChangeShapeType="1"/>
          </p:cNvSpPr>
          <p:nvPr/>
        </p:nvSpPr>
        <p:spPr bwMode="auto">
          <a:xfrm flipH="1">
            <a:off x="3779912" y="4626843"/>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9" name="Line 195"/>
          <p:cNvSpPr>
            <a:spLocks noChangeShapeType="1"/>
          </p:cNvSpPr>
          <p:nvPr/>
        </p:nvSpPr>
        <p:spPr bwMode="auto">
          <a:xfrm flipH="1">
            <a:off x="5508104" y="4581128"/>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0" name="Line 195"/>
          <p:cNvSpPr>
            <a:spLocks noChangeShapeType="1"/>
          </p:cNvSpPr>
          <p:nvPr/>
        </p:nvSpPr>
        <p:spPr bwMode="auto">
          <a:xfrm flipH="1">
            <a:off x="7092280" y="4698851"/>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1" name="Line 194"/>
          <p:cNvSpPr>
            <a:spLocks noChangeShapeType="1"/>
          </p:cNvSpPr>
          <p:nvPr/>
        </p:nvSpPr>
        <p:spPr bwMode="auto">
          <a:xfrm>
            <a:off x="4235351"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 name="Line 194"/>
          <p:cNvSpPr>
            <a:spLocks noChangeShapeType="1"/>
          </p:cNvSpPr>
          <p:nvPr/>
        </p:nvSpPr>
        <p:spPr bwMode="auto">
          <a:xfrm>
            <a:off x="5940152"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 name="Line 194"/>
          <p:cNvSpPr>
            <a:spLocks noChangeShapeType="1"/>
          </p:cNvSpPr>
          <p:nvPr/>
        </p:nvSpPr>
        <p:spPr bwMode="auto">
          <a:xfrm>
            <a:off x="7524328"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4" name="Line 194"/>
          <p:cNvSpPr>
            <a:spLocks noChangeShapeType="1"/>
          </p:cNvSpPr>
          <p:nvPr/>
        </p:nvSpPr>
        <p:spPr bwMode="auto">
          <a:xfrm>
            <a:off x="2843808" y="4653136"/>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5" name="Line 194"/>
          <p:cNvSpPr>
            <a:spLocks noChangeShapeType="1"/>
          </p:cNvSpPr>
          <p:nvPr/>
        </p:nvSpPr>
        <p:spPr bwMode="auto">
          <a:xfrm>
            <a:off x="4355976"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6" name="Line 194"/>
          <p:cNvSpPr>
            <a:spLocks noChangeShapeType="1"/>
          </p:cNvSpPr>
          <p:nvPr/>
        </p:nvSpPr>
        <p:spPr bwMode="auto">
          <a:xfrm>
            <a:off x="6012160"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 name="Line 194"/>
          <p:cNvSpPr>
            <a:spLocks noChangeShapeType="1"/>
          </p:cNvSpPr>
          <p:nvPr/>
        </p:nvSpPr>
        <p:spPr bwMode="auto">
          <a:xfrm>
            <a:off x="7596336" y="4678214"/>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8" name="Text Box 190"/>
          <p:cNvSpPr txBox="1">
            <a:spLocks noChangeArrowheads="1"/>
          </p:cNvSpPr>
          <p:nvPr/>
        </p:nvSpPr>
        <p:spPr bwMode="auto">
          <a:xfrm>
            <a:off x="2267744" y="3356992"/>
            <a:ext cx="277813"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a:t>
            </a:r>
            <a:endParaRPr lang="de-DE" dirty="0">
              <a:latin typeface="Arial" pitchFamily="34" charset="0"/>
            </a:endParaRPr>
          </a:p>
        </p:txBody>
      </p:sp>
      <p:sp>
        <p:nvSpPr>
          <p:cNvPr id="49" name="Text Box 201"/>
          <p:cNvSpPr txBox="1">
            <a:spLocks noChangeArrowheads="1"/>
          </p:cNvSpPr>
          <p:nvPr/>
        </p:nvSpPr>
        <p:spPr bwMode="auto">
          <a:xfrm>
            <a:off x="2614191"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sz="1000" dirty="0">
              <a:latin typeface="Times New Roman" pitchFamily="18" charset="0"/>
              <a:cs typeface="Times New Roman" pitchFamily="18" charset="0"/>
            </a:endParaRPr>
          </a:p>
          <a:p>
            <a:endParaRPr lang="de-DE" dirty="0">
              <a:latin typeface="Arial" pitchFamily="34" charset="0"/>
            </a:endParaRPr>
          </a:p>
        </p:txBody>
      </p:sp>
      <p:sp>
        <p:nvSpPr>
          <p:cNvPr id="50" name="Text Box 200"/>
          <p:cNvSpPr txBox="1">
            <a:spLocks noChangeArrowheads="1"/>
          </p:cNvSpPr>
          <p:nvPr/>
        </p:nvSpPr>
        <p:spPr bwMode="auto">
          <a:xfrm>
            <a:off x="3969643" y="2665611"/>
            <a:ext cx="314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1" name="Text Box 193"/>
          <p:cNvSpPr txBox="1">
            <a:spLocks noChangeArrowheads="1"/>
          </p:cNvSpPr>
          <p:nvPr/>
        </p:nvSpPr>
        <p:spPr bwMode="auto">
          <a:xfrm>
            <a:off x="3659386" y="3356992"/>
            <a:ext cx="33655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a:t>
            </a:r>
            <a:endParaRPr lang="de-DE" dirty="0">
              <a:latin typeface="Arial" pitchFamily="34" charset="0"/>
            </a:endParaRPr>
          </a:p>
        </p:txBody>
      </p:sp>
      <p:sp>
        <p:nvSpPr>
          <p:cNvPr id="52" name="Text Box 192"/>
          <p:cNvSpPr txBox="1">
            <a:spLocks noChangeArrowheads="1"/>
          </p:cNvSpPr>
          <p:nvPr/>
        </p:nvSpPr>
        <p:spPr bwMode="auto">
          <a:xfrm>
            <a:off x="4320729" y="3356992"/>
            <a:ext cx="395287"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a:t>
            </a:r>
            <a:endParaRPr lang="de-DE" dirty="0">
              <a:latin typeface="Arial" pitchFamily="34" charset="0"/>
            </a:endParaRPr>
          </a:p>
        </p:txBody>
      </p:sp>
      <p:sp>
        <p:nvSpPr>
          <p:cNvPr id="53" name="Text Box 168"/>
          <p:cNvSpPr txBox="1">
            <a:spLocks noChangeArrowheads="1"/>
          </p:cNvSpPr>
          <p:nvPr/>
        </p:nvSpPr>
        <p:spPr bwMode="auto">
          <a:xfrm>
            <a:off x="2555776" y="4321795"/>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4" name="Text Box 168"/>
          <p:cNvSpPr txBox="1">
            <a:spLocks noChangeArrowheads="1"/>
          </p:cNvSpPr>
          <p:nvPr/>
        </p:nvSpPr>
        <p:spPr bwMode="auto">
          <a:xfrm>
            <a:off x="5782543" y="4293096"/>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5" name="Text Box 168"/>
          <p:cNvSpPr txBox="1">
            <a:spLocks noChangeArrowheads="1"/>
          </p:cNvSpPr>
          <p:nvPr/>
        </p:nvSpPr>
        <p:spPr bwMode="auto">
          <a:xfrm>
            <a:off x="5710535"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6" name="Text Box 167"/>
          <p:cNvSpPr txBox="1">
            <a:spLocks noChangeArrowheads="1"/>
          </p:cNvSpPr>
          <p:nvPr/>
        </p:nvSpPr>
        <p:spPr bwMode="auto">
          <a:xfrm>
            <a:off x="4017268" y="4293096"/>
            <a:ext cx="266700"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7" name="Text Box 181"/>
          <p:cNvSpPr txBox="1">
            <a:spLocks noChangeArrowheads="1"/>
          </p:cNvSpPr>
          <p:nvPr/>
        </p:nvSpPr>
        <p:spPr bwMode="auto">
          <a:xfrm>
            <a:off x="7279531" y="2636912"/>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8" name="Text Box 181"/>
          <p:cNvSpPr txBox="1">
            <a:spLocks noChangeArrowheads="1"/>
          </p:cNvSpPr>
          <p:nvPr/>
        </p:nvSpPr>
        <p:spPr bwMode="auto">
          <a:xfrm>
            <a:off x="7351539" y="4368973"/>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9" name="Text Box 157"/>
          <p:cNvSpPr txBox="1">
            <a:spLocks noChangeArrowheads="1"/>
          </p:cNvSpPr>
          <p:nvPr/>
        </p:nvSpPr>
        <p:spPr bwMode="auto">
          <a:xfrm>
            <a:off x="2256309" y="5013176"/>
            <a:ext cx="371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0" name="Text Box 165"/>
          <p:cNvSpPr txBox="1">
            <a:spLocks noChangeArrowheads="1"/>
          </p:cNvSpPr>
          <p:nvPr/>
        </p:nvSpPr>
        <p:spPr bwMode="auto">
          <a:xfrm>
            <a:off x="2867298" y="5013176"/>
            <a:ext cx="3365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b1,2</a:t>
            </a:r>
            <a:endParaRPr lang="de-DE" dirty="0">
              <a:latin typeface="Arial" pitchFamily="34" charset="0"/>
            </a:endParaRPr>
          </a:p>
        </p:txBody>
      </p:sp>
      <p:sp>
        <p:nvSpPr>
          <p:cNvPr id="61" name="Text Box 159"/>
          <p:cNvSpPr txBox="1">
            <a:spLocks noChangeArrowheads="1"/>
          </p:cNvSpPr>
          <p:nvPr/>
        </p:nvSpPr>
        <p:spPr bwMode="auto">
          <a:xfrm>
            <a:off x="3633986" y="5013176"/>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c1,1</a:t>
            </a:r>
            <a:endParaRPr lang="de-DE" dirty="0">
              <a:latin typeface="Arial" pitchFamily="34" charset="0"/>
            </a:endParaRPr>
          </a:p>
        </p:txBody>
      </p:sp>
      <p:sp>
        <p:nvSpPr>
          <p:cNvPr id="62" name="Text Box 163"/>
          <p:cNvSpPr txBox="1">
            <a:spLocks noChangeArrowheads="1"/>
          </p:cNvSpPr>
          <p:nvPr/>
        </p:nvSpPr>
        <p:spPr bwMode="auto">
          <a:xfrm>
            <a:off x="4370511" y="4941168"/>
            <a:ext cx="417513"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d1,2</a:t>
            </a:r>
            <a:endParaRPr lang="de-DE" dirty="0">
              <a:latin typeface="Arial" pitchFamily="34" charset="0"/>
            </a:endParaRPr>
          </a:p>
        </p:txBody>
      </p:sp>
      <p:sp>
        <p:nvSpPr>
          <p:cNvPr id="63" name="Text Box 182"/>
          <p:cNvSpPr txBox="1">
            <a:spLocks noChangeArrowheads="1"/>
          </p:cNvSpPr>
          <p:nvPr/>
        </p:nvSpPr>
        <p:spPr bwMode="auto">
          <a:xfrm>
            <a:off x="5364088" y="3356992"/>
            <a:ext cx="277813"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a1</a:t>
            </a:r>
            <a:endParaRPr lang="de-DE" dirty="0">
              <a:latin typeface="Arial" pitchFamily="34" charset="0"/>
            </a:endParaRPr>
          </a:p>
        </p:txBody>
      </p:sp>
      <p:sp>
        <p:nvSpPr>
          <p:cNvPr id="64" name="Text Box 173"/>
          <p:cNvSpPr txBox="1">
            <a:spLocks noChangeArrowheads="1"/>
          </p:cNvSpPr>
          <p:nvPr/>
        </p:nvSpPr>
        <p:spPr bwMode="auto">
          <a:xfrm>
            <a:off x="6012160" y="3356992"/>
            <a:ext cx="3143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65" name="Text Box 175"/>
          <p:cNvSpPr txBox="1">
            <a:spLocks noChangeArrowheads="1"/>
          </p:cNvSpPr>
          <p:nvPr/>
        </p:nvSpPr>
        <p:spPr bwMode="auto">
          <a:xfrm>
            <a:off x="6948264" y="3330129"/>
            <a:ext cx="3238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a:t>
            </a:r>
            <a:endParaRPr lang="de-DE" dirty="0">
              <a:latin typeface="Arial" pitchFamily="34" charset="0"/>
            </a:endParaRPr>
          </a:p>
        </p:txBody>
      </p:sp>
      <p:sp>
        <p:nvSpPr>
          <p:cNvPr id="66" name="Text Box 179"/>
          <p:cNvSpPr txBox="1">
            <a:spLocks noChangeArrowheads="1"/>
          </p:cNvSpPr>
          <p:nvPr/>
        </p:nvSpPr>
        <p:spPr bwMode="auto">
          <a:xfrm>
            <a:off x="7524328" y="3429000"/>
            <a:ext cx="244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a:t>
            </a:r>
            <a:endParaRPr lang="de-DE" dirty="0">
              <a:latin typeface="Arial" pitchFamily="34" charset="0"/>
            </a:endParaRPr>
          </a:p>
        </p:txBody>
      </p:sp>
      <p:sp>
        <p:nvSpPr>
          <p:cNvPr id="67" name="Text Box 141"/>
          <p:cNvSpPr txBox="1">
            <a:spLocks noChangeArrowheads="1"/>
          </p:cNvSpPr>
          <p:nvPr/>
        </p:nvSpPr>
        <p:spPr bwMode="auto">
          <a:xfrm>
            <a:off x="5337795" y="4941168"/>
            <a:ext cx="31432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8" name="Text Box 149"/>
          <p:cNvSpPr txBox="1">
            <a:spLocks noChangeArrowheads="1"/>
          </p:cNvSpPr>
          <p:nvPr/>
        </p:nvSpPr>
        <p:spPr bwMode="auto">
          <a:xfrm>
            <a:off x="5940152" y="4941168"/>
            <a:ext cx="433387"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b1,2</a:t>
            </a:r>
            <a:endParaRPr lang="de-DE" dirty="0">
              <a:latin typeface="Arial" pitchFamily="34" charset="0"/>
            </a:endParaRPr>
          </a:p>
        </p:txBody>
      </p:sp>
      <p:sp>
        <p:nvSpPr>
          <p:cNvPr id="69" name="Text Box 143"/>
          <p:cNvSpPr txBox="1">
            <a:spLocks noChangeArrowheads="1"/>
          </p:cNvSpPr>
          <p:nvPr/>
        </p:nvSpPr>
        <p:spPr bwMode="auto">
          <a:xfrm>
            <a:off x="6948264" y="5057304"/>
            <a:ext cx="4318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c2,1</a:t>
            </a:r>
            <a:endParaRPr lang="de-DE" dirty="0">
              <a:latin typeface="Arial" pitchFamily="34" charset="0"/>
            </a:endParaRPr>
          </a:p>
        </p:txBody>
      </p:sp>
      <p:sp>
        <p:nvSpPr>
          <p:cNvPr id="70" name="Text Box 147"/>
          <p:cNvSpPr txBox="1">
            <a:spLocks noChangeArrowheads="1"/>
          </p:cNvSpPr>
          <p:nvPr/>
        </p:nvSpPr>
        <p:spPr bwMode="auto">
          <a:xfrm>
            <a:off x="7579568" y="5028158"/>
            <a:ext cx="3048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d2,2</a:t>
            </a:r>
            <a:endParaRPr lang="de-DE" dirty="0">
              <a:latin typeface="Arial" pitchFamily="34" charset="0"/>
            </a:endParaRPr>
          </a:p>
        </p:txBody>
      </p:sp>
    </p:spTree>
    <p:extLst>
      <p:ext uri="{BB962C8B-B14F-4D97-AF65-F5344CB8AC3E}">
        <p14:creationId xmlns:p14="http://schemas.microsoft.com/office/powerpoint/2010/main" val="452704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25</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Aktionsformen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8</a:t>
            </a:r>
          </a:p>
        </p:txBody>
      </p:sp>
    </p:spTree>
    <p:extLst>
      <p:ext uri="{BB962C8B-B14F-4D97-AF65-F5344CB8AC3E}">
        <p14:creationId xmlns:p14="http://schemas.microsoft.com/office/powerpoint/2010/main" val="1387563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 Aktionsformen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26</a:t>
            </a:fld>
            <a:endParaRPr lang="de-DE"/>
          </a:p>
        </p:txBody>
      </p:sp>
      <p:graphicFrame>
        <p:nvGraphicFramePr>
          <p:cNvPr id="5" name="Group 138"/>
          <p:cNvGraphicFramePr>
            <a:graphicFrameLocks noGrp="1"/>
          </p:cNvGraphicFramePr>
          <p:nvPr>
            <p:ph sz="quarter" idx="1"/>
          </p:nvPr>
        </p:nvGraphicFramePr>
        <p:xfrm>
          <a:off x="704850" y="1600200"/>
          <a:ext cx="7467600" cy="4267200"/>
        </p:xfrm>
        <a:graphic>
          <a:graphicData uri="http://schemas.openxmlformats.org/drawingml/2006/table">
            <a:tbl>
              <a:tblPr/>
              <a:tblGrid>
                <a:gridCol w="2162785">
                  <a:extLst>
                    <a:ext uri="{9D8B030D-6E8A-4147-A177-3AD203B41FA5}">
                      <a16:colId xmlns:a16="http://schemas.microsoft.com/office/drawing/2014/main" val="20000"/>
                    </a:ext>
                  </a:extLst>
                </a:gridCol>
                <a:gridCol w="3212852">
                  <a:extLst>
                    <a:ext uri="{9D8B030D-6E8A-4147-A177-3AD203B41FA5}">
                      <a16:colId xmlns:a16="http://schemas.microsoft.com/office/drawing/2014/main" val="20001"/>
                    </a:ext>
                  </a:extLst>
                </a:gridCol>
                <a:gridCol w="2091963">
                  <a:extLst>
                    <a:ext uri="{9D8B030D-6E8A-4147-A177-3AD203B41FA5}">
                      <a16:colId xmlns:a16="http://schemas.microsoft.com/office/drawing/2014/main" val="20002"/>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Darbietend</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Selbstständig</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Erarbeitend</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3463">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Aktivitätsakzent liegt bei Lehrer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Er zeigt, demonstriert, berichtet, erzählt,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Es überwiegt das rezeptive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Der Lehrer führt unmittelbar</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tritt in den Hintergrund</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treten stärker in Erscheinung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lösen relativ selbstständig eine vom Lehrer gestellte Aufgabe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Es überwiegt das produktive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führt nur mittelbar</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Meist in Form des Unterrichts-gesprächs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Die Lernsituation ist durch rezeptive, reproduktive und produktive Leistungen charakterisiert</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29097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8.1 Darbietend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27</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Bietet rationelle Stoffvermittlung, hat erziehende Wirkung durch den Lehrervortrag, bietet Möglichkeit zur Ausbildung der Fähigkeit zur rationellen Aneignung von Wissen</a:t>
            </a:r>
          </a:p>
          <a:p>
            <a:pPr marL="444500" indent="-444500" eaLnBrk="1" hangingPunct="1"/>
            <a:r>
              <a:rPr lang="de-DE" sz="2000" dirty="0"/>
              <a:t>Verfahren:</a:t>
            </a:r>
          </a:p>
          <a:p>
            <a:pPr marL="990600" lvl="1" indent="-366713" eaLnBrk="1" hangingPunct="1"/>
            <a:r>
              <a:rPr lang="de-DE" sz="2000" dirty="0"/>
              <a:t>Vormachen (Vorlesen, Vormachen, Vormachen, Werkunterricht, Sport)</a:t>
            </a:r>
          </a:p>
          <a:p>
            <a:pPr marL="990600" lvl="1" indent="-366713" eaLnBrk="1" hangingPunct="1"/>
            <a:r>
              <a:rPr lang="de-DE" sz="2000" dirty="0"/>
              <a:t>Vorzeigen (an statischen Lernmitteln wird etwas repräsentativ gezeigt)</a:t>
            </a:r>
          </a:p>
          <a:p>
            <a:pPr marL="990600" lvl="1" indent="-366713" eaLnBrk="1" hangingPunct="1"/>
            <a:r>
              <a:rPr lang="de-DE" sz="2000" dirty="0"/>
              <a:t>Vorführen (Veranschaulichung von Prozessen, Exkursion, Experiment)</a:t>
            </a:r>
          </a:p>
          <a:p>
            <a:pPr marL="990600" lvl="1" indent="-366713" eaLnBrk="1" hangingPunct="1"/>
            <a:r>
              <a:rPr lang="de-DE" sz="2000" dirty="0"/>
              <a:t>Vortragen (die Sprache ist hier das vorherrschende Mittel)</a:t>
            </a:r>
          </a:p>
        </p:txBody>
      </p:sp>
    </p:spTree>
    <p:extLst>
      <p:ext uri="{BB962C8B-B14F-4D97-AF65-F5344CB8AC3E}">
        <p14:creationId xmlns:p14="http://schemas.microsoft.com/office/powerpoint/2010/main" val="1635367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28</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000" dirty="0"/>
              <a:t>Nicht ganz ohne Hilfe des Lehrers durchführbar</a:t>
            </a:r>
          </a:p>
          <a:p>
            <a:pPr marL="444500" indent="-444500" eaLnBrk="1" fontAlgn="auto" hangingPunct="1">
              <a:spcAft>
                <a:spcPts val="0"/>
              </a:spcAft>
              <a:buFont typeface="Wingdings 2"/>
              <a:buChar char=""/>
              <a:defRPr/>
            </a:pPr>
            <a:r>
              <a:rPr lang="de-DE" sz="2000" dirty="0"/>
              <a:t>Andererseits kann nicht jede selbstständige Arbeit des Schülers als selbstständige Schülerarbeit angesehen werden</a:t>
            </a:r>
          </a:p>
          <a:p>
            <a:pPr marL="444500" indent="-444500" eaLnBrk="1" fontAlgn="auto" hangingPunct="1">
              <a:spcAft>
                <a:spcPts val="0"/>
              </a:spcAft>
              <a:buFont typeface="Wingdings 2"/>
              <a:buChar char=""/>
              <a:defRPr/>
            </a:pPr>
            <a:r>
              <a:rPr lang="de-DE" sz="2000" dirty="0"/>
              <a:t>Zwei Merkmale nach JESSIPOW</a:t>
            </a:r>
          </a:p>
          <a:p>
            <a:pPr marL="990600" lvl="1" indent="-366713" eaLnBrk="1" fontAlgn="auto" hangingPunct="1">
              <a:spcAft>
                <a:spcPts val="0"/>
              </a:spcAft>
              <a:buFont typeface="Wingdings"/>
              <a:buChar char=""/>
              <a:defRPr/>
            </a:pPr>
            <a:r>
              <a:rPr lang="de-DE" sz="2000" dirty="0"/>
              <a:t>Eine Aufgabenstellung durch den Lehrer und angemessene Zeit für die Lösung dieser Aufgabe durch die Schüler</a:t>
            </a:r>
          </a:p>
          <a:p>
            <a:pPr marL="990600" lvl="1" indent="-366713" eaLnBrk="1" fontAlgn="auto" hangingPunct="1">
              <a:spcAft>
                <a:spcPts val="0"/>
              </a:spcAft>
              <a:buFont typeface="Wingdings"/>
              <a:buChar char=""/>
              <a:defRPr/>
            </a:pPr>
            <a:r>
              <a:rPr lang="de-DE" sz="2000" dirty="0"/>
              <a:t>Die sich aus der Aufgabe ergebene Notwendigkeit für die Schüler, unter Anspannung ihrer Kräfte die besten Lösungswege zu suchen und zu beschreiten</a:t>
            </a:r>
          </a:p>
          <a:p>
            <a:pPr marL="444500" indent="-444500" eaLnBrk="1" fontAlgn="auto" hangingPunct="1">
              <a:spcAft>
                <a:spcPts val="0"/>
              </a:spcAft>
              <a:buFont typeface="Wingdings 2"/>
              <a:buChar char=""/>
              <a:defRPr/>
            </a:pPr>
            <a:r>
              <a:rPr lang="de-DE" sz="2000" dirty="0"/>
              <a:t>Selbstständige Schülerarbeit, wenn der Schüler Aufgabenstellung und Lösungsansätze richtig zuordnet, sein vorhandenes Wissen und Können anzuwenden und die gestellte Aufgabe ohne unmittelbare, jedoch Einzelheit regulierende Anleitung durch den Lehrer zu lösen vermag</a:t>
            </a:r>
          </a:p>
        </p:txBody>
      </p:sp>
    </p:spTree>
    <p:extLst>
      <p:ext uri="{BB962C8B-B14F-4D97-AF65-F5344CB8AC3E}">
        <p14:creationId xmlns:p14="http://schemas.microsoft.com/office/powerpoint/2010/main" val="1738713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29</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Positive Auswirkungen</a:t>
            </a:r>
          </a:p>
          <a:p>
            <a:pPr marL="990600" lvl="1" indent="-366713" eaLnBrk="1" hangingPunct="1"/>
            <a:r>
              <a:rPr lang="de-DE" sz="2000" dirty="0"/>
              <a:t>Die methodisch richtig gesteuerte selbstständige Schülerarbeit erhöht die Effektivität des Aneignungsprozesses – es führt zu einer tieferen und bewussteren Aneignung</a:t>
            </a:r>
          </a:p>
          <a:p>
            <a:pPr marL="990600" lvl="1" indent="-366713" eaLnBrk="1" hangingPunct="1"/>
            <a:r>
              <a:rPr lang="de-DE" sz="2000" dirty="0"/>
              <a:t>Lerneinstellung wird positiv beeinflusst</a:t>
            </a:r>
          </a:p>
          <a:p>
            <a:pPr marL="990600" lvl="1" indent="-366713" eaLnBrk="1" hangingPunct="1"/>
            <a:r>
              <a:rPr lang="de-DE" sz="2000" dirty="0"/>
              <a:t>Während hauptsächlich rezeptiver Aktionsformen kommt es in der Klasse zu Leistungsdifferenzen – durch produktive Aktionsformen werden diese deutlich verdichtet, er kommt zu einer </a:t>
            </a:r>
            <a:r>
              <a:rPr lang="de-DE" sz="2000" dirty="0" err="1"/>
              <a:t>Leistungskonglobation</a:t>
            </a:r>
            <a:endParaRPr lang="de-DE" sz="2000" dirty="0"/>
          </a:p>
          <a:p>
            <a:pPr marL="990600" lvl="1" indent="-366713" eaLnBrk="1" hangingPunct="1"/>
            <a:r>
              <a:rPr lang="de-DE" sz="2000" dirty="0"/>
              <a:t>Es erfolgt eine Fähigkeitssteigerung im selbstständigen Denken, Arbeiten und Organisieren</a:t>
            </a:r>
          </a:p>
        </p:txBody>
      </p:sp>
    </p:spTree>
    <p:extLst>
      <p:ext uri="{BB962C8B-B14F-4D97-AF65-F5344CB8AC3E}">
        <p14:creationId xmlns:p14="http://schemas.microsoft.com/office/powerpoint/2010/main" val="1988502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8.3 Erarbeitend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30</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000" dirty="0"/>
              <a:t>Grundform ist das Unterrichtsgespräch</a:t>
            </a:r>
          </a:p>
          <a:p>
            <a:pPr marL="444500" indent="-444500" eaLnBrk="1" hangingPunct="1">
              <a:lnSpc>
                <a:spcPct val="90000"/>
              </a:lnSpc>
            </a:pPr>
            <a:r>
              <a:rPr lang="de-DE" sz="2000" dirty="0"/>
              <a:t>Ist erfolgreich, wenn eine neue Erkenntnis erworben werden soll</a:t>
            </a:r>
          </a:p>
          <a:p>
            <a:pPr marL="444500" indent="-444500" eaLnBrk="1" hangingPunct="1">
              <a:lnSpc>
                <a:spcPct val="90000"/>
              </a:lnSpc>
            </a:pPr>
            <a:r>
              <a:rPr lang="de-DE" sz="2000" dirty="0"/>
              <a:t>Charakter zunächst von der didaktischen Aufgabe bestimmt</a:t>
            </a:r>
          </a:p>
          <a:p>
            <a:pPr marL="990600" lvl="1" indent="-366713" eaLnBrk="1" hangingPunct="1">
              <a:lnSpc>
                <a:spcPct val="90000"/>
              </a:lnSpc>
            </a:pPr>
            <a:r>
              <a:rPr lang="de-DE" sz="1800" dirty="0"/>
              <a:t>Das Unterrichtsgespräch zur Erarbeitung von neuem Wissen, zur Herausbildung von Überzeugungen und zur Entwicklung von Fähigkeiten</a:t>
            </a:r>
          </a:p>
          <a:p>
            <a:pPr marL="990600" lvl="1" indent="-366713" eaLnBrk="1" hangingPunct="1">
              <a:lnSpc>
                <a:spcPct val="90000"/>
              </a:lnSpc>
            </a:pPr>
            <a:r>
              <a:rPr lang="de-DE" sz="1800" dirty="0"/>
              <a:t>Das Wiederholungsgespräch</a:t>
            </a:r>
          </a:p>
          <a:p>
            <a:pPr marL="990600" lvl="1" indent="-366713" eaLnBrk="1" hangingPunct="1">
              <a:lnSpc>
                <a:spcPct val="90000"/>
              </a:lnSpc>
            </a:pPr>
            <a:r>
              <a:rPr lang="de-DE" sz="1800" dirty="0"/>
              <a:t>Das Prüfungsgespräch</a:t>
            </a:r>
          </a:p>
          <a:p>
            <a:pPr marL="444500" indent="-444500" eaLnBrk="1" hangingPunct="1">
              <a:lnSpc>
                <a:spcPct val="90000"/>
              </a:lnSpc>
            </a:pPr>
            <a:r>
              <a:rPr lang="de-DE" sz="2000" dirty="0"/>
              <a:t>Charakter der didaktischen Führung</a:t>
            </a:r>
          </a:p>
          <a:p>
            <a:pPr marL="990600" lvl="1" indent="-366713" eaLnBrk="1" hangingPunct="1">
              <a:lnSpc>
                <a:spcPct val="90000"/>
              </a:lnSpc>
            </a:pPr>
            <a:r>
              <a:rPr lang="de-DE" sz="1800" dirty="0"/>
              <a:t>Das Lehrergespräch mit starker Betonung des Belehrens und der direkten Führung durch den Lehrer</a:t>
            </a:r>
          </a:p>
          <a:p>
            <a:pPr marL="990600" lvl="1" indent="-366713" eaLnBrk="1" hangingPunct="1">
              <a:lnSpc>
                <a:spcPct val="90000"/>
              </a:lnSpc>
            </a:pPr>
            <a:r>
              <a:rPr lang="de-DE" sz="1800" dirty="0"/>
              <a:t>Das locker gehaltene Gespräch, bei dem der Lehrer zwar führt, jedoch stärker in den Hintergrund tritt</a:t>
            </a:r>
          </a:p>
          <a:p>
            <a:pPr marL="990600" lvl="1" indent="-366713" eaLnBrk="1" hangingPunct="1">
              <a:lnSpc>
                <a:spcPct val="90000"/>
              </a:lnSpc>
            </a:pPr>
            <a:r>
              <a:rPr lang="de-DE" sz="1800" dirty="0"/>
              <a:t>Diskussion und Debatte als Vorformen des wissenschaftlichen Gesprächs</a:t>
            </a:r>
          </a:p>
        </p:txBody>
      </p:sp>
    </p:spTree>
    <p:extLst>
      <p:ext uri="{BB962C8B-B14F-4D97-AF65-F5344CB8AC3E}">
        <p14:creationId xmlns:p14="http://schemas.microsoft.com/office/powerpoint/2010/main" val="1875488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31</a:t>
            </a:fld>
            <a:endParaRPr lang="de-DE">
              <a:solidFill>
                <a:srgbClr val="FFFFFF"/>
              </a:solidFill>
            </a:endParaRPr>
          </a:p>
        </p:txBody>
      </p:sp>
      <p:sp>
        <p:nvSpPr>
          <p:cNvPr id="16387" name="Textfeld 2"/>
          <p:cNvSpPr txBox="1">
            <a:spLocks noChangeArrowheads="1"/>
          </p:cNvSpPr>
          <p:nvPr/>
        </p:nvSpPr>
        <p:spPr bwMode="auto">
          <a:xfrm>
            <a:off x="467544"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Medien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9</a:t>
            </a:r>
          </a:p>
        </p:txBody>
      </p:sp>
    </p:spTree>
    <p:extLst>
      <p:ext uri="{BB962C8B-B14F-4D97-AF65-F5344CB8AC3E}">
        <p14:creationId xmlns:p14="http://schemas.microsoft.com/office/powerpoint/2010/main" val="3351809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32</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Sind Vermittlungshilfen oder Mittler im Lernprozess</a:t>
            </a:r>
          </a:p>
          <a:p>
            <a:pPr marL="444500" indent="-444500" eaLnBrk="1" hangingPunct="1"/>
            <a:r>
              <a:rPr lang="de-DE" sz="2200" dirty="0"/>
              <a:t>Sollen das Lernen erleichtern, intensivieren und die Motivation erhöhen</a:t>
            </a:r>
          </a:p>
          <a:p>
            <a:pPr marL="444500" indent="-444500" eaLnBrk="1" hangingPunct="1"/>
            <a:r>
              <a:rPr lang="de-DE" sz="2200" dirty="0"/>
              <a:t>Funktionen</a:t>
            </a:r>
          </a:p>
          <a:p>
            <a:pPr marL="990600" lvl="1" indent="-366713" eaLnBrk="1" hangingPunct="1"/>
            <a:r>
              <a:rPr lang="de-DE" sz="2000" dirty="0"/>
              <a:t>Demonstrationsmittel</a:t>
            </a:r>
          </a:p>
          <a:p>
            <a:pPr marL="990600" lvl="1" indent="-366713" eaLnBrk="1" hangingPunct="1"/>
            <a:r>
              <a:rPr lang="de-DE" sz="2000" dirty="0"/>
              <a:t>Arbeitsmittel</a:t>
            </a:r>
          </a:p>
          <a:p>
            <a:pPr marL="990600" lvl="1" indent="-366713" eaLnBrk="1" hangingPunct="1"/>
            <a:r>
              <a:rPr lang="de-DE" sz="2000" dirty="0"/>
              <a:t>Motivationsmittel</a:t>
            </a:r>
          </a:p>
        </p:txBody>
      </p:sp>
    </p:spTree>
    <p:extLst>
      <p:ext uri="{BB962C8B-B14F-4D97-AF65-F5344CB8AC3E}">
        <p14:creationId xmlns:p14="http://schemas.microsoft.com/office/powerpoint/2010/main" val="1067548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Demonstrationsmittel</a:t>
            </a:r>
          </a:p>
          <a:p>
            <a:pPr marL="1524000" lvl="2" indent="-354013" eaLnBrk="1" hangingPunct="1"/>
            <a:r>
              <a:rPr lang="de-DE" dirty="0"/>
              <a:t>Anschauung herbeiführen</a:t>
            </a:r>
          </a:p>
          <a:p>
            <a:pPr marL="1524000" lvl="2" indent="-354013" eaLnBrk="1" hangingPunct="1"/>
            <a:r>
              <a:rPr lang="de-DE" dirty="0"/>
              <a:t>Es werden zum Beispiel Arbeitswerkzeuge und Arbeitsgegenstände aus dem beruflichen Alltag im Berufsschulunterricht integriert</a:t>
            </a:r>
          </a:p>
          <a:p>
            <a:pPr marL="990600" lvl="1" indent="-366713" eaLnBrk="1" hangingPunct="1"/>
            <a:r>
              <a:rPr lang="de-DE" sz="2000" dirty="0"/>
              <a:t>Arbeitsmittel</a:t>
            </a:r>
          </a:p>
          <a:p>
            <a:pPr marL="1524000" lvl="2" indent="-354013" eaLnBrk="1" hangingPunct="1"/>
            <a:r>
              <a:rPr lang="de-DE" dirty="0"/>
              <a:t>Z. B. gedruckte Medien im Unterricht, Lernprogramme, Arbeitsbuch, Lehrbuch, Aufgabenbuch, Sachbuch und Nachschlagewerk</a:t>
            </a:r>
          </a:p>
          <a:p>
            <a:pPr marL="1524000" lvl="2" indent="-354013" eaLnBrk="1" hangingPunct="1"/>
            <a:r>
              <a:rPr lang="de-DE" dirty="0"/>
              <a:t>Gehören auch apparative Arbeitsmittel wie das Versuchsgerät im experimentellen Unterricht</a:t>
            </a:r>
          </a:p>
          <a:p>
            <a:pPr marL="1524000" lvl="2" indent="-354013" eaLnBrk="1" hangingPunct="1"/>
            <a:r>
              <a:rPr lang="de-DE" dirty="0"/>
              <a:t>Einfache Arbeitsmittel stellen z. B. das Arbeitsblatt und die Tafel dar</a:t>
            </a:r>
          </a:p>
        </p:txBody>
      </p:sp>
    </p:spTree>
    <p:extLst>
      <p:ext uri="{BB962C8B-B14F-4D97-AF65-F5344CB8AC3E}">
        <p14:creationId xmlns:p14="http://schemas.microsoft.com/office/powerpoint/2010/main" val="791680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34</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Motivationsmittel</a:t>
            </a:r>
          </a:p>
          <a:p>
            <a:pPr marL="1524000" lvl="2" indent="-354013" eaLnBrk="1" hangingPunct="1"/>
            <a:r>
              <a:rPr lang="de-DE" dirty="0"/>
              <a:t>Fast alles womit Lehrer und Schüler interagieren, alles, was ihre Kommunikation miteinander trägt bzw. unterstütz, ist Lehr- und Lernmittel</a:t>
            </a:r>
          </a:p>
          <a:p>
            <a:pPr marL="1524000" lvl="2" indent="-354013" eaLnBrk="1" hangingPunct="1"/>
            <a:r>
              <a:rPr lang="de-DE" dirty="0"/>
              <a:t>Sprache, Lehrbuch, Tafel, OH-Projektor, Präparat, Kreide, Arbeitsblatt, PC, Software, Wandkarte, Modell</a:t>
            </a:r>
          </a:p>
          <a:p>
            <a:pPr marL="1524000" lvl="2" indent="-354013" eaLnBrk="1" hangingPunct="1"/>
            <a:r>
              <a:rPr lang="de-DE" dirty="0"/>
              <a:t>In der Unterrichtsplanung soll immer erst das Ziel und der Inhalt klar sein und anschließend folgt die Wahl der Medien</a:t>
            </a:r>
          </a:p>
          <a:p>
            <a:pPr marL="1524000" lvl="2" indent="-354013" eaLnBrk="1" hangingPunct="1"/>
            <a:r>
              <a:rPr lang="de-DE" dirty="0"/>
              <a:t>Allgemein ist zu sagen: Je abstrakter ein Medium ist, desto geringer ist seine Motivation</a:t>
            </a:r>
          </a:p>
        </p:txBody>
      </p:sp>
    </p:spTree>
    <p:extLst>
      <p:ext uri="{BB962C8B-B14F-4D97-AF65-F5344CB8AC3E}">
        <p14:creationId xmlns:p14="http://schemas.microsoft.com/office/powerpoint/2010/main" val="4030736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dirty="0"/>
              <a:t>9. Medien - Grad der Wirklichkeitserfahrung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35</a:t>
            </a:fld>
            <a:endParaRPr lang="de-DE"/>
          </a:p>
        </p:txBody>
      </p:sp>
      <p:pic>
        <p:nvPicPr>
          <p:cNvPr id="5" name="Picture 5" descr="c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556792"/>
            <a:ext cx="5040312"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6675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9.1 </a:t>
            </a:r>
            <a:r>
              <a:rPr lang="nl-NL" dirty="0"/>
              <a:t>Tafel (Kreidetafel oder White Board)</a:t>
            </a:r>
            <a:endParaRPr lang="de-DE" dirty="0"/>
          </a:p>
        </p:txBody>
      </p:sp>
      <p:sp>
        <p:nvSpPr>
          <p:cNvPr id="4" name="Foliennummernplatzhalter 3"/>
          <p:cNvSpPr>
            <a:spLocks noGrp="1"/>
          </p:cNvSpPr>
          <p:nvPr>
            <p:ph type="sldNum" sz="quarter" idx="15"/>
          </p:nvPr>
        </p:nvSpPr>
        <p:spPr/>
        <p:txBody>
          <a:bodyPr/>
          <a:lstStyle/>
          <a:p>
            <a:fld id="{33548601-C4B6-4D19-A7D5-04150560F062}" type="slidenum">
              <a:rPr lang="de-DE" smtClean="0"/>
              <a:pPr/>
              <a:t>36</a:t>
            </a:fld>
            <a:endParaRPr lang="de-DE"/>
          </a:p>
        </p:txBody>
      </p:sp>
      <p:graphicFrame>
        <p:nvGraphicFramePr>
          <p:cNvPr id="5" name="Group 35"/>
          <p:cNvGraphicFramePr>
            <a:graphicFrameLocks noGrp="1"/>
          </p:cNvGraphicFramePr>
          <p:nvPr>
            <p:ph sz="quarter" idx="1"/>
          </p:nvPr>
        </p:nvGraphicFramePr>
        <p:xfrm>
          <a:off x="704850" y="1600200"/>
          <a:ext cx="7467600" cy="468796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18777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Eignet sich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Schrittweises Entwickeln von Sachverhalten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Erklärungen und Erläuterungen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Sammeln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Eignet sich nicht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Darstellungen, die länger erhalten bleiben sollen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Zeitaufwendige Schreib- und Zeichenarbeiten während des Unterrichts</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0188">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Vorteile: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Einfache Handhabung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Große Schreibfläche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Löschung, Korrektur jederzeit möglich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Auf Grund der Größe der Schreibfläche kann die Tafel mehrere Aufgaben gleichzeitig erfüllen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Nachteile: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Kein Augenkontakt zu den Schülern beim Anschreiben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Das Abschreiben bzw. Abzeichnen ist zeitaufwändig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Gefahr hoher Fehlerhaftigkeit beim Abschreiben oder Abzeichnen der Tafelanschrift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22299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37</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Vorteile</a:t>
            </a:r>
          </a:p>
          <a:p>
            <a:pPr marL="990600" lvl="1" indent="-366713" eaLnBrk="1" hangingPunct="1"/>
            <a:r>
              <a:rPr lang="de-DE" sz="2000" dirty="0"/>
              <a:t>Der Lehrer kann während des Unterrichts Blickkontakt zu den Schülern halten</a:t>
            </a:r>
          </a:p>
          <a:p>
            <a:pPr marL="990600" lvl="1" indent="-366713" eaLnBrk="1" hangingPunct="1"/>
            <a:r>
              <a:rPr lang="de-DE" sz="2000" dirty="0"/>
              <a:t>Der Raum braucht nicht verdunkelt werden</a:t>
            </a:r>
          </a:p>
          <a:p>
            <a:pPr marL="990600" lvl="1" indent="-366713" eaLnBrk="1" hangingPunct="1"/>
            <a:r>
              <a:rPr lang="de-DE" sz="2000" dirty="0"/>
              <a:t>Die Folie können mit wasserlöslichen und wasserfesten Stiften beschriftet, vorbereitet und beliebig oder wieder verwendet werden</a:t>
            </a:r>
          </a:p>
          <a:p>
            <a:pPr marL="990600" lvl="1" indent="-366713" eaLnBrk="1" hangingPunct="1"/>
            <a:r>
              <a:rPr lang="de-DE" sz="2000" dirty="0"/>
              <a:t>Von den Folien können beliebig viele Kopien gemacht werden</a:t>
            </a:r>
          </a:p>
        </p:txBody>
      </p:sp>
    </p:spTree>
    <p:extLst>
      <p:ext uri="{BB962C8B-B14F-4D97-AF65-F5344CB8AC3E}">
        <p14:creationId xmlns:p14="http://schemas.microsoft.com/office/powerpoint/2010/main" val="4007539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38</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Gute Folien:</a:t>
            </a:r>
          </a:p>
          <a:p>
            <a:pPr marL="990600" lvl="1" indent="-366713" eaLnBrk="1" hangingPunct="1"/>
            <a:r>
              <a:rPr lang="de-DE" sz="2000" dirty="0"/>
              <a:t>Erzeugen Aufmerksamkeit</a:t>
            </a:r>
          </a:p>
          <a:p>
            <a:pPr marL="990600" lvl="1" indent="-366713" eaLnBrk="1" hangingPunct="1"/>
            <a:r>
              <a:rPr lang="de-DE" sz="2000" dirty="0"/>
              <a:t>Regen zum Nachdenken an</a:t>
            </a:r>
          </a:p>
          <a:p>
            <a:pPr marL="990600" lvl="1" indent="-366713" eaLnBrk="1" hangingPunct="1"/>
            <a:r>
              <a:rPr lang="de-DE" sz="2000" dirty="0"/>
              <a:t>Motivieren für die Sache</a:t>
            </a:r>
          </a:p>
          <a:p>
            <a:pPr marL="990600" lvl="1" indent="-366713" eaLnBrk="1" hangingPunct="1"/>
            <a:r>
              <a:rPr lang="de-DE" sz="2000" dirty="0"/>
              <a:t>Geben Impulse</a:t>
            </a:r>
          </a:p>
          <a:p>
            <a:pPr marL="990600" lvl="1" indent="-366713" eaLnBrk="1" hangingPunct="1"/>
            <a:r>
              <a:rPr lang="de-DE" sz="2000" dirty="0"/>
              <a:t>Verdeutlichen und visualisieren Sachverhalte</a:t>
            </a:r>
          </a:p>
          <a:p>
            <a:pPr marL="990600" lvl="1" indent="-366713" eaLnBrk="1" hangingPunct="1"/>
            <a:r>
              <a:rPr lang="de-DE" sz="2000" dirty="0"/>
              <a:t>Lassen durch den Gebrauch von Aufbau-, Unterleg-, Abdeck-, Ergänzungs-, Figurentechnik eine schrittweise Gedankenentwicklung zu</a:t>
            </a:r>
          </a:p>
          <a:p>
            <a:pPr marL="990600" lvl="1" indent="-366713" eaLnBrk="1" hangingPunct="1"/>
            <a:r>
              <a:rPr lang="de-DE" sz="2000" dirty="0"/>
              <a:t>Haben einen hohen </a:t>
            </a:r>
            <a:r>
              <a:rPr lang="de-DE" sz="2000" dirty="0" err="1"/>
              <a:t>Behaltenseffekt</a:t>
            </a:r>
            <a:endParaRPr lang="de-DE" sz="2000" dirty="0"/>
          </a:p>
          <a:p>
            <a:pPr marL="990600" lvl="1" indent="-366713" eaLnBrk="1" hangingPunct="1"/>
            <a:r>
              <a:rPr lang="de-DE" sz="2000" dirty="0"/>
              <a:t>Dokumentieren sie Arbeitsergebnisse von Gruppen und Paaren und erlauben ihre </a:t>
            </a:r>
            <a:r>
              <a:rPr lang="de-DE" sz="2000" dirty="0" err="1"/>
              <a:t>plenare</a:t>
            </a:r>
            <a:r>
              <a:rPr lang="de-DE" sz="2000" dirty="0"/>
              <a:t> Diskussion</a:t>
            </a:r>
          </a:p>
        </p:txBody>
      </p:sp>
    </p:spTree>
    <p:extLst>
      <p:ext uri="{BB962C8B-B14F-4D97-AF65-F5344CB8AC3E}">
        <p14:creationId xmlns:p14="http://schemas.microsoft.com/office/powerpoint/2010/main" val="1881368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39</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Bedingungsmomente</a:t>
            </a:r>
          </a:p>
          <a:p>
            <a:pPr marL="990600" lvl="1" indent="-366713" eaLnBrk="1" hangingPunct="1"/>
            <a:r>
              <a:rPr lang="de-DE" sz="2000" dirty="0"/>
              <a:t>Anthropogene Voraussetzungen</a:t>
            </a:r>
          </a:p>
          <a:p>
            <a:pPr marL="990600" lvl="1" indent="-366713" eaLnBrk="1" hangingPunct="1"/>
            <a:r>
              <a:rPr lang="de-DE" sz="2000" dirty="0"/>
              <a:t>Soziokulturelle Voraussetzungen</a:t>
            </a:r>
          </a:p>
          <a:p>
            <a:pPr marL="444500" indent="-444500" eaLnBrk="1" hangingPunct="1"/>
            <a:r>
              <a:rPr lang="de-DE" sz="2200" dirty="0"/>
              <a:t>Entscheidungsmomente</a:t>
            </a:r>
          </a:p>
          <a:p>
            <a:pPr marL="990600" lvl="1" indent="-366713" eaLnBrk="1" hangingPunct="1"/>
            <a:r>
              <a:rPr lang="de-DE" sz="2000" dirty="0"/>
              <a:t>Intentionalität: Unterrichtsziele</a:t>
            </a:r>
          </a:p>
          <a:p>
            <a:pPr marL="1524000" lvl="2" indent="-354013" eaLnBrk="1" hangingPunct="1"/>
            <a:r>
              <a:rPr lang="de-DE" dirty="0"/>
              <a:t>Richtziel</a:t>
            </a:r>
          </a:p>
          <a:p>
            <a:pPr marL="1524000" lvl="2" indent="-354013" eaLnBrk="1" hangingPunct="1"/>
            <a:r>
              <a:rPr lang="de-DE" dirty="0"/>
              <a:t>Groblernziel</a:t>
            </a:r>
          </a:p>
          <a:p>
            <a:pPr marL="1524000" lvl="2" indent="-354013" eaLnBrk="1" hangingPunct="1"/>
            <a:r>
              <a:rPr lang="de-DE" dirty="0"/>
              <a:t>Feinlernziele</a:t>
            </a:r>
          </a:p>
          <a:p>
            <a:pPr marL="990600" lvl="1" indent="-366713" eaLnBrk="1" hangingPunct="1"/>
            <a:r>
              <a:rPr lang="de-DE" sz="2000" dirty="0"/>
              <a:t>Thematik</a:t>
            </a:r>
          </a:p>
          <a:p>
            <a:pPr marL="1524000" lvl="2" indent="-354013" eaLnBrk="1" hangingPunct="1"/>
            <a:r>
              <a:rPr lang="de-DE" dirty="0"/>
              <a:t>Lernfeld 1</a:t>
            </a:r>
          </a:p>
          <a:p>
            <a:pPr marL="1524000" lvl="2" indent="-354013" eaLnBrk="1" hangingPunct="1"/>
            <a:r>
              <a:rPr lang="de-DE" dirty="0"/>
              <a:t>Lernsituation 1.2</a:t>
            </a:r>
          </a:p>
          <a:p>
            <a:pPr marL="1524000" lvl="2" indent="-354013" eaLnBrk="1" hangingPunct="1"/>
            <a:r>
              <a:rPr lang="de-DE" dirty="0"/>
              <a:t>Schwerpunkte</a:t>
            </a:r>
          </a:p>
        </p:txBody>
      </p:sp>
    </p:spTree>
    <p:extLst>
      <p:ext uri="{BB962C8B-B14F-4D97-AF65-F5344CB8AC3E}">
        <p14:creationId xmlns:p14="http://schemas.microsoft.com/office/powerpoint/2010/main" val="2732094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1524000" lvl="2" indent="-354013" eaLnBrk="1" hangingPunct="1"/>
            <a:r>
              <a:rPr lang="de-DE" dirty="0"/>
              <a:t>Inhalt</a:t>
            </a:r>
          </a:p>
          <a:p>
            <a:pPr marL="1524000" lvl="2" indent="-354013" eaLnBrk="1" hangingPunct="1"/>
            <a:r>
              <a:rPr lang="de-DE" dirty="0"/>
              <a:t>Thema der Stunde</a:t>
            </a:r>
          </a:p>
          <a:p>
            <a:pPr marL="1524000" lvl="2" indent="-354013" eaLnBrk="1" hangingPunct="1"/>
            <a:r>
              <a:rPr lang="de-DE" dirty="0"/>
              <a:t>Vorhergehendes Thema</a:t>
            </a:r>
          </a:p>
          <a:p>
            <a:pPr marL="1524000" lvl="2" indent="-354013" eaLnBrk="1" hangingPunct="1"/>
            <a:r>
              <a:rPr lang="de-DE" dirty="0"/>
              <a:t>Nachfolgendes Thema</a:t>
            </a:r>
          </a:p>
          <a:p>
            <a:pPr marL="1524000" lvl="2" indent="-354013" eaLnBrk="1" hangingPunct="1"/>
            <a:r>
              <a:rPr lang="de-DE" dirty="0"/>
              <a:t>Gegenwartsbedeutung</a:t>
            </a:r>
          </a:p>
          <a:p>
            <a:pPr marL="1524000" lvl="2" indent="-354013" eaLnBrk="1" hangingPunct="1"/>
            <a:r>
              <a:rPr lang="de-DE" dirty="0"/>
              <a:t>Zukunftsbedeutung</a:t>
            </a:r>
          </a:p>
          <a:p>
            <a:pPr marL="1524000" lvl="2" indent="-354013" eaLnBrk="1" hangingPunct="1"/>
            <a:r>
              <a:rPr lang="de-DE" dirty="0"/>
              <a:t>Exemplarische Bedeutung</a:t>
            </a:r>
          </a:p>
          <a:p>
            <a:pPr marL="1524000" lvl="2" indent="-354013" eaLnBrk="1" hangingPunct="1"/>
            <a:r>
              <a:rPr lang="de-DE" dirty="0"/>
              <a:t>Zugänglichkeit</a:t>
            </a:r>
          </a:p>
          <a:p>
            <a:pPr marL="1524000" lvl="2" indent="-354013" eaLnBrk="1" hangingPunct="1"/>
            <a:r>
              <a:rPr lang="de-DE" dirty="0"/>
              <a:t>Sachstruktur</a:t>
            </a:r>
          </a:p>
          <a:p>
            <a:pPr marL="990600" lvl="1" indent="-366713" eaLnBrk="1" hangingPunct="1"/>
            <a:r>
              <a:rPr lang="de-DE" sz="2000" dirty="0"/>
              <a:t>Methodik</a:t>
            </a:r>
          </a:p>
          <a:p>
            <a:pPr marL="1524000" lvl="2" indent="-354013" eaLnBrk="1" hangingPunct="1"/>
            <a:r>
              <a:rPr lang="de-DE" dirty="0"/>
              <a:t>Verfahren</a:t>
            </a:r>
          </a:p>
          <a:p>
            <a:pPr marL="2543175" lvl="3" indent="-381000" eaLnBrk="1" hangingPunct="1"/>
            <a:r>
              <a:rPr lang="de-DE" sz="1600" dirty="0"/>
              <a:t>Eröffnungsphase</a:t>
            </a:r>
          </a:p>
          <a:p>
            <a:pPr marL="2543175" lvl="3" indent="-381000" eaLnBrk="1" hangingPunct="1"/>
            <a:r>
              <a:rPr lang="de-DE" sz="1600" dirty="0"/>
              <a:t>Erarbeitungsphase</a:t>
            </a:r>
          </a:p>
        </p:txBody>
      </p:sp>
    </p:spTree>
    <p:extLst>
      <p:ext uri="{BB962C8B-B14F-4D97-AF65-F5344CB8AC3E}">
        <p14:creationId xmlns:p14="http://schemas.microsoft.com/office/powerpoint/2010/main" val="895082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2543175" lvl="3" indent="-381000" eaLnBrk="1" hangingPunct="1"/>
            <a:r>
              <a:rPr lang="de-DE" sz="1600" dirty="0"/>
              <a:t>Ergebnisphase</a:t>
            </a:r>
          </a:p>
          <a:p>
            <a:pPr marL="2543175" lvl="3" indent="-381000" eaLnBrk="1" hangingPunct="1"/>
            <a:r>
              <a:rPr lang="de-DE" sz="1600" dirty="0"/>
              <a:t>Ergebnissicherung</a:t>
            </a:r>
          </a:p>
          <a:p>
            <a:pPr marL="2543175" lvl="3" indent="-381000" eaLnBrk="1" hangingPunct="1"/>
            <a:r>
              <a:rPr lang="de-DE" sz="1600" dirty="0"/>
              <a:t>Wissensanwendung</a:t>
            </a:r>
          </a:p>
          <a:p>
            <a:pPr marL="1524000" lvl="2" indent="-354013" eaLnBrk="1" hangingPunct="1"/>
            <a:r>
              <a:rPr lang="de-DE" dirty="0"/>
              <a:t>Sozialformen</a:t>
            </a:r>
          </a:p>
          <a:p>
            <a:pPr marL="1524000" lvl="2" indent="-354013" eaLnBrk="1" hangingPunct="1"/>
            <a:r>
              <a:rPr lang="de-DE" dirty="0"/>
              <a:t>Aktionsformen</a:t>
            </a:r>
          </a:p>
          <a:p>
            <a:pPr marL="1524000" lvl="2" indent="-354013" eaLnBrk="1" hangingPunct="1"/>
            <a:r>
              <a:rPr lang="de-DE" dirty="0"/>
              <a:t>Artikulationsschema</a:t>
            </a:r>
          </a:p>
          <a:p>
            <a:pPr marL="444500" indent="-444500" eaLnBrk="1" hangingPunct="1"/>
            <a:r>
              <a:rPr lang="de-DE" dirty="0"/>
              <a:t>Literatur</a:t>
            </a:r>
          </a:p>
        </p:txBody>
      </p:sp>
    </p:spTree>
    <p:extLst>
      <p:ext uri="{BB962C8B-B14F-4D97-AF65-F5344CB8AC3E}">
        <p14:creationId xmlns:p14="http://schemas.microsoft.com/office/powerpoint/2010/main" val="317482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42</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Lernerfolgskontrollen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10</a:t>
            </a:r>
          </a:p>
        </p:txBody>
      </p:sp>
    </p:spTree>
    <p:extLst>
      <p:ext uri="{BB962C8B-B14F-4D97-AF65-F5344CB8AC3E}">
        <p14:creationId xmlns:p14="http://schemas.microsoft.com/office/powerpoint/2010/main" val="3929562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10.1 Zusammenhang zw. Lernkontrolle und Lernziel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43</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fontAlgn="auto" hangingPunct="1">
              <a:spcAft>
                <a:spcPts val="0"/>
              </a:spcAft>
              <a:buFont typeface="Wingdings 2"/>
              <a:buChar char=""/>
              <a:defRPr/>
            </a:pPr>
            <a:r>
              <a:rPr lang="de-DE" sz="2200" dirty="0"/>
              <a:t>(Es darf nur geprüft werden, was auch gelehrt worden ist)</a:t>
            </a:r>
          </a:p>
          <a:p>
            <a:pPr marL="444500" indent="-444500" eaLnBrk="1" fontAlgn="auto" hangingPunct="1">
              <a:spcAft>
                <a:spcPts val="0"/>
              </a:spcAft>
              <a:buFont typeface="Wingdings 2"/>
              <a:buChar char=""/>
              <a:defRPr/>
            </a:pPr>
            <a:r>
              <a:rPr lang="de-DE" sz="2200" dirty="0"/>
              <a:t>Ein Lernziel besteht aus zwei Teilen: Inhalt und Verhalten</a:t>
            </a:r>
          </a:p>
          <a:p>
            <a:pPr marL="444500" indent="-444500" eaLnBrk="1" fontAlgn="auto" hangingPunct="1">
              <a:spcAft>
                <a:spcPts val="0"/>
              </a:spcAft>
              <a:buFont typeface="Wingdings 2"/>
              <a:buChar char=""/>
              <a:defRPr/>
            </a:pPr>
            <a:r>
              <a:rPr lang="de-DE" sz="2200" dirty="0"/>
              <a:t>Im Verhalten können Verhaltensstufen unterschieden werden</a:t>
            </a:r>
          </a:p>
          <a:p>
            <a:pPr marL="444500" indent="-444500" eaLnBrk="1" fontAlgn="auto" hangingPunct="1">
              <a:spcAft>
                <a:spcPts val="0"/>
              </a:spcAft>
              <a:buFont typeface="Wingdings 2"/>
              <a:buChar char=""/>
              <a:defRPr/>
            </a:pPr>
            <a:r>
              <a:rPr lang="de-DE" sz="2200" dirty="0"/>
              <a:t>Im kognitiven Bereich kann man zwischen Wissen, Verstehen, Anwenden und Problemlösen unterscheiden</a:t>
            </a:r>
          </a:p>
          <a:p>
            <a:pPr marL="444500" indent="-444500" eaLnBrk="1" fontAlgn="auto" hangingPunct="1">
              <a:spcAft>
                <a:spcPts val="0"/>
              </a:spcAft>
              <a:buFont typeface="Wingdings 2"/>
              <a:buChar char=""/>
              <a:defRPr/>
            </a:pPr>
            <a:r>
              <a:rPr lang="de-DE" sz="2200" dirty="0"/>
              <a:t>Das bedeutet für die Kontrolle: Werden im Unterricht die Inhalte auf der Stufe des Wissens vermittelt, dann dürfen diese Inhalte in der Lernkontrolle auch auf der Stufe des Wissens geprüft werden</a:t>
            </a:r>
          </a:p>
          <a:p>
            <a:pPr marL="444500" indent="-444500" eaLnBrk="1" fontAlgn="auto" hangingPunct="1">
              <a:spcAft>
                <a:spcPts val="0"/>
              </a:spcAft>
              <a:buFont typeface="Wingdings" pitchFamily="2" charset="2"/>
              <a:buNone/>
              <a:defRPr/>
            </a:pPr>
            <a:r>
              <a:rPr lang="de-DE" sz="2200" dirty="0"/>
              <a:t>					konventionelle Prüfung</a:t>
            </a:r>
          </a:p>
          <a:p>
            <a:pPr marL="444500" indent="-444500" eaLnBrk="1" fontAlgn="auto" hangingPunct="1">
              <a:spcAft>
                <a:spcPts val="0"/>
              </a:spcAft>
              <a:buFont typeface="Wingdings" pitchFamily="2" charset="2"/>
              <a:buNone/>
              <a:defRPr/>
            </a:pPr>
            <a:r>
              <a:rPr lang="de-DE" sz="2200" dirty="0"/>
              <a:t>Lernkontrolle</a:t>
            </a:r>
          </a:p>
          <a:p>
            <a:pPr marL="444500" indent="-444500" eaLnBrk="1" fontAlgn="auto" hangingPunct="1">
              <a:spcAft>
                <a:spcPts val="0"/>
              </a:spcAft>
              <a:buFont typeface="Wingdings" pitchFamily="2" charset="2"/>
              <a:buNone/>
              <a:defRPr/>
            </a:pPr>
            <a:r>
              <a:rPr lang="de-DE" sz="2200" dirty="0"/>
              <a:t>					Test</a:t>
            </a:r>
          </a:p>
        </p:txBody>
      </p:sp>
      <p:sp>
        <p:nvSpPr>
          <p:cNvPr id="6" name="Line 5"/>
          <p:cNvSpPr>
            <a:spLocks noChangeShapeType="1"/>
          </p:cNvSpPr>
          <p:nvPr/>
        </p:nvSpPr>
        <p:spPr bwMode="auto">
          <a:xfrm>
            <a:off x="2411288" y="5660925"/>
            <a:ext cx="1944688"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7" name="Line 6"/>
          <p:cNvSpPr>
            <a:spLocks noChangeShapeType="1"/>
          </p:cNvSpPr>
          <p:nvPr/>
        </p:nvSpPr>
        <p:spPr bwMode="auto">
          <a:xfrm flipV="1">
            <a:off x="2411760" y="5229448"/>
            <a:ext cx="1944688"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16530116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44</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Unterscheidung zwischen der mündlichen und schriftlichen, beide Formen können handlungsorientiert und nicht handlungsorientiert realisiert werden</a:t>
            </a:r>
          </a:p>
          <a:p>
            <a:pPr marL="444500" indent="-444500" eaLnBrk="1" hangingPunct="1"/>
            <a:r>
              <a:rPr lang="de-DE" sz="2200" dirty="0"/>
              <a:t>Informelle mündliche Prüfung bezieht sich auf das mündliche Abfragen</a:t>
            </a:r>
          </a:p>
          <a:p>
            <a:pPr marL="444500" indent="-444500" eaLnBrk="1" hangingPunct="1"/>
            <a:r>
              <a:rPr lang="de-DE" sz="2200" dirty="0"/>
              <a:t>Punktuell wird überprüft, ob bestimmt Lernschritte erreicht wurden</a:t>
            </a:r>
          </a:p>
          <a:p>
            <a:pPr marL="444500" indent="-444500" eaLnBrk="1" hangingPunct="1"/>
            <a:r>
              <a:rPr lang="de-DE" sz="2200" dirty="0"/>
              <a:t>Formelle mündliche Prüfung ist besonders bekannt</a:t>
            </a:r>
          </a:p>
          <a:p>
            <a:pPr marL="444500" indent="-444500" eaLnBrk="1" hangingPunct="1"/>
            <a:r>
              <a:rPr lang="de-DE" sz="2200" dirty="0"/>
              <a:t>In Berufsschulen hat formelle mündliche Prüfung eher in beruflichen Schulen wie Fachoberschule eine Bedeutung</a:t>
            </a:r>
          </a:p>
        </p:txBody>
      </p:sp>
    </p:spTree>
    <p:extLst>
      <p:ext uri="{BB962C8B-B14F-4D97-AF65-F5344CB8AC3E}">
        <p14:creationId xmlns:p14="http://schemas.microsoft.com/office/powerpoint/2010/main" val="3846754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45</a:t>
            </a:fld>
            <a:endParaRPr lang="de-DE"/>
          </a:p>
        </p:txBody>
      </p:sp>
      <p:sp>
        <p:nvSpPr>
          <p:cNvPr id="6" name="Rectangle 3"/>
          <p:cNvSpPr>
            <a:spLocks noGrp="1" noChangeArrowheads="1"/>
          </p:cNvSpPr>
          <p:nvPr>
            <p:ph sz="quarter" idx="1"/>
          </p:nvPr>
        </p:nvSpPr>
        <p:spPr>
          <a:xfrm>
            <a:off x="704850" y="1600200"/>
            <a:ext cx="7611566" cy="4873625"/>
          </a:xfrm>
        </p:spPr>
        <p:txBody>
          <a:bodyPr>
            <a:normAutofit lnSpcReduction="10000"/>
          </a:bodyPr>
          <a:lstStyle/>
          <a:p>
            <a:pPr marL="444500" indent="-444500" eaLnBrk="1" hangingPunct="1">
              <a:buFont typeface="Wingdings" pitchFamily="2" charset="2"/>
              <a:buNone/>
            </a:pPr>
            <a:r>
              <a:rPr lang="de-DE" sz="2200" dirty="0"/>
              <a:t>						 								                 Informell</a:t>
            </a:r>
          </a:p>
          <a:p>
            <a:pPr marL="444500" indent="-444500" eaLnBrk="1" hangingPunct="1">
              <a:buFont typeface="Wingdings" pitchFamily="2" charset="2"/>
              <a:buNone/>
            </a:pPr>
            <a:r>
              <a:rPr lang="de-DE" sz="2200" dirty="0"/>
              <a:t>				       Mündlich</a:t>
            </a:r>
          </a:p>
          <a:p>
            <a:pPr marL="444500" indent="-444500" eaLnBrk="1" hangingPunct="1">
              <a:buFont typeface="Wingdings" pitchFamily="2" charset="2"/>
              <a:buNone/>
            </a:pPr>
            <a:r>
              <a:rPr lang="de-DE" sz="2200" dirty="0"/>
              <a:t>														                 Formell</a:t>
            </a:r>
          </a:p>
          <a:p>
            <a:pPr marL="444500" indent="-444500" eaLnBrk="1" hangingPunct="1">
              <a:buFont typeface="Wingdings" pitchFamily="2" charset="2"/>
              <a:buNone/>
            </a:pPr>
            <a:r>
              <a:rPr lang="de-DE" sz="2200" dirty="0"/>
              <a:t>Konventionelle</a:t>
            </a:r>
          </a:p>
          <a:p>
            <a:pPr marL="444500" indent="-444500" eaLnBrk="1" hangingPunct="1">
              <a:buFont typeface="Wingdings" pitchFamily="2" charset="2"/>
              <a:buNone/>
            </a:pPr>
            <a:r>
              <a:rPr lang="de-DE" sz="2200" dirty="0"/>
              <a:t>Prüfung</a:t>
            </a:r>
          </a:p>
          <a:p>
            <a:pPr marL="444500" indent="-444500" eaLnBrk="1" hangingPunct="1">
              <a:buFont typeface="Wingdings" pitchFamily="2" charset="2"/>
              <a:buNone/>
            </a:pPr>
            <a:r>
              <a:rPr lang="de-DE" sz="2200" dirty="0"/>
              <a:t>					 		   Klassenarbeit</a:t>
            </a:r>
          </a:p>
          <a:p>
            <a:pPr marL="444500" indent="-444500" eaLnBrk="1" hangingPunct="1">
              <a:buFont typeface="Wingdings" pitchFamily="2" charset="2"/>
              <a:buNone/>
            </a:pPr>
            <a:r>
              <a:rPr lang="de-DE" sz="2200" dirty="0"/>
              <a:t>				       Schriftlich</a:t>
            </a:r>
          </a:p>
          <a:p>
            <a:pPr marL="444500" indent="-444500" eaLnBrk="1" hangingPunct="1">
              <a:buFont typeface="Wingdings" pitchFamily="2" charset="2"/>
              <a:buNone/>
            </a:pPr>
            <a:r>
              <a:rPr lang="de-DE" sz="2200" dirty="0"/>
              <a:t>														              Programmiert</a:t>
            </a:r>
          </a:p>
        </p:txBody>
      </p:sp>
      <p:sp>
        <p:nvSpPr>
          <p:cNvPr id="7" name="Line 5"/>
          <p:cNvSpPr>
            <a:spLocks noChangeShapeType="1"/>
          </p:cNvSpPr>
          <p:nvPr/>
        </p:nvSpPr>
        <p:spPr bwMode="auto">
          <a:xfrm flipV="1">
            <a:off x="2699196" y="2708920"/>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6"/>
          <p:cNvSpPr>
            <a:spLocks noChangeShapeType="1"/>
          </p:cNvSpPr>
          <p:nvPr/>
        </p:nvSpPr>
        <p:spPr bwMode="auto">
          <a:xfrm>
            <a:off x="2699792" y="3717032"/>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7"/>
          <p:cNvSpPr>
            <a:spLocks noChangeShapeType="1"/>
          </p:cNvSpPr>
          <p:nvPr/>
        </p:nvSpPr>
        <p:spPr bwMode="auto">
          <a:xfrm flipV="1">
            <a:off x="5148064" y="2205112"/>
            <a:ext cx="1439863"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9"/>
          <p:cNvSpPr>
            <a:spLocks noChangeShapeType="1"/>
          </p:cNvSpPr>
          <p:nvPr/>
        </p:nvSpPr>
        <p:spPr bwMode="auto">
          <a:xfrm>
            <a:off x="5148064" y="2636589"/>
            <a:ext cx="1439863" cy="576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7"/>
          <p:cNvSpPr>
            <a:spLocks noChangeShapeType="1"/>
          </p:cNvSpPr>
          <p:nvPr/>
        </p:nvSpPr>
        <p:spPr bwMode="auto">
          <a:xfrm flipV="1">
            <a:off x="5300465" y="4581128"/>
            <a:ext cx="1143744" cy="360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9"/>
          <p:cNvSpPr>
            <a:spLocks noChangeShapeType="1"/>
          </p:cNvSpPr>
          <p:nvPr/>
        </p:nvSpPr>
        <p:spPr bwMode="auto">
          <a:xfrm>
            <a:off x="5300465" y="4941168"/>
            <a:ext cx="1071736" cy="720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2121249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10.3 Test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46</a:t>
            </a:fld>
            <a:endParaRPr lang="de-DE"/>
          </a:p>
        </p:txBody>
      </p:sp>
      <p:sp>
        <p:nvSpPr>
          <p:cNvPr id="5" name="Rectangle 3"/>
          <p:cNvSpPr>
            <a:spLocks noGrp="1" noChangeArrowheads="1"/>
          </p:cNvSpPr>
          <p:nvPr>
            <p:ph sz="quarter" idx="1"/>
          </p:nvPr>
        </p:nvSpPr>
        <p:spPr>
          <a:xfrm>
            <a:off x="704850" y="1600200"/>
            <a:ext cx="7467600" cy="4873625"/>
          </a:xfrm>
        </p:spPr>
        <p:txBody>
          <a:bodyPr>
            <a:normAutofit/>
          </a:bodyPr>
          <a:lstStyle/>
          <a:p>
            <a:pPr marL="444500" indent="-444500" eaLnBrk="1" hangingPunct="1"/>
            <a:r>
              <a:rPr lang="de-DE" sz="2200" dirty="0"/>
              <a:t>Sind Lernkontrollen, die nach testtheoretischer und teststatischen Kriterien abgesichert sind</a:t>
            </a:r>
          </a:p>
          <a:p>
            <a:pPr marL="444500" indent="-444500" eaLnBrk="1" hangingPunct="1"/>
            <a:r>
              <a:rPr lang="de-DE" sz="2200" dirty="0"/>
              <a:t>Die Gütekriterien sind</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Validität (Gültigkeit)</a:t>
            </a:r>
          </a:p>
          <a:p>
            <a:pPr marL="444500" indent="-444500" eaLnBrk="1" hangingPunct="1">
              <a:buFont typeface="Wingdings" pitchFamily="2" charset="2"/>
              <a:buNone/>
            </a:pPr>
            <a:r>
              <a:rPr lang="de-DE" sz="1000" dirty="0"/>
              <a:t>				</a:t>
            </a:r>
          </a:p>
          <a:p>
            <a:pPr marL="444500" indent="-444500" eaLnBrk="1" hangingPunct="1">
              <a:buFont typeface="Wingdings" pitchFamily="2" charset="2"/>
              <a:buNone/>
            </a:pPr>
            <a:r>
              <a:rPr lang="de-DE" sz="2200" dirty="0"/>
              <a:t>   				Reliabilität (Genauigkeit,  </a:t>
            </a:r>
          </a:p>
          <a:p>
            <a:pPr marL="444500" indent="-444500" eaLnBrk="1" hangingPunct="1">
              <a:buFont typeface="Wingdings" pitchFamily="2" charset="2"/>
              <a:buNone/>
            </a:pPr>
            <a:r>
              <a:rPr lang="de-DE" sz="2200" dirty="0"/>
              <a:t>                                   Zuverlässigkeit)</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Objektivität (Durchführung-, </a:t>
            </a:r>
          </a:p>
          <a:p>
            <a:pPr marL="444500" indent="-444500" eaLnBrk="1" hangingPunct="1">
              <a:buFont typeface="Wingdings" pitchFamily="2" charset="2"/>
              <a:buNone/>
            </a:pPr>
            <a:r>
              <a:rPr lang="de-DE" sz="2200" dirty="0"/>
              <a:t>                                    Auswertungs-,Interpretations-</a:t>
            </a:r>
          </a:p>
          <a:p>
            <a:pPr marL="444500" indent="-444500" eaLnBrk="1" hangingPunct="1">
              <a:buFont typeface="Wingdings" pitchFamily="2" charset="2"/>
              <a:buNone/>
            </a:pPr>
            <a:r>
              <a:rPr lang="de-DE" sz="2200" dirty="0"/>
              <a:t>                                    </a:t>
            </a:r>
            <a:r>
              <a:rPr lang="de-DE" sz="2200" dirty="0" err="1"/>
              <a:t>objektivität</a:t>
            </a:r>
            <a:r>
              <a:rPr lang="de-DE" sz="2200" dirty="0"/>
              <a:t>)</a:t>
            </a:r>
          </a:p>
        </p:txBody>
      </p:sp>
      <p:sp>
        <p:nvSpPr>
          <p:cNvPr id="6" name="Line 5"/>
          <p:cNvSpPr>
            <a:spLocks noChangeShapeType="1"/>
          </p:cNvSpPr>
          <p:nvPr/>
        </p:nvSpPr>
        <p:spPr bwMode="auto">
          <a:xfrm flipV="1">
            <a:off x="1331640" y="3284909"/>
            <a:ext cx="2016125" cy="7921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sysClr val="windowText" lastClr="000000"/>
              </a:solidFill>
              <a:effectLst/>
              <a:uLnTx/>
              <a:uFillTx/>
            </a:endParaRPr>
          </a:p>
        </p:txBody>
      </p:sp>
      <p:sp>
        <p:nvSpPr>
          <p:cNvPr id="7" name="Line 6"/>
          <p:cNvSpPr>
            <a:spLocks noChangeShapeType="1"/>
          </p:cNvSpPr>
          <p:nvPr/>
        </p:nvSpPr>
        <p:spPr bwMode="auto">
          <a:xfrm>
            <a:off x="1331739" y="4077072"/>
            <a:ext cx="2016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7"/>
          <p:cNvSpPr>
            <a:spLocks noChangeShapeType="1"/>
          </p:cNvSpPr>
          <p:nvPr/>
        </p:nvSpPr>
        <p:spPr bwMode="auto">
          <a:xfrm>
            <a:off x="1331739" y="4077072"/>
            <a:ext cx="2016125"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feld 8"/>
          <p:cNvSpPr txBox="1"/>
          <p:nvPr/>
        </p:nvSpPr>
        <p:spPr>
          <a:xfrm>
            <a:off x="539552" y="3831431"/>
            <a:ext cx="1008062" cy="461665"/>
          </a:xfrm>
          <a:prstGeom prst="rect">
            <a:avLst/>
          </a:prstGeom>
          <a:noFill/>
        </p:spPr>
        <p:txBody>
          <a:bodyPr wrap="square" rtlCol="0">
            <a:spAutoFit/>
          </a:bodyPr>
          <a:lstStyle/>
          <a:p>
            <a:r>
              <a:rPr lang="de-DE" sz="2400" dirty="0"/>
              <a:t>Test</a:t>
            </a:r>
          </a:p>
        </p:txBody>
      </p:sp>
    </p:spTree>
    <p:extLst>
      <p:ext uri="{BB962C8B-B14F-4D97-AF65-F5344CB8AC3E}">
        <p14:creationId xmlns:p14="http://schemas.microsoft.com/office/powerpoint/2010/main" val="4206150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10.4 Validität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47</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Latein </a:t>
            </a:r>
            <a:r>
              <a:rPr lang="de-DE" sz="2200" dirty="0" err="1"/>
              <a:t>validus</a:t>
            </a:r>
            <a:r>
              <a:rPr lang="de-DE" sz="2200" dirty="0"/>
              <a:t>: stark, wirksam, einflussreich, gesund</a:t>
            </a:r>
          </a:p>
          <a:p>
            <a:pPr marL="444500" indent="-444500" eaLnBrk="1" hangingPunct="1"/>
            <a:r>
              <a:rPr lang="de-DE" sz="2200" dirty="0"/>
              <a:t>Englisch valid/</a:t>
            </a:r>
            <a:r>
              <a:rPr lang="de-DE" sz="2200" dirty="0" err="1"/>
              <a:t>validity</a:t>
            </a:r>
            <a:r>
              <a:rPr lang="de-DE" sz="2200" dirty="0"/>
              <a:t>: gültig, Gültigkeit, Stichhaltigkeit</a:t>
            </a:r>
          </a:p>
          <a:p>
            <a:pPr marL="444500" indent="-444500" eaLnBrk="1" hangingPunct="1"/>
            <a:r>
              <a:rPr lang="de-DE" sz="2200" i="1" dirty="0"/>
              <a:t>„Ein Test ist valide, wenn er tatsächlich das </a:t>
            </a:r>
            <a:r>
              <a:rPr lang="de-DE" sz="2200" i="1" dirty="0" err="1"/>
              <a:t>mißt</a:t>
            </a:r>
            <a:r>
              <a:rPr lang="de-DE" sz="2200" i="1" dirty="0"/>
              <a:t>, was er zu messen vorgibt.“</a:t>
            </a:r>
          </a:p>
          <a:p>
            <a:pPr marL="444500" indent="-444500" eaLnBrk="1" hangingPunct="1"/>
            <a:r>
              <a:rPr lang="de-DE" sz="2200" dirty="0"/>
              <a:t>Bei einer Rechenaufgabe in Form einer Textaufgabe wird nicht nur das Rechnen geprüft, sondern auch da Textverständnis </a:t>
            </a:r>
            <a:r>
              <a:rPr lang="de-DE" sz="2200" dirty="0">
                <a:sym typeface="Wingdings 3" pitchFamily="18" charset="2"/>
              </a:rPr>
              <a:t> also nicht valide</a:t>
            </a:r>
          </a:p>
          <a:p>
            <a:pPr marL="444500" indent="-444500" eaLnBrk="1" hangingPunct="1"/>
            <a:r>
              <a:rPr lang="de-DE" sz="2200" dirty="0">
                <a:sym typeface="Wingdings 3" pitchFamily="18" charset="2"/>
              </a:rPr>
              <a:t>Schulleistungstests überprüfen meist nur die Inhaltsvalidität</a:t>
            </a:r>
          </a:p>
          <a:p>
            <a:pPr marL="444500" indent="-444500" eaLnBrk="1" hangingPunct="1"/>
            <a:r>
              <a:rPr lang="de-DE" sz="2200" dirty="0">
                <a:sym typeface="Wingdings 3" pitchFamily="18" charset="2"/>
              </a:rPr>
              <a:t>Test muss Lernziele widerspiegeln (Wissenstest bei Wissenslernziele)</a:t>
            </a:r>
          </a:p>
          <a:p>
            <a:pPr marL="444500" indent="-444500" eaLnBrk="1" hangingPunct="1"/>
            <a:r>
              <a:rPr lang="de-DE" sz="2200" dirty="0">
                <a:sym typeface="Wingdings 3" pitchFamily="18" charset="2"/>
              </a:rPr>
              <a:t>Schwerpunkte des Unterrichts sollten Schwerpunkte des Tests darstellen</a:t>
            </a:r>
          </a:p>
        </p:txBody>
      </p:sp>
    </p:spTree>
    <p:extLst>
      <p:ext uri="{BB962C8B-B14F-4D97-AF65-F5344CB8AC3E}">
        <p14:creationId xmlns:p14="http://schemas.microsoft.com/office/powerpoint/2010/main" val="15303252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10.5 Reliabilität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48</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Englisch </a:t>
            </a:r>
            <a:r>
              <a:rPr lang="de-DE" sz="2200" dirty="0" err="1"/>
              <a:t>reliable</a:t>
            </a:r>
            <a:r>
              <a:rPr lang="de-DE" sz="2200" dirty="0"/>
              <a:t>/</a:t>
            </a:r>
            <a:r>
              <a:rPr lang="de-DE" sz="2200" dirty="0" err="1"/>
              <a:t>reliability</a:t>
            </a:r>
            <a:r>
              <a:rPr lang="de-DE" sz="2200" dirty="0"/>
              <a:t>: genau, zuverlässig, Genauigkeit, Zuverlässigkeit</a:t>
            </a:r>
          </a:p>
          <a:p>
            <a:pPr marL="444500" indent="-444500" eaLnBrk="1" hangingPunct="1"/>
            <a:r>
              <a:rPr lang="de-DE" sz="2200" i="1" dirty="0"/>
              <a:t>„Ein Test ist </a:t>
            </a:r>
            <a:r>
              <a:rPr lang="de-DE" sz="2200" i="1" dirty="0" err="1"/>
              <a:t>reliabel</a:t>
            </a:r>
            <a:r>
              <a:rPr lang="de-DE" sz="2200" i="1" dirty="0"/>
              <a:t>, wenn er das, was er </a:t>
            </a:r>
            <a:r>
              <a:rPr lang="de-DE" sz="2200" i="1" dirty="0" err="1"/>
              <a:t>mißt</a:t>
            </a:r>
            <a:r>
              <a:rPr lang="de-DE" sz="2200" i="1" dirty="0"/>
              <a:t>, genau </a:t>
            </a:r>
            <a:r>
              <a:rPr lang="de-DE" sz="2200" i="1" dirty="0" err="1"/>
              <a:t>mißt</a:t>
            </a:r>
            <a:r>
              <a:rPr lang="de-DE" sz="2200" i="1" dirty="0"/>
              <a:t>.“</a:t>
            </a:r>
          </a:p>
          <a:p>
            <a:pPr marL="444500" indent="-444500" eaLnBrk="1" hangingPunct="1"/>
            <a:r>
              <a:rPr lang="de-DE" sz="2200" dirty="0"/>
              <a:t>Insbesondere bei einer Testwiederholung mit gleichen Probanden muss ein Test zu gleichen Ergebnissen kommen</a:t>
            </a:r>
          </a:p>
          <a:p>
            <a:pPr marL="444500" indent="-444500" eaLnBrk="1" hangingPunct="1"/>
            <a:r>
              <a:rPr lang="de-DE" sz="2200" dirty="0"/>
              <a:t>Damit ist aber noch nicht gesagt, ob der Test auch zu validen Ergebnissen führt, d. h. ob das, was er </a:t>
            </a:r>
            <a:r>
              <a:rPr lang="de-DE" sz="2200" dirty="0" err="1"/>
              <a:t>reliabel</a:t>
            </a:r>
            <a:r>
              <a:rPr lang="de-DE" sz="2200" dirty="0"/>
              <a:t> misst, das ist, was er zu messen vorgibt</a:t>
            </a:r>
          </a:p>
        </p:txBody>
      </p:sp>
    </p:spTree>
    <p:extLst>
      <p:ext uri="{BB962C8B-B14F-4D97-AF65-F5344CB8AC3E}">
        <p14:creationId xmlns:p14="http://schemas.microsoft.com/office/powerpoint/2010/main" val="3068682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49</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i="1" dirty="0"/>
              <a:t>„Die Objektivität (Vorurteilslosigkeit) eines Tests bezieht sich darauf, zu welchem Grund die Ergebnisse eines Tests unabhängig vom Untersucher sind.“</a:t>
            </a:r>
          </a:p>
          <a:p>
            <a:pPr marL="444500" indent="-444500" eaLnBrk="1" hangingPunct="1"/>
            <a:r>
              <a:rPr lang="de-DE" sz="2200" dirty="0"/>
              <a:t>Ein Schultest muss unabhängig von der Person des Lehrers sein, die ihn als Testleiter durchführt, die ihn auswertet und die die Leistungen interpretiert</a:t>
            </a:r>
          </a:p>
          <a:p>
            <a:pPr marL="444500" indent="-444500" eaLnBrk="1" hangingPunct="1"/>
            <a:r>
              <a:rPr lang="de-DE" sz="2200" dirty="0"/>
              <a:t>Man spricht daher von Durchführungs-, Auswertungs- und Interpretationsobjektivität</a:t>
            </a:r>
          </a:p>
          <a:p>
            <a:pPr marL="444500" indent="-444500" eaLnBrk="1" hangingPunct="1"/>
            <a:r>
              <a:rPr lang="de-DE" sz="2200" dirty="0"/>
              <a:t>Durchführungsobjektivität</a:t>
            </a:r>
          </a:p>
          <a:p>
            <a:pPr marL="990600" lvl="1" indent="-366713" eaLnBrk="1" hangingPunct="1"/>
            <a:r>
              <a:rPr lang="de-DE" sz="2000" dirty="0"/>
              <a:t>Es müssen die äußeren Bedingungen der Testsituation für alle Schüler gleich sein</a:t>
            </a:r>
          </a:p>
        </p:txBody>
      </p:sp>
    </p:spTree>
    <p:extLst>
      <p:ext uri="{BB962C8B-B14F-4D97-AF65-F5344CB8AC3E}">
        <p14:creationId xmlns:p14="http://schemas.microsoft.com/office/powerpoint/2010/main" val="17708656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50</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Die Anweisungen des Testautors müssen im Detail schriftlich so festgehalten sein, dass eine unterschiedliche Auslegung der Durchführungsanweisungen nicht mehr möglich ist</a:t>
            </a:r>
          </a:p>
          <a:p>
            <a:pPr marL="990600" lvl="1" indent="-366713" eaLnBrk="1" hangingPunct="1"/>
            <a:r>
              <a:rPr lang="de-DE" sz="2000" dirty="0"/>
              <a:t>Z. B. die Bearbeitungszeit, Art der Hilfsmittel, Art der Hilfen des Lehrers</a:t>
            </a:r>
          </a:p>
          <a:p>
            <a:pPr marL="444500" indent="-444500" eaLnBrk="1" hangingPunct="1"/>
            <a:r>
              <a:rPr lang="de-DE" sz="2200" dirty="0"/>
              <a:t>Auswertungsobjektivität</a:t>
            </a:r>
          </a:p>
          <a:p>
            <a:pPr marL="990600" lvl="1" indent="-366713" eaLnBrk="1" hangingPunct="1"/>
            <a:r>
              <a:rPr lang="de-DE" sz="2000" dirty="0"/>
              <a:t>Das Auswertungsergebnis muss gleich sein, egal welcher Lehrer den Test kontrolliert</a:t>
            </a:r>
          </a:p>
          <a:p>
            <a:pPr marL="990600" lvl="1" indent="-366713" eaLnBrk="1" hangingPunct="1"/>
            <a:r>
              <a:rPr lang="de-DE" sz="2000" dirty="0"/>
              <a:t>Dazu ist ein eindeutiger Lösungsschlüssel notwendig</a:t>
            </a:r>
          </a:p>
        </p:txBody>
      </p:sp>
    </p:spTree>
    <p:extLst>
      <p:ext uri="{BB962C8B-B14F-4D97-AF65-F5344CB8AC3E}">
        <p14:creationId xmlns:p14="http://schemas.microsoft.com/office/powerpoint/2010/main" val="17404991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51</a:t>
            </a:fld>
            <a:endParaRPr lang="de-DE"/>
          </a:p>
        </p:txBody>
      </p:sp>
      <p:sp>
        <p:nvSpPr>
          <p:cNvPr id="7"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Interpretationsobjektivität</a:t>
            </a:r>
          </a:p>
          <a:p>
            <a:pPr marL="990600" lvl="1" indent="-366713" eaLnBrk="1" hangingPunct="1"/>
            <a:r>
              <a:rPr lang="de-DE" sz="2000" dirty="0"/>
              <a:t>Zwei unabhängige Beurteiler ziehen unabhängig voneinander aus dem gleichen Auswertungsergebnis den gleichen Schluss</a:t>
            </a:r>
          </a:p>
          <a:p>
            <a:pPr marL="990600" lvl="1" indent="-366713" eaLnBrk="1" hangingPunct="1"/>
            <a:r>
              <a:rPr lang="de-DE" sz="2000" dirty="0"/>
              <a:t>Das heißt z. B. das der gleiche Notenschlüssel als Grundlage dient</a:t>
            </a:r>
          </a:p>
          <a:p>
            <a:pPr marL="990600" lvl="1" indent="-366713" eaLnBrk="1" hangingPunct="1">
              <a:buFont typeface="Wingdings" pitchFamily="2" charset="2"/>
              <a:buNone/>
            </a:pPr>
            <a:r>
              <a:rPr lang="de-DE" sz="2000" dirty="0"/>
              <a:t>	</a:t>
            </a:r>
          </a:p>
          <a:p>
            <a:pPr marL="990600" lvl="1" indent="-366713" eaLnBrk="1" hangingPunct="1">
              <a:buFont typeface="Wingdings" pitchFamily="2" charset="2"/>
              <a:buNone/>
            </a:pPr>
            <a:r>
              <a:rPr lang="de-DE" sz="2000" dirty="0"/>
              <a:t>						           formell</a:t>
            </a:r>
          </a:p>
          <a:p>
            <a:pPr marL="444500" indent="-444500" eaLnBrk="1" hangingPunct="1">
              <a:buFont typeface="Wingdings" pitchFamily="2" charset="2"/>
              <a:buNone/>
            </a:pPr>
            <a:r>
              <a:rPr lang="de-DE" sz="2000" dirty="0"/>
              <a:t>				Normorientiert</a:t>
            </a:r>
          </a:p>
          <a:p>
            <a:pPr marL="444500" indent="-444500" eaLnBrk="1" hangingPunct="1">
              <a:buFont typeface="Wingdings" pitchFamily="2" charset="2"/>
              <a:buNone/>
            </a:pPr>
            <a:r>
              <a:rPr lang="de-DE" sz="2000" dirty="0"/>
              <a:t>														           informell</a:t>
            </a:r>
          </a:p>
          <a:p>
            <a:pPr marL="444500" indent="-444500" eaLnBrk="1" hangingPunct="1">
              <a:buFont typeface="Wingdings" pitchFamily="2" charset="2"/>
              <a:buNone/>
            </a:pPr>
            <a:r>
              <a:rPr lang="de-DE" sz="2000" dirty="0"/>
              <a:t>Test</a:t>
            </a:r>
          </a:p>
          <a:p>
            <a:pPr marL="444500" indent="-444500" eaLnBrk="1" hangingPunct="1">
              <a:buFont typeface="Wingdings" pitchFamily="2" charset="2"/>
              <a:buNone/>
            </a:pPr>
            <a:endParaRPr lang="de-DE" sz="2000" dirty="0"/>
          </a:p>
          <a:p>
            <a:pPr marL="444500" indent="-444500" eaLnBrk="1" hangingPunct="1">
              <a:buFont typeface="Wingdings" pitchFamily="2" charset="2"/>
              <a:buNone/>
            </a:pPr>
            <a:r>
              <a:rPr lang="de-DE" sz="2000" dirty="0"/>
              <a:t>				</a:t>
            </a:r>
            <a:r>
              <a:rPr lang="de-DE" sz="2000" dirty="0" err="1"/>
              <a:t>Kriteriumsorientiert</a:t>
            </a:r>
            <a:endParaRPr lang="de-DE" sz="2000" dirty="0"/>
          </a:p>
        </p:txBody>
      </p:sp>
      <p:sp>
        <p:nvSpPr>
          <p:cNvPr id="8" name="Line 5"/>
          <p:cNvSpPr>
            <a:spLocks noChangeShapeType="1"/>
          </p:cNvSpPr>
          <p:nvPr/>
        </p:nvSpPr>
        <p:spPr bwMode="auto">
          <a:xfrm flipV="1">
            <a:off x="1332880" y="4293096"/>
            <a:ext cx="2159000" cy="1008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6"/>
          <p:cNvSpPr>
            <a:spLocks noChangeShapeType="1"/>
          </p:cNvSpPr>
          <p:nvPr/>
        </p:nvSpPr>
        <p:spPr bwMode="auto">
          <a:xfrm>
            <a:off x="1331640" y="5301208"/>
            <a:ext cx="2087562"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7"/>
          <p:cNvSpPr>
            <a:spLocks noChangeShapeType="1"/>
          </p:cNvSpPr>
          <p:nvPr/>
        </p:nvSpPr>
        <p:spPr bwMode="auto">
          <a:xfrm flipV="1">
            <a:off x="5220617" y="3932734"/>
            <a:ext cx="1655639"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8"/>
          <p:cNvSpPr>
            <a:spLocks noChangeShapeType="1"/>
          </p:cNvSpPr>
          <p:nvPr/>
        </p:nvSpPr>
        <p:spPr bwMode="auto">
          <a:xfrm>
            <a:off x="5220618" y="4293096"/>
            <a:ext cx="1655638" cy="6480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3316761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10.7 Kontrollfehler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52</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Reihenfolge-Effekt</a:t>
            </a:r>
          </a:p>
          <a:p>
            <a:pPr marL="990600" lvl="1" indent="-366713" eaLnBrk="1" hangingPunct="1"/>
            <a:r>
              <a:rPr lang="de-DE" sz="2000" dirty="0"/>
              <a:t>Bei der Kontrolle mehrerer Tests zeigt sich die Tendenz, die ersten Kontrollen und die ersten Wertungen strenger durchzuführen</a:t>
            </a:r>
          </a:p>
          <a:p>
            <a:pPr marL="990600" lvl="1" indent="-366713" eaLnBrk="1" hangingPunct="1"/>
            <a:r>
              <a:rPr lang="de-DE" sz="2000" dirty="0"/>
              <a:t>Im weiteren Verlauf tritt der Effekt der Gewöhnung aus</a:t>
            </a:r>
          </a:p>
          <a:p>
            <a:pPr marL="990600" lvl="1" indent="-366713" eaLnBrk="1" hangingPunct="1"/>
            <a:r>
              <a:rPr lang="de-DE" sz="2000" dirty="0"/>
              <a:t>Es wird milder bewertet</a:t>
            </a:r>
          </a:p>
          <a:p>
            <a:pPr marL="990600" lvl="1" indent="-366713" eaLnBrk="1" hangingPunct="1"/>
            <a:r>
              <a:rPr lang="de-DE" sz="2000" dirty="0"/>
              <a:t>In einer Untersuchung hat sich die Zahl 8 von 10 als sehr günstig erwiesen um diesen Fehler einzuschränken</a:t>
            </a:r>
          </a:p>
          <a:p>
            <a:pPr marL="990600" lvl="1" indent="-366713" eaLnBrk="1" hangingPunct="1"/>
            <a:r>
              <a:rPr lang="de-DE" sz="2000" dirty="0"/>
              <a:t>Man kann diesem Effekt entgegenwirken indem man die Arbeiten zweimal liest und beim ersten Lesen das Wertungsergebnis nicht sofort zum Endurteil macht</a:t>
            </a:r>
          </a:p>
          <a:p>
            <a:pPr marL="990600" lvl="1" indent="-366713" eaLnBrk="1" hangingPunct="1"/>
            <a:r>
              <a:rPr lang="de-DE" sz="2000" dirty="0"/>
              <a:t>Oder man nimmt beim ersten Lesen nur eine Vorsortierung vor</a:t>
            </a:r>
          </a:p>
        </p:txBody>
      </p:sp>
    </p:spTree>
    <p:extLst>
      <p:ext uri="{BB962C8B-B14F-4D97-AF65-F5344CB8AC3E}">
        <p14:creationId xmlns:p14="http://schemas.microsoft.com/office/powerpoint/2010/main" val="2699130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10.8 Hof-Effekt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Bei einer Bewertung einer bestimmten Leistung wird auch deren Umfeld (Hof) zwangsläufig mit wahrgenommen, kontrolliert und bewertet</a:t>
            </a:r>
          </a:p>
          <a:p>
            <a:pPr marL="444500" indent="-444500" eaLnBrk="1" hangingPunct="1"/>
            <a:r>
              <a:rPr lang="de-DE" sz="2200" dirty="0"/>
              <a:t>Eine unschöne Schrift und viele Rechtschreibfehler wirken sich auf die Bewertung des Inhalts aus</a:t>
            </a:r>
          </a:p>
          <a:p>
            <a:pPr marL="444500" indent="-444500" eaLnBrk="1" hangingPunct="1"/>
            <a:r>
              <a:rPr lang="de-DE" sz="2200" dirty="0"/>
              <a:t>Ähnlich wirken Vorleistungen des Lerners, Herkunft, Verhaltensstil, Leistungen in anderen Fächern eine Rolle</a:t>
            </a:r>
          </a:p>
          <a:p>
            <a:pPr marL="444500" indent="-444500" eaLnBrk="1" hangingPunct="1"/>
            <a:r>
              <a:rPr lang="de-DE" sz="2200" dirty="0"/>
              <a:t>Dieser Effekt ist geringer, je weniger vom Umfeld bekannt ist, z. B. bei einer verdeckten Kontrolle bei der Ziffern anstatt Namen zur Identifizierung benutzt werden</a:t>
            </a:r>
          </a:p>
        </p:txBody>
      </p:sp>
    </p:spTree>
    <p:extLst>
      <p:ext uri="{BB962C8B-B14F-4D97-AF65-F5344CB8AC3E}">
        <p14:creationId xmlns:p14="http://schemas.microsoft.com/office/powerpoint/2010/main" val="4034708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10.9 Erwartungs-Effekt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54</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Auf Grund von Vorinformationen über die Leistungen trägt der Kontroller an den Lernenden heran mit der Tendenz, diese erfüllt zu sehen</a:t>
            </a:r>
          </a:p>
          <a:p>
            <a:pPr marL="444500" indent="-444500" eaLnBrk="1" hangingPunct="1"/>
            <a:r>
              <a:rPr lang="de-DE" sz="2200" dirty="0"/>
              <a:t>So erfüllt sich diese Vorhersage selbst (</a:t>
            </a:r>
            <a:r>
              <a:rPr lang="de-DE" sz="2200" dirty="0" err="1"/>
              <a:t>self-fulifilling</a:t>
            </a:r>
            <a:r>
              <a:rPr lang="de-DE" sz="2200" dirty="0"/>
              <a:t> </a:t>
            </a:r>
            <a:r>
              <a:rPr lang="de-DE" sz="2200" dirty="0" err="1"/>
              <a:t>prophecy</a:t>
            </a:r>
            <a:r>
              <a:rPr lang="de-DE" sz="2200" dirty="0"/>
              <a:t>)</a:t>
            </a:r>
          </a:p>
          <a:p>
            <a:pPr marL="444500" indent="-444500" eaLnBrk="1" hangingPunct="1"/>
            <a:r>
              <a:rPr lang="de-DE" sz="2200" dirty="0"/>
              <a:t>Der Lernende selbst verändert sich nach diesen Erwartungen (Pygmalion-Effekt)</a:t>
            </a:r>
          </a:p>
          <a:p>
            <a:pPr marL="444500" indent="-444500" eaLnBrk="1" hangingPunct="1"/>
            <a:r>
              <a:rPr lang="de-DE" sz="2200" dirty="0"/>
              <a:t>Sich das Vorhandensein und die Wirkung dieser Effekte bewusst zu sein, ist die beste Schutzmethode</a:t>
            </a:r>
          </a:p>
        </p:txBody>
      </p:sp>
    </p:spTree>
    <p:extLst>
      <p:ext uri="{BB962C8B-B14F-4D97-AF65-F5344CB8AC3E}">
        <p14:creationId xmlns:p14="http://schemas.microsoft.com/office/powerpoint/2010/main" val="3845657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Kognitive Handlungen</a:t>
            </a:r>
          </a:p>
          <a:p>
            <a:pPr marL="990600" lvl="1" indent="-366713" eaLnBrk="1" hangingPunct="1"/>
            <a:r>
              <a:rPr lang="de-DE" sz="2000" dirty="0" err="1"/>
              <a:t>Descriptives</a:t>
            </a:r>
            <a:r>
              <a:rPr lang="de-DE" sz="2000" dirty="0"/>
              <a:t> Wissen		Nennen Sie…</a:t>
            </a:r>
          </a:p>
          <a:p>
            <a:pPr marL="990600" lvl="1" indent="-366713" eaLnBrk="1" hangingPunct="1"/>
            <a:r>
              <a:rPr lang="de-DE" sz="2000" dirty="0"/>
              <a:t>Verstehendes Wissen		Fügen Sie… ein.</a:t>
            </a:r>
          </a:p>
          <a:p>
            <a:pPr marL="990600" lvl="1" indent="-366713" eaLnBrk="1" hangingPunct="1"/>
            <a:r>
              <a:rPr lang="de-DE" sz="2000" dirty="0"/>
              <a:t>Anwendendes Wissen		Berechnen Sie…</a:t>
            </a:r>
          </a:p>
          <a:p>
            <a:pPr marL="990600" lvl="1" indent="-366713" eaLnBrk="1" hangingPunct="1"/>
            <a:r>
              <a:rPr lang="de-DE" sz="2000" dirty="0"/>
              <a:t>Analysierendes Wissen	Klassifizieren Sie…</a:t>
            </a:r>
          </a:p>
          <a:p>
            <a:pPr marL="990600" lvl="1" indent="-366713" eaLnBrk="1" hangingPunct="1"/>
            <a:r>
              <a:rPr lang="de-DE" sz="2000" dirty="0"/>
              <a:t>Synthetisierendes Wissen	Entwickeln Sie…</a:t>
            </a:r>
          </a:p>
          <a:p>
            <a:pPr marL="990600" lvl="1" indent="-366713" eaLnBrk="1" hangingPunct="1"/>
            <a:r>
              <a:rPr lang="de-DE" sz="2000" dirty="0"/>
              <a:t>Bewertendes Wissen		Prüfen Sie, …</a:t>
            </a:r>
          </a:p>
          <a:p>
            <a:pPr marL="444500" indent="-444500" eaLnBrk="1" hangingPunct="1"/>
            <a:r>
              <a:rPr lang="de-DE" sz="2200" dirty="0"/>
              <a:t>Affektive Handlungen</a:t>
            </a:r>
          </a:p>
          <a:p>
            <a:pPr marL="990600" lvl="1" indent="-366713" eaLnBrk="1" hangingPunct="1"/>
            <a:r>
              <a:rPr lang="de-DE" sz="2000" dirty="0"/>
              <a:t>Berücksichtigen Sie…</a:t>
            </a:r>
          </a:p>
          <a:p>
            <a:pPr marL="990600" lvl="1" indent="-366713" eaLnBrk="1" hangingPunct="1"/>
            <a:r>
              <a:rPr lang="de-DE" sz="2000" dirty="0"/>
              <a:t>Beteiligen Sie sich an…</a:t>
            </a:r>
          </a:p>
          <a:p>
            <a:pPr marL="990600" lvl="1" indent="-366713" eaLnBrk="1" hangingPunct="1"/>
            <a:r>
              <a:rPr lang="de-DE" sz="2000" dirty="0"/>
              <a:t>Setzen Sie sich für… ein.</a:t>
            </a:r>
          </a:p>
        </p:txBody>
      </p:sp>
    </p:spTree>
    <p:extLst>
      <p:ext uri="{BB962C8B-B14F-4D97-AF65-F5344CB8AC3E}">
        <p14:creationId xmlns:p14="http://schemas.microsoft.com/office/powerpoint/2010/main" val="38936967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56</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Finden Sie Beurteilungsmaßstäbe für…</a:t>
            </a:r>
          </a:p>
          <a:p>
            <a:pPr marL="990600" lvl="1" indent="-366713" eaLnBrk="1" hangingPunct="1"/>
            <a:r>
              <a:rPr lang="de-DE" sz="2000" dirty="0"/>
              <a:t>Ziehen Sie Konsequenzen aus… für…</a:t>
            </a:r>
          </a:p>
          <a:p>
            <a:pPr marL="444500" indent="-444500" eaLnBrk="1" hangingPunct="1"/>
            <a:r>
              <a:rPr lang="de-DE" sz="2200" dirty="0"/>
              <a:t>Psychomotorische Handlungen</a:t>
            </a:r>
          </a:p>
          <a:p>
            <a:pPr marL="990600" lvl="1" indent="-366713" eaLnBrk="1" hangingPunct="1"/>
            <a:r>
              <a:rPr lang="de-DE" sz="2000" dirty="0"/>
              <a:t>Messen Sie…</a:t>
            </a:r>
          </a:p>
          <a:p>
            <a:pPr marL="990600" lvl="1" indent="-366713" eaLnBrk="1" hangingPunct="1"/>
            <a:r>
              <a:rPr lang="de-DE" sz="2000" dirty="0"/>
              <a:t>Zeichnen Sie…</a:t>
            </a:r>
          </a:p>
        </p:txBody>
      </p:sp>
    </p:spTree>
    <p:extLst>
      <p:ext uri="{BB962C8B-B14F-4D97-AF65-F5344CB8AC3E}">
        <p14:creationId xmlns:p14="http://schemas.microsoft.com/office/powerpoint/2010/main" val="39044508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57</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PAL-Prüfungen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11</a:t>
            </a:r>
          </a:p>
        </p:txBody>
      </p:sp>
    </p:spTree>
    <p:extLst>
      <p:ext uri="{BB962C8B-B14F-4D97-AF65-F5344CB8AC3E}">
        <p14:creationId xmlns:p14="http://schemas.microsoft.com/office/powerpoint/2010/main" val="33984430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58</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dirty="0"/>
              <a:t>IHKs führen über 70 Jahre Abschlussprüfungen durch</a:t>
            </a:r>
          </a:p>
          <a:p>
            <a:pPr marL="444500" indent="-444500" eaLnBrk="1" hangingPunct="1"/>
            <a:r>
              <a:rPr lang="de-DE" dirty="0"/>
              <a:t>1948 nahm Prüfungsaufgaben- und Lehrmittel-Entwicklungsstelle (PAL) ihre Tätigkeit mit dem Austausch von Prüfungsaufgaben</a:t>
            </a:r>
          </a:p>
          <a:p>
            <a:pPr marL="444500" indent="-444500" eaLnBrk="1" hangingPunct="1"/>
            <a:r>
              <a:rPr lang="de-DE" dirty="0"/>
              <a:t>Nachdem das Berufsbildungsgesetz (</a:t>
            </a:r>
            <a:r>
              <a:rPr lang="de-DE" dirty="0" err="1"/>
              <a:t>BbiG</a:t>
            </a:r>
            <a:r>
              <a:rPr lang="de-DE" dirty="0"/>
              <a:t>) 1969 den zuständigen Stellen fast eine Verdreifachung des Aufwandes für die Durchführung von Prüfungen brachte, ergab sich die Notwendigkeit einer umfassenden Rationalisierung des Prüfungswesens</a:t>
            </a:r>
          </a:p>
          <a:p>
            <a:pPr marL="444500" indent="-444500" eaLnBrk="1" hangingPunct="1"/>
            <a:r>
              <a:rPr lang="de-DE" dirty="0"/>
              <a:t>Forderung nach einer verstärkten Objektivierung der Prüfung</a:t>
            </a:r>
          </a:p>
        </p:txBody>
      </p:sp>
    </p:spTree>
    <p:extLst>
      <p:ext uri="{BB962C8B-B14F-4D97-AF65-F5344CB8AC3E}">
        <p14:creationId xmlns:p14="http://schemas.microsoft.com/office/powerpoint/2010/main" val="8159699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59</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Auch die PISA-Untersuchung 2002 bestätigte diese Ergebnisse</a:t>
            </a:r>
          </a:p>
          <a:p>
            <a:pPr marL="444500" indent="-444500" eaLnBrk="1" hangingPunct="1"/>
            <a:r>
              <a:rPr lang="de-DE" dirty="0"/>
              <a:t>Ergebnisse, Transparenz, Objektivität und Vergleichbarkeit von Prüfungsergebnissen sind durch überregional erstellte Prüfungen bundesweit besser sicher zu stellen</a:t>
            </a:r>
          </a:p>
          <a:p>
            <a:pPr marL="444500" indent="-444500" eaLnBrk="1" hangingPunct="1"/>
            <a:r>
              <a:rPr lang="de-DE" dirty="0"/>
              <a:t>Derzeit entwickelt die PAL-Aufgaben für die Zwischen- und Abschlussprüfungen in 115 gewerblich-technischen Ausbildungsberufen</a:t>
            </a:r>
          </a:p>
        </p:txBody>
      </p:sp>
    </p:spTree>
    <p:extLst>
      <p:ext uri="{BB962C8B-B14F-4D97-AF65-F5344CB8AC3E}">
        <p14:creationId xmlns:p14="http://schemas.microsoft.com/office/powerpoint/2010/main" val="1750210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11.2 Gesetzlich vorgesehene Prüfungen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60</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Jeder Auszubildender muss eine Zwischen- und Abschlussprüfung machen</a:t>
            </a:r>
          </a:p>
          <a:p>
            <a:pPr marL="444500" indent="-444500" eaLnBrk="1" hangingPunct="1"/>
            <a:r>
              <a:rPr lang="de-DE" sz="2200" dirty="0"/>
              <a:t>Diese ist in einen praktischen und theoretischen Teil gegliedert</a:t>
            </a:r>
          </a:p>
          <a:p>
            <a:pPr marL="444500" indent="-444500" eaLnBrk="1" hangingPunct="1"/>
            <a:r>
              <a:rPr lang="de-DE" sz="2200" dirty="0"/>
              <a:t>Für beide bietet PAL Prüfungen an</a:t>
            </a:r>
          </a:p>
          <a:p>
            <a:pPr marL="444500" indent="-444500" eaLnBrk="1" hangingPunct="1"/>
            <a:r>
              <a:rPr lang="de-DE" sz="2200" dirty="0"/>
              <a:t>In praktischen Prüfung in gewerblich-technischen Ausbildungsberufen muss ein Prüfungsstück oder eine Arbeitsprobe abgegeben werden</a:t>
            </a:r>
          </a:p>
          <a:p>
            <a:pPr marL="444500" indent="-444500" eaLnBrk="1" hangingPunct="1"/>
            <a:r>
              <a:rPr lang="de-DE" sz="2200" dirty="0"/>
              <a:t>Schriftliche Prüfung besteht aus 4 Teilen: Technologie, technische Mathematik, Arbeitsplanung bzw. Schaltungs- und Funktionsanalyse und Wirtschafts- und Sozialkunde</a:t>
            </a:r>
          </a:p>
          <a:p>
            <a:pPr marL="444500" indent="-444500" eaLnBrk="1" hangingPunct="1"/>
            <a:r>
              <a:rPr lang="de-DE" sz="2200" dirty="0"/>
              <a:t>Grundlage sind Prüfungsanforderungen, der Ausbildungsrahmenplan und der Rahmenplan der KMK </a:t>
            </a:r>
          </a:p>
        </p:txBody>
      </p:sp>
    </p:spTree>
    <p:extLst>
      <p:ext uri="{BB962C8B-B14F-4D97-AF65-F5344CB8AC3E}">
        <p14:creationId xmlns:p14="http://schemas.microsoft.com/office/powerpoint/2010/main" val="34479682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11.3 Entwicklung der Aufgaben durch die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Entwicklung alles an Ausbildung Beteiligter </a:t>
            </a:r>
            <a:r>
              <a:rPr lang="de-DE" sz="2200" dirty="0">
                <a:sym typeface="Wingdings 3" pitchFamily="18" charset="2"/>
              </a:rPr>
              <a:t> Zusammenarbeit zwischen PAL und dem DGB</a:t>
            </a:r>
          </a:p>
          <a:p>
            <a:pPr marL="444500" indent="-444500" eaLnBrk="1" hangingPunct="1"/>
            <a:r>
              <a:rPr lang="de-DE" sz="2200" dirty="0">
                <a:sym typeface="Wingdings 3" pitchFamily="18" charset="2"/>
              </a:rPr>
              <a:t>Hauptausschuss besteht aus Vertretern des </a:t>
            </a:r>
            <a:r>
              <a:rPr lang="de-DE" sz="2200" dirty="0" err="1">
                <a:sym typeface="Wingdings 3" pitchFamily="18" charset="2"/>
              </a:rPr>
              <a:t>IHK‘s</a:t>
            </a:r>
            <a:r>
              <a:rPr lang="de-DE" sz="2200" dirty="0">
                <a:sym typeface="Wingdings 3" pitchFamily="18" charset="2"/>
              </a:rPr>
              <a:t> und Gewerkschaften</a:t>
            </a:r>
          </a:p>
          <a:p>
            <a:pPr marL="444500" indent="-444500" eaLnBrk="1" hangingPunct="1"/>
            <a:r>
              <a:rPr lang="de-DE" sz="2200" dirty="0">
                <a:sym typeface="Wingdings 3" pitchFamily="18" charset="2"/>
              </a:rPr>
              <a:t>Fachausschuss umfasst i. d. R. 9 Mitglieder</a:t>
            </a:r>
          </a:p>
          <a:p>
            <a:pPr marL="444500" indent="-444500" eaLnBrk="1" hangingPunct="1"/>
            <a:r>
              <a:rPr lang="de-DE" sz="2200" dirty="0">
                <a:sym typeface="Wingdings 3" pitchFamily="18" charset="2"/>
              </a:rPr>
              <a:t>In gleicher Anzahl gehören diesem Ausschuss Beauftragte der Arbeitgeber, Arbeitnehmer und Lehrer der berufsbildenden Schulen an</a:t>
            </a:r>
          </a:p>
          <a:p>
            <a:pPr marL="444500" indent="-444500" eaLnBrk="1" hangingPunct="1"/>
            <a:r>
              <a:rPr lang="de-DE" sz="2200" dirty="0">
                <a:sym typeface="Wingdings 3" pitchFamily="18" charset="2"/>
              </a:rPr>
              <a:t>Mitarbeiter arbeiten hier ehrenamtlich</a:t>
            </a:r>
          </a:p>
          <a:p>
            <a:pPr marL="444500" indent="-444500" eaLnBrk="1" hangingPunct="1"/>
            <a:r>
              <a:rPr lang="de-DE" sz="2200" dirty="0">
                <a:sym typeface="Wingdings 3" pitchFamily="18" charset="2"/>
              </a:rPr>
              <a:t>Werden von der PAL für fünf Jahre berufen</a:t>
            </a:r>
          </a:p>
          <a:p>
            <a:pPr marL="444500" indent="-444500" eaLnBrk="1" hangingPunct="1"/>
            <a:r>
              <a:rPr lang="de-DE" sz="2200" dirty="0">
                <a:sym typeface="Wingdings 3" pitchFamily="18" charset="2"/>
              </a:rPr>
              <a:t>Tagen i. d. R. zweimal jährlich bei der PAL in Stuttgart</a:t>
            </a:r>
          </a:p>
        </p:txBody>
      </p:sp>
    </p:spTree>
    <p:extLst>
      <p:ext uri="{BB962C8B-B14F-4D97-AF65-F5344CB8AC3E}">
        <p14:creationId xmlns:p14="http://schemas.microsoft.com/office/powerpoint/2010/main" val="41946503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11.4 Hauptaufgaben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62</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200" dirty="0">
                <a:sym typeface="Wingdings 3" pitchFamily="18" charset="2"/>
              </a:rPr>
              <a:t>Auswahl, Entwicklung und Entwurf von Prüfungsaufgaben für die schriftlichen und praktischen Zwischen- und Abschlussprüfungen</a:t>
            </a:r>
          </a:p>
          <a:p>
            <a:pPr marL="444500" indent="-444500" eaLnBrk="1" fontAlgn="auto" hangingPunct="1">
              <a:spcAft>
                <a:spcPts val="0"/>
              </a:spcAft>
              <a:buFont typeface="Wingdings 2"/>
              <a:buChar char=""/>
              <a:defRPr/>
            </a:pPr>
            <a:r>
              <a:rPr lang="de-DE" sz="2200" dirty="0">
                <a:sym typeface="Wingdings 3" pitchFamily="18" charset="2"/>
              </a:rPr>
              <a:t>Festlegung des Umfangs und der Tiefe der Prüfungen in den einzelnen beruflichen Qualifikationen</a:t>
            </a:r>
          </a:p>
          <a:p>
            <a:pPr marL="444500" indent="-444500" eaLnBrk="1" fontAlgn="auto" hangingPunct="1">
              <a:spcAft>
                <a:spcPts val="0"/>
              </a:spcAft>
              <a:buFont typeface="Wingdings 2"/>
              <a:buChar char=""/>
              <a:defRPr/>
            </a:pPr>
            <a:r>
              <a:rPr lang="de-DE" sz="2200" dirty="0">
                <a:sym typeface="Wingdings 3" pitchFamily="18" charset="2"/>
              </a:rPr>
              <a:t>Kritische Durchsicht von Aufgabenentwürfen</a:t>
            </a:r>
          </a:p>
          <a:p>
            <a:pPr marL="444500" indent="-444500" eaLnBrk="1" fontAlgn="auto" hangingPunct="1">
              <a:spcAft>
                <a:spcPts val="0"/>
              </a:spcAft>
              <a:buFont typeface="Wingdings 2"/>
              <a:buChar char=""/>
              <a:defRPr/>
            </a:pPr>
            <a:r>
              <a:rPr lang="de-DE" sz="2200" dirty="0">
                <a:sym typeface="Wingdings 3" pitchFamily="18" charset="2"/>
              </a:rPr>
              <a:t>Erprobung bzw. Nachbau von Prüfungen mit dem Ziel die Durchführbarkeit der Prüfungen zu gewährleisten (Qualitätssicherung) und Verabschiedung von Prüfungsaufgaben</a:t>
            </a:r>
          </a:p>
          <a:p>
            <a:pPr marL="444500" indent="-444500" eaLnBrk="1" fontAlgn="auto" hangingPunct="1">
              <a:spcAft>
                <a:spcPts val="0"/>
              </a:spcAft>
              <a:buFont typeface="Wingdings 2"/>
              <a:buChar char=""/>
              <a:defRPr/>
            </a:pPr>
            <a:r>
              <a:rPr lang="de-DE" sz="2200" dirty="0">
                <a:sym typeface="Wingdings 3" pitchFamily="18" charset="2"/>
              </a:rPr>
              <a:t>Auswertung von statistischen Prüfungsergebnissen und Stellungnahme zu Prüfungen mit dem Ziel der Optimierung zukünftiger Prüfungen (Qualitätsoptimierung)</a:t>
            </a:r>
          </a:p>
        </p:txBody>
      </p:sp>
    </p:spTree>
    <p:extLst>
      <p:ext uri="{BB962C8B-B14F-4D97-AF65-F5344CB8AC3E}">
        <p14:creationId xmlns:p14="http://schemas.microsoft.com/office/powerpoint/2010/main" val="1264884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11.5 Organisation der Arbeit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63</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200" dirty="0">
                <a:sym typeface="Wingdings 3" pitchFamily="18" charset="2"/>
              </a:rPr>
              <a:t>Mitglieder der Fachausschüsse erhalten Auftrag zur Entwicklung von neuen Prüfungsaufgaben</a:t>
            </a:r>
          </a:p>
          <a:p>
            <a:pPr marL="444500" indent="-444500" eaLnBrk="1" hangingPunct="1">
              <a:lnSpc>
                <a:spcPct val="90000"/>
              </a:lnSpc>
            </a:pPr>
            <a:r>
              <a:rPr lang="de-DE" sz="2200" dirty="0">
                <a:sym typeface="Wingdings 3" pitchFamily="18" charset="2"/>
              </a:rPr>
              <a:t>Entwickelte Aufgaben werden im Fachausschuss gesichtet und vorläufig genehmigt</a:t>
            </a:r>
          </a:p>
          <a:p>
            <a:pPr marL="444500" indent="-444500" eaLnBrk="1" hangingPunct="1">
              <a:lnSpc>
                <a:spcPct val="90000"/>
              </a:lnSpc>
            </a:pPr>
            <a:r>
              <a:rPr lang="de-DE" sz="2200" dirty="0">
                <a:sym typeface="Wingdings 3" pitchFamily="18" charset="2"/>
              </a:rPr>
              <a:t>Genehmigte Aufgabenentwürfe werden vom zuständigen PAL-Projektmanager/in und vom CAD-Team der PAL in die prüfungs- und normgerechte Form gebracht</a:t>
            </a:r>
          </a:p>
          <a:p>
            <a:pPr marL="444500" indent="-444500" eaLnBrk="1" hangingPunct="1">
              <a:lnSpc>
                <a:spcPct val="90000"/>
              </a:lnSpc>
            </a:pPr>
            <a:r>
              <a:rPr lang="de-DE" sz="2200" dirty="0">
                <a:sym typeface="Wingdings 3" pitchFamily="18" charset="2"/>
              </a:rPr>
              <a:t>Mitglieder der Fachausschüsse erhalten diese Unterlagen zur Kontrolle, zum </a:t>
            </a:r>
            <a:r>
              <a:rPr lang="de-DE" sz="2200" dirty="0" err="1">
                <a:sym typeface="Wingdings 3" pitchFamily="18" charset="2"/>
              </a:rPr>
              <a:t>Vortest</a:t>
            </a:r>
            <a:r>
              <a:rPr lang="de-DE" sz="2200" dirty="0">
                <a:sym typeface="Wingdings 3" pitchFamily="18" charset="2"/>
              </a:rPr>
              <a:t>/ Nachbau und zur Stellungnahme</a:t>
            </a:r>
          </a:p>
          <a:p>
            <a:pPr marL="444500" indent="-444500" eaLnBrk="1" hangingPunct="1">
              <a:lnSpc>
                <a:spcPct val="90000"/>
              </a:lnSpc>
            </a:pPr>
            <a:r>
              <a:rPr lang="de-DE" sz="2200" dirty="0">
                <a:sym typeface="Wingdings 3" pitchFamily="18" charset="2"/>
              </a:rPr>
              <a:t>Anhand </a:t>
            </a:r>
            <a:r>
              <a:rPr lang="de-DE" sz="2200" dirty="0" err="1">
                <a:sym typeface="Wingdings 3" pitchFamily="18" charset="2"/>
              </a:rPr>
              <a:t>Stellungsnahme</a:t>
            </a:r>
            <a:r>
              <a:rPr lang="de-DE" sz="2200" dirty="0">
                <a:sym typeface="Wingdings 3" pitchFamily="18" charset="2"/>
              </a:rPr>
              <a:t> der Fachausschuss-Mitglieder bereiten PAL Vorlagen für die jeweils nächste Ausschusssitzung vor</a:t>
            </a:r>
          </a:p>
          <a:p>
            <a:pPr marL="444500" indent="-444500" eaLnBrk="1" hangingPunct="1">
              <a:lnSpc>
                <a:spcPct val="90000"/>
              </a:lnSpc>
            </a:pPr>
            <a:r>
              <a:rPr lang="de-DE" sz="2200" dirty="0">
                <a:sym typeface="Wingdings 3" pitchFamily="18" charset="2"/>
              </a:rPr>
              <a:t>Dort erfolgt dann die endgültige Verabschiedung der Aufgaben</a:t>
            </a:r>
          </a:p>
        </p:txBody>
      </p:sp>
    </p:spTree>
    <p:extLst>
      <p:ext uri="{BB962C8B-B14F-4D97-AF65-F5344CB8AC3E}">
        <p14:creationId xmlns:p14="http://schemas.microsoft.com/office/powerpoint/2010/main" val="2882724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11.6 Geschäftsfelder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64</a:t>
            </a:fld>
            <a:endParaRPr lang="de-DE"/>
          </a:p>
        </p:txBody>
      </p:sp>
      <p:graphicFrame>
        <p:nvGraphicFramePr>
          <p:cNvPr id="5" name="Group 34"/>
          <p:cNvGraphicFramePr>
            <a:graphicFrameLocks noGrp="1"/>
          </p:cNvGraphicFramePr>
          <p:nvPr>
            <p:ph sz="quarter" idx="1"/>
          </p:nvPr>
        </p:nvGraphicFramePr>
        <p:xfrm>
          <a:off x="704850" y="1600200"/>
          <a:ext cx="7467600" cy="5169382"/>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51689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Aufgabenentwicklung für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Zwischen- und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Abschlussprüfungen in 147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Berufen/Fachrichtungen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Darunter: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Holz- und Bauberufe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Wirtschafts- und Sozialkunde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Bekleidungsberufe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err="1">
                          <a:ln>
                            <a:noFill/>
                          </a:ln>
                          <a:solidFill>
                            <a:schemeClr val="tx1"/>
                          </a:solidFill>
                          <a:effectLst/>
                          <a:latin typeface="Tahoma" pitchFamily="34" charset="0"/>
                        </a:rPr>
                        <a:t>Schlosserische</a:t>
                      </a:r>
                      <a:r>
                        <a:rPr kumimoji="0" lang="de-DE" sz="2000" b="0" i="0" u="none" strike="noStrike" cap="none" normalizeH="0" baseline="0" dirty="0">
                          <a:ln>
                            <a:noFill/>
                          </a:ln>
                          <a:solidFill>
                            <a:schemeClr val="tx1"/>
                          </a:solidFill>
                          <a:effectLst/>
                          <a:latin typeface="Tahoma" pitchFamily="34" charset="0"/>
                        </a:rPr>
                        <a:t> Berufe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Aufgabensätze pro Jahr: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144000 für Zwischenprüfungen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266000 für Abschlussprüfungen</a:t>
                      </a:r>
                    </a:p>
                  </a:txBody>
                  <a:tcPr marL="78449" marR="78449"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Weiterentwicklung der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Prüfungssystems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Aufgabenanalyse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Statistik der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Entwicklung neuer Prüfungs-, Auswertungs- und Beratungsverfahren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Einsatz neuer Technologien bei Herstellung und Verwendung von Prüfungsaufgaben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Rationalisierung der Prüfungsabwicklung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Problemabwicklung</a:t>
                      </a:r>
                    </a:p>
                  </a:txBody>
                  <a:tcPr marL="78449" marR="78449"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974179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11.7 Aufgaben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sym typeface="Wingdings 3" pitchFamily="18" charset="2"/>
              </a:rPr>
              <a:t>Herstellung optimierter, bundeseinheitlicher Aufgabensätze für Zwischen- und Abschlussprüfungen in industriell-technischen Ausbildungsberufen für die 81 </a:t>
            </a:r>
            <a:r>
              <a:rPr lang="de-DE" sz="2200" dirty="0" err="1">
                <a:sym typeface="Wingdings 3" pitchFamily="18" charset="2"/>
              </a:rPr>
              <a:t>IHK‘s</a:t>
            </a:r>
            <a:r>
              <a:rPr lang="de-DE" sz="2200" dirty="0">
                <a:sym typeface="Wingdings 3" pitchFamily="18" charset="2"/>
              </a:rPr>
              <a:t> Deutschlands</a:t>
            </a:r>
          </a:p>
          <a:p>
            <a:pPr marL="444500" indent="-444500" eaLnBrk="1" hangingPunct="1"/>
            <a:r>
              <a:rPr lang="de-DE" sz="2200" dirty="0">
                <a:sym typeface="Wingdings 3" pitchFamily="18" charset="2"/>
              </a:rPr>
              <a:t>Entwicklung von Lehrmitteln und Informationsmaterial zu den industriell-technischen Zwischen- und Abschlussprüfungen</a:t>
            </a:r>
          </a:p>
          <a:p>
            <a:pPr marL="444500" indent="-444500" eaLnBrk="1" hangingPunct="1"/>
            <a:r>
              <a:rPr lang="de-DE" sz="2200" dirty="0" err="1">
                <a:sym typeface="Wingdings 3" pitchFamily="18" charset="2"/>
              </a:rPr>
              <a:t>Berücksichtiger</a:t>
            </a:r>
            <a:r>
              <a:rPr lang="de-DE" sz="2200" dirty="0">
                <a:sym typeface="Wingdings 3" pitchFamily="18" charset="2"/>
              </a:rPr>
              <a:t> wissenschaftlicher Erkenntnisse aus den Bereichen der Testtheorie und der Pädagogik sowie der Erfahrungen der Berufs- und Prüfungspraxis</a:t>
            </a:r>
          </a:p>
          <a:p>
            <a:pPr marL="444500" indent="-444500" eaLnBrk="1" hangingPunct="1"/>
            <a:r>
              <a:rPr lang="de-DE" sz="2200" dirty="0">
                <a:sym typeface="Wingdings 3" pitchFamily="18" charset="2"/>
              </a:rPr>
              <a:t>Öffentlichkeitsarbeit für industriell-technische Zwischen- und Abschlussprüfungen</a:t>
            </a:r>
          </a:p>
        </p:txBody>
      </p:sp>
    </p:spTree>
    <p:extLst>
      <p:ext uri="{BB962C8B-B14F-4D97-AF65-F5344CB8AC3E}">
        <p14:creationId xmlns:p14="http://schemas.microsoft.com/office/powerpoint/2010/main" val="3722432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66</a:t>
            </a:fld>
            <a:endParaRPr lang="de-DE"/>
          </a:p>
        </p:txBody>
      </p:sp>
      <p:graphicFrame>
        <p:nvGraphicFramePr>
          <p:cNvPr id="5" name="Group 46"/>
          <p:cNvGraphicFramePr>
            <a:graphicFrameLocks noGrp="1"/>
          </p:cNvGraphicFramePr>
          <p:nvPr>
            <p:ph sz="quarter" idx="1"/>
          </p:nvPr>
        </p:nvGraphicFramePr>
        <p:xfrm>
          <a:off x="704850" y="1600200"/>
          <a:ext cx="7467600" cy="469424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2002">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223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Höhere Motivation aus Selbstständigkeit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Fachausbilder übernehmen Wahl der Prüfungsaufgabe (berufliche Relevanz wird sichergestellt)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Unternehmen profitiert möglicherweise wirtschaftlich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„Trainingslager“ vor der Prüfung schwer realisierbar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Möglicherweise subjektive Einflüsse auf die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Kann unter Umständen kostengünstiger realisiert werden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Qualitätssicherung der Prüfung durch Standardisierung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Prüfung orientiert sich vornehmlich an Unternehmen der IHK</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Bundeseinheitliche Prüfung (nicht nur betriebsintern) </a:t>
                      </a:r>
                      <a:r>
                        <a:rPr kumimoji="0" lang="de-DE" sz="1800" b="0" i="0" u="none" strike="noStrike" cap="none" normalizeH="0" baseline="0" dirty="0">
                          <a:ln>
                            <a:noFill/>
                          </a:ln>
                          <a:solidFill>
                            <a:schemeClr val="tx1"/>
                          </a:solidFill>
                          <a:effectLst/>
                          <a:latin typeface="Tahoma" pitchFamily="34" charset="0"/>
                          <a:sym typeface="Wingdings 3" pitchFamily="18" charset="2"/>
                        </a:rPr>
                        <a:t> Prüfungsergebnisse sind vergleichbar (in der Allgemeinbildung schon lange gefordert  siehe PISA)</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Es wurden an alle Prüflinge die gleichen Anforderungen gestellt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0700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67</a:t>
            </a:fld>
            <a:endParaRPr lang="de-DE"/>
          </a:p>
        </p:txBody>
      </p:sp>
      <p:graphicFrame>
        <p:nvGraphicFramePr>
          <p:cNvPr id="6" name="Group 15"/>
          <p:cNvGraphicFramePr>
            <a:graphicFrameLocks noGrp="1"/>
          </p:cNvGraphicFramePr>
          <p:nvPr>
            <p:ph sz="quarter" idx="1"/>
          </p:nvPr>
        </p:nvGraphicFramePr>
        <p:xfrm>
          <a:off x="704850" y="1600200"/>
          <a:ext cx="7467600" cy="2819416"/>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198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14">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Ausbilder und Prüfer müssen bei dieser Form der Prüfung in der Lage sein, die gestellten Aufgaben fachlich einwandfrei auszuführen und zu bewerten</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Der programmierte Teil der PAL-Prüfungen wird vor dem Hintergrund der Zielstellung „Entwicklung einer beruflichen Handlungskompetenz“ häufig heftig kritisiert</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17957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ctrTitle"/>
          </p:nvPr>
        </p:nvSpPr>
        <p:spPr>
          <a:xfrm>
            <a:off x="2286000" y="3124200"/>
            <a:ext cx="6172200" cy="1893888"/>
          </a:xfrm>
        </p:spPr>
        <p:txBody>
          <a:bodyPr/>
          <a:lstStyle/>
          <a:p>
            <a:pPr eaLnBrk="1" fontAlgn="auto" hangingPunct="1">
              <a:spcAft>
                <a:spcPts val="0"/>
              </a:spcAft>
              <a:defRPr/>
            </a:pPr>
            <a:r>
              <a:rPr lang="de-DE" sz="3600"/>
              <a:t>Vielen Dank für Ihre Aufmerksamkeit</a:t>
            </a:r>
            <a:endParaRPr lang="de-DE" sz="2400"/>
          </a:p>
        </p:txBody>
      </p:sp>
      <p:sp>
        <p:nvSpPr>
          <p:cNvPr id="155651" name="Rectangle 16"/>
          <p:cNvSpPr>
            <a:spLocks noGrp="1" noChangeArrowheads="1"/>
          </p:cNvSpPr>
          <p:nvPr>
            <p:ph type="subTitle" idx="1"/>
          </p:nvPr>
        </p:nvSpPr>
        <p:spPr>
          <a:xfrm>
            <a:off x="2286000" y="5003800"/>
            <a:ext cx="6172200" cy="1371600"/>
          </a:xfrm>
        </p:spPr>
        <p:txBody>
          <a:bodyPr/>
          <a:lstStyle/>
          <a:p>
            <a:pPr eaLnBrk="1" hangingPunct="1">
              <a:buFont typeface="Wingdings 2" pitchFamily="18" charset="2"/>
              <a:buNone/>
            </a:pPr>
            <a:endParaRPr lang="de-DE"/>
          </a:p>
        </p:txBody>
      </p:sp>
    </p:spTree>
    <p:extLst>
      <p:ext uri="{BB962C8B-B14F-4D97-AF65-F5344CB8AC3E}">
        <p14:creationId xmlns:p14="http://schemas.microsoft.com/office/powerpoint/2010/main" val="39332491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2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9</TotalTime>
  <Words>3818</Words>
  <Application>Microsoft Macintosh PowerPoint</Application>
  <PresentationFormat>On-screen Show (4:3)</PresentationFormat>
  <Paragraphs>626</Paragraphs>
  <Slides>68</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68</vt:i4>
      </vt:variant>
    </vt:vector>
  </HeadingPairs>
  <TitlesOfParts>
    <vt:vector size="80" baseType="lpstr">
      <vt:lpstr>Arial</vt:lpstr>
      <vt:lpstr>Arial Narrow</vt:lpstr>
      <vt:lpstr>Calibri</vt:lpstr>
      <vt:lpstr>Cambria Math</vt:lpstr>
      <vt:lpstr>Century Schoolbook</vt:lpstr>
      <vt:lpstr>Tahoma</vt:lpstr>
      <vt:lpstr>Times New Roman</vt:lpstr>
      <vt:lpstr>Wingdings</vt:lpstr>
      <vt:lpstr>Wingdings 2</vt:lpstr>
      <vt:lpstr>Wingdings 3</vt:lpstr>
      <vt:lpstr>Nereus</vt:lpstr>
      <vt:lpstr>2_Nereus</vt:lpstr>
      <vt:lpstr>PowerPoint Presentation</vt:lpstr>
      <vt:lpstr>6.1 Definition Didaktische Reduktion</vt:lpstr>
      <vt:lpstr>6.2 Reduktionsmethoden</vt:lpstr>
      <vt:lpstr>6.3 Arten Didaktischer Reduktion</vt:lpstr>
      <vt:lpstr>6. Didaktische Reduktion nach GRÜNER</vt:lpstr>
      <vt:lpstr>PowerPoint Presentation</vt:lpstr>
      <vt:lpstr>PowerPoint Presentation</vt:lpstr>
      <vt:lpstr>PowerPoint Presentation</vt:lpstr>
      <vt:lpstr>PowerPoint Presentation</vt:lpstr>
      <vt:lpstr>PowerPoint Presentation</vt:lpstr>
      <vt:lpstr>PowerPoint Presentation</vt:lpstr>
      <vt:lpstr>6.8 Didaktisches Reduktionsfeld</vt:lpstr>
      <vt:lpstr>6.8 Didaktisches Reduktionsfeld</vt:lpstr>
      <vt:lpstr>Hauptsatz der didaktischen Vereinfachung nach HERING</vt:lpstr>
      <vt:lpstr>Bsp.: Bilanzgleichung der Photosynthese</vt:lpstr>
      <vt:lpstr>Didaktische Vereinfachung nach HERING</vt:lpstr>
      <vt:lpstr>Didaktische Vereinfachung nach HERING</vt:lpstr>
      <vt:lpstr>Didaktische Vereinfachung nach HERING</vt:lpstr>
      <vt:lpstr>PowerPoint Presentation</vt:lpstr>
      <vt:lpstr>7. Sozialformen</vt:lpstr>
      <vt:lpstr>7.1 Frontalunterricht</vt:lpstr>
      <vt:lpstr>7.2 Einzelarbeit</vt:lpstr>
      <vt:lpstr>7.3 Gruppenarbeit</vt:lpstr>
      <vt:lpstr>7.3 Gruppenarbeit</vt:lpstr>
      <vt:lpstr>PowerPoint Presentation</vt:lpstr>
      <vt:lpstr>8. Aktionsformen</vt:lpstr>
      <vt:lpstr>8.1 Darbietend</vt:lpstr>
      <vt:lpstr>8.2 Selbstständig</vt:lpstr>
      <vt:lpstr>8.2 Selbstständig</vt:lpstr>
      <vt:lpstr>8.3 Erarbeitend</vt:lpstr>
      <vt:lpstr>PowerPoint Presentation</vt:lpstr>
      <vt:lpstr>9. Medien</vt:lpstr>
      <vt:lpstr>9. Medien</vt:lpstr>
      <vt:lpstr>9. Medien</vt:lpstr>
      <vt:lpstr>9. Medien - Grad der Wirklichkeitserfahrung</vt:lpstr>
      <vt:lpstr>9.1 Tafel (Kreidetafel oder White Board)</vt:lpstr>
      <vt:lpstr>9.2 Overhead-Projektor</vt:lpstr>
      <vt:lpstr>9.2 Overhead-Projektor</vt:lpstr>
      <vt:lpstr>9.3 Unterrichtsentwurf (Berliner Modell)</vt:lpstr>
      <vt:lpstr>9.3 Unterrichtsentwurf (Berliner Modell)</vt:lpstr>
      <vt:lpstr>9.3 Unterrichtsentwurf (Berliner Modell)</vt:lpstr>
      <vt:lpstr>PowerPoint Presentation</vt:lpstr>
      <vt:lpstr>10.1 Zusammenhang zw. Lernkontrolle und Lernziel</vt:lpstr>
      <vt:lpstr>10.2 Konventionelle Prüfung</vt:lpstr>
      <vt:lpstr>10.2 Konventionelle Prüfung</vt:lpstr>
      <vt:lpstr>10.3 Test</vt:lpstr>
      <vt:lpstr>10.4 Validität</vt:lpstr>
      <vt:lpstr>10.5 Reliabilität</vt:lpstr>
      <vt:lpstr>10.6 Objektivität</vt:lpstr>
      <vt:lpstr>10.6 Objektivität</vt:lpstr>
      <vt:lpstr>10.6 Objektivität</vt:lpstr>
      <vt:lpstr>10.7 Kontrollfehler</vt:lpstr>
      <vt:lpstr>10.8 Hof-Effekt</vt:lpstr>
      <vt:lpstr>10.9 Erwartungs-Effekt</vt:lpstr>
      <vt:lpstr>10.10  Einteilung von didaktischen Aufforderungen              nach Lernzielbereichen</vt:lpstr>
      <vt:lpstr>10.10  Einteilung von didaktischen Aufforderungen              nach Lernzielbereichen</vt:lpstr>
      <vt:lpstr>PowerPoint Presentation</vt:lpstr>
      <vt:lpstr>11.1 Entstehung und Zielsetzung der PAL</vt:lpstr>
      <vt:lpstr>11.1 Entstehung und Zielsetzung der PAL</vt:lpstr>
      <vt:lpstr>11.2 Gesetzlich vorgesehene Prüfungen</vt:lpstr>
      <vt:lpstr>11.3 Entwicklung der Aufgaben durch die PAL</vt:lpstr>
      <vt:lpstr>11.4 Hauptaufgaben der PAL-Fachausschüsse</vt:lpstr>
      <vt:lpstr>11.5 Organisation der Arbeit der PAL-Fachausschüsse</vt:lpstr>
      <vt:lpstr>11.6 Geschäftsfelder der PAL</vt:lpstr>
      <vt:lpstr>11.7 Aufgaben der PAL</vt:lpstr>
      <vt:lpstr>11.8 Pro und Contra </vt:lpstr>
      <vt:lpstr>11.8 Pro und Contra </vt:lpstr>
      <vt:lpstr>Vielen Dank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277</cp:revision>
  <cp:lastPrinted>2002-03-21T12:12:44Z</cp:lastPrinted>
  <dcterms:created xsi:type="dcterms:W3CDTF">2002-02-22T17:42:09Z</dcterms:created>
  <dcterms:modified xsi:type="dcterms:W3CDTF">2026-09-22T19:50:17Z</dcterms:modified>
</cp:coreProperties>
</file>