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769" r:id="rId1"/>
  </p:sldMasterIdLst>
  <p:notesMasterIdLst>
    <p:notesMasterId r:id="rId29"/>
  </p:notesMasterIdLst>
  <p:handoutMasterIdLst>
    <p:handoutMasterId r:id="rId30"/>
  </p:handoutMasterIdLst>
  <p:sldIdLst>
    <p:sldId id="685" r:id="rId2"/>
    <p:sldId id="686" r:id="rId3"/>
    <p:sldId id="687" r:id="rId4"/>
    <p:sldId id="688" r:id="rId5"/>
    <p:sldId id="689" r:id="rId6"/>
    <p:sldId id="690" r:id="rId7"/>
    <p:sldId id="691" r:id="rId8"/>
    <p:sldId id="692" r:id="rId9"/>
    <p:sldId id="693" r:id="rId10"/>
    <p:sldId id="694" r:id="rId11"/>
    <p:sldId id="695" r:id="rId12"/>
    <p:sldId id="696" r:id="rId13"/>
    <p:sldId id="697" r:id="rId14"/>
    <p:sldId id="698" r:id="rId15"/>
    <p:sldId id="699" r:id="rId16"/>
    <p:sldId id="700" r:id="rId17"/>
    <p:sldId id="701" r:id="rId18"/>
    <p:sldId id="702" r:id="rId19"/>
    <p:sldId id="703" r:id="rId20"/>
    <p:sldId id="704" r:id="rId21"/>
    <p:sldId id="705" r:id="rId22"/>
    <p:sldId id="706" r:id="rId23"/>
    <p:sldId id="707" r:id="rId24"/>
    <p:sldId id="708" r:id="rId25"/>
    <p:sldId id="709" r:id="rId26"/>
    <p:sldId id="710" r:id="rId27"/>
    <p:sldId id="711" r:id="rId28"/>
  </p:sldIdLst>
  <p:sldSz cx="9144000" cy="6858000" type="screen4x3"/>
  <p:notesSz cx="6854825" cy="9750425"/>
  <p:defaultTextStyle>
    <a:defPPr>
      <a:defRPr lang="en-US"/>
    </a:defPPr>
    <a:lvl1pPr algn="l" rtl="0" eaLnBrk="0" fontAlgn="base" hangingPunct="0">
      <a:spcBef>
        <a:spcPct val="0"/>
      </a:spcBef>
      <a:spcAft>
        <a:spcPct val="0"/>
      </a:spcAft>
      <a:defRPr b="1" kern="1200">
        <a:solidFill>
          <a:schemeClr val="tx1"/>
        </a:solidFill>
        <a:latin typeface="Tahoma" pitchFamily="34" charset="0"/>
        <a:ea typeface="+mn-ea"/>
        <a:cs typeface="+mn-cs"/>
      </a:defRPr>
    </a:lvl1pPr>
    <a:lvl2pPr marL="457200" algn="l" rtl="0" eaLnBrk="0" fontAlgn="base" hangingPunct="0">
      <a:spcBef>
        <a:spcPct val="0"/>
      </a:spcBef>
      <a:spcAft>
        <a:spcPct val="0"/>
      </a:spcAft>
      <a:defRPr b="1" kern="1200">
        <a:solidFill>
          <a:schemeClr val="tx1"/>
        </a:solidFill>
        <a:latin typeface="Tahoma" pitchFamily="34" charset="0"/>
        <a:ea typeface="+mn-ea"/>
        <a:cs typeface="+mn-cs"/>
      </a:defRPr>
    </a:lvl2pPr>
    <a:lvl3pPr marL="914400" algn="l" rtl="0" eaLnBrk="0" fontAlgn="base" hangingPunct="0">
      <a:spcBef>
        <a:spcPct val="0"/>
      </a:spcBef>
      <a:spcAft>
        <a:spcPct val="0"/>
      </a:spcAft>
      <a:defRPr b="1"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b="1"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b="1" kern="1200">
        <a:solidFill>
          <a:schemeClr val="tx1"/>
        </a:solidFill>
        <a:latin typeface="Tahoma" pitchFamily="34" charset="0"/>
        <a:ea typeface="+mn-ea"/>
        <a:cs typeface="+mn-cs"/>
      </a:defRPr>
    </a:lvl5pPr>
    <a:lvl6pPr marL="2286000" algn="l" defTabSz="914400" rtl="0" eaLnBrk="1" latinLnBrk="0" hangingPunct="1">
      <a:defRPr b="1" kern="1200">
        <a:solidFill>
          <a:schemeClr val="tx1"/>
        </a:solidFill>
        <a:latin typeface="Tahoma" pitchFamily="34" charset="0"/>
        <a:ea typeface="+mn-ea"/>
        <a:cs typeface="+mn-cs"/>
      </a:defRPr>
    </a:lvl6pPr>
    <a:lvl7pPr marL="2743200" algn="l" defTabSz="914400" rtl="0" eaLnBrk="1" latinLnBrk="0" hangingPunct="1">
      <a:defRPr b="1" kern="1200">
        <a:solidFill>
          <a:schemeClr val="tx1"/>
        </a:solidFill>
        <a:latin typeface="Tahoma" pitchFamily="34" charset="0"/>
        <a:ea typeface="+mn-ea"/>
        <a:cs typeface="+mn-cs"/>
      </a:defRPr>
    </a:lvl7pPr>
    <a:lvl8pPr marL="3200400" algn="l" defTabSz="914400" rtl="0" eaLnBrk="1" latinLnBrk="0" hangingPunct="1">
      <a:defRPr b="1" kern="1200">
        <a:solidFill>
          <a:schemeClr val="tx1"/>
        </a:solidFill>
        <a:latin typeface="Tahoma" pitchFamily="34" charset="0"/>
        <a:ea typeface="+mn-ea"/>
        <a:cs typeface="+mn-cs"/>
      </a:defRPr>
    </a:lvl8pPr>
    <a:lvl9pPr marL="3657600" algn="l" defTabSz="914400" rtl="0" eaLnBrk="1" latinLnBrk="0" hangingPunct="1">
      <a:defRPr b="1"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71">
          <p15:clr>
            <a:srgbClr val="A4A3A4"/>
          </p15:clr>
        </p15:guide>
        <p15:guide id="2" pos="215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B2B2B2"/>
    <a:srgbClr val="BD430A"/>
    <a:srgbClr val="0768B2"/>
    <a:srgbClr val="0A508D"/>
    <a:srgbClr val="0860A5"/>
    <a:srgbClr val="0C4175"/>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3883" autoAdjust="0"/>
  </p:normalViewPr>
  <p:slideViewPr>
    <p:cSldViewPr showGuides="1">
      <p:cViewPr varScale="1">
        <p:scale>
          <a:sx n="125" d="100"/>
          <a:sy n="125" d="100"/>
        </p:scale>
        <p:origin x="1432"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howGuides="1">
      <p:cViewPr>
        <p:scale>
          <a:sx n="100" d="100"/>
          <a:sy n="100" d="100"/>
        </p:scale>
        <p:origin x="-787" y="2040"/>
      </p:cViewPr>
      <p:guideLst>
        <p:guide orient="horz" pos="3071"/>
        <p:guide pos="2159"/>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2971800" cy="487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Times New Roman" pitchFamily="18" charset="0"/>
              </a:defRPr>
            </a:lvl1pPr>
          </a:lstStyle>
          <a:p>
            <a:pPr>
              <a:defRPr/>
            </a:pPr>
            <a:endParaRPr lang="de-DE"/>
          </a:p>
        </p:txBody>
      </p:sp>
      <p:sp>
        <p:nvSpPr>
          <p:cNvPr id="39939" name="Rectangle 3"/>
          <p:cNvSpPr>
            <a:spLocks noGrp="1" noChangeArrowheads="1"/>
          </p:cNvSpPr>
          <p:nvPr>
            <p:ph type="dt" sz="quarter" idx="1"/>
          </p:nvPr>
        </p:nvSpPr>
        <p:spPr bwMode="auto">
          <a:xfrm>
            <a:off x="3883025" y="0"/>
            <a:ext cx="2971800" cy="487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defRPr>
            </a:lvl1pPr>
          </a:lstStyle>
          <a:p>
            <a:pPr>
              <a:defRPr/>
            </a:pPr>
            <a:endParaRPr lang="de-DE"/>
          </a:p>
        </p:txBody>
      </p:sp>
      <p:sp>
        <p:nvSpPr>
          <p:cNvPr id="39940" name="Rectangle 4"/>
          <p:cNvSpPr>
            <a:spLocks noGrp="1" noChangeArrowheads="1"/>
          </p:cNvSpPr>
          <p:nvPr>
            <p:ph type="ftr" sz="quarter" idx="2"/>
          </p:nvPr>
        </p:nvSpPr>
        <p:spPr bwMode="auto">
          <a:xfrm>
            <a:off x="0" y="9263063"/>
            <a:ext cx="2971800" cy="4873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Times New Roman" pitchFamily="18" charset="0"/>
              </a:defRPr>
            </a:lvl1pPr>
          </a:lstStyle>
          <a:p>
            <a:pPr>
              <a:defRPr/>
            </a:pPr>
            <a:endParaRPr lang="de-DE"/>
          </a:p>
        </p:txBody>
      </p:sp>
      <p:sp>
        <p:nvSpPr>
          <p:cNvPr id="39941" name="Rectangle 5"/>
          <p:cNvSpPr>
            <a:spLocks noGrp="1" noChangeArrowheads="1"/>
          </p:cNvSpPr>
          <p:nvPr>
            <p:ph type="sldNum" sz="quarter" idx="3"/>
          </p:nvPr>
        </p:nvSpPr>
        <p:spPr bwMode="auto">
          <a:xfrm>
            <a:off x="3883025" y="9263063"/>
            <a:ext cx="2971800" cy="4873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8" charset="0"/>
              </a:defRPr>
            </a:lvl1pPr>
          </a:lstStyle>
          <a:p>
            <a:pPr>
              <a:defRPr/>
            </a:pPr>
            <a:fld id="{60BF8065-B72B-48E4-8526-D638D07A292D}" type="slidenum">
              <a:rPr lang="de-DE"/>
              <a:pPr>
                <a:defRPr/>
              </a:pPr>
              <a:t>‹#›</a:t>
            </a:fld>
            <a:endParaRPr lang="de-DE"/>
          </a:p>
        </p:txBody>
      </p:sp>
    </p:spTree>
    <p:extLst>
      <p:ext uri="{BB962C8B-B14F-4D97-AF65-F5344CB8AC3E}">
        <p14:creationId xmlns:p14="http://schemas.microsoft.com/office/powerpoint/2010/main" val="16798573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2971800" cy="487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Times New Roman" pitchFamily="18" charset="0"/>
              </a:defRPr>
            </a:lvl1pPr>
          </a:lstStyle>
          <a:p>
            <a:pPr>
              <a:defRPr/>
            </a:pPr>
            <a:endParaRPr lang="de-DE"/>
          </a:p>
        </p:txBody>
      </p:sp>
      <p:sp>
        <p:nvSpPr>
          <p:cNvPr id="35843" name="Rectangle 3"/>
          <p:cNvSpPr>
            <a:spLocks noGrp="1" noChangeArrowheads="1"/>
          </p:cNvSpPr>
          <p:nvPr>
            <p:ph type="dt" idx="1"/>
          </p:nvPr>
        </p:nvSpPr>
        <p:spPr bwMode="auto">
          <a:xfrm>
            <a:off x="3883025" y="0"/>
            <a:ext cx="2971800" cy="487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defRPr>
            </a:lvl1pPr>
          </a:lstStyle>
          <a:p>
            <a:pPr>
              <a:defRPr/>
            </a:pPr>
            <a:endParaRPr lang="de-DE"/>
          </a:p>
        </p:txBody>
      </p:sp>
      <p:sp>
        <p:nvSpPr>
          <p:cNvPr id="12292" name="Rectangle 4"/>
          <p:cNvSpPr>
            <a:spLocks noGrp="1" noRot="1" noChangeAspect="1" noChangeArrowheads="1" noTextEdit="1"/>
          </p:cNvSpPr>
          <p:nvPr>
            <p:ph type="sldImg" idx="2"/>
          </p:nvPr>
        </p:nvSpPr>
        <p:spPr bwMode="auto">
          <a:xfrm>
            <a:off x="989013" y="730250"/>
            <a:ext cx="4876800" cy="3657600"/>
          </a:xfrm>
          <a:prstGeom prst="rect">
            <a:avLst/>
          </a:prstGeom>
          <a:noFill/>
          <a:ln w="9525">
            <a:solidFill>
              <a:srgbClr val="000000"/>
            </a:solidFill>
            <a:miter lim="800000"/>
            <a:headEnd/>
            <a:tailEnd/>
          </a:ln>
        </p:spPr>
      </p:sp>
      <p:sp>
        <p:nvSpPr>
          <p:cNvPr id="35845" name="Rectangle 5"/>
          <p:cNvSpPr>
            <a:spLocks noGrp="1" noChangeArrowheads="1"/>
          </p:cNvSpPr>
          <p:nvPr>
            <p:ph type="body" sz="quarter" idx="3"/>
          </p:nvPr>
        </p:nvSpPr>
        <p:spPr bwMode="auto">
          <a:xfrm>
            <a:off x="914400" y="4632325"/>
            <a:ext cx="5026025" cy="43878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de-DE" noProof="0"/>
              <a:t>Klicken Sie, um die Formate des Vorlagentextes zu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35846" name="Rectangle 6"/>
          <p:cNvSpPr>
            <a:spLocks noGrp="1" noChangeArrowheads="1"/>
          </p:cNvSpPr>
          <p:nvPr>
            <p:ph type="ftr" sz="quarter" idx="4"/>
          </p:nvPr>
        </p:nvSpPr>
        <p:spPr bwMode="auto">
          <a:xfrm>
            <a:off x="0" y="9263063"/>
            <a:ext cx="2971800" cy="4873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Times New Roman" pitchFamily="18" charset="0"/>
              </a:defRPr>
            </a:lvl1pPr>
          </a:lstStyle>
          <a:p>
            <a:pPr>
              <a:defRPr/>
            </a:pPr>
            <a:endParaRPr lang="de-DE"/>
          </a:p>
        </p:txBody>
      </p:sp>
      <p:sp>
        <p:nvSpPr>
          <p:cNvPr id="35847" name="Rectangle 7"/>
          <p:cNvSpPr>
            <a:spLocks noGrp="1" noChangeArrowheads="1"/>
          </p:cNvSpPr>
          <p:nvPr>
            <p:ph type="sldNum" sz="quarter" idx="5"/>
          </p:nvPr>
        </p:nvSpPr>
        <p:spPr bwMode="auto">
          <a:xfrm>
            <a:off x="3883025" y="9263063"/>
            <a:ext cx="2971800" cy="4873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8" charset="0"/>
              </a:defRPr>
            </a:lvl1pPr>
          </a:lstStyle>
          <a:p>
            <a:pPr>
              <a:defRPr/>
            </a:pPr>
            <a:fld id="{12F08462-A6CB-4CDF-B233-8E4BB04E3C16}" type="slidenum">
              <a:rPr lang="de-DE"/>
              <a:pPr>
                <a:defRPr/>
              </a:pPr>
              <a:t>‹#›</a:t>
            </a:fld>
            <a:endParaRPr lang="de-DE"/>
          </a:p>
        </p:txBody>
      </p:sp>
    </p:spTree>
    <p:extLst>
      <p:ext uri="{BB962C8B-B14F-4D97-AF65-F5344CB8AC3E}">
        <p14:creationId xmlns:p14="http://schemas.microsoft.com/office/powerpoint/2010/main" val="31281016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000" kern="1200">
        <a:solidFill>
          <a:schemeClr val="tx1"/>
        </a:solidFill>
        <a:latin typeface="Tahoma" pitchFamily="34" charset="0"/>
        <a:ea typeface="+mn-ea"/>
        <a:cs typeface="+mn-cs"/>
      </a:defRPr>
    </a:lvl1pPr>
    <a:lvl2pPr marL="457200" algn="l" rtl="0" eaLnBrk="0" fontAlgn="base" hangingPunct="0">
      <a:spcBef>
        <a:spcPct val="30000"/>
      </a:spcBef>
      <a:spcAft>
        <a:spcPct val="0"/>
      </a:spcAft>
      <a:defRPr kumimoji="1" sz="1000" kern="1200">
        <a:solidFill>
          <a:schemeClr val="tx1"/>
        </a:solidFill>
        <a:latin typeface="Tahoma" pitchFamily="34"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4" name="Rechteck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5" name="Rechteck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6" name="Rechteck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7" name="Rechteck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10" name="Gerade Verbindung 9"/>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1" name="Gerade Verbindung 10"/>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2" name="Gerade Verbindung 11"/>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3" name="Gerade Verbindung 12"/>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4" name="Gerade Verbindung 13"/>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5" name="Gerade Verbindung 14"/>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6" name="Rechteck 15"/>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7" name="Ellipse 16"/>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8" name="Ellipse 17"/>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9" name="Ellipse 18"/>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20" name="Ellipse 19"/>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21" name="Ellipse 20"/>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8" name="Titel 7"/>
          <p:cNvSpPr>
            <a:spLocks noGrp="1"/>
          </p:cNvSpPr>
          <p:nvPr>
            <p:ph type="ctrTitle"/>
          </p:nvPr>
        </p:nvSpPr>
        <p:spPr>
          <a:xfrm>
            <a:off x="2286000" y="3124200"/>
            <a:ext cx="6172200" cy="1894362"/>
          </a:xfrm>
        </p:spPr>
        <p:txBody>
          <a:bodyPr/>
          <a:lstStyle>
            <a:lvl1pPr>
              <a:defRPr b="1"/>
            </a:lvl1pPr>
          </a:lstStyle>
          <a:p>
            <a:r>
              <a:rPr lang="de-DE"/>
              <a:t>Titelmasterformat durch Klicken bearbeiten</a:t>
            </a:r>
            <a:endParaRPr lang="en-US"/>
          </a:p>
        </p:txBody>
      </p:sp>
      <p:sp>
        <p:nvSpPr>
          <p:cNvPr id="9" name="Untertitel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de-DE"/>
              <a:t>Formatvorlage des Untertitelmasters durch Klicken bearbeiten</a:t>
            </a:r>
            <a:endParaRPr lang="en-US"/>
          </a:p>
        </p:txBody>
      </p:sp>
      <p:sp>
        <p:nvSpPr>
          <p:cNvPr id="22" name="Foliennummernplatzhalter 28"/>
          <p:cNvSpPr>
            <a:spLocks noGrp="1"/>
          </p:cNvSpPr>
          <p:nvPr>
            <p:ph type="sldNum" sz="quarter" idx="10"/>
          </p:nvPr>
        </p:nvSpPr>
        <p:spPr bwMode="auto">
          <a:xfrm>
            <a:off x="1325563" y="4929188"/>
            <a:ext cx="609600" cy="517525"/>
          </a:xfrm>
        </p:spPr>
        <p:txBody>
          <a:bodyPr/>
          <a:lstStyle>
            <a:lvl1pPr>
              <a:defRPr/>
            </a:lvl1pPr>
          </a:lstStyle>
          <a:p>
            <a:pPr>
              <a:defRPr/>
            </a:pPr>
            <a:fld id="{3405188A-E5F9-4DDE-97AF-A8E018C865B2}" type="slidenum">
              <a:rPr lang="de-DE"/>
              <a:pPr>
                <a:defRPr/>
              </a:pPr>
              <a:t>‹#›</a:t>
            </a:fld>
            <a:endParaRPr lang="de-DE"/>
          </a:p>
        </p:txBody>
      </p:sp>
    </p:spTree>
    <p:extLst>
      <p:ext uri="{BB962C8B-B14F-4D97-AF65-F5344CB8AC3E}">
        <p14:creationId xmlns:p14="http://schemas.microsoft.com/office/powerpoint/2010/main" val="47438624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57188" y="6357938"/>
            <a:ext cx="12858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title"/>
          </p:nvPr>
        </p:nvSpPr>
        <p:spPr>
          <a:xfrm>
            <a:off x="704800" y="404664"/>
            <a:ext cx="7467600" cy="922114"/>
          </a:xfrm>
          <a:solidFill>
            <a:schemeClr val="accent1">
              <a:lumMod val="60000"/>
              <a:lumOff val="40000"/>
            </a:schemeClr>
          </a:solidFill>
        </p:spPr>
        <p:txBody>
          <a:bodyPr/>
          <a:lstStyle>
            <a:lvl1pPr>
              <a:defRPr>
                <a:latin typeface="Calibri" pitchFamily="34" charset="0"/>
              </a:defRPr>
            </a:lvl1pPr>
          </a:lstStyle>
          <a:p>
            <a:r>
              <a:rPr lang="de-DE"/>
              <a:t>Titelmasterformat durch Klicken bearbeiten</a:t>
            </a:r>
            <a:endParaRPr lang="en-US" dirty="0"/>
          </a:p>
        </p:txBody>
      </p:sp>
      <p:sp>
        <p:nvSpPr>
          <p:cNvPr id="8" name="Inhaltsplatzhalter 7"/>
          <p:cNvSpPr>
            <a:spLocks noGrp="1"/>
          </p:cNvSpPr>
          <p:nvPr>
            <p:ph sz="quarter" idx="1"/>
          </p:nvPr>
        </p:nvSpPr>
        <p:spPr>
          <a:xfrm>
            <a:off x="704800" y="1600200"/>
            <a:ext cx="7467600" cy="4873752"/>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a:p>
            <a:pPr lvl="3"/>
            <a:r>
              <a:rPr lang="de-DE"/>
              <a:t>Vierte Ebene</a:t>
            </a:r>
          </a:p>
        </p:txBody>
      </p:sp>
      <p:sp>
        <p:nvSpPr>
          <p:cNvPr id="5" name="Foliennummernplatzhalter 8"/>
          <p:cNvSpPr>
            <a:spLocks noGrp="1"/>
          </p:cNvSpPr>
          <p:nvPr>
            <p:ph type="sldNum" sz="quarter" idx="10"/>
          </p:nvPr>
        </p:nvSpPr>
        <p:spPr/>
        <p:txBody>
          <a:bodyPr rtlCol="0"/>
          <a:lstStyle>
            <a:lvl1pPr>
              <a:defRPr/>
            </a:lvl1pPr>
          </a:lstStyle>
          <a:p>
            <a:pPr>
              <a:defRPr/>
            </a:pPr>
            <a:fld id="{E1EAD199-F4D6-4932-A8DD-6DE4CF271C2F}" type="slidenum">
              <a:rPr lang="de-DE"/>
              <a:pPr>
                <a:defRPr/>
              </a:pPr>
              <a:t>‹#›</a:t>
            </a:fld>
            <a:endParaRPr lang="de-DE"/>
          </a:p>
        </p:txBody>
      </p:sp>
    </p:spTree>
    <p:extLst>
      <p:ext uri="{BB962C8B-B14F-4D97-AF65-F5344CB8AC3E}">
        <p14:creationId xmlns:p14="http://schemas.microsoft.com/office/powerpoint/2010/main" val="217865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bschnittsüberschrift">
    <p:bg>
      <p:bgRef idx="1001">
        <a:schemeClr val="bg2"/>
      </p:bgRef>
    </p:bg>
    <p:spTree>
      <p:nvGrpSpPr>
        <p:cNvPr id="1" name=""/>
        <p:cNvGrpSpPr/>
        <p:nvPr/>
      </p:nvGrpSpPr>
      <p:grpSpPr>
        <a:xfrm>
          <a:off x="0" y="0"/>
          <a:ext cx="0" cy="0"/>
          <a:chOff x="0" y="0"/>
          <a:chExt cx="0" cy="0"/>
        </a:xfrm>
      </p:grpSpPr>
      <p:sp>
        <p:nvSpPr>
          <p:cNvPr id="4" name="Rechteck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5" name="Rechteck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6" name="Rechteck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7" name="Rechteck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8" name="Gerade Verbindung 7"/>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9" name="Gerade Verbindung 8"/>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10" name="Gerade Verbindung 9"/>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11" name="Gerade Verbindung 10"/>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12" name="Gerade Verbindung 11"/>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13" name="Rechteck 12"/>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4" name="Ellipse 13"/>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5" name="Ellipse 14"/>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6" name="Ellipse 15"/>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7" name="Ellipse 16"/>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8" name="Ellipse 17"/>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19" name="Gerade Verbindung 18"/>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white"/>
              </a:solidFill>
            </a:endParaRPr>
          </a:p>
        </p:txBody>
      </p:sp>
      <p:sp>
        <p:nvSpPr>
          <p:cNvPr id="2" name="Titel 1"/>
          <p:cNvSpPr>
            <a:spLocks noGrp="1"/>
          </p:cNvSpPr>
          <p:nvPr>
            <p:ph type="title"/>
          </p:nvPr>
        </p:nvSpPr>
        <p:spPr>
          <a:xfrm>
            <a:off x="2286000" y="2060848"/>
            <a:ext cx="6172200" cy="2053590"/>
          </a:xfrm>
        </p:spPr>
        <p:txBody>
          <a:bodyPr/>
          <a:lstStyle>
            <a:lvl1pPr algn="l">
              <a:buNone/>
              <a:defRPr sz="3000" b="1" cap="small" baseline="0"/>
            </a:lvl1pPr>
          </a:lstStyle>
          <a:p>
            <a:r>
              <a:rPr lang="de-DE"/>
              <a:t>Titelmasterformat durch Klicken bearbeiten</a:t>
            </a:r>
            <a:endParaRPr lang="en-US"/>
          </a:p>
        </p:txBody>
      </p:sp>
      <p:sp>
        <p:nvSpPr>
          <p:cNvPr id="3" name="Textplatzhalter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de-DE"/>
              <a:t>Textmasterformat bearbeiten</a:t>
            </a:r>
          </a:p>
        </p:txBody>
      </p:sp>
      <p:sp>
        <p:nvSpPr>
          <p:cNvPr id="20" name="Foliennummernplatzhalter 5"/>
          <p:cNvSpPr>
            <a:spLocks noGrp="1"/>
          </p:cNvSpPr>
          <p:nvPr>
            <p:ph type="sldNum" sz="quarter" idx="10"/>
          </p:nvPr>
        </p:nvSpPr>
        <p:spPr bwMode="auto">
          <a:xfrm>
            <a:off x="1339850" y="4929188"/>
            <a:ext cx="609600" cy="517525"/>
          </a:xfrm>
        </p:spPr>
        <p:txBody>
          <a:bodyPr/>
          <a:lstStyle>
            <a:lvl1pPr>
              <a:defRPr/>
            </a:lvl1pPr>
          </a:lstStyle>
          <a:p>
            <a:pPr>
              <a:defRPr/>
            </a:pPr>
            <a:fld id="{7DD58880-2E45-41BD-BF49-423CAB338498}" type="slidenum">
              <a:rPr lang="de-DE"/>
              <a:pPr>
                <a:defRPr/>
              </a:pPr>
              <a:t>‹#›</a:t>
            </a:fld>
            <a:endParaRPr lang="de-DE"/>
          </a:p>
        </p:txBody>
      </p:sp>
    </p:spTree>
    <p:extLst>
      <p:ext uri="{BB962C8B-B14F-4D97-AF65-F5344CB8AC3E}">
        <p14:creationId xmlns:p14="http://schemas.microsoft.com/office/powerpoint/2010/main" val="58935702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
        <p:nvSpPr>
          <p:cNvPr id="4" name="Titel 1"/>
          <p:cNvSpPr txBox="1">
            <a:spLocks/>
          </p:cNvSpPr>
          <p:nvPr/>
        </p:nvSpPr>
        <p:spPr>
          <a:xfrm>
            <a:off x="611188" y="476250"/>
            <a:ext cx="7467600" cy="922338"/>
          </a:xfrm>
          <a:prstGeom prst="rect">
            <a:avLst/>
          </a:prstGeom>
          <a:solidFill>
            <a:schemeClr val="accent1">
              <a:lumMod val="40000"/>
              <a:lumOff val="60000"/>
            </a:schemeClr>
          </a:solidFill>
        </p:spPr>
        <p:txBody>
          <a:bodyPr anchor="b">
            <a:normAutofit/>
          </a:bodyPr>
          <a:lstStyle>
            <a:lvl1pPr>
              <a:defRPr>
                <a:latin typeface="Calibri" pitchFamily="34" charset="0"/>
              </a:defRPr>
            </a:lvl1pPr>
          </a:lstStyle>
          <a:p>
            <a:pPr eaLnBrk="1" fontAlgn="auto" hangingPunct="1">
              <a:spcAft>
                <a:spcPts val="0"/>
              </a:spcAft>
              <a:defRPr/>
            </a:pPr>
            <a:r>
              <a:rPr lang="de-DE" sz="3000" b="0" cap="small">
                <a:solidFill>
                  <a:srgbClr val="464653"/>
                </a:solidFill>
              </a:rPr>
              <a:t>Titelmasterformat durch Klicken bearbeiten</a:t>
            </a:r>
            <a:endParaRPr lang="en-US" sz="3000" b="0" cap="small" dirty="0">
              <a:solidFill>
                <a:srgbClr val="464653"/>
              </a:solidFill>
            </a:endParaRPr>
          </a:p>
        </p:txBody>
      </p:sp>
      <p:sp>
        <p:nvSpPr>
          <p:cNvPr id="9" name="Inhaltsplatzhalter 8"/>
          <p:cNvSpPr>
            <a:spLocks noGrp="1"/>
          </p:cNvSpPr>
          <p:nvPr>
            <p:ph sz="quarter" idx="1"/>
          </p:nvPr>
        </p:nvSpPr>
        <p:spPr>
          <a:xfrm>
            <a:off x="626368" y="1600200"/>
            <a:ext cx="3657600" cy="4572000"/>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p:txBody>
      </p:sp>
      <p:sp>
        <p:nvSpPr>
          <p:cNvPr id="11" name="Inhaltsplatzhalter 10"/>
          <p:cNvSpPr>
            <a:spLocks noGrp="1"/>
          </p:cNvSpPr>
          <p:nvPr>
            <p:ph sz="quarter" idx="2"/>
          </p:nvPr>
        </p:nvSpPr>
        <p:spPr>
          <a:xfrm>
            <a:off x="4370784" y="1600200"/>
            <a:ext cx="3657600" cy="4572000"/>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p:txBody>
      </p:sp>
      <p:sp>
        <p:nvSpPr>
          <p:cNvPr id="5" name="Foliennummernplatzhalter 6"/>
          <p:cNvSpPr>
            <a:spLocks noGrp="1"/>
          </p:cNvSpPr>
          <p:nvPr>
            <p:ph type="sldNum" sz="quarter" idx="10"/>
          </p:nvPr>
        </p:nvSpPr>
        <p:spPr/>
        <p:txBody>
          <a:bodyPr/>
          <a:lstStyle>
            <a:lvl1pPr>
              <a:defRPr/>
            </a:lvl1pPr>
          </a:lstStyle>
          <a:p>
            <a:pPr>
              <a:defRPr/>
            </a:pPr>
            <a:fld id="{12E88B20-3529-4E09-9D3C-82DF28CF38A6}" type="slidenum">
              <a:rPr lang="de-DE"/>
              <a:pPr>
                <a:defRPr/>
              </a:pPr>
              <a:t>‹#›</a:t>
            </a:fld>
            <a:endParaRPr lang="de-DE"/>
          </a:p>
        </p:txBody>
      </p:sp>
    </p:spTree>
    <p:extLst>
      <p:ext uri="{BB962C8B-B14F-4D97-AF65-F5344CB8AC3E}">
        <p14:creationId xmlns:p14="http://schemas.microsoft.com/office/powerpoint/2010/main" val="35958530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ergleich">
    <p:spTree>
      <p:nvGrpSpPr>
        <p:cNvPr id="1" name=""/>
        <p:cNvGrpSpPr/>
        <p:nvPr/>
      </p:nvGrpSpPr>
      <p:grpSpPr>
        <a:xfrm>
          <a:off x="0" y="0"/>
          <a:ext cx="0" cy="0"/>
          <a:chOff x="0" y="0"/>
          <a:chExt cx="0" cy="0"/>
        </a:xfrm>
      </p:grpSpPr>
      <p:sp>
        <p:nvSpPr>
          <p:cNvPr id="6" name="Titel 1"/>
          <p:cNvSpPr txBox="1">
            <a:spLocks/>
          </p:cNvSpPr>
          <p:nvPr/>
        </p:nvSpPr>
        <p:spPr>
          <a:xfrm>
            <a:off x="611188" y="476250"/>
            <a:ext cx="7467600" cy="922338"/>
          </a:xfrm>
          <a:prstGeom prst="rect">
            <a:avLst/>
          </a:prstGeom>
          <a:solidFill>
            <a:schemeClr val="accent1">
              <a:lumMod val="40000"/>
              <a:lumOff val="60000"/>
            </a:schemeClr>
          </a:solidFill>
        </p:spPr>
        <p:txBody>
          <a:bodyPr anchor="b">
            <a:normAutofit/>
          </a:bodyPr>
          <a:lstStyle>
            <a:lvl1pPr>
              <a:defRPr>
                <a:latin typeface="Calibri" pitchFamily="34" charset="0"/>
              </a:defRPr>
            </a:lvl1pPr>
          </a:lstStyle>
          <a:p>
            <a:pPr eaLnBrk="1" fontAlgn="auto" hangingPunct="1">
              <a:spcAft>
                <a:spcPts val="0"/>
              </a:spcAft>
              <a:defRPr/>
            </a:pPr>
            <a:r>
              <a:rPr lang="de-DE" sz="3000" b="0" cap="small">
                <a:solidFill>
                  <a:srgbClr val="464653"/>
                </a:solidFill>
              </a:rPr>
              <a:t>Titelmasterformat durch Klicken bearbeiten</a:t>
            </a:r>
            <a:endParaRPr lang="en-US" sz="3000" b="0" cap="small" dirty="0">
              <a:solidFill>
                <a:srgbClr val="464653"/>
              </a:solidFill>
            </a:endParaRPr>
          </a:p>
        </p:txBody>
      </p:sp>
      <p:sp>
        <p:nvSpPr>
          <p:cNvPr id="11" name="Inhaltsplatzhalter 10"/>
          <p:cNvSpPr>
            <a:spLocks noGrp="1"/>
          </p:cNvSpPr>
          <p:nvPr>
            <p:ph sz="quarter" idx="2"/>
          </p:nvPr>
        </p:nvSpPr>
        <p:spPr>
          <a:xfrm>
            <a:off x="554360" y="2362200"/>
            <a:ext cx="3657600" cy="3886200"/>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p:txBody>
      </p:sp>
      <p:sp>
        <p:nvSpPr>
          <p:cNvPr id="13" name="Inhaltsplatzhalter 12"/>
          <p:cNvSpPr>
            <a:spLocks noGrp="1"/>
          </p:cNvSpPr>
          <p:nvPr>
            <p:ph sz="quarter" idx="4"/>
          </p:nvPr>
        </p:nvSpPr>
        <p:spPr>
          <a:xfrm>
            <a:off x="4442792" y="2362200"/>
            <a:ext cx="3657600" cy="3886200"/>
          </a:xfrm>
        </p:spPr>
        <p:txBody>
          <a:bodyPr/>
          <a:lstStyle>
            <a:lvl3pPr>
              <a:buFont typeface="Wingdings" pitchFamily="2" charset="2"/>
              <a:buChar char=""/>
              <a:defRPr/>
            </a:lvl3pPr>
            <a:lvl4pPr>
              <a:buNone/>
              <a:defRPr/>
            </a:lvl4pPr>
            <a:lvl5pPr>
              <a:buNone/>
              <a:defRPr/>
            </a:lvl5pPr>
          </a:lstStyle>
          <a:p>
            <a:pPr lvl="0"/>
            <a:r>
              <a:rPr lang="de-DE"/>
              <a:t>Textmasterformat bearbeiten</a:t>
            </a:r>
          </a:p>
          <a:p>
            <a:pPr lvl="1"/>
            <a:r>
              <a:rPr lang="de-DE"/>
              <a:t>Zweite Ebene</a:t>
            </a:r>
          </a:p>
          <a:p>
            <a:pPr lvl="2"/>
            <a:r>
              <a:rPr lang="de-DE"/>
              <a:t>Dritte Ebene</a:t>
            </a:r>
          </a:p>
        </p:txBody>
      </p:sp>
      <p:sp>
        <p:nvSpPr>
          <p:cNvPr id="12" name="Textplatzhalter 11"/>
          <p:cNvSpPr>
            <a:spLocks noGrp="1"/>
          </p:cNvSpPr>
          <p:nvPr>
            <p:ph type="body" sz="quarter" idx="1"/>
          </p:nvPr>
        </p:nvSpPr>
        <p:spPr>
          <a:xfrm>
            <a:off x="55436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de-DE"/>
              <a:t>Textmasterformat bearbeiten</a:t>
            </a:r>
          </a:p>
        </p:txBody>
      </p:sp>
      <p:sp>
        <p:nvSpPr>
          <p:cNvPr id="14" name="Textplatzhalter 13"/>
          <p:cNvSpPr>
            <a:spLocks noGrp="1"/>
          </p:cNvSpPr>
          <p:nvPr>
            <p:ph type="body" sz="quarter" idx="3"/>
          </p:nvPr>
        </p:nvSpPr>
        <p:spPr>
          <a:xfrm>
            <a:off x="4427984"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de-DE"/>
              <a:t>Textmasterformat bearbeiten</a:t>
            </a:r>
          </a:p>
        </p:txBody>
      </p:sp>
      <p:sp>
        <p:nvSpPr>
          <p:cNvPr id="7" name="Foliennummernplatzhalter 8"/>
          <p:cNvSpPr>
            <a:spLocks noGrp="1"/>
          </p:cNvSpPr>
          <p:nvPr>
            <p:ph type="sldNum" sz="quarter" idx="10"/>
          </p:nvPr>
        </p:nvSpPr>
        <p:spPr/>
        <p:txBody>
          <a:bodyPr/>
          <a:lstStyle>
            <a:lvl1pPr>
              <a:defRPr/>
            </a:lvl1pPr>
          </a:lstStyle>
          <a:p>
            <a:pPr>
              <a:defRPr/>
            </a:pPr>
            <a:fld id="{7D70C7BB-B7CE-42A6-B7A0-A8D35543B10C}" type="slidenum">
              <a:rPr lang="de-DE"/>
              <a:pPr>
                <a:defRPr/>
              </a:pPr>
              <a:t>‹#›</a:t>
            </a:fld>
            <a:endParaRPr lang="de-DE"/>
          </a:p>
        </p:txBody>
      </p:sp>
    </p:spTree>
    <p:extLst>
      <p:ext uri="{BB962C8B-B14F-4D97-AF65-F5344CB8AC3E}">
        <p14:creationId xmlns:p14="http://schemas.microsoft.com/office/powerpoint/2010/main" val="124468704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Nur Titel">
    <p:spTree>
      <p:nvGrpSpPr>
        <p:cNvPr id="1" name=""/>
        <p:cNvGrpSpPr/>
        <p:nvPr/>
      </p:nvGrpSpPr>
      <p:grpSpPr>
        <a:xfrm>
          <a:off x="0" y="0"/>
          <a:ext cx="0" cy="0"/>
          <a:chOff x="0" y="0"/>
          <a:chExt cx="0" cy="0"/>
        </a:xfrm>
      </p:grpSpPr>
      <p:sp>
        <p:nvSpPr>
          <p:cNvPr id="2" name="Titel 1"/>
          <p:cNvSpPr txBox="1">
            <a:spLocks/>
          </p:cNvSpPr>
          <p:nvPr/>
        </p:nvSpPr>
        <p:spPr>
          <a:xfrm>
            <a:off x="611188" y="476250"/>
            <a:ext cx="7467600" cy="922338"/>
          </a:xfrm>
          <a:prstGeom prst="rect">
            <a:avLst/>
          </a:prstGeom>
          <a:solidFill>
            <a:schemeClr val="accent1">
              <a:lumMod val="40000"/>
              <a:lumOff val="60000"/>
            </a:schemeClr>
          </a:solidFill>
        </p:spPr>
        <p:txBody>
          <a:bodyPr anchor="b">
            <a:normAutofit/>
          </a:bodyPr>
          <a:lstStyle>
            <a:lvl1pPr>
              <a:defRPr>
                <a:latin typeface="Calibri" pitchFamily="34" charset="0"/>
              </a:defRPr>
            </a:lvl1pPr>
          </a:lstStyle>
          <a:p>
            <a:pPr eaLnBrk="1" fontAlgn="auto" hangingPunct="1">
              <a:spcAft>
                <a:spcPts val="0"/>
              </a:spcAft>
              <a:defRPr/>
            </a:pPr>
            <a:r>
              <a:rPr lang="de-DE" sz="3000" b="0" cap="small">
                <a:solidFill>
                  <a:srgbClr val="464653"/>
                </a:solidFill>
              </a:rPr>
              <a:t>Titelmasterformat durch Klicken bearbeiten</a:t>
            </a:r>
            <a:endParaRPr lang="en-US" sz="3000" b="0" cap="small" dirty="0">
              <a:solidFill>
                <a:srgbClr val="464653"/>
              </a:solidFill>
            </a:endParaRPr>
          </a:p>
        </p:txBody>
      </p:sp>
      <p:sp>
        <p:nvSpPr>
          <p:cNvPr id="3" name="Foliennummernplatzhalter 6"/>
          <p:cNvSpPr>
            <a:spLocks noGrp="1"/>
          </p:cNvSpPr>
          <p:nvPr>
            <p:ph type="sldNum" sz="quarter" idx="10"/>
          </p:nvPr>
        </p:nvSpPr>
        <p:spPr/>
        <p:txBody>
          <a:bodyPr rtlCol="0"/>
          <a:lstStyle>
            <a:lvl1pPr>
              <a:defRPr/>
            </a:lvl1pPr>
          </a:lstStyle>
          <a:p>
            <a:pPr>
              <a:defRPr/>
            </a:pPr>
            <a:fld id="{DFF4C0D2-F585-4BDA-BCF6-7CFA29A26E52}" type="slidenum">
              <a:rPr lang="de-DE"/>
              <a:pPr>
                <a:defRPr/>
              </a:pPr>
              <a:t>‹#›</a:t>
            </a:fld>
            <a:endParaRPr lang="de-DE"/>
          </a:p>
        </p:txBody>
      </p:sp>
    </p:spTree>
    <p:extLst>
      <p:ext uri="{BB962C8B-B14F-4D97-AF65-F5344CB8AC3E}">
        <p14:creationId xmlns:p14="http://schemas.microsoft.com/office/powerpoint/2010/main" val="1641221181"/>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3"/>
          <p:cNvSpPr>
            <a:spLocks noGrp="1"/>
          </p:cNvSpPr>
          <p:nvPr>
            <p:ph type="dt" sz="half" idx="10"/>
          </p:nvPr>
        </p:nvSpPr>
        <p:spPr/>
        <p:txBody>
          <a:bodyPr/>
          <a:lstStyle>
            <a:lvl1pPr>
              <a:defRPr/>
            </a:lvl1pPr>
          </a:lstStyle>
          <a:p>
            <a:pPr>
              <a:defRPr/>
            </a:pPr>
            <a:fld id="{AD7994A4-3EA6-416D-B5B8-AF58ACC8DB5A}" type="datetimeFigureOut">
              <a:rPr lang="en-US">
                <a:solidFill>
                  <a:srgbClr val="464653"/>
                </a:solidFill>
              </a:rPr>
              <a:pPr>
                <a:defRPr/>
              </a:pPr>
              <a:t>9/22/26</a:t>
            </a:fld>
            <a:endParaRPr lang="en-US" dirty="0">
              <a:solidFill>
                <a:srgbClr val="464653"/>
              </a:solidFill>
            </a:endParaRPr>
          </a:p>
        </p:txBody>
      </p:sp>
      <p:sp>
        <p:nvSpPr>
          <p:cNvPr id="3" name="Fußzeilenplatzhalter 2"/>
          <p:cNvSpPr>
            <a:spLocks noGrp="1"/>
          </p:cNvSpPr>
          <p:nvPr>
            <p:ph type="ftr" sz="quarter" idx="11"/>
          </p:nvPr>
        </p:nvSpPr>
        <p:spPr/>
        <p:txBody>
          <a:bodyPr/>
          <a:lstStyle>
            <a:lvl1pPr>
              <a:defRPr/>
            </a:lvl1pPr>
          </a:lstStyle>
          <a:p>
            <a:pPr>
              <a:defRPr/>
            </a:pPr>
            <a:endParaRPr lang="de-DE">
              <a:solidFill>
                <a:srgbClr val="464653"/>
              </a:solidFill>
            </a:endParaRPr>
          </a:p>
        </p:txBody>
      </p:sp>
      <p:sp>
        <p:nvSpPr>
          <p:cNvPr id="4" name="Foliennummernplatzhalter 22"/>
          <p:cNvSpPr>
            <a:spLocks noGrp="1"/>
          </p:cNvSpPr>
          <p:nvPr>
            <p:ph type="sldNum" sz="quarter" idx="12"/>
          </p:nvPr>
        </p:nvSpPr>
        <p:spPr/>
        <p:txBody>
          <a:bodyPr/>
          <a:lstStyle>
            <a:lvl1pPr>
              <a:defRPr/>
            </a:lvl1pPr>
          </a:lstStyle>
          <a:p>
            <a:pPr>
              <a:defRPr/>
            </a:pPr>
            <a:fld id="{D1D48CC8-DC1B-4C80-A29C-E62550CAAEF4}" type="slidenum">
              <a:rPr lang="de-DE"/>
              <a:pPr>
                <a:defRPr/>
              </a:pPr>
              <a:t>‹#›</a:t>
            </a:fld>
            <a:endParaRPr lang="de-DE"/>
          </a:p>
        </p:txBody>
      </p:sp>
    </p:spTree>
    <p:extLst>
      <p:ext uri="{BB962C8B-B14F-4D97-AF65-F5344CB8AC3E}">
        <p14:creationId xmlns:p14="http://schemas.microsoft.com/office/powerpoint/2010/main" val="3459523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Inhalt mit Überschrift">
    <p:spTree>
      <p:nvGrpSpPr>
        <p:cNvPr id="1" name=""/>
        <p:cNvGrpSpPr/>
        <p:nvPr/>
      </p:nvGrpSpPr>
      <p:grpSpPr>
        <a:xfrm>
          <a:off x="0" y="0"/>
          <a:ext cx="0" cy="0"/>
          <a:chOff x="0" y="0"/>
          <a:chExt cx="0" cy="0"/>
        </a:xfrm>
      </p:grpSpPr>
      <p:sp>
        <p:nvSpPr>
          <p:cNvPr id="5" name="Gerade Verbindung 4"/>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eaLnBrk="1" hangingPunct="1">
              <a:defRPr/>
            </a:pPr>
            <a:endParaRPr lang="en-US" b="0" dirty="0">
              <a:solidFill>
                <a:prstClr val="black"/>
              </a:solidFill>
            </a:endParaRPr>
          </a:p>
        </p:txBody>
      </p:sp>
      <p:sp>
        <p:nvSpPr>
          <p:cNvPr id="6" name="Gerade Verbindung 5"/>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dirty="0">
              <a:solidFill>
                <a:prstClr val="black"/>
              </a:solidFill>
            </a:endParaRPr>
          </a:p>
        </p:txBody>
      </p:sp>
      <p:sp>
        <p:nvSpPr>
          <p:cNvPr id="7" name="Gerade Verbindung 17"/>
          <p:cNvSpPr>
            <a:spLocks noChangeShapeType="1"/>
          </p:cNvSpPr>
          <p:nvPr/>
        </p:nvSpPr>
        <p:spPr bwMode="auto">
          <a:xfrm>
            <a:off x="6192838"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8" name="Gerade Verbindung 18"/>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9" name="Rechteck 8"/>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10" name="Gerade Verbindung 20"/>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11" name="Ellipse 10"/>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2" name="Titel 1"/>
          <p:cNvSpPr>
            <a:spLocks noGrp="1"/>
          </p:cNvSpPr>
          <p:nvPr>
            <p:ph type="title"/>
          </p:nvPr>
        </p:nvSpPr>
        <p:spPr>
          <a:xfrm rot="5400000">
            <a:off x="3371850" y="3200400"/>
            <a:ext cx="6309360" cy="457200"/>
          </a:xfrm>
        </p:spPr>
        <p:txBody>
          <a:bodyPr/>
          <a:lstStyle>
            <a:lvl1pPr algn="l">
              <a:buNone/>
              <a:defRPr sz="2000" b="1" cap="small" baseline="0"/>
            </a:lvl1pPr>
          </a:lstStyle>
          <a:p>
            <a:r>
              <a:rPr lang="de-DE"/>
              <a:t>Titelmasterformat durch Klicken bearbeiten</a:t>
            </a:r>
            <a:endParaRPr lang="en-US"/>
          </a:p>
        </p:txBody>
      </p:sp>
      <p:sp>
        <p:nvSpPr>
          <p:cNvPr id="3" name="Textplatzhalt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de-DE"/>
              <a:t>Textmasterformat bearbeiten</a:t>
            </a:r>
          </a:p>
        </p:txBody>
      </p:sp>
      <p:sp>
        <p:nvSpPr>
          <p:cNvPr id="18" name="Inhaltsplatzhalter 17"/>
          <p:cNvSpPr>
            <a:spLocks noGrp="1"/>
          </p:cNvSpPr>
          <p:nvPr>
            <p:ph sz="quarter" idx="1"/>
          </p:nvPr>
        </p:nvSpPr>
        <p:spPr>
          <a:xfrm>
            <a:off x="304800" y="274320"/>
            <a:ext cx="5638800" cy="632764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2" name="Datumsplatzhalter 20"/>
          <p:cNvSpPr>
            <a:spLocks noGrp="1"/>
          </p:cNvSpPr>
          <p:nvPr>
            <p:ph type="dt" sz="half" idx="10"/>
          </p:nvPr>
        </p:nvSpPr>
        <p:spPr/>
        <p:txBody>
          <a:bodyPr rtlCol="0"/>
          <a:lstStyle>
            <a:lvl1pPr>
              <a:defRPr/>
            </a:lvl1pPr>
          </a:lstStyle>
          <a:p>
            <a:pPr>
              <a:defRPr/>
            </a:pPr>
            <a:fld id="{E5EA74D1-F734-4E0A-8BBE-2788A29B17AE}" type="datetimeFigureOut">
              <a:rPr lang="en-US">
                <a:solidFill>
                  <a:srgbClr val="464653"/>
                </a:solidFill>
              </a:rPr>
              <a:pPr>
                <a:defRPr/>
              </a:pPr>
              <a:t>9/22/26</a:t>
            </a:fld>
            <a:endParaRPr lang="en-US">
              <a:solidFill>
                <a:srgbClr val="464653"/>
              </a:solidFill>
            </a:endParaRPr>
          </a:p>
        </p:txBody>
      </p:sp>
      <p:sp>
        <p:nvSpPr>
          <p:cNvPr id="13" name="Foliennummernplatzhalter 21"/>
          <p:cNvSpPr>
            <a:spLocks noGrp="1"/>
          </p:cNvSpPr>
          <p:nvPr>
            <p:ph type="sldNum" sz="quarter" idx="11"/>
          </p:nvPr>
        </p:nvSpPr>
        <p:spPr/>
        <p:txBody>
          <a:bodyPr rtlCol="0"/>
          <a:lstStyle>
            <a:lvl1pPr>
              <a:defRPr/>
            </a:lvl1pPr>
          </a:lstStyle>
          <a:p>
            <a:pPr>
              <a:defRPr/>
            </a:pPr>
            <a:fld id="{4F929730-C6EE-4C27-B33F-F8E5500E7589}" type="slidenum">
              <a:rPr lang="de-DE"/>
              <a:pPr>
                <a:defRPr/>
              </a:pPr>
              <a:t>‹#›</a:t>
            </a:fld>
            <a:endParaRPr lang="de-DE"/>
          </a:p>
        </p:txBody>
      </p:sp>
      <p:sp>
        <p:nvSpPr>
          <p:cNvPr id="14" name="Fußzeilenplatzhalter 22"/>
          <p:cNvSpPr>
            <a:spLocks noGrp="1"/>
          </p:cNvSpPr>
          <p:nvPr>
            <p:ph type="ftr" sz="quarter" idx="12"/>
          </p:nvPr>
        </p:nvSpPr>
        <p:spPr/>
        <p:txBody>
          <a:bodyPr rtlCol="0"/>
          <a:lstStyle>
            <a:lvl1pPr>
              <a:defRPr/>
            </a:lvl1pPr>
          </a:lstStyle>
          <a:p>
            <a:pPr>
              <a:defRPr/>
            </a:pPr>
            <a:endParaRPr lang="de-DE">
              <a:solidFill>
                <a:srgbClr val="464653"/>
              </a:solidFill>
            </a:endParaRPr>
          </a:p>
        </p:txBody>
      </p:sp>
    </p:spTree>
    <p:extLst>
      <p:ext uri="{BB962C8B-B14F-4D97-AF65-F5344CB8AC3E}">
        <p14:creationId xmlns:p14="http://schemas.microsoft.com/office/powerpoint/2010/main" val="327565075"/>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ild mit Überschrift">
    <p:spTree>
      <p:nvGrpSpPr>
        <p:cNvPr id="1" name=""/>
        <p:cNvGrpSpPr/>
        <p:nvPr/>
      </p:nvGrpSpPr>
      <p:grpSpPr>
        <a:xfrm>
          <a:off x="0" y="0"/>
          <a:ext cx="0" cy="0"/>
          <a:chOff x="0" y="0"/>
          <a:chExt cx="0" cy="0"/>
        </a:xfrm>
      </p:grpSpPr>
      <p:sp>
        <p:nvSpPr>
          <p:cNvPr id="5" name="Gerade Verbindung 4"/>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6" name="Ellipse 5"/>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7" name="Gerade Verbindung 17"/>
          <p:cNvSpPr>
            <a:spLocks noChangeShapeType="1"/>
          </p:cNvSpPr>
          <p:nvPr/>
        </p:nvSpPr>
        <p:spPr bwMode="auto">
          <a:xfrm>
            <a:off x="8991600" y="0"/>
            <a:ext cx="0" cy="6858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8" name="Rechteck 7"/>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9" name="Gerade Verbindung 19"/>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10" name="Gerade Verbindung 9"/>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dirty="0">
              <a:solidFill>
                <a:prstClr val="black"/>
              </a:solidFill>
            </a:endParaRPr>
          </a:p>
        </p:txBody>
      </p:sp>
      <p:sp>
        <p:nvSpPr>
          <p:cNvPr id="11" name="Gerade Verbindung 23"/>
          <p:cNvSpPr>
            <a:spLocks noChangeShapeType="1"/>
          </p:cNvSpPr>
          <p:nvPr/>
        </p:nvSpPr>
        <p:spPr bwMode="auto">
          <a:xfrm>
            <a:off x="6192838"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2" name="Titel 1"/>
          <p:cNvSpPr>
            <a:spLocks noGrp="1"/>
          </p:cNvSpPr>
          <p:nvPr>
            <p:ph type="title"/>
          </p:nvPr>
        </p:nvSpPr>
        <p:spPr>
          <a:xfrm rot="5400000">
            <a:off x="3350133" y="3200400"/>
            <a:ext cx="6309360" cy="457200"/>
          </a:xfrm>
        </p:spPr>
        <p:txBody>
          <a:bodyPr/>
          <a:lstStyle>
            <a:lvl1pPr algn="l">
              <a:buNone/>
              <a:defRPr sz="2000" b="1"/>
            </a:lvl1pPr>
          </a:lstStyle>
          <a:p>
            <a:r>
              <a:rPr lang="de-DE"/>
              <a:t>Titelmasterformat durch Klicken bearbeiten</a:t>
            </a:r>
            <a:endParaRPr lang="en-US"/>
          </a:p>
        </p:txBody>
      </p:sp>
      <p:sp>
        <p:nvSpPr>
          <p:cNvPr id="3" name="Bildplatzhalt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ormAutofit/>
          </a:bodyPr>
          <a:lstStyle>
            <a:lvl1pPr marL="0" indent="0">
              <a:buNone/>
              <a:defRPr sz="3200"/>
            </a:lvl1pPr>
          </a:lstStyle>
          <a:p>
            <a:pPr lvl="0"/>
            <a:r>
              <a:rPr lang="de-DE" noProof="0"/>
              <a:t>Bild durch Klicken auf Symbol hinzufügen</a:t>
            </a:r>
            <a:endParaRPr lang="en-US" noProof="0" dirty="0"/>
          </a:p>
        </p:txBody>
      </p:sp>
      <p:sp>
        <p:nvSpPr>
          <p:cNvPr id="4" name="Textplatzhalter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de-DE"/>
              <a:t>Textmasterformat bearbeiten</a:t>
            </a:r>
          </a:p>
        </p:txBody>
      </p:sp>
      <p:sp>
        <p:nvSpPr>
          <p:cNvPr id="12" name="Datumsplatzhalter 16"/>
          <p:cNvSpPr>
            <a:spLocks noGrp="1"/>
          </p:cNvSpPr>
          <p:nvPr>
            <p:ph type="dt" sz="half" idx="10"/>
          </p:nvPr>
        </p:nvSpPr>
        <p:spPr/>
        <p:txBody>
          <a:bodyPr rtlCol="0"/>
          <a:lstStyle>
            <a:lvl1pPr>
              <a:defRPr/>
            </a:lvl1pPr>
          </a:lstStyle>
          <a:p>
            <a:pPr>
              <a:defRPr/>
            </a:pPr>
            <a:fld id="{24C394BD-AA8D-45B7-AB86-B8526A170CAC}" type="datetimeFigureOut">
              <a:rPr lang="en-US">
                <a:solidFill>
                  <a:srgbClr val="464653"/>
                </a:solidFill>
              </a:rPr>
              <a:pPr>
                <a:defRPr/>
              </a:pPr>
              <a:t>9/22/26</a:t>
            </a:fld>
            <a:endParaRPr lang="en-US" dirty="0">
              <a:solidFill>
                <a:srgbClr val="464653"/>
              </a:solidFill>
            </a:endParaRPr>
          </a:p>
        </p:txBody>
      </p:sp>
      <p:sp>
        <p:nvSpPr>
          <p:cNvPr id="13" name="Foliennummernplatzhalter 17"/>
          <p:cNvSpPr>
            <a:spLocks noGrp="1"/>
          </p:cNvSpPr>
          <p:nvPr>
            <p:ph type="sldNum" sz="quarter" idx="11"/>
          </p:nvPr>
        </p:nvSpPr>
        <p:spPr/>
        <p:txBody>
          <a:bodyPr rtlCol="0"/>
          <a:lstStyle>
            <a:lvl1pPr>
              <a:defRPr/>
            </a:lvl1pPr>
          </a:lstStyle>
          <a:p>
            <a:pPr>
              <a:defRPr/>
            </a:pPr>
            <a:fld id="{DDCEF3E8-631B-4F9C-88CD-8913E55F5CA1}" type="slidenum">
              <a:rPr lang="de-DE"/>
              <a:pPr>
                <a:defRPr/>
              </a:pPr>
              <a:t>‹#›</a:t>
            </a:fld>
            <a:endParaRPr lang="de-DE"/>
          </a:p>
        </p:txBody>
      </p:sp>
      <p:sp>
        <p:nvSpPr>
          <p:cNvPr id="14" name="Fußzeilenplatzhalter 20"/>
          <p:cNvSpPr>
            <a:spLocks noGrp="1"/>
          </p:cNvSpPr>
          <p:nvPr>
            <p:ph type="ftr" sz="quarter" idx="12"/>
          </p:nvPr>
        </p:nvSpPr>
        <p:spPr/>
        <p:txBody>
          <a:bodyPr rtlCol="0"/>
          <a:lstStyle>
            <a:lvl1pPr>
              <a:defRPr/>
            </a:lvl1pPr>
          </a:lstStyle>
          <a:p>
            <a:pPr>
              <a:defRPr/>
            </a:pPr>
            <a:endParaRPr lang="de-DE">
              <a:solidFill>
                <a:srgbClr val="464653"/>
              </a:solidFill>
            </a:endParaRPr>
          </a:p>
        </p:txBody>
      </p:sp>
    </p:spTree>
    <p:extLst>
      <p:ext uri="{BB962C8B-B14F-4D97-AF65-F5344CB8AC3E}">
        <p14:creationId xmlns:p14="http://schemas.microsoft.com/office/powerpoint/2010/main" val="516128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US"/>
          </a:p>
        </p:txBody>
      </p:sp>
      <p:sp>
        <p:nvSpPr>
          <p:cNvPr id="3" name="Vertikaler Textplatzhalter 2"/>
          <p:cNvSpPr>
            <a:spLocks noGrp="1"/>
          </p:cNvSpPr>
          <p:nvPr>
            <p:ph type="body" orient="vert" idx="1"/>
          </p:nvPr>
        </p:nvSpPr>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13"/>
          <p:cNvSpPr>
            <a:spLocks noGrp="1"/>
          </p:cNvSpPr>
          <p:nvPr>
            <p:ph type="dt" sz="half" idx="10"/>
          </p:nvPr>
        </p:nvSpPr>
        <p:spPr/>
        <p:txBody>
          <a:bodyPr/>
          <a:lstStyle>
            <a:lvl1pPr>
              <a:defRPr/>
            </a:lvl1pPr>
          </a:lstStyle>
          <a:p>
            <a:pPr>
              <a:defRPr/>
            </a:pPr>
            <a:fld id="{E2C5196A-941C-4F4D-A55B-4D4E367443C7}" type="datetimeFigureOut">
              <a:rPr lang="en-US">
                <a:solidFill>
                  <a:srgbClr val="464653"/>
                </a:solidFill>
              </a:rPr>
              <a:pPr>
                <a:defRPr/>
              </a:pPr>
              <a:t>9/22/26</a:t>
            </a:fld>
            <a:endParaRPr lang="en-US" dirty="0">
              <a:solidFill>
                <a:srgbClr val="464653"/>
              </a:solidFill>
            </a:endParaRPr>
          </a:p>
        </p:txBody>
      </p:sp>
      <p:sp>
        <p:nvSpPr>
          <p:cNvPr id="5" name="Fußzeilenplatzhalter 2"/>
          <p:cNvSpPr>
            <a:spLocks noGrp="1"/>
          </p:cNvSpPr>
          <p:nvPr>
            <p:ph type="ftr" sz="quarter" idx="11"/>
          </p:nvPr>
        </p:nvSpPr>
        <p:spPr/>
        <p:txBody>
          <a:bodyPr/>
          <a:lstStyle>
            <a:lvl1pPr>
              <a:defRPr/>
            </a:lvl1pPr>
          </a:lstStyle>
          <a:p>
            <a:pPr>
              <a:defRPr/>
            </a:pPr>
            <a:endParaRPr lang="de-DE">
              <a:solidFill>
                <a:srgbClr val="464653"/>
              </a:solidFill>
            </a:endParaRPr>
          </a:p>
        </p:txBody>
      </p:sp>
      <p:sp>
        <p:nvSpPr>
          <p:cNvPr id="6" name="Foliennummernplatzhalter 22"/>
          <p:cNvSpPr>
            <a:spLocks noGrp="1"/>
          </p:cNvSpPr>
          <p:nvPr>
            <p:ph type="sldNum" sz="quarter" idx="12"/>
          </p:nvPr>
        </p:nvSpPr>
        <p:spPr/>
        <p:txBody>
          <a:bodyPr/>
          <a:lstStyle>
            <a:lvl1pPr>
              <a:defRPr/>
            </a:lvl1pPr>
          </a:lstStyle>
          <a:p>
            <a:pPr>
              <a:defRPr/>
            </a:pPr>
            <a:fld id="{A41119E4-F49F-44AE-A94F-4121505D914E}" type="slidenum">
              <a:rPr lang="de-DE"/>
              <a:pPr>
                <a:defRPr/>
              </a:pPr>
              <a:t>‹#›</a:t>
            </a:fld>
            <a:endParaRPr lang="de-DE"/>
          </a:p>
        </p:txBody>
      </p:sp>
    </p:spTree>
    <p:extLst>
      <p:ext uri="{BB962C8B-B14F-4D97-AF65-F5344CB8AC3E}">
        <p14:creationId xmlns:p14="http://schemas.microsoft.com/office/powerpoint/2010/main" val="89823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74639"/>
            <a:ext cx="1676400" cy="5851525"/>
          </a:xfrm>
        </p:spPr>
        <p:txBody>
          <a:bodyPr vert="eaVert"/>
          <a:lstStyle/>
          <a:p>
            <a:r>
              <a:rPr lang="de-DE"/>
              <a:t>Titelmasterformat durch Klicken bearbeiten</a:t>
            </a:r>
            <a:endParaRPr lang="en-US"/>
          </a:p>
        </p:txBody>
      </p:sp>
      <p:sp>
        <p:nvSpPr>
          <p:cNvPr id="3" name="Vertikaler Textplatzhalter 2"/>
          <p:cNvSpPr>
            <a:spLocks noGrp="1"/>
          </p:cNvSpPr>
          <p:nvPr>
            <p:ph type="body" orient="vert" idx="1"/>
          </p:nvPr>
        </p:nvSpPr>
        <p:spPr>
          <a:xfrm>
            <a:off x="457200" y="274638"/>
            <a:ext cx="6019800" cy="5851525"/>
          </a:xfrm>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13"/>
          <p:cNvSpPr>
            <a:spLocks noGrp="1"/>
          </p:cNvSpPr>
          <p:nvPr>
            <p:ph type="dt" sz="half" idx="10"/>
          </p:nvPr>
        </p:nvSpPr>
        <p:spPr/>
        <p:txBody>
          <a:bodyPr/>
          <a:lstStyle>
            <a:lvl1pPr>
              <a:defRPr/>
            </a:lvl1pPr>
          </a:lstStyle>
          <a:p>
            <a:pPr>
              <a:defRPr/>
            </a:pPr>
            <a:fld id="{63D5E341-8269-4939-972C-AD0B4D5A2887}" type="datetimeFigureOut">
              <a:rPr lang="en-US">
                <a:solidFill>
                  <a:srgbClr val="464653"/>
                </a:solidFill>
              </a:rPr>
              <a:pPr>
                <a:defRPr/>
              </a:pPr>
              <a:t>9/22/26</a:t>
            </a:fld>
            <a:endParaRPr lang="en-US" dirty="0">
              <a:solidFill>
                <a:srgbClr val="464653"/>
              </a:solidFill>
            </a:endParaRPr>
          </a:p>
        </p:txBody>
      </p:sp>
      <p:sp>
        <p:nvSpPr>
          <p:cNvPr id="5" name="Fußzeilenplatzhalter 2"/>
          <p:cNvSpPr>
            <a:spLocks noGrp="1"/>
          </p:cNvSpPr>
          <p:nvPr>
            <p:ph type="ftr" sz="quarter" idx="11"/>
          </p:nvPr>
        </p:nvSpPr>
        <p:spPr/>
        <p:txBody>
          <a:bodyPr/>
          <a:lstStyle>
            <a:lvl1pPr>
              <a:defRPr/>
            </a:lvl1pPr>
          </a:lstStyle>
          <a:p>
            <a:pPr>
              <a:defRPr/>
            </a:pPr>
            <a:endParaRPr lang="de-DE">
              <a:solidFill>
                <a:srgbClr val="464653"/>
              </a:solidFill>
            </a:endParaRPr>
          </a:p>
        </p:txBody>
      </p:sp>
      <p:sp>
        <p:nvSpPr>
          <p:cNvPr id="6" name="Foliennummernplatzhalter 22"/>
          <p:cNvSpPr>
            <a:spLocks noGrp="1"/>
          </p:cNvSpPr>
          <p:nvPr>
            <p:ph type="sldNum" sz="quarter" idx="12"/>
          </p:nvPr>
        </p:nvSpPr>
        <p:spPr/>
        <p:txBody>
          <a:bodyPr/>
          <a:lstStyle>
            <a:lvl1pPr>
              <a:defRPr/>
            </a:lvl1pPr>
          </a:lstStyle>
          <a:p>
            <a:pPr>
              <a:defRPr/>
            </a:pPr>
            <a:fld id="{C3662087-E383-4CE7-86C5-E5AA1DD8434C}" type="slidenum">
              <a:rPr lang="de-DE"/>
              <a:pPr>
                <a:defRPr/>
              </a:pPr>
              <a:t>‹#›</a:t>
            </a:fld>
            <a:endParaRPr lang="de-DE"/>
          </a:p>
        </p:txBody>
      </p:sp>
    </p:spTree>
    <p:extLst>
      <p:ext uri="{BB962C8B-B14F-4D97-AF65-F5344CB8AC3E}">
        <p14:creationId xmlns:p14="http://schemas.microsoft.com/office/powerpoint/2010/main" val="37285400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Inhalt">
    <p:spTree>
      <p:nvGrpSpPr>
        <p:cNvPr id="1" name=""/>
        <p:cNvGrpSpPr/>
        <p:nvPr/>
      </p:nvGrpSpPr>
      <p:grpSpPr>
        <a:xfrm>
          <a:off x="0" y="0"/>
          <a:ext cx="0" cy="0"/>
          <a:chOff x="0" y="0"/>
          <a:chExt cx="0" cy="0"/>
        </a:xfrm>
      </p:grpSpPr>
      <p:sp>
        <p:nvSpPr>
          <p:cNvPr id="2" name="Inhaltsplatzhalter 1"/>
          <p:cNvSpPr>
            <a:spLocks noGrp="1"/>
          </p:cNvSpPr>
          <p:nvPr>
            <p:ph/>
          </p:nvPr>
        </p:nvSpPr>
        <p:spPr>
          <a:xfrm>
            <a:off x="250825" y="214313"/>
            <a:ext cx="8704263" cy="5918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3" name="Fußzeilenplatzhalter 2"/>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4" name="Foliennummernplatzhalter 3"/>
          <p:cNvSpPr>
            <a:spLocks noGrp="1"/>
          </p:cNvSpPr>
          <p:nvPr>
            <p:ph type="sldNum" sz="quarter" idx="11"/>
          </p:nvPr>
        </p:nvSpPr>
        <p:spPr>
          <a:xfrm>
            <a:off x="7042150" y="6243638"/>
            <a:ext cx="1905000" cy="457200"/>
          </a:xfrm>
        </p:spPr>
        <p:txBody>
          <a:bodyPr/>
          <a:lstStyle>
            <a:lvl1pPr>
              <a:defRPr/>
            </a:lvl1pPr>
          </a:lstStyle>
          <a:p>
            <a:pPr>
              <a:defRPr/>
            </a:pPr>
            <a:fld id="{98453007-BE9A-4008-B474-0CCEDEE2D831}" type="slidenum">
              <a:rPr lang="de-DE"/>
              <a:pPr>
                <a:defRPr/>
              </a:pPr>
              <a:t>‹#›</a:t>
            </a:fld>
            <a:endParaRPr lang="de-DE"/>
          </a:p>
        </p:txBody>
      </p:sp>
    </p:spTree>
    <p:extLst>
      <p:ext uri="{BB962C8B-B14F-4D97-AF65-F5344CB8AC3E}">
        <p14:creationId xmlns:p14="http://schemas.microsoft.com/office/powerpoint/2010/main" val="896194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el und Tabelle">
    <p:spTree>
      <p:nvGrpSpPr>
        <p:cNvPr id="1" name=""/>
        <p:cNvGrpSpPr/>
        <p:nvPr/>
      </p:nvGrpSpPr>
      <p:grpSpPr>
        <a:xfrm>
          <a:off x="0" y="0"/>
          <a:ext cx="0" cy="0"/>
          <a:chOff x="0" y="0"/>
          <a:chExt cx="0" cy="0"/>
        </a:xfrm>
      </p:grpSpPr>
      <p:sp>
        <p:nvSpPr>
          <p:cNvPr id="2" name="Titel 1"/>
          <p:cNvSpPr>
            <a:spLocks noGrp="1"/>
          </p:cNvSpPr>
          <p:nvPr>
            <p:ph type="title"/>
          </p:nvPr>
        </p:nvSpPr>
        <p:spPr>
          <a:xfrm>
            <a:off x="1150938" y="214313"/>
            <a:ext cx="7793037" cy="1462087"/>
          </a:xfrm>
        </p:spPr>
        <p:txBody>
          <a:bodyPr/>
          <a:lstStyle/>
          <a:p>
            <a:r>
              <a:rPr lang="de-DE"/>
              <a:t>Titelmasterformat durch Klicken bearbeiten</a:t>
            </a:r>
          </a:p>
        </p:txBody>
      </p:sp>
      <p:sp>
        <p:nvSpPr>
          <p:cNvPr id="3" name="Tabellenplatzhalter 2"/>
          <p:cNvSpPr>
            <a:spLocks noGrp="1"/>
          </p:cNvSpPr>
          <p:nvPr>
            <p:ph type="tbl" idx="1"/>
          </p:nvPr>
        </p:nvSpPr>
        <p:spPr>
          <a:xfrm>
            <a:off x="250825" y="2017713"/>
            <a:ext cx="8704263" cy="4114800"/>
          </a:xfrm>
        </p:spPr>
        <p:txBody>
          <a:bodyPr>
            <a:normAutofit/>
          </a:bodyPr>
          <a:lstStyle/>
          <a:p>
            <a:pPr lvl="0"/>
            <a:endParaRPr lang="de-DE" noProof="0"/>
          </a:p>
        </p:txBody>
      </p:sp>
      <p:sp>
        <p:nvSpPr>
          <p:cNvPr id="4" name="Fußzeilenplatzhalter 3"/>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5" name="Foliennummernplatzhalter 4"/>
          <p:cNvSpPr>
            <a:spLocks noGrp="1"/>
          </p:cNvSpPr>
          <p:nvPr>
            <p:ph type="sldNum" sz="quarter" idx="11"/>
          </p:nvPr>
        </p:nvSpPr>
        <p:spPr>
          <a:xfrm>
            <a:off x="7042150" y="6243638"/>
            <a:ext cx="1905000" cy="457200"/>
          </a:xfrm>
        </p:spPr>
        <p:txBody>
          <a:bodyPr/>
          <a:lstStyle>
            <a:lvl1pPr>
              <a:defRPr/>
            </a:lvl1pPr>
          </a:lstStyle>
          <a:p>
            <a:pPr>
              <a:defRPr/>
            </a:pPr>
            <a:fld id="{98B8E929-94FB-45CD-9D45-4984F34B9E01}" type="slidenum">
              <a:rPr lang="de-DE"/>
              <a:pPr>
                <a:defRPr/>
              </a:pPr>
              <a:t>‹#›</a:t>
            </a:fld>
            <a:endParaRPr lang="de-DE"/>
          </a:p>
        </p:txBody>
      </p:sp>
    </p:spTree>
    <p:extLst>
      <p:ext uri="{BB962C8B-B14F-4D97-AF65-F5344CB8AC3E}">
        <p14:creationId xmlns:p14="http://schemas.microsoft.com/office/powerpoint/2010/main" val="29333416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cSld name="Titel und Inhalt über Text">
    <p:spTree>
      <p:nvGrpSpPr>
        <p:cNvPr id="1" name=""/>
        <p:cNvGrpSpPr/>
        <p:nvPr/>
      </p:nvGrpSpPr>
      <p:grpSpPr>
        <a:xfrm>
          <a:off x="0" y="0"/>
          <a:ext cx="0" cy="0"/>
          <a:chOff x="0" y="0"/>
          <a:chExt cx="0" cy="0"/>
        </a:xfrm>
      </p:grpSpPr>
      <p:sp>
        <p:nvSpPr>
          <p:cNvPr id="2" name="Titel 1"/>
          <p:cNvSpPr>
            <a:spLocks noGrp="1"/>
          </p:cNvSpPr>
          <p:nvPr>
            <p:ph type="title"/>
          </p:nvPr>
        </p:nvSpPr>
        <p:spPr>
          <a:xfrm>
            <a:off x="1150938" y="214313"/>
            <a:ext cx="7793037" cy="1462087"/>
          </a:xfrm>
        </p:spPr>
        <p:txBody>
          <a:bodyPr/>
          <a:lstStyle/>
          <a:p>
            <a:r>
              <a:rPr lang="de-DE"/>
              <a:t>Titelmasterformat durch Klicken bearbeiten</a:t>
            </a:r>
          </a:p>
        </p:txBody>
      </p:sp>
      <p:sp>
        <p:nvSpPr>
          <p:cNvPr id="3" name="Inhaltsplatzhalter 2"/>
          <p:cNvSpPr>
            <a:spLocks noGrp="1"/>
          </p:cNvSpPr>
          <p:nvPr>
            <p:ph sz="half" idx="1"/>
          </p:nvPr>
        </p:nvSpPr>
        <p:spPr>
          <a:xfrm>
            <a:off x="250825" y="2017713"/>
            <a:ext cx="8704263" cy="1981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250825" y="4151313"/>
            <a:ext cx="8704263" cy="1981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6" name="Foliennummernplatzhalter 5"/>
          <p:cNvSpPr>
            <a:spLocks noGrp="1"/>
          </p:cNvSpPr>
          <p:nvPr>
            <p:ph type="sldNum" sz="quarter" idx="11"/>
          </p:nvPr>
        </p:nvSpPr>
        <p:spPr>
          <a:xfrm>
            <a:off x="7042150" y="6243638"/>
            <a:ext cx="1905000" cy="457200"/>
          </a:xfrm>
        </p:spPr>
        <p:txBody>
          <a:bodyPr/>
          <a:lstStyle>
            <a:lvl1pPr>
              <a:defRPr/>
            </a:lvl1pPr>
          </a:lstStyle>
          <a:p>
            <a:pPr>
              <a:defRPr/>
            </a:pPr>
            <a:fld id="{143C6CFB-1D54-4A46-9DAB-95E7EEAEB634}" type="slidenum">
              <a:rPr lang="de-DE"/>
              <a:pPr>
                <a:defRPr/>
              </a:pPr>
              <a:t>‹#›</a:t>
            </a:fld>
            <a:endParaRPr lang="de-DE"/>
          </a:p>
        </p:txBody>
      </p:sp>
    </p:spTree>
    <p:extLst>
      <p:ext uri="{BB962C8B-B14F-4D97-AF65-F5344CB8AC3E}">
        <p14:creationId xmlns:p14="http://schemas.microsoft.com/office/powerpoint/2010/main" val="34549457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OverObj">
  <p:cSld name="Titel und Text über Inhalt">
    <p:spTree>
      <p:nvGrpSpPr>
        <p:cNvPr id="1" name=""/>
        <p:cNvGrpSpPr/>
        <p:nvPr/>
      </p:nvGrpSpPr>
      <p:grpSpPr>
        <a:xfrm>
          <a:off x="0" y="0"/>
          <a:ext cx="0" cy="0"/>
          <a:chOff x="0" y="0"/>
          <a:chExt cx="0" cy="0"/>
        </a:xfrm>
      </p:grpSpPr>
      <p:sp>
        <p:nvSpPr>
          <p:cNvPr id="2" name="Titel 1"/>
          <p:cNvSpPr>
            <a:spLocks noGrp="1"/>
          </p:cNvSpPr>
          <p:nvPr>
            <p:ph type="title"/>
          </p:nvPr>
        </p:nvSpPr>
        <p:spPr>
          <a:xfrm>
            <a:off x="1150938" y="214313"/>
            <a:ext cx="7793037" cy="1462087"/>
          </a:xfrm>
        </p:spPr>
        <p:txBody>
          <a:bodyPr/>
          <a:lstStyle/>
          <a:p>
            <a:r>
              <a:rPr lang="de-DE"/>
              <a:t>Titelmasterformat durch Klicken bearbeiten</a:t>
            </a:r>
          </a:p>
        </p:txBody>
      </p:sp>
      <p:sp>
        <p:nvSpPr>
          <p:cNvPr id="3" name="Textplatzhalter 2"/>
          <p:cNvSpPr>
            <a:spLocks noGrp="1"/>
          </p:cNvSpPr>
          <p:nvPr>
            <p:ph type="body" sz="half" idx="1"/>
          </p:nvPr>
        </p:nvSpPr>
        <p:spPr>
          <a:xfrm>
            <a:off x="250825" y="2017713"/>
            <a:ext cx="8704263" cy="1981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250825" y="4151313"/>
            <a:ext cx="8704263" cy="1981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6" name="Foliennummernplatzhalter 5"/>
          <p:cNvSpPr>
            <a:spLocks noGrp="1"/>
          </p:cNvSpPr>
          <p:nvPr>
            <p:ph type="sldNum" sz="quarter" idx="11"/>
          </p:nvPr>
        </p:nvSpPr>
        <p:spPr>
          <a:xfrm>
            <a:off x="7042150" y="6243638"/>
            <a:ext cx="1905000" cy="457200"/>
          </a:xfrm>
        </p:spPr>
        <p:txBody>
          <a:bodyPr/>
          <a:lstStyle>
            <a:lvl1pPr>
              <a:defRPr/>
            </a:lvl1pPr>
          </a:lstStyle>
          <a:p>
            <a:pPr>
              <a:defRPr/>
            </a:pPr>
            <a:fld id="{A4203A62-1233-4A4C-955D-FABE4F9B2291}" type="slidenum">
              <a:rPr lang="de-DE"/>
              <a:pPr>
                <a:defRPr/>
              </a:pPr>
              <a:t>‹#›</a:t>
            </a:fld>
            <a:endParaRPr lang="de-DE"/>
          </a:p>
        </p:txBody>
      </p:sp>
    </p:spTree>
    <p:extLst>
      <p:ext uri="{BB962C8B-B14F-4D97-AF65-F5344CB8AC3E}">
        <p14:creationId xmlns:p14="http://schemas.microsoft.com/office/powerpoint/2010/main" val="31073435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ClipArt">
  <p:cSld name="Titel, Text und ClipArt">
    <p:spTree>
      <p:nvGrpSpPr>
        <p:cNvPr id="1" name=""/>
        <p:cNvGrpSpPr/>
        <p:nvPr/>
      </p:nvGrpSpPr>
      <p:grpSpPr>
        <a:xfrm>
          <a:off x="0" y="0"/>
          <a:ext cx="0" cy="0"/>
          <a:chOff x="0" y="0"/>
          <a:chExt cx="0" cy="0"/>
        </a:xfrm>
      </p:grpSpPr>
      <p:sp>
        <p:nvSpPr>
          <p:cNvPr id="2" name="Titel 1"/>
          <p:cNvSpPr>
            <a:spLocks noGrp="1"/>
          </p:cNvSpPr>
          <p:nvPr>
            <p:ph type="title"/>
          </p:nvPr>
        </p:nvSpPr>
        <p:spPr>
          <a:xfrm>
            <a:off x="1150938" y="214313"/>
            <a:ext cx="7793037" cy="1462087"/>
          </a:xfrm>
        </p:spPr>
        <p:txBody>
          <a:bodyPr/>
          <a:lstStyle/>
          <a:p>
            <a:r>
              <a:rPr lang="de-DE"/>
              <a:t>Titelmasterformat durch Klicken bearbeiten</a:t>
            </a:r>
          </a:p>
        </p:txBody>
      </p:sp>
      <p:sp>
        <p:nvSpPr>
          <p:cNvPr id="3" name="Textplatzhalter 2"/>
          <p:cNvSpPr>
            <a:spLocks noGrp="1"/>
          </p:cNvSpPr>
          <p:nvPr>
            <p:ph type="body" sz="half" idx="1"/>
          </p:nvPr>
        </p:nvSpPr>
        <p:spPr>
          <a:xfrm>
            <a:off x="250825" y="2017713"/>
            <a:ext cx="4275138" cy="41148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ClipArt-Platzhalter 3"/>
          <p:cNvSpPr>
            <a:spLocks noGrp="1"/>
          </p:cNvSpPr>
          <p:nvPr>
            <p:ph type="clipArt" sz="half" idx="2"/>
          </p:nvPr>
        </p:nvSpPr>
        <p:spPr>
          <a:xfrm>
            <a:off x="4678363" y="2017713"/>
            <a:ext cx="4276725" cy="4114800"/>
          </a:xfrm>
        </p:spPr>
        <p:txBody>
          <a:bodyPr>
            <a:normAutofit/>
          </a:bodyPr>
          <a:lstStyle/>
          <a:p>
            <a:pPr lvl="0"/>
            <a:endParaRPr lang="de-DE" noProof="0"/>
          </a:p>
        </p:txBody>
      </p:sp>
      <p:sp>
        <p:nvSpPr>
          <p:cNvPr id="5" name="Fußzeilenplatzhalter 4"/>
          <p:cNvSpPr>
            <a:spLocks noGrp="1"/>
          </p:cNvSpPr>
          <p:nvPr>
            <p:ph type="ftr" sz="quarter" idx="10"/>
          </p:nvPr>
        </p:nvSpPr>
        <p:spPr>
          <a:xfrm>
            <a:off x="3116263" y="6243638"/>
            <a:ext cx="2895600" cy="457200"/>
          </a:xfrm>
        </p:spPr>
        <p:txBody>
          <a:bodyPr/>
          <a:lstStyle>
            <a:lvl1pPr>
              <a:defRPr/>
            </a:lvl1pPr>
          </a:lstStyle>
          <a:p>
            <a:pPr>
              <a:defRPr/>
            </a:pPr>
            <a:endParaRPr lang="de-DE">
              <a:solidFill>
                <a:srgbClr val="464653"/>
              </a:solidFill>
            </a:endParaRPr>
          </a:p>
        </p:txBody>
      </p:sp>
      <p:sp>
        <p:nvSpPr>
          <p:cNvPr id="6" name="Foliennummernplatzhalter 5"/>
          <p:cNvSpPr>
            <a:spLocks noGrp="1"/>
          </p:cNvSpPr>
          <p:nvPr>
            <p:ph type="sldNum" sz="quarter" idx="11"/>
          </p:nvPr>
        </p:nvSpPr>
        <p:spPr>
          <a:xfrm>
            <a:off x="7042150" y="6243638"/>
            <a:ext cx="1905000" cy="457200"/>
          </a:xfrm>
        </p:spPr>
        <p:txBody>
          <a:bodyPr/>
          <a:lstStyle>
            <a:lvl1pPr>
              <a:defRPr/>
            </a:lvl1pPr>
          </a:lstStyle>
          <a:p>
            <a:pPr>
              <a:defRPr/>
            </a:pPr>
            <a:fld id="{9A05D395-2999-46F7-93A2-67091598DEB8}" type="slidenum">
              <a:rPr lang="de-DE"/>
              <a:pPr>
                <a:defRPr/>
              </a:pPr>
              <a:t>‹#›</a:t>
            </a:fld>
            <a:endParaRPr lang="de-DE"/>
          </a:p>
        </p:txBody>
      </p:sp>
    </p:spTree>
    <p:extLst>
      <p:ext uri="{BB962C8B-B14F-4D97-AF65-F5344CB8AC3E}">
        <p14:creationId xmlns:p14="http://schemas.microsoft.com/office/powerpoint/2010/main" val="1070793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Gerade Verbindung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eaLnBrk="1" hangingPunct="1">
              <a:defRPr/>
            </a:pPr>
            <a:endParaRPr lang="en-US" b="0" dirty="0">
              <a:solidFill>
                <a:prstClr val="black"/>
              </a:solidFill>
            </a:endParaRPr>
          </a:p>
        </p:txBody>
      </p:sp>
      <p:sp>
        <p:nvSpPr>
          <p:cNvPr id="22" name="Titelplatzhalter 21"/>
          <p:cNvSpPr>
            <a:spLocks noGrp="1"/>
          </p:cNvSpPr>
          <p:nvPr>
            <p:ph type="title"/>
          </p:nvPr>
        </p:nvSpPr>
        <p:spPr>
          <a:xfrm>
            <a:off x="457200" y="274638"/>
            <a:ext cx="7467600" cy="1143000"/>
          </a:xfrm>
          <a:prstGeom prst="rect">
            <a:avLst/>
          </a:prstGeom>
        </p:spPr>
        <p:txBody>
          <a:bodyPr vert="horz" anchor="b">
            <a:normAutofit/>
          </a:bodyPr>
          <a:lstStyle/>
          <a:p>
            <a:r>
              <a:rPr lang="de-DE" dirty="0"/>
              <a:t>Titelmasterformat durch Klicken bearbeiten</a:t>
            </a:r>
            <a:endParaRPr lang="en-US" dirty="0"/>
          </a:p>
        </p:txBody>
      </p:sp>
      <p:sp>
        <p:nvSpPr>
          <p:cNvPr id="1028" name="Textplatzhalter 12"/>
          <p:cNvSpPr>
            <a:spLocks noGrp="1"/>
          </p:cNvSpPr>
          <p:nvPr>
            <p:ph type="body" idx="1"/>
          </p:nvPr>
        </p:nvSpPr>
        <p:spPr bwMode="auto">
          <a:xfrm>
            <a:off x="457200" y="1600200"/>
            <a:ext cx="7467600" cy="487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4" name="Datumsplatzhalter 13"/>
          <p:cNvSpPr>
            <a:spLocks noGrp="1"/>
          </p:cNvSpPr>
          <p:nvPr>
            <p:ph type="dt" sz="half" idx="2"/>
          </p:nvPr>
        </p:nvSpPr>
        <p:spPr>
          <a:xfrm rot="5400000">
            <a:off x="7589045" y="1081881"/>
            <a:ext cx="2011362" cy="384175"/>
          </a:xfrm>
          <a:prstGeom prst="rect">
            <a:avLst/>
          </a:prstGeom>
        </p:spPr>
        <p:txBody>
          <a:bodyPr vert="horz" anchor="ctr" anchorCtr="0"/>
          <a:lstStyle>
            <a:lvl1pPr algn="r" eaLnBrk="1" latinLnBrk="0" hangingPunct="1">
              <a:defRPr kumimoji="0" sz="1200">
                <a:solidFill>
                  <a:schemeClr val="tx2"/>
                </a:solidFill>
              </a:defRPr>
            </a:lvl1pPr>
          </a:lstStyle>
          <a:p>
            <a:pPr>
              <a:defRPr/>
            </a:pPr>
            <a:fld id="{D4186DAE-0811-49CA-B507-F48A2B2A4134}" type="datetimeFigureOut">
              <a:rPr lang="en-US" b="0">
                <a:solidFill>
                  <a:srgbClr val="464653"/>
                </a:solidFill>
              </a:rPr>
              <a:pPr>
                <a:defRPr/>
              </a:pPr>
              <a:t>9/22/26</a:t>
            </a:fld>
            <a:endParaRPr lang="en-US" b="0" dirty="0">
              <a:solidFill>
                <a:srgbClr val="464653"/>
              </a:solidFill>
            </a:endParaRPr>
          </a:p>
        </p:txBody>
      </p:sp>
      <p:sp>
        <p:nvSpPr>
          <p:cNvPr id="3" name="Fußzeilenplatzhalter 2"/>
          <p:cNvSpPr>
            <a:spLocks noGrp="1"/>
          </p:cNvSpPr>
          <p:nvPr>
            <p:ph type="ftr" sz="quarter" idx="3"/>
          </p:nvPr>
        </p:nvSpPr>
        <p:spPr>
          <a:xfrm rot="5400000">
            <a:off x="6989763" y="3736975"/>
            <a:ext cx="3200400" cy="365125"/>
          </a:xfrm>
          <a:prstGeom prst="rect">
            <a:avLst/>
          </a:prstGeom>
        </p:spPr>
        <p:txBody>
          <a:bodyPr vert="horz" anchor="ctr" anchorCtr="0"/>
          <a:lstStyle>
            <a:lvl1pPr algn="l" eaLnBrk="1" latinLnBrk="0" hangingPunct="1">
              <a:defRPr kumimoji="0" sz="1200">
                <a:solidFill>
                  <a:schemeClr val="tx2"/>
                </a:solidFill>
              </a:defRPr>
            </a:lvl1pPr>
          </a:lstStyle>
          <a:p>
            <a:pPr>
              <a:defRPr/>
            </a:pPr>
            <a:endParaRPr lang="de-DE" b="0">
              <a:solidFill>
                <a:srgbClr val="464653"/>
              </a:solidFill>
            </a:endParaRPr>
          </a:p>
        </p:txBody>
      </p:sp>
      <p:sp>
        <p:nvSpPr>
          <p:cNvPr id="7" name="Gerade Verbindung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b="0">
              <a:solidFill>
                <a:prstClr val="black"/>
              </a:solidFill>
            </a:endParaRPr>
          </a:p>
        </p:txBody>
      </p:sp>
      <p:sp>
        <p:nvSpPr>
          <p:cNvPr id="1032" name="Gerade Verbindung 8"/>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10" name="Rechteck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a:solidFill>
                <a:prstClr val="white"/>
              </a:solidFill>
            </a:endParaRPr>
          </a:p>
        </p:txBody>
      </p:sp>
      <p:sp>
        <p:nvSpPr>
          <p:cNvPr id="1034" name="Gerade Verbindung 10"/>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pPr eaLnBrk="1" hangingPunct="1"/>
            <a:endParaRPr lang="de-DE" b="0">
              <a:solidFill>
                <a:prstClr val="black"/>
              </a:solidFill>
            </a:endParaRPr>
          </a:p>
        </p:txBody>
      </p:sp>
      <p:sp>
        <p:nvSpPr>
          <p:cNvPr id="12" name="Ellipse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b="0" dirty="0">
              <a:solidFill>
                <a:prstClr val="white"/>
              </a:solidFill>
            </a:endParaRPr>
          </a:p>
        </p:txBody>
      </p:sp>
      <p:sp>
        <p:nvSpPr>
          <p:cNvPr id="23" name="Foliennummernplatzhalter 22"/>
          <p:cNvSpPr>
            <a:spLocks noGrp="1"/>
          </p:cNvSpPr>
          <p:nvPr>
            <p:ph type="sldNum" sz="quarter" idx="4"/>
          </p:nvPr>
        </p:nvSpPr>
        <p:spPr>
          <a:xfrm>
            <a:off x="8129588" y="5734050"/>
            <a:ext cx="609600" cy="520700"/>
          </a:xfrm>
          <a:prstGeom prst="rect">
            <a:avLst/>
          </a:prstGeom>
        </p:spPr>
        <p:txBody>
          <a:bodyPr vert="horz" anchor="ctr"/>
          <a:lstStyle>
            <a:lvl1pPr algn="ctr" eaLnBrk="1" latinLnBrk="0" hangingPunct="1">
              <a:defRPr kumimoji="0" sz="1400" b="1">
                <a:solidFill>
                  <a:srgbClr val="FFFFFF"/>
                </a:solidFill>
              </a:defRPr>
            </a:lvl1pPr>
          </a:lstStyle>
          <a:p>
            <a:pPr>
              <a:defRPr/>
            </a:pPr>
            <a:fld id="{2C1B35C4-6AEB-490B-B369-3E9B8FA4D091}" type="slidenum">
              <a:rPr lang="de-DE"/>
              <a:pPr>
                <a:defRPr/>
              </a:pPr>
              <a:t>‹#›</a:t>
            </a:fld>
            <a:endParaRPr lang="de-DE"/>
          </a:p>
        </p:txBody>
      </p:sp>
    </p:spTree>
    <p:extLst>
      <p:ext uri="{BB962C8B-B14F-4D97-AF65-F5344CB8AC3E}">
        <p14:creationId xmlns:p14="http://schemas.microsoft.com/office/powerpoint/2010/main" val="2107695482"/>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 id="2147483784" r:id="rId15"/>
    <p:sldLayoutId id="2147483785" r:id="rId16"/>
  </p:sldLayoutIdLst>
  <p:hf hdr="0" ftr="0" dt="0"/>
  <p:txStyles>
    <p:titleStyle>
      <a:lvl1pPr algn="l" rtl="0" eaLnBrk="0" fontAlgn="base" hangingPunct="0">
        <a:spcBef>
          <a:spcPct val="0"/>
        </a:spcBef>
        <a:spcAft>
          <a:spcPct val="0"/>
        </a:spcAft>
        <a:defRPr sz="3000" kern="1200" cap="small">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Century Schoolbook"/>
        </a:defRPr>
      </a:lvl2pPr>
      <a:lvl3pPr algn="l" rtl="0" eaLnBrk="0" fontAlgn="base" hangingPunct="0">
        <a:spcBef>
          <a:spcPct val="0"/>
        </a:spcBef>
        <a:spcAft>
          <a:spcPct val="0"/>
        </a:spcAft>
        <a:defRPr sz="3000">
          <a:solidFill>
            <a:schemeClr val="tx2"/>
          </a:solidFill>
          <a:latin typeface="Century Schoolbook"/>
        </a:defRPr>
      </a:lvl3pPr>
      <a:lvl4pPr algn="l" rtl="0" eaLnBrk="0" fontAlgn="base" hangingPunct="0">
        <a:spcBef>
          <a:spcPct val="0"/>
        </a:spcBef>
        <a:spcAft>
          <a:spcPct val="0"/>
        </a:spcAft>
        <a:defRPr sz="3000">
          <a:solidFill>
            <a:schemeClr val="tx2"/>
          </a:solidFill>
          <a:latin typeface="Century Schoolbook"/>
        </a:defRPr>
      </a:lvl4pPr>
      <a:lvl5pPr algn="l" rtl="0" eaLnBrk="0" fontAlgn="base" hangingPunct="0">
        <a:spcBef>
          <a:spcPct val="0"/>
        </a:spcBef>
        <a:spcAft>
          <a:spcPct val="0"/>
        </a:spcAft>
        <a:defRPr sz="3000">
          <a:solidFill>
            <a:schemeClr val="tx2"/>
          </a:solidFill>
          <a:latin typeface="Century Schoolbook"/>
        </a:defRPr>
      </a:lvl5pPr>
      <a:lvl6pPr marL="457200" algn="l" rtl="0" fontAlgn="base">
        <a:spcBef>
          <a:spcPct val="0"/>
        </a:spcBef>
        <a:spcAft>
          <a:spcPct val="0"/>
        </a:spcAft>
        <a:defRPr sz="3000">
          <a:solidFill>
            <a:schemeClr val="tx2"/>
          </a:solidFill>
          <a:latin typeface="Century Schoolbook"/>
        </a:defRPr>
      </a:lvl6pPr>
      <a:lvl7pPr marL="914400" algn="l" rtl="0" fontAlgn="base">
        <a:spcBef>
          <a:spcPct val="0"/>
        </a:spcBef>
        <a:spcAft>
          <a:spcPct val="0"/>
        </a:spcAft>
        <a:defRPr sz="3000">
          <a:solidFill>
            <a:schemeClr val="tx2"/>
          </a:solidFill>
          <a:latin typeface="Century Schoolbook"/>
        </a:defRPr>
      </a:lvl7pPr>
      <a:lvl8pPr marL="1371600" algn="l" rtl="0" fontAlgn="base">
        <a:spcBef>
          <a:spcPct val="0"/>
        </a:spcBef>
        <a:spcAft>
          <a:spcPct val="0"/>
        </a:spcAft>
        <a:defRPr sz="3000">
          <a:solidFill>
            <a:schemeClr val="tx2"/>
          </a:solidFill>
          <a:latin typeface="Century Schoolbook"/>
        </a:defRPr>
      </a:lvl8pPr>
      <a:lvl9pPr marL="1828800" algn="l" rtl="0" fontAlgn="base">
        <a:spcBef>
          <a:spcPct val="0"/>
        </a:spcBef>
        <a:spcAft>
          <a:spcPct val="0"/>
        </a:spcAft>
        <a:defRPr sz="3000">
          <a:solidFill>
            <a:schemeClr val="tx2"/>
          </a:solidFill>
          <a:latin typeface="Century Schoolbook"/>
        </a:defRPr>
      </a:lvl9pPr>
    </p:titleStyle>
    <p:bodyStyle>
      <a:lvl1pPr marL="273050" indent="-273050" algn="l" rtl="0" eaLnBrk="0" fontAlgn="base" hangingPunct="0">
        <a:spcBef>
          <a:spcPts val="600"/>
        </a:spcBef>
        <a:spcAft>
          <a:spcPct val="0"/>
        </a:spcAft>
        <a:buClr>
          <a:schemeClr val="accent1"/>
        </a:buClr>
        <a:buSzPct val="70000"/>
        <a:buFont typeface="Wingdings" pitchFamily="2"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646C8F"/>
        </a:buClr>
        <a:buSzPct val="60000"/>
        <a:buFont typeface="Wingdings" pitchFamily="2" charset="2"/>
        <a:buChar char=""/>
        <a:defRPr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BCBFCE"/>
        </a:buClr>
        <a:buSzPct val="60000"/>
        <a:buFont typeface="Wingdings" pitchFamily="2" charset="2"/>
        <a:buChar char=""/>
        <a:defRPr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CDD8E3"/>
        </a:buClr>
        <a:buSzPct val="68000"/>
        <a:buFont typeface="Wingdings 2"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83568" y="260648"/>
            <a:ext cx="7467600" cy="922114"/>
          </a:xfrm>
        </p:spPr>
        <p:txBody>
          <a:bodyPr anchor="ctr"/>
          <a:lstStyle/>
          <a:p>
            <a:r>
              <a:rPr lang="de-DE" dirty="0"/>
              <a:t>Fallstudie</a:t>
            </a:r>
          </a:p>
        </p:txBody>
      </p:sp>
      <p:sp>
        <p:nvSpPr>
          <p:cNvPr id="3" name="Inhaltsplatzhalter 2"/>
          <p:cNvSpPr>
            <a:spLocks noGrp="1"/>
          </p:cNvSpPr>
          <p:nvPr>
            <p:ph sz="quarter" idx="1"/>
          </p:nvPr>
        </p:nvSpPr>
        <p:spPr/>
        <p:txBody>
          <a:bodyPr>
            <a:normAutofit fontScale="70000" lnSpcReduction="20000"/>
          </a:bodyPr>
          <a:lstStyle/>
          <a:p>
            <a:pPr marL="457200" indent="-457200">
              <a:buSzPct val="100000"/>
              <a:buFont typeface="+mj-lt"/>
              <a:buAutoNum type="arabicPeriod"/>
            </a:pPr>
            <a:r>
              <a:rPr lang="de-DE" dirty="0"/>
              <a:t>Komplexes Unterrichtsverfahren</a:t>
            </a:r>
          </a:p>
          <a:p>
            <a:pPr marL="457200" indent="-457200">
              <a:buSzPct val="100000"/>
              <a:buFont typeface="+mj-lt"/>
              <a:buAutoNum type="arabicPeriod"/>
            </a:pPr>
            <a:r>
              <a:rPr lang="de-DE" dirty="0"/>
              <a:t>Problemlösungskonzept steht im Vordergrund</a:t>
            </a:r>
          </a:p>
          <a:p>
            <a:pPr marL="457200" indent="-457200">
              <a:buSzPct val="100000"/>
              <a:buFont typeface="+mj-lt"/>
              <a:buAutoNum type="arabicPeriod"/>
            </a:pPr>
            <a:r>
              <a:rPr lang="de-DE" dirty="0"/>
              <a:t>Problemsituation meist aus der Praxis</a:t>
            </a:r>
          </a:p>
          <a:p>
            <a:pPr marL="457200" indent="-457200">
              <a:buSzPct val="100000"/>
              <a:buFont typeface="+mj-lt"/>
              <a:buAutoNum type="arabicPeriod"/>
            </a:pPr>
            <a:r>
              <a:rPr lang="de-DE" dirty="0"/>
              <a:t>Die Lernenden müssen die Problemsituation selbstständig analysieren und in Gruppenarbeit Problemlösungen erarbeiten</a:t>
            </a:r>
          </a:p>
          <a:p>
            <a:pPr marL="457200" indent="-457200">
              <a:buSzPct val="100000"/>
              <a:buFont typeface="+mj-lt"/>
              <a:buAutoNum type="arabicPeriod"/>
            </a:pPr>
            <a:r>
              <a:rPr lang="de-DE" dirty="0"/>
              <a:t>Die unterschiedlichen Problemlösungen sollten einem kritischen Vergleich unterzogen werden</a:t>
            </a:r>
          </a:p>
          <a:p>
            <a:pPr marL="457200" indent="-457200">
              <a:buSzPct val="100000"/>
              <a:buFont typeface="+mj-lt"/>
              <a:buAutoNum type="arabicPeriod"/>
            </a:pPr>
            <a:endParaRPr lang="de-DE" dirty="0"/>
          </a:p>
          <a:p>
            <a:pPr marL="0" indent="0">
              <a:buSzPct val="100000"/>
              <a:buNone/>
            </a:pPr>
            <a:r>
              <a:rPr lang="de-DE" b="1" dirty="0"/>
              <a:t>Phasen der Fallbearbeitung</a:t>
            </a:r>
          </a:p>
          <a:p>
            <a:pPr>
              <a:buSzPct val="100000"/>
            </a:pPr>
            <a:r>
              <a:rPr lang="de-DE" dirty="0"/>
              <a:t>Problemerkennung</a:t>
            </a:r>
          </a:p>
          <a:p>
            <a:r>
              <a:rPr lang="de-DE" dirty="0"/>
              <a:t>Informationsgewinnung</a:t>
            </a:r>
          </a:p>
          <a:p>
            <a:r>
              <a:rPr lang="de-DE" dirty="0"/>
              <a:t>Problemlösung</a:t>
            </a:r>
          </a:p>
          <a:p>
            <a:pPr lvl="1">
              <a:buSzPct val="100000"/>
            </a:pPr>
            <a:r>
              <a:rPr lang="de-DE" dirty="0"/>
              <a:t>Suche nach unterschiedlichen Lösungsalternativen</a:t>
            </a:r>
          </a:p>
          <a:p>
            <a:pPr lvl="1">
              <a:buSzPct val="100000"/>
            </a:pPr>
            <a:r>
              <a:rPr lang="de-DE" dirty="0"/>
              <a:t>Begründete Entscheidung für eine Lösungsvariante</a:t>
            </a:r>
          </a:p>
          <a:p>
            <a:r>
              <a:rPr lang="de-DE" dirty="0"/>
              <a:t>Lösungskritik</a:t>
            </a:r>
          </a:p>
          <a:p>
            <a:pPr lvl="1">
              <a:buSzPct val="100000"/>
            </a:pPr>
            <a:r>
              <a:rPr lang="de-DE" dirty="0"/>
              <a:t>Diskussion der Gruppenergebnisse</a:t>
            </a:r>
          </a:p>
          <a:p>
            <a:pPr lvl="1">
              <a:buSzPct val="100000"/>
            </a:pPr>
            <a:r>
              <a:rPr lang="de-DE" dirty="0"/>
              <a:t>Vergleich mit der realen Problemlösung</a:t>
            </a:r>
          </a:p>
          <a:p>
            <a:pPr marL="457200" indent="-457200">
              <a:buSzPct val="100000"/>
              <a:buFont typeface="+mj-lt"/>
              <a:buAutoNum type="arabicPeriod"/>
            </a:pPr>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1</a:t>
            </a:fld>
            <a:endParaRPr lang="de-DE"/>
          </a:p>
        </p:txBody>
      </p:sp>
    </p:spTree>
    <p:extLst>
      <p:ext uri="{BB962C8B-B14F-4D97-AF65-F5344CB8AC3E}">
        <p14:creationId xmlns:p14="http://schemas.microsoft.com/office/powerpoint/2010/main" val="2980452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Varianten der Arbeit mit Fallstudien nach KAISER</a:t>
            </a:r>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2</a:t>
            </a:fld>
            <a:endParaRPr lang="de-DE"/>
          </a:p>
        </p:txBody>
      </p:sp>
      <p:graphicFrame>
        <p:nvGraphicFramePr>
          <p:cNvPr id="5" name="Group 80"/>
          <p:cNvGraphicFramePr>
            <a:graphicFrameLocks noGrp="1"/>
          </p:cNvGraphicFramePr>
          <p:nvPr/>
        </p:nvGraphicFramePr>
        <p:xfrm>
          <a:off x="323528" y="1412776"/>
          <a:ext cx="8352928" cy="5379378"/>
        </p:xfrm>
        <a:graphic>
          <a:graphicData uri="http://schemas.openxmlformats.org/drawingml/2006/table">
            <a:tbl>
              <a:tblPr/>
              <a:tblGrid>
                <a:gridCol w="1323236">
                  <a:extLst>
                    <a:ext uri="{9D8B030D-6E8A-4147-A177-3AD203B41FA5}">
                      <a16:colId xmlns:a16="http://schemas.microsoft.com/office/drawing/2014/main" val="20000"/>
                    </a:ext>
                  </a:extLst>
                </a:gridCol>
                <a:gridCol w="1736748">
                  <a:extLst>
                    <a:ext uri="{9D8B030D-6E8A-4147-A177-3AD203B41FA5}">
                      <a16:colId xmlns:a16="http://schemas.microsoft.com/office/drawing/2014/main" val="20001"/>
                    </a:ext>
                  </a:extLst>
                </a:gridCol>
                <a:gridCol w="2017591">
                  <a:extLst>
                    <a:ext uri="{9D8B030D-6E8A-4147-A177-3AD203B41FA5}">
                      <a16:colId xmlns:a16="http://schemas.microsoft.com/office/drawing/2014/main" val="20002"/>
                    </a:ext>
                  </a:extLst>
                </a:gridCol>
                <a:gridCol w="1621308">
                  <a:extLst>
                    <a:ext uri="{9D8B030D-6E8A-4147-A177-3AD203B41FA5}">
                      <a16:colId xmlns:a16="http://schemas.microsoft.com/office/drawing/2014/main" val="20003"/>
                    </a:ext>
                  </a:extLst>
                </a:gridCol>
                <a:gridCol w="1654045">
                  <a:extLst>
                    <a:ext uri="{9D8B030D-6E8A-4147-A177-3AD203B41FA5}">
                      <a16:colId xmlns:a16="http://schemas.microsoft.com/office/drawing/2014/main" val="20004"/>
                    </a:ext>
                  </a:extLst>
                </a:gridCol>
              </a:tblGrid>
              <a:tr h="50116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1" i="0" u="none" strike="noStrike" cap="none" normalizeH="0" baseline="0" dirty="0">
                          <a:ln>
                            <a:noFill/>
                          </a:ln>
                          <a:solidFill>
                            <a:schemeClr val="accent1"/>
                          </a:solidFill>
                          <a:effectLst/>
                          <a:latin typeface="Arial Narrow" pitchFamily="34" charset="0"/>
                        </a:rPr>
                        <a:t>Methode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1" i="0" u="none" strike="noStrike" cap="none" normalizeH="0" baseline="0" dirty="0">
                          <a:ln>
                            <a:noFill/>
                          </a:ln>
                          <a:solidFill>
                            <a:schemeClr val="accent1"/>
                          </a:solidFill>
                          <a:effectLst/>
                          <a:latin typeface="Arial Narrow" pitchFamily="34" charset="0"/>
                        </a:rPr>
                        <a:t>Problemerkennung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1" i="0" u="none" strike="noStrike" cap="none" normalizeH="0" baseline="0" dirty="0">
                          <a:ln>
                            <a:noFill/>
                          </a:ln>
                          <a:solidFill>
                            <a:schemeClr val="accent1"/>
                          </a:solidFill>
                          <a:effectLst/>
                          <a:latin typeface="Arial Narrow" pitchFamily="34" charset="0"/>
                        </a:rPr>
                        <a:t>Informationsgewinnung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1" i="0" u="none" strike="noStrike" cap="none" normalizeH="0" baseline="0" dirty="0">
                          <a:ln>
                            <a:noFill/>
                          </a:ln>
                          <a:solidFill>
                            <a:schemeClr val="accent1"/>
                          </a:solidFill>
                          <a:effectLst/>
                          <a:latin typeface="Arial Narrow" pitchFamily="34" charset="0"/>
                        </a:rPr>
                        <a:t>Problemlösung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1" i="0" u="none" strike="noStrike" cap="none" normalizeH="0" baseline="0" dirty="0">
                          <a:ln>
                            <a:noFill/>
                          </a:ln>
                          <a:solidFill>
                            <a:schemeClr val="accent1"/>
                          </a:solidFill>
                          <a:effectLst/>
                          <a:latin typeface="Arial Narrow" pitchFamily="34" charset="0"/>
                        </a:rPr>
                        <a:t>Lösungskritik</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5372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1" i="0" u="none" strike="noStrike" cap="none" normalizeH="0" baseline="0" dirty="0">
                          <a:ln>
                            <a:noFill/>
                          </a:ln>
                          <a:solidFill>
                            <a:schemeClr val="accent1"/>
                          </a:solidFill>
                          <a:effectLst/>
                          <a:latin typeface="Arial Narrow" pitchFamily="34" charset="0"/>
                        </a:rPr>
                        <a:t>Case-Study-</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1" i="0" u="none" strike="noStrike" cap="none" normalizeH="0" baseline="0" dirty="0" err="1">
                          <a:ln>
                            <a:noFill/>
                          </a:ln>
                          <a:solidFill>
                            <a:schemeClr val="accent1"/>
                          </a:solidFill>
                          <a:effectLst/>
                          <a:latin typeface="Arial Narrow" pitchFamily="34" charset="0"/>
                        </a:rPr>
                        <a:t>Method</a:t>
                      </a:r>
                      <a:endParaRPr kumimoji="0" lang="de-DE" sz="1400" b="1" i="0" u="none" strike="noStrike" cap="none" normalizeH="0" baseline="0" dirty="0">
                        <a:ln>
                          <a:noFill/>
                        </a:ln>
                        <a:solidFill>
                          <a:schemeClr val="accent1"/>
                        </a:solidFill>
                        <a:effectLst/>
                        <a:latin typeface="Arial Narrow"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1" i="0" u="none" strike="noStrike" cap="none" normalizeH="0" baseline="0">
                          <a:ln>
                            <a:noFill/>
                          </a:ln>
                          <a:solidFill>
                            <a:srgbClr val="FF0000"/>
                          </a:solidFill>
                          <a:effectLst/>
                          <a:latin typeface="Arial Narrow" pitchFamily="34" charset="0"/>
                        </a:rPr>
                        <a:t>Schwerpunkt: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0" i="0" u="none" strike="noStrike" cap="none" normalizeH="0" baseline="0">
                          <a:ln>
                            <a:noFill/>
                          </a:ln>
                          <a:solidFill>
                            <a:schemeClr val="tx1"/>
                          </a:solidFill>
                          <a:effectLst/>
                          <a:latin typeface="Arial Narrow" pitchFamily="34" charset="0"/>
                        </a:rPr>
                        <a:t>Verborgene Probleme müssen analysiert werden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0" i="0" u="none" strike="noStrike" cap="none" normalizeH="0" baseline="0">
                          <a:ln>
                            <a:noFill/>
                          </a:ln>
                          <a:solidFill>
                            <a:schemeClr val="tx1"/>
                          </a:solidFill>
                          <a:effectLst/>
                          <a:latin typeface="Arial Narrow" pitchFamily="34" charset="0"/>
                        </a:rPr>
                        <a:t>Informationen werden gegeben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0" i="0" u="none" strike="noStrike" cap="none" normalizeH="0" baseline="0" dirty="0">
                          <a:ln>
                            <a:noFill/>
                          </a:ln>
                          <a:solidFill>
                            <a:schemeClr val="tx1"/>
                          </a:solidFill>
                          <a:effectLst/>
                          <a:latin typeface="Arial Narrow" pitchFamily="34" charset="0"/>
                        </a:rPr>
                        <a:t>Lösungsvarianten des Problems werden ermittelt und Entscheidungen gefällt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0" i="0" u="none" strike="noStrike" cap="none" normalizeH="0" baseline="0" dirty="0">
                          <a:ln>
                            <a:noFill/>
                          </a:ln>
                          <a:solidFill>
                            <a:schemeClr val="tx1"/>
                          </a:solidFill>
                          <a:effectLst/>
                          <a:latin typeface="Arial Narrow" pitchFamily="34" charset="0"/>
                        </a:rPr>
                        <a:t>Vergleich der Lösung mit der Entscheidung in der Wirklichkeit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519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1" i="0" u="none" strike="noStrike" cap="none" normalizeH="0" baseline="0" dirty="0">
                          <a:ln>
                            <a:noFill/>
                          </a:ln>
                          <a:solidFill>
                            <a:schemeClr val="accent1"/>
                          </a:solidFill>
                          <a:effectLst/>
                          <a:latin typeface="Arial Narrow" pitchFamily="34" charset="0"/>
                        </a:rPr>
                        <a:t>Case-Problem-</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1" i="0" u="none" strike="noStrike" cap="none" normalizeH="0" baseline="0" dirty="0" err="1">
                          <a:ln>
                            <a:noFill/>
                          </a:ln>
                          <a:solidFill>
                            <a:schemeClr val="accent1"/>
                          </a:solidFill>
                          <a:effectLst/>
                          <a:latin typeface="Arial Narrow" pitchFamily="34" charset="0"/>
                        </a:rPr>
                        <a:t>Method</a:t>
                      </a:r>
                      <a:endParaRPr kumimoji="0" lang="de-DE" sz="1400" b="1" i="0" u="none" strike="noStrike" cap="none" normalizeH="0" baseline="0" dirty="0">
                        <a:ln>
                          <a:noFill/>
                        </a:ln>
                        <a:solidFill>
                          <a:schemeClr val="accent1"/>
                        </a:solidFill>
                        <a:effectLst/>
                        <a:latin typeface="Arial Narrow"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0" i="0" u="none" strike="noStrike" cap="none" normalizeH="0" baseline="0">
                          <a:ln>
                            <a:noFill/>
                          </a:ln>
                          <a:solidFill>
                            <a:schemeClr val="tx1"/>
                          </a:solidFill>
                          <a:effectLst/>
                          <a:latin typeface="Arial Narrow" pitchFamily="34" charset="0"/>
                        </a:rPr>
                        <a:t>Probleme sind ausdrücklich genannt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0" i="0" u="none" strike="noStrike" cap="none" normalizeH="0" baseline="0">
                          <a:ln>
                            <a:noFill/>
                          </a:ln>
                          <a:solidFill>
                            <a:schemeClr val="tx1"/>
                          </a:solidFill>
                          <a:effectLst/>
                          <a:latin typeface="Arial Narrow" pitchFamily="34" charset="0"/>
                        </a:rPr>
                        <a:t>Informationen werden gegeben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1" i="0" u="none" strike="noStrike" cap="none" normalizeH="0" baseline="0" dirty="0">
                          <a:ln>
                            <a:noFill/>
                          </a:ln>
                          <a:solidFill>
                            <a:srgbClr val="FF0000"/>
                          </a:solidFill>
                          <a:effectLst/>
                          <a:latin typeface="Arial Narrow" pitchFamily="34" charset="0"/>
                        </a:rPr>
                        <a:t>Schwerpunkt: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0" i="0" u="none" strike="noStrike" cap="none" normalizeH="0" baseline="0" dirty="0">
                          <a:ln>
                            <a:noFill/>
                          </a:ln>
                          <a:solidFill>
                            <a:schemeClr val="tx1"/>
                          </a:solidFill>
                          <a:effectLst/>
                          <a:latin typeface="Arial Narrow" pitchFamily="34" charset="0"/>
                        </a:rPr>
                        <a:t>Lösungsvarianten des Problems werden ermittelt und Entscheidungen gefällt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0" i="0" u="none" strike="noStrike" cap="none" normalizeH="0" baseline="0">
                          <a:ln>
                            <a:noFill/>
                          </a:ln>
                          <a:solidFill>
                            <a:schemeClr val="tx1"/>
                          </a:solidFill>
                          <a:effectLst/>
                          <a:latin typeface="Arial Narrow" pitchFamily="34" charset="0"/>
                        </a:rPr>
                        <a:t>Vergleich der Lösung mit der Entscheidung in der Wirklichkeit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15372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1" i="0" u="none" strike="noStrike" cap="none" normalizeH="0" baseline="0" dirty="0">
                          <a:ln>
                            <a:noFill/>
                          </a:ln>
                          <a:solidFill>
                            <a:schemeClr val="accent1"/>
                          </a:solidFill>
                          <a:effectLst/>
                          <a:latin typeface="Arial Narrow" pitchFamily="34" charset="0"/>
                        </a:rPr>
                        <a:t>Case-</a:t>
                      </a:r>
                      <a:r>
                        <a:rPr kumimoji="0" lang="de-DE" sz="1400" b="1" i="0" u="none" strike="noStrike" cap="none" normalizeH="0" baseline="0" dirty="0" err="1">
                          <a:ln>
                            <a:noFill/>
                          </a:ln>
                          <a:solidFill>
                            <a:schemeClr val="accent1"/>
                          </a:solidFill>
                          <a:effectLst/>
                          <a:latin typeface="Arial Narrow" pitchFamily="34" charset="0"/>
                        </a:rPr>
                        <a:t>Incident</a:t>
                      </a:r>
                      <a:r>
                        <a:rPr kumimoji="0" lang="de-DE" sz="1400" b="1" i="0" u="none" strike="noStrike" cap="none" normalizeH="0" baseline="0" dirty="0">
                          <a:ln>
                            <a:noFill/>
                          </a:ln>
                          <a:solidFill>
                            <a:schemeClr val="accent1"/>
                          </a:solidFill>
                          <a:effectLst/>
                          <a:latin typeface="Arial Narrow" pitchFamily="34" charset="0"/>
                        </a:rPr>
                        <a: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1" i="0" u="none" strike="noStrike" cap="none" normalizeH="0" baseline="0" dirty="0" err="1">
                          <a:ln>
                            <a:noFill/>
                          </a:ln>
                          <a:solidFill>
                            <a:schemeClr val="accent1"/>
                          </a:solidFill>
                          <a:effectLst/>
                          <a:latin typeface="Arial Narrow" pitchFamily="34" charset="0"/>
                        </a:rPr>
                        <a:t>Method</a:t>
                      </a:r>
                      <a:endParaRPr kumimoji="0" lang="de-DE" sz="1400" b="1" i="0" u="none" strike="noStrike" cap="none" normalizeH="0" baseline="0" dirty="0">
                        <a:ln>
                          <a:noFill/>
                        </a:ln>
                        <a:solidFill>
                          <a:schemeClr val="accent1"/>
                        </a:solidFill>
                        <a:effectLst/>
                        <a:latin typeface="Arial Narrow"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0" i="0" u="none" strike="noStrike" cap="none" normalizeH="0" baseline="0">
                          <a:ln>
                            <a:noFill/>
                          </a:ln>
                          <a:solidFill>
                            <a:schemeClr val="tx1"/>
                          </a:solidFill>
                          <a:effectLst/>
                          <a:latin typeface="Arial Narrow" pitchFamily="34" charset="0"/>
                        </a:rPr>
                        <a:t>Der Fall wird lückenhaft dargestellt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1" i="0" u="none" strike="noStrike" cap="none" normalizeH="0" baseline="0">
                          <a:ln>
                            <a:noFill/>
                          </a:ln>
                          <a:solidFill>
                            <a:srgbClr val="FF0000"/>
                          </a:solidFill>
                          <a:effectLst/>
                          <a:latin typeface="Arial Narrow" pitchFamily="34" charset="0"/>
                        </a:rPr>
                        <a:t>Schwerpunkt: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0" i="0" u="none" strike="noStrike" cap="none" normalizeH="0" baseline="0">
                          <a:ln>
                            <a:noFill/>
                          </a:ln>
                          <a:solidFill>
                            <a:schemeClr val="tx1"/>
                          </a:solidFill>
                          <a:effectLst/>
                          <a:latin typeface="Arial Narrow" pitchFamily="34" charset="0"/>
                        </a:rPr>
                        <a:t>Informationen müssen selbstständig beschafft werden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0" i="0" u="none" strike="noStrike" cap="none" normalizeH="0" baseline="0">
                          <a:ln>
                            <a:noFill/>
                          </a:ln>
                          <a:solidFill>
                            <a:schemeClr val="tx1"/>
                          </a:solidFill>
                          <a:effectLst/>
                          <a:latin typeface="Arial Narrow" pitchFamily="34" charset="0"/>
                        </a:rPr>
                        <a:t>Lösungsvarianten werden ermittelt. Der Fall wird gelöst.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de-DE" sz="1400" b="0" i="0" u="none" strike="noStrike" cap="none" normalizeH="0" baseline="0">
                        <a:ln>
                          <a:noFill/>
                        </a:ln>
                        <a:solidFill>
                          <a:schemeClr val="tx1"/>
                        </a:solidFill>
                        <a:effectLst/>
                        <a:latin typeface="Arial Narrow"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1519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1" i="0" u="none" strike="noStrike" cap="none" normalizeH="0" baseline="0" dirty="0" err="1">
                          <a:ln>
                            <a:noFill/>
                          </a:ln>
                          <a:solidFill>
                            <a:schemeClr val="accent1"/>
                          </a:solidFill>
                          <a:effectLst/>
                          <a:latin typeface="Arial Narrow" pitchFamily="34" charset="0"/>
                        </a:rPr>
                        <a:t>Stated</a:t>
                      </a:r>
                      <a:r>
                        <a:rPr kumimoji="0" lang="de-DE" sz="1400" b="1" i="0" u="none" strike="noStrike" cap="none" normalizeH="0" baseline="0" dirty="0">
                          <a:ln>
                            <a:noFill/>
                          </a:ln>
                          <a:solidFill>
                            <a:schemeClr val="accent1"/>
                          </a:solidFill>
                          <a:effectLst/>
                          <a:latin typeface="Arial Narrow" pitchFamily="34" charset="0"/>
                        </a:rPr>
                        <a:t>-Problem-</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1" i="0" u="none" strike="noStrike" cap="none" normalizeH="0" baseline="0" dirty="0" err="1">
                          <a:ln>
                            <a:noFill/>
                          </a:ln>
                          <a:solidFill>
                            <a:schemeClr val="accent1"/>
                          </a:solidFill>
                          <a:effectLst/>
                          <a:latin typeface="Arial Narrow" pitchFamily="34" charset="0"/>
                        </a:rPr>
                        <a:t>Method</a:t>
                      </a:r>
                      <a:endParaRPr kumimoji="0" lang="de-DE" sz="1400" b="1" i="0" u="none" strike="noStrike" cap="none" normalizeH="0" baseline="0" dirty="0">
                        <a:ln>
                          <a:noFill/>
                        </a:ln>
                        <a:solidFill>
                          <a:schemeClr val="accent1"/>
                        </a:solidFill>
                        <a:effectLst/>
                        <a:latin typeface="Arial Narrow"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0" i="0" u="none" strike="noStrike" cap="none" normalizeH="0" baseline="0">
                          <a:ln>
                            <a:noFill/>
                          </a:ln>
                          <a:solidFill>
                            <a:schemeClr val="tx1"/>
                          </a:solidFill>
                          <a:effectLst/>
                          <a:latin typeface="Arial Narrow" pitchFamily="34" charset="0"/>
                        </a:rPr>
                        <a:t>Probleme sind vorgegeben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0" i="0" u="none" strike="noStrike" cap="none" normalizeH="0" baseline="0">
                          <a:ln>
                            <a:noFill/>
                          </a:ln>
                          <a:solidFill>
                            <a:schemeClr val="tx1"/>
                          </a:solidFill>
                          <a:effectLst/>
                          <a:latin typeface="Arial Narrow" pitchFamily="34" charset="0"/>
                        </a:rPr>
                        <a:t>Informationen werden gegeben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0" i="0" u="none" strike="noStrike" cap="none" normalizeH="0" baseline="0">
                          <a:ln>
                            <a:noFill/>
                          </a:ln>
                          <a:solidFill>
                            <a:schemeClr val="tx1"/>
                          </a:solidFill>
                          <a:effectLst/>
                          <a:latin typeface="Arial Narrow" pitchFamily="34" charset="0"/>
                        </a:rPr>
                        <a:t>Die fertigen Lösungen werden gegeben. Es wird nach alternativen Lösungen gesucht.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1" i="0" u="none" strike="noStrike" cap="none" normalizeH="0" baseline="0" dirty="0">
                          <a:ln>
                            <a:noFill/>
                          </a:ln>
                          <a:solidFill>
                            <a:srgbClr val="FF0000"/>
                          </a:solidFill>
                          <a:effectLst/>
                          <a:latin typeface="Arial Narrow" pitchFamily="34" charset="0"/>
                        </a:rPr>
                        <a:t>Schwerpunkt: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400" b="0" i="0" u="none" strike="noStrike" cap="none" normalizeH="0" baseline="0" dirty="0">
                          <a:ln>
                            <a:noFill/>
                          </a:ln>
                          <a:solidFill>
                            <a:schemeClr val="tx1"/>
                          </a:solidFill>
                          <a:effectLst/>
                          <a:latin typeface="Arial Narrow" pitchFamily="34" charset="0"/>
                        </a:rPr>
                        <a:t>Kritik der vorgegebenen Lösungen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199183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ChangeArrowheads="1"/>
          </p:cNvSpPr>
          <p:nvPr/>
        </p:nvSpPr>
        <p:spPr bwMode="auto">
          <a:xfrm>
            <a:off x="3635896" y="2759968"/>
            <a:ext cx="1524000" cy="381000"/>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8" name="Rectangle 5"/>
          <p:cNvSpPr>
            <a:spLocks noChangeArrowheads="1"/>
          </p:cNvSpPr>
          <p:nvPr/>
        </p:nvSpPr>
        <p:spPr bwMode="auto">
          <a:xfrm>
            <a:off x="3624064" y="3356992"/>
            <a:ext cx="1524000" cy="381000"/>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9" name="Rectangle 5"/>
          <p:cNvSpPr>
            <a:spLocks noChangeArrowheads="1"/>
          </p:cNvSpPr>
          <p:nvPr/>
        </p:nvSpPr>
        <p:spPr bwMode="auto">
          <a:xfrm>
            <a:off x="3635896" y="4005064"/>
            <a:ext cx="1524000" cy="381000"/>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10" name="Rectangle 5"/>
          <p:cNvSpPr>
            <a:spLocks noChangeArrowheads="1"/>
          </p:cNvSpPr>
          <p:nvPr/>
        </p:nvSpPr>
        <p:spPr bwMode="auto">
          <a:xfrm>
            <a:off x="3624064" y="4581128"/>
            <a:ext cx="1524000" cy="381000"/>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6" name="Rectangle 5"/>
          <p:cNvSpPr>
            <a:spLocks noChangeArrowheads="1"/>
          </p:cNvSpPr>
          <p:nvPr/>
        </p:nvSpPr>
        <p:spPr bwMode="auto">
          <a:xfrm>
            <a:off x="3635896" y="2183904"/>
            <a:ext cx="1524000" cy="381000"/>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5" name="Rectangle 5"/>
          <p:cNvSpPr>
            <a:spLocks noChangeArrowheads="1"/>
          </p:cNvSpPr>
          <p:nvPr/>
        </p:nvSpPr>
        <p:spPr bwMode="auto">
          <a:xfrm>
            <a:off x="3635896" y="1556792"/>
            <a:ext cx="1524000" cy="381000"/>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2" name="Titel 1"/>
          <p:cNvSpPr>
            <a:spLocks noGrp="1"/>
          </p:cNvSpPr>
          <p:nvPr>
            <p:ph type="title"/>
          </p:nvPr>
        </p:nvSpPr>
        <p:spPr/>
        <p:txBody>
          <a:bodyPr anchor="ctr"/>
          <a:lstStyle/>
          <a:p>
            <a:r>
              <a:rPr lang="de-DE" dirty="0"/>
              <a:t>Phasenmodell der Fallstudie nach KAISER</a:t>
            </a:r>
            <a:r>
              <a:rPr lang="de-DE" baseline="30000" dirty="0"/>
              <a:t>1</a:t>
            </a:r>
            <a:endParaRPr lang="de-DE" dirty="0"/>
          </a:p>
        </p:txBody>
      </p:sp>
      <p:sp>
        <p:nvSpPr>
          <p:cNvPr id="3" name="Inhaltsplatzhalter 2"/>
          <p:cNvSpPr>
            <a:spLocks noGrp="1"/>
          </p:cNvSpPr>
          <p:nvPr>
            <p:ph sz="quarter" idx="1"/>
          </p:nvPr>
        </p:nvSpPr>
        <p:spPr/>
        <p:txBody>
          <a:bodyPr>
            <a:normAutofit fontScale="92500" lnSpcReduction="10000"/>
          </a:bodyPr>
          <a:lstStyle/>
          <a:p>
            <a:pPr marL="0" lvl="0" indent="0" algn="ctr" fontAlgn="base">
              <a:spcBef>
                <a:spcPct val="20000"/>
              </a:spcBef>
              <a:spcAft>
                <a:spcPct val="0"/>
              </a:spcAft>
              <a:buClrTx/>
              <a:buSzTx/>
              <a:buNone/>
              <a:tabLst>
                <a:tab pos="1809750" algn="l"/>
              </a:tabLst>
            </a:pPr>
            <a:r>
              <a:rPr lang="de-DE" sz="1800" kern="0" dirty="0">
                <a:solidFill>
                  <a:srgbClr val="000000"/>
                </a:solidFill>
              </a:rPr>
              <a:t>Konfrontation</a:t>
            </a:r>
          </a:p>
          <a:p>
            <a:pPr marL="0" lvl="0" indent="0" algn="ctr" fontAlgn="base">
              <a:spcBef>
                <a:spcPct val="20000"/>
              </a:spcBef>
              <a:spcAft>
                <a:spcPct val="0"/>
              </a:spcAft>
              <a:buClrTx/>
              <a:buSzTx/>
              <a:buNone/>
              <a:tabLst>
                <a:tab pos="1809750" algn="l"/>
              </a:tabLst>
            </a:pPr>
            <a:endParaRPr lang="de-DE" sz="1800" kern="0" dirty="0">
              <a:solidFill>
                <a:srgbClr val="000000"/>
              </a:solidFill>
            </a:endParaRPr>
          </a:p>
          <a:p>
            <a:pPr marL="0" lvl="0" indent="0" algn="ctr" fontAlgn="base">
              <a:spcBef>
                <a:spcPct val="20000"/>
              </a:spcBef>
              <a:spcAft>
                <a:spcPct val="0"/>
              </a:spcAft>
              <a:buClrTx/>
              <a:buSzTx/>
              <a:buNone/>
              <a:tabLst>
                <a:tab pos="1809750" algn="l"/>
              </a:tabLst>
            </a:pPr>
            <a:r>
              <a:rPr lang="de-DE" sz="1800" kern="0" dirty="0">
                <a:solidFill>
                  <a:srgbClr val="000000"/>
                </a:solidFill>
              </a:rPr>
              <a:t>Information</a:t>
            </a:r>
          </a:p>
          <a:p>
            <a:pPr marL="0" lvl="0" indent="0" algn="ctr" fontAlgn="base">
              <a:spcBef>
                <a:spcPct val="20000"/>
              </a:spcBef>
              <a:spcAft>
                <a:spcPct val="0"/>
              </a:spcAft>
              <a:buClrTx/>
              <a:buSzTx/>
              <a:buNone/>
              <a:tabLst>
                <a:tab pos="1809750" algn="l"/>
              </a:tabLst>
            </a:pPr>
            <a:endParaRPr lang="de-DE" sz="1800" kern="0" dirty="0">
              <a:solidFill>
                <a:srgbClr val="000000"/>
              </a:solidFill>
            </a:endParaRPr>
          </a:p>
          <a:p>
            <a:pPr marL="0" lvl="0" indent="0" algn="ctr" fontAlgn="base">
              <a:spcBef>
                <a:spcPct val="20000"/>
              </a:spcBef>
              <a:spcAft>
                <a:spcPct val="0"/>
              </a:spcAft>
              <a:buClrTx/>
              <a:buSzTx/>
              <a:buNone/>
              <a:tabLst>
                <a:tab pos="1809750" algn="l"/>
              </a:tabLst>
            </a:pPr>
            <a:r>
              <a:rPr lang="de-DE" sz="1800" kern="0" dirty="0">
                <a:solidFill>
                  <a:srgbClr val="000000"/>
                </a:solidFill>
              </a:rPr>
              <a:t>Exploration</a:t>
            </a:r>
          </a:p>
          <a:p>
            <a:pPr marL="0" lvl="0" indent="0" algn="ctr" fontAlgn="base">
              <a:spcBef>
                <a:spcPct val="20000"/>
              </a:spcBef>
              <a:spcAft>
                <a:spcPct val="0"/>
              </a:spcAft>
              <a:buClrTx/>
              <a:buSzTx/>
              <a:buNone/>
              <a:tabLst>
                <a:tab pos="1809750" algn="l"/>
              </a:tabLst>
            </a:pPr>
            <a:endParaRPr lang="de-DE" sz="1800" kern="0" dirty="0">
              <a:solidFill>
                <a:srgbClr val="000000"/>
              </a:solidFill>
            </a:endParaRPr>
          </a:p>
          <a:p>
            <a:pPr marL="0" lvl="0" indent="0" algn="ctr" fontAlgn="base">
              <a:spcBef>
                <a:spcPct val="20000"/>
              </a:spcBef>
              <a:spcAft>
                <a:spcPct val="0"/>
              </a:spcAft>
              <a:buClrTx/>
              <a:buSzTx/>
              <a:buNone/>
              <a:tabLst>
                <a:tab pos="1809750" algn="l"/>
              </a:tabLst>
            </a:pPr>
            <a:r>
              <a:rPr lang="de-DE" sz="1800" kern="0" dirty="0">
                <a:solidFill>
                  <a:srgbClr val="000000"/>
                </a:solidFill>
              </a:rPr>
              <a:t>Resolution</a:t>
            </a:r>
          </a:p>
          <a:p>
            <a:pPr marL="0" lvl="0" indent="0" algn="ctr" fontAlgn="base">
              <a:spcBef>
                <a:spcPct val="20000"/>
              </a:spcBef>
              <a:spcAft>
                <a:spcPct val="0"/>
              </a:spcAft>
              <a:buClrTx/>
              <a:buSzTx/>
              <a:buNone/>
              <a:tabLst>
                <a:tab pos="1809750" algn="l"/>
              </a:tabLst>
            </a:pPr>
            <a:endParaRPr lang="de-DE" sz="1800" kern="0" dirty="0">
              <a:solidFill>
                <a:srgbClr val="000000"/>
              </a:solidFill>
            </a:endParaRPr>
          </a:p>
          <a:p>
            <a:pPr marL="0" lvl="0" indent="0" algn="ctr" fontAlgn="base">
              <a:spcBef>
                <a:spcPct val="20000"/>
              </a:spcBef>
              <a:spcAft>
                <a:spcPct val="0"/>
              </a:spcAft>
              <a:buClrTx/>
              <a:buSzTx/>
              <a:buNone/>
              <a:tabLst>
                <a:tab pos="1809750" algn="l"/>
              </a:tabLst>
            </a:pPr>
            <a:endParaRPr lang="de-DE" sz="900" kern="0" dirty="0">
              <a:solidFill>
                <a:srgbClr val="000000"/>
              </a:solidFill>
            </a:endParaRPr>
          </a:p>
          <a:p>
            <a:pPr marL="0" lvl="0" indent="0" algn="ctr" fontAlgn="base">
              <a:spcBef>
                <a:spcPct val="20000"/>
              </a:spcBef>
              <a:spcAft>
                <a:spcPct val="0"/>
              </a:spcAft>
              <a:buClrTx/>
              <a:buSzTx/>
              <a:buNone/>
              <a:tabLst>
                <a:tab pos="1809750" algn="l"/>
              </a:tabLst>
            </a:pPr>
            <a:r>
              <a:rPr lang="de-DE" sz="1800" kern="0" dirty="0">
                <a:solidFill>
                  <a:srgbClr val="000000"/>
                </a:solidFill>
              </a:rPr>
              <a:t>Disputation</a:t>
            </a:r>
          </a:p>
          <a:p>
            <a:pPr marL="0" lvl="0" indent="0" algn="ctr" fontAlgn="base">
              <a:spcBef>
                <a:spcPct val="20000"/>
              </a:spcBef>
              <a:spcAft>
                <a:spcPct val="0"/>
              </a:spcAft>
              <a:buClrTx/>
              <a:buSzTx/>
              <a:buNone/>
              <a:tabLst>
                <a:tab pos="1809750" algn="l"/>
              </a:tabLst>
            </a:pPr>
            <a:endParaRPr lang="de-DE" sz="1800" kern="0" dirty="0">
              <a:solidFill>
                <a:srgbClr val="000000"/>
              </a:solidFill>
            </a:endParaRPr>
          </a:p>
          <a:p>
            <a:pPr marL="0" lvl="0" indent="0" algn="ctr" fontAlgn="base">
              <a:spcBef>
                <a:spcPct val="20000"/>
              </a:spcBef>
              <a:spcAft>
                <a:spcPct val="0"/>
              </a:spcAft>
              <a:buClrTx/>
              <a:buSzTx/>
              <a:buNone/>
              <a:tabLst>
                <a:tab pos="1809750" algn="l"/>
              </a:tabLst>
            </a:pPr>
            <a:r>
              <a:rPr lang="de-DE" sz="1800" kern="0" dirty="0">
                <a:solidFill>
                  <a:srgbClr val="000000"/>
                </a:solidFill>
              </a:rPr>
              <a:t>Kollation</a:t>
            </a:r>
          </a:p>
          <a:p>
            <a:pPr marL="0" lvl="0" indent="0" fontAlgn="base">
              <a:spcBef>
                <a:spcPct val="20000"/>
              </a:spcBef>
              <a:spcAft>
                <a:spcPct val="0"/>
              </a:spcAft>
              <a:buClrTx/>
              <a:buSzTx/>
              <a:buNone/>
              <a:tabLst>
                <a:tab pos="1809750" algn="l"/>
              </a:tabLst>
            </a:pPr>
            <a:endParaRPr lang="de-DE" sz="1800" kern="0" dirty="0">
              <a:solidFill>
                <a:srgbClr val="000000"/>
              </a:solidFill>
            </a:endParaRPr>
          </a:p>
          <a:p>
            <a:pPr marL="0" lvl="0" indent="0" fontAlgn="base">
              <a:spcBef>
                <a:spcPct val="20000"/>
              </a:spcBef>
              <a:spcAft>
                <a:spcPct val="0"/>
              </a:spcAft>
              <a:buClrTx/>
              <a:buSzTx/>
              <a:buNone/>
              <a:tabLst>
                <a:tab pos="1809750" algn="l"/>
              </a:tabLst>
            </a:pPr>
            <a:endParaRPr lang="de-DE" sz="1800" kern="0" dirty="0">
              <a:solidFill>
                <a:srgbClr val="000000"/>
              </a:solidFill>
            </a:endParaRPr>
          </a:p>
          <a:p>
            <a:pPr marL="0" lvl="0" indent="0" fontAlgn="base">
              <a:spcBef>
                <a:spcPct val="20000"/>
              </a:spcBef>
              <a:spcAft>
                <a:spcPct val="0"/>
              </a:spcAft>
              <a:buClrTx/>
              <a:buSzTx/>
              <a:buNone/>
              <a:tabLst>
                <a:tab pos="1809750" algn="l"/>
              </a:tabLst>
            </a:pPr>
            <a:r>
              <a:rPr lang="de-DE" sz="1800" kern="0" baseline="30000" dirty="0">
                <a:solidFill>
                  <a:srgbClr val="000000"/>
                </a:solidFill>
              </a:rPr>
              <a:t>	1</a:t>
            </a:r>
            <a:r>
              <a:rPr lang="de-DE" sz="1800" kern="0" dirty="0">
                <a:solidFill>
                  <a:srgbClr val="000000"/>
                </a:solidFill>
              </a:rPr>
              <a:t> Kaiser, F.-J.: Entscheidungstraining – Methoden der  </a:t>
            </a:r>
          </a:p>
          <a:p>
            <a:pPr marL="0" lvl="0" indent="0" fontAlgn="base">
              <a:spcBef>
                <a:spcPct val="20000"/>
              </a:spcBef>
              <a:spcAft>
                <a:spcPct val="0"/>
              </a:spcAft>
              <a:buClrTx/>
              <a:buSzTx/>
              <a:buNone/>
              <a:tabLst>
                <a:tab pos="1809750" algn="l"/>
              </a:tabLst>
            </a:pPr>
            <a:r>
              <a:rPr lang="de-DE" sz="1800" kern="0" dirty="0">
                <a:solidFill>
                  <a:srgbClr val="000000"/>
                </a:solidFill>
              </a:rPr>
              <a:t> 		  Entscheidungsfindung (2.Auflage). Bad Heilbrunn 		  1976</a:t>
            </a:r>
          </a:p>
          <a:p>
            <a:pPr marL="0" indent="0">
              <a:buNone/>
            </a:pPr>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3</a:t>
            </a:fld>
            <a:endParaRPr lang="de-DE"/>
          </a:p>
        </p:txBody>
      </p:sp>
      <p:sp>
        <p:nvSpPr>
          <p:cNvPr id="11" name="Line 12"/>
          <p:cNvSpPr>
            <a:spLocks noChangeShapeType="1"/>
          </p:cNvSpPr>
          <p:nvPr/>
        </p:nvSpPr>
        <p:spPr bwMode="auto">
          <a:xfrm>
            <a:off x="4355976" y="1900064"/>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12" name="Line 12"/>
          <p:cNvSpPr>
            <a:spLocks noChangeShapeType="1"/>
          </p:cNvSpPr>
          <p:nvPr/>
        </p:nvSpPr>
        <p:spPr bwMode="auto">
          <a:xfrm>
            <a:off x="4355976" y="2548136"/>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13" name="Line 12"/>
          <p:cNvSpPr>
            <a:spLocks noChangeShapeType="1"/>
          </p:cNvSpPr>
          <p:nvPr/>
        </p:nvSpPr>
        <p:spPr bwMode="auto">
          <a:xfrm>
            <a:off x="4355976" y="31242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14" name="Line 12"/>
          <p:cNvSpPr>
            <a:spLocks noChangeShapeType="1"/>
          </p:cNvSpPr>
          <p:nvPr/>
        </p:nvSpPr>
        <p:spPr bwMode="auto">
          <a:xfrm>
            <a:off x="4355976" y="3717032"/>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15" name="Line 12"/>
          <p:cNvSpPr>
            <a:spLocks noChangeShapeType="1"/>
          </p:cNvSpPr>
          <p:nvPr/>
        </p:nvSpPr>
        <p:spPr bwMode="auto">
          <a:xfrm>
            <a:off x="4355976" y="4348336"/>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Tree>
    <p:extLst>
      <p:ext uri="{BB962C8B-B14F-4D97-AF65-F5344CB8AC3E}">
        <p14:creationId xmlns:p14="http://schemas.microsoft.com/office/powerpoint/2010/main" val="4287686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Vergleichs-Veränderungs-Rückkoppelungs-Einheit (VVR-Einheit)</a:t>
            </a:r>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4</a:t>
            </a:fld>
            <a:endParaRPr lang="de-DE"/>
          </a:p>
        </p:txBody>
      </p:sp>
      <p:pic>
        <p:nvPicPr>
          <p:cNvPr id="2050" name="Picture 2"/>
          <p:cNvPicPr>
            <a:picLocks noChangeAspect="1" noChangeArrowheads="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33289" y="1619597"/>
            <a:ext cx="8687183" cy="4473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73321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a:bodyPr>
          <a:lstStyle/>
          <a:p>
            <a:r>
              <a:rPr lang="de-DE" dirty="0"/>
              <a:t>Test-Operation-Test-Exit (TOTE-Einheit)</a:t>
            </a:r>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5</a:t>
            </a:fld>
            <a:endParaRPr lang="de-DE"/>
          </a:p>
        </p:txBody>
      </p:sp>
      <p:pic>
        <p:nvPicPr>
          <p:cNvPr id="3074" name="Picture 2"/>
          <p:cNvPicPr>
            <a:picLocks noChangeAspect="1" noChangeArrowheads="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452688" y="1340768"/>
            <a:ext cx="4567584" cy="5501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46010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el 1"/>
          <p:cNvSpPr>
            <a:spLocks noGrp="1"/>
          </p:cNvSpPr>
          <p:nvPr>
            <p:ph type="title"/>
          </p:nvPr>
        </p:nvSpPr>
        <p:spPr/>
        <p:txBody>
          <a:bodyPr anchor="ctr"/>
          <a:lstStyle/>
          <a:p>
            <a:r>
              <a:rPr lang="de-DE" dirty="0"/>
              <a:t>Ablauf des Rollenspiels</a:t>
            </a:r>
          </a:p>
        </p:txBody>
      </p:sp>
      <p:sp>
        <p:nvSpPr>
          <p:cNvPr id="11267" name="Inhaltsplatzhalter 2"/>
          <p:cNvSpPr>
            <a:spLocks noGrp="1"/>
          </p:cNvSpPr>
          <p:nvPr>
            <p:ph sz="quarter" idx="1"/>
          </p:nvPr>
        </p:nvSpPr>
        <p:spPr/>
        <p:txBody>
          <a:bodyPr>
            <a:normAutofit fontScale="70000" lnSpcReduction="20000"/>
          </a:bodyPr>
          <a:lstStyle/>
          <a:p>
            <a:pPr marL="457200" indent="-457200">
              <a:buSzPct val="100000"/>
              <a:buFont typeface="+mj-lt"/>
              <a:buAutoNum type="arabicPeriod"/>
            </a:pPr>
            <a:r>
              <a:rPr lang="de-DE" dirty="0"/>
              <a:t>Gruppe orientieren (Konfrontation mit dem Problem)</a:t>
            </a:r>
          </a:p>
          <a:p>
            <a:pPr marL="457200" indent="-457200">
              <a:buSzPct val="100000"/>
              <a:buFont typeface="+mj-lt"/>
              <a:buAutoNum type="arabicPeriod"/>
            </a:pPr>
            <a:endParaRPr lang="de-DE" dirty="0"/>
          </a:p>
          <a:p>
            <a:pPr marL="457200" indent="-457200">
              <a:buSzPct val="100000"/>
              <a:buFont typeface="+mj-lt"/>
              <a:buAutoNum type="arabicPeriod"/>
            </a:pPr>
            <a:r>
              <a:rPr lang="de-DE" dirty="0"/>
              <a:t>Teilnehmer am Spiel aussuchen</a:t>
            </a:r>
          </a:p>
          <a:p>
            <a:pPr marL="457200" indent="-457200">
              <a:buSzPct val="100000"/>
              <a:buFont typeface="+mj-lt"/>
              <a:buAutoNum type="arabicPeriod"/>
            </a:pPr>
            <a:endParaRPr lang="de-DE" dirty="0"/>
          </a:p>
          <a:p>
            <a:pPr marL="457200" indent="-457200">
              <a:buSzPct val="100000"/>
              <a:buFont typeface="+mj-lt"/>
              <a:buAutoNum type="arabicPeriod"/>
            </a:pPr>
            <a:r>
              <a:rPr lang="de-DE" dirty="0"/>
              <a:t>Planen des Szenenablaufes</a:t>
            </a:r>
          </a:p>
          <a:p>
            <a:pPr marL="457200" indent="-457200">
              <a:buSzPct val="100000"/>
              <a:buFont typeface="+mj-lt"/>
              <a:buAutoNum type="arabicPeriod"/>
            </a:pPr>
            <a:endParaRPr lang="de-DE" dirty="0"/>
          </a:p>
          <a:p>
            <a:pPr marL="457200" indent="-457200">
              <a:buSzPct val="100000"/>
              <a:buFont typeface="+mj-lt"/>
              <a:buAutoNum type="arabicPeriod"/>
            </a:pPr>
            <a:r>
              <a:rPr lang="de-DE" dirty="0"/>
              <a:t>Zuschauer auf ihre Rolle als teilnehmende Beobachter einstellen</a:t>
            </a:r>
          </a:p>
          <a:p>
            <a:pPr marL="457200" indent="-457200">
              <a:buSzPct val="100000"/>
              <a:buFont typeface="+mj-lt"/>
              <a:buAutoNum type="arabicPeriod"/>
            </a:pPr>
            <a:endParaRPr lang="de-DE" dirty="0"/>
          </a:p>
          <a:p>
            <a:pPr marL="457200" indent="-457200">
              <a:buSzPct val="100000"/>
              <a:buFont typeface="+mj-lt"/>
              <a:buAutoNum type="arabicPeriod"/>
            </a:pPr>
            <a:r>
              <a:rPr lang="de-DE" dirty="0"/>
              <a:t>Rollenspiel</a:t>
            </a:r>
          </a:p>
          <a:p>
            <a:pPr marL="457200" indent="-457200">
              <a:buSzPct val="100000"/>
              <a:buFont typeface="+mj-lt"/>
              <a:buAutoNum type="arabicPeriod"/>
            </a:pPr>
            <a:endParaRPr lang="de-DE" dirty="0"/>
          </a:p>
          <a:p>
            <a:pPr marL="457200" indent="-457200">
              <a:buSzPct val="100000"/>
              <a:buFont typeface="+mj-lt"/>
              <a:buAutoNum type="arabicPeriod"/>
            </a:pPr>
            <a:r>
              <a:rPr lang="de-DE" dirty="0"/>
              <a:t>Diskussion und Bewertung</a:t>
            </a:r>
          </a:p>
          <a:p>
            <a:pPr marL="457200" indent="-457200">
              <a:buSzPct val="100000"/>
              <a:buFont typeface="+mj-lt"/>
              <a:buAutoNum type="arabicPeriod"/>
            </a:pPr>
            <a:endParaRPr lang="de-DE" dirty="0"/>
          </a:p>
          <a:p>
            <a:pPr marL="457200" indent="-457200">
              <a:buSzPct val="100000"/>
              <a:buFont typeface="+mj-lt"/>
              <a:buAutoNum type="arabicPeriod"/>
            </a:pPr>
            <a:r>
              <a:rPr lang="de-DE" dirty="0"/>
              <a:t>Weiter Spiele (getauschte Rollen, alternative Szenen)</a:t>
            </a:r>
          </a:p>
          <a:p>
            <a:pPr marL="457200" indent="-457200">
              <a:buSzPct val="100000"/>
              <a:buFont typeface="+mj-lt"/>
              <a:buAutoNum type="arabicPeriod"/>
            </a:pPr>
            <a:endParaRPr lang="de-DE" dirty="0"/>
          </a:p>
          <a:p>
            <a:pPr marL="457200" indent="-457200">
              <a:buSzPct val="100000"/>
              <a:buFont typeface="+mj-lt"/>
              <a:buAutoNum type="arabicPeriod"/>
            </a:pPr>
            <a:r>
              <a:rPr lang="de-DE" dirty="0"/>
              <a:t>Weitere Diskussionen</a:t>
            </a:r>
          </a:p>
          <a:p>
            <a:pPr marL="457200" indent="-457200">
              <a:buSzPct val="100000"/>
              <a:buFont typeface="+mj-lt"/>
              <a:buAutoNum type="arabicPeriod"/>
            </a:pPr>
            <a:endParaRPr lang="de-DE" dirty="0"/>
          </a:p>
          <a:p>
            <a:pPr marL="457200" indent="-457200">
              <a:buSzPct val="100000"/>
              <a:buFont typeface="+mj-lt"/>
              <a:buAutoNum type="arabicPeriod"/>
            </a:pPr>
            <a:r>
              <a:rPr lang="de-DE" dirty="0"/>
              <a:t>Zusammenfassung, Verallgemeinerung</a:t>
            </a:r>
          </a:p>
          <a:p>
            <a:pPr marL="457200" indent="-457200">
              <a:buSzPct val="100000"/>
              <a:buFont typeface="+mj-lt"/>
              <a:buAutoNum type="arabicPeriod"/>
            </a:pPr>
            <a:endParaRPr lang="de-DE" sz="2400" dirty="0"/>
          </a:p>
        </p:txBody>
      </p:sp>
      <p:sp>
        <p:nvSpPr>
          <p:cNvPr id="2" name="Foliennummernplatzhalter 1"/>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6</a:t>
            </a:fld>
            <a:endParaRPr lang="de-DE"/>
          </a:p>
        </p:txBody>
      </p:sp>
    </p:spTree>
    <p:extLst>
      <p:ext uri="{BB962C8B-B14F-4D97-AF65-F5344CB8AC3E}">
        <p14:creationId xmlns:p14="http://schemas.microsoft.com/office/powerpoint/2010/main" val="2969411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Phasenaufbau des Rollenspiels</a:t>
            </a:r>
          </a:p>
        </p:txBody>
      </p:sp>
      <p:sp>
        <p:nvSpPr>
          <p:cNvPr id="3" name="Inhaltsplatzhalter 2"/>
          <p:cNvSpPr>
            <a:spLocks noGrp="1"/>
          </p:cNvSpPr>
          <p:nvPr>
            <p:ph sz="quarter" idx="1"/>
          </p:nvPr>
        </p:nvSpPr>
        <p:spPr/>
        <p:txBody>
          <a:bodyPr/>
          <a:lstStyle/>
          <a:p>
            <a:pPr marL="0" indent="0" algn="ctr">
              <a:buNone/>
            </a:pPr>
            <a:r>
              <a:rPr lang="de-DE" dirty="0"/>
              <a:t>Einführungsphase</a:t>
            </a:r>
          </a:p>
          <a:p>
            <a:pPr marL="0" indent="0" algn="ctr">
              <a:buNone/>
            </a:pPr>
            <a:endParaRPr lang="de-DE" dirty="0"/>
          </a:p>
          <a:p>
            <a:pPr marL="0" indent="0" algn="ctr">
              <a:buNone/>
            </a:pPr>
            <a:r>
              <a:rPr lang="de-DE" dirty="0"/>
              <a:t>Erarbeitungsphase</a:t>
            </a:r>
          </a:p>
          <a:p>
            <a:pPr marL="0" indent="0" algn="ctr">
              <a:buNone/>
            </a:pPr>
            <a:endParaRPr lang="de-DE" dirty="0"/>
          </a:p>
          <a:p>
            <a:pPr marL="0" indent="0" algn="ctr">
              <a:buNone/>
            </a:pPr>
            <a:r>
              <a:rPr lang="de-DE" dirty="0"/>
              <a:t>Diskussionsphase</a:t>
            </a:r>
          </a:p>
          <a:p>
            <a:pPr marL="0" indent="0" algn="ctr">
              <a:buNone/>
            </a:pPr>
            <a:endParaRPr lang="de-DE" dirty="0"/>
          </a:p>
          <a:p>
            <a:pPr marL="0" indent="0" algn="ctr">
              <a:buNone/>
            </a:pPr>
            <a:r>
              <a:rPr lang="de-DE" dirty="0" err="1"/>
              <a:t>Reflektionsphase</a:t>
            </a:r>
            <a:endParaRPr lang="de-DE" dirty="0"/>
          </a:p>
          <a:p>
            <a:pPr marL="0" indent="0" algn="ctr">
              <a:buNone/>
            </a:pPr>
            <a:endParaRPr lang="de-DE" dirty="0"/>
          </a:p>
          <a:p>
            <a:pPr marL="0" indent="0" algn="ctr">
              <a:buNone/>
            </a:pPr>
            <a:r>
              <a:rPr lang="de-DE" dirty="0"/>
              <a:t>Evaluationsphase</a:t>
            </a:r>
          </a:p>
          <a:p>
            <a:pPr marL="0" indent="0" algn="ctr">
              <a:buNone/>
            </a:pPr>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7</a:t>
            </a:fld>
            <a:endParaRPr lang="de-DE"/>
          </a:p>
        </p:txBody>
      </p:sp>
    </p:spTree>
    <p:extLst>
      <p:ext uri="{BB962C8B-B14F-4D97-AF65-F5344CB8AC3E}">
        <p14:creationId xmlns:p14="http://schemas.microsoft.com/office/powerpoint/2010/main" val="1621687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Bsp.: „Transgene Kartoffel –</a:t>
            </a:r>
            <a:br>
              <a:rPr lang="de-DE" dirty="0"/>
            </a:br>
            <a:r>
              <a:rPr lang="de-DE" dirty="0"/>
              <a:t>Umweltkiller oder Schlankmacher“</a:t>
            </a:r>
          </a:p>
        </p:txBody>
      </p:sp>
      <p:sp>
        <p:nvSpPr>
          <p:cNvPr id="3" name="Inhaltsplatzhalter 2"/>
          <p:cNvSpPr>
            <a:spLocks noGrp="1"/>
          </p:cNvSpPr>
          <p:nvPr>
            <p:ph sz="quarter" idx="1"/>
          </p:nvPr>
        </p:nvSpPr>
        <p:spPr/>
        <p:txBody>
          <a:bodyPr>
            <a:normAutofit fontScale="70000" lnSpcReduction="20000"/>
          </a:bodyPr>
          <a:lstStyle/>
          <a:p>
            <a:pPr marL="0" indent="0">
              <a:buNone/>
            </a:pPr>
            <a:r>
              <a:rPr lang="de-DE" b="1" dirty="0"/>
              <a:t>Ausgangsszenario:</a:t>
            </a:r>
          </a:p>
          <a:p>
            <a:endParaRPr lang="de-DE" dirty="0"/>
          </a:p>
          <a:p>
            <a:r>
              <a:rPr lang="de-DE" dirty="0"/>
              <a:t>Die fiktive Firma </a:t>
            </a:r>
            <a:r>
              <a:rPr lang="de-DE" dirty="0" err="1"/>
              <a:t>FloraTec</a:t>
            </a:r>
            <a:r>
              <a:rPr lang="de-DE" dirty="0"/>
              <a:t> GmbH hat eine gentechnisch veränderte Kartoffelsorte entwickelt, die über einen </a:t>
            </a:r>
            <a:r>
              <a:rPr lang="de-DE" b="1" dirty="0">
                <a:solidFill>
                  <a:schemeClr val="accent1"/>
                </a:solidFill>
              </a:rPr>
              <a:t>höheren Stärkeanteil </a:t>
            </a:r>
            <a:r>
              <a:rPr lang="de-DE" dirty="0"/>
              <a:t>verfügt</a:t>
            </a:r>
          </a:p>
          <a:p>
            <a:endParaRPr lang="de-DE" dirty="0"/>
          </a:p>
          <a:p>
            <a:r>
              <a:rPr lang="de-DE" dirty="0"/>
              <a:t>Durch den geringeren Wassergehalt der transgenen Kartoffel wird bei der </a:t>
            </a:r>
            <a:r>
              <a:rPr lang="de-DE" b="1" dirty="0">
                <a:solidFill>
                  <a:schemeClr val="accent1"/>
                </a:solidFill>
              </a:rPr>
              <a:t>Weiterverarbeitung durch Frittieren oder Braten </a:t>
            </a:r>
            <a:r>
              <a:rPr lang="de-DE" dirty="0"/>
              <a:t>weniger Fett aufgenommen. Die so hergestellten Nahrungsmittel enthalten demzufolge auch </a:t>
            </a:r>
            <a:r>
              <a:rPr lang="de-DE" b="1" dirty="0">
                <a:solidFill>
                  <a:schemeClr val="accent1"/>
                </a:solidFill>
              </a:rPr>
              <a:t>wenige Kalorien </a:t>
            </a:r>
            <a:r>
              <a:rPr lang="de-DE" dirty="0"/>
              <a:t>als Produkte aus herkömmlichen Kartoffeln.</a:t>
            </a:r>
          </a:p>
          <a:p>
            <a:endParaRPr lang="de-DE" dirty="0"/>
          </a:p>
          <a:p>
            <a:r>
              <a:rPr lang="de-DE" dirty="0"/>
              <a:t>Zum Nachweis wurde die Kartoffelsorte mit einem </a:t>
            </a:r>
            <a:r>
              <a:rPr lang="de-DE" dirty="0" err="1"/>
              <a:t>Markergen</a:t>
            </a:r>
            <a:r>
              <a:rPr lang="de-DE" dirty="0"/>
              <a:t> versehen. </a:t>
            </a:r>
            <a:r>
              <a:rPr lang="de-DE" dirty="0" err="1"/>
              <a:t>Markergene</a:t>
            </a:r>
            <a:r>
              <a:rPr lang="de-DE" dirty="0"/>
              <a:t> werden zusammen mit dem veränderten Gen in die Pflanzen eingebracht und lassen sich im Verlaufe der Züchtung meist leichter nachweisen als die eigentliche genetische Veränderung. In diesem Falle wurde als </a:t>
            </a:r>
            <a:r>
              <a:rPr lang="de-DE" dirty="0" err="1"/>
              <a:t>Markergen</a:t>
            </a:r>
            <a:r>
              <a:rPr lang="de-DE" dirty="0"/>
              <a:t> ein </a:t>
            </a:r>
            <a:r>
              <a:rPr lang="de-DE" b="1" dirty="0">
                <a:solidFill>
                  <a:schemeClr val="accent1"/>
                </a:solidFill>
              </a:rPr>
              <a:t>Antibiotikaresistenzgen </a:t>
            </a:r>
            <a:r>
              <a:rPr lang="de-DE" dirty="0"/>
              <a:t>(Resistenz gegen das Antibiotikum </a:t>
            </a:r>
            <a:r>
              <a:rPr lang="de-DE" dirty="0" err="1"/>
              <a:t>Amikacin</a:t>
            </a:r>
            <a:r>
              <a:rPr lang="de-DE" dirty="0"/>
              <a:t>) in die Kartoffelpflanzen implementiert.</a:t>
            </a:r>
          </a:p>
          <a:p>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8</a:t>
            </a:fld>
            <a:endParaRPr lang="de-DE"/>
          </a:p>
        </p:txBody>
      </p:sp>
    </p:spTree>
    <p:extLst>
      <p:ext uri="{BB962C8B-B14F-4D97-AF65-F5344CB8AC3E}">
        <p14:creationId xmlns:p14="http://schemas.microsoft.com/office/powerpoint/2010/main" val="497404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Bsp.: „Transgene Kartoffel –</a:t>
            </a:r>
            <a:br>
              <a:rPr lang="de-DE" dirty="0"/>
            </a:br>
            <a:r>
              <a:rPr lang="de-DE" dirty="0"/>
              <a:t>Umweltkiller oder Schlankmacher“</a:t>
            </a:r>
          </a:p>
        </p:txBody>
      </p:sp>
      <p:sp>
        <p:nvSpPr>
          <p:cNvPr id="3" name="Inhaltsplatzhalter 2"/>
          <p:cNvSpPr>
            <a:spLocks noGrp="1"/>
          </p:cNvSpPr>
          <p:nvPr>
            <p:ph sz="quarter" idx="1"/>
          </p:nvPr>
        </p:nvSpPr>
        <p:spPr/>
        <p:txBody>
          <a:bodyPr>
            <a:normAutofit fontScale="85000" lnSpcReduction="20000"/>
          </a:bodyPr>
          <a:lstStyle/>
          <a:p>
            <a:pPr marL="0" indent="0">
              <a:buNone/>
            </a:pPr>
            <a:r>
              <a:rPr lang="de-DE" b="1" dirty="0"/>
              <a:t>Erarbeitungsphase</a:t>
            </a:r>
          </a:p>
          <a:p>
            <a:pPr marL="0" indent="0">
              <a:buNone/>
            </a:pPr>
            <a:r>
              <a:rPr lang="de-DE" dirty="0"/>
              <a:t>Rollen müssen entsprechend der Standpunkte mit Argumenten gefüllt werden</a:t>
            </a:r>
          </a:p>
          <a:p>
            <a:pPr lvl="1"/>
            <a:r>
              <a:rPr lang="de-DE" dirty="0"/>
              <a:t>Materialsammlung wird bereitgestellt</a:t>
            </a:r>
          </a:p>
          <a:p>
            <a:pPr marL="0" indent="0">
              <a:buNone/>
            </a:pPr>
            <a:endParaRPr lang="de-DE" b="1" dirty="0"/>
          </a:p>
          <a:p>
            <a:pPr marL="0" indent="0">
              <a:buNone/>
            </a:pPr>
            <a:r>
              <a:rPr lang="de-DE" b="1" dirty="0"/>
              <a:t>Diskussionsphase</a:t>
            </a:r>
          </a:p>
          <a:p>
            <a:pPr marL="0" indent="0">
              <a:buNone/>
            </a:pPr>
            <a:r>
              <a:rPr lang="de-DE" dirty="0"/>
              <a:t>Pressekonferenz – Statements der am Spiel beteiligten Parteien werden verlesen</a:t>
            </a:r>
          </a:p>
          <a:p>
            <a:pPr lvl="1"/>
            <a:r>
              <a:rPr lang="de-DE" dirty="0"/>
              <a:t>Diskussion am „Runden Tisch“ – es ist ein Konsens zu finden</a:t>
            </a:r>
          </a:p>
          <a:p>
            <a:pPr marL="0" indent="0">
              <a:buNone/>
            </a:pPr>
            <a:endParaRPr lang="de-DE" b="1" dirty="0"/>
          </a:p>
          <a:p>
            <a:pPr marL="0" indent="0">
              <a:buNone/>
            </a:pPr>
            <a:r>
              <a:rPr lang="de-DE" b="1" dirty="0" err="1"/>
              <a:t>Reflektionsphase</a:t>
            </a:r>
            <a:endParaRPr lang="de-DE" b="1" dirty="0"/>
          </a:p>
          <a:p>
            <a:pPr lvl="1"/>
            <a:r>
              <a:rPr lang="de-DE" dirty="0"/>
              <a:t>Warum hat X so gehandelt?</a:t>
            </a:r>
          </a:p>
          <a:p>
            <a:pPr marL="0" indent="0">
              <a:buNone/>
            </a:pPr>
            <a:endParaRPr lang="de-DE" b="1" dirty="0"/>
          </a:p>
          <a:p>
            <a:pPr marL="0" indent="0">
              <a:buNone/>
            </a:pPr>
            <a:r>
              <a:rPr lang="de-DE" b="1" dirty="0"/>
              <a:t>Evaluationsphase</a:t>
            </a:r>
          </a:p>
          <a:p>
            <a:pPr lvl="1"/>
            <a:r>
              <a:rPr lang="de-DE" dirty="0"/>
              <a:t>Wie wurde das Meinungsbild beeinflusst?</a:t>
            </a:r>
          </a:p>
          <a:p>
            <a:pPr marL="0" indent="0">
              <a:buNone/>
            </a:pPr>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9</a:t>
            </a:fld>
            <a:endParaRPr lang="de-DE"/>
          </a:p>
        </p:txBody>
      </p:sp>
    </p:spTree>
    <p:extLst>
      <p:ext uri="{BB962C8B-B14F-4D97-AF65-F5344CB8AC3E}">
        <p14:creationId xmlns:p14="http://schemas.microsoft.com/office/powerpoint/2010/main" val="3212271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Bsp.: „Transgene Kartoffel –</a:t>
            </a:r>
            <a:br>
              <a:rPr lang="de-DE" dirty="0"/>
            </a:br>
            <a:r>
              <a:rPr lang="de-DE" dirty="0"/>
              <a:t>Umweltkiller oder Schlankmacher“</a:t>
            </a:r>
          </a:p>
        </p:txBody>
      </p:sp>
      <p:sp>
        <p:nvSpPr>
          <p:cNvPr id="3" name="Inhaltsplatzhalter 2"/>
          <p:cNvSpPr>
            <a:spLocks noGrp="1"/>
          </p:cNvSpPr>
          <p:nvPr>
            <p:ph sz="quarter" idx="1"/>
          </p:nvPr>
        </p:nvSpPr>
        <p:spPr/>
        <p:txBody>
          <a:bodyPr>
            <a:normAutofit fontScale="70000" lnSpcReduction="20000"/>
          </a:bodyPr>
          <a:lstStyle/>
          <a:p>
            <a:pPr marL="0" indent="0">
              <a:buNone/>
            </a:pPr>
            <a:r>
              <a:rPr lang="de-DE" b="1" dirty="0"/>
              <a:t>Ökologischer Landwirt „Ökohof Morgenrot“</a:t>
            </a:r>
          </a:p>
          <a:p>
            <a:pPr marL="0" indent="0">
              <a:buNone/>
            </a:pPr>
            <a:endParaRPr lang="de-DE" b="1" dirty="0"/>
          </a:p>
          <a:p>
            <a:r>
              <a:rPr lang="de-DE" dirty="0"/>
              <a:t>Auf dem „Ökohof Morgenrot“ wird seit 8 Jahren </a:t>
            </a:r>
            <a:r>
              <a:rPr lang="de-DE" b="1" dirty="0">
                <a:solidFill>
                  <a:schemeClr val="accent1"/>
                </a:solidFill>
              </a:rPr>
              <a:t>ökologischer Landbau </a:t>
            </a:r>
            <a:r>
              <a:rPr lang="de-DE" dirty="0"/>
              <a:t>betrieben.</a:t>
            </a:r>
          </a:p>
          <a:p>
            <a:endParaRPr lang="de-DE" dirty="0"/>
          </a:p>
          <a:p>
            <a:r>
              <a:rPr lang="de-DE" dirty="0"/>
              <a:t>Aus Sicht des Ökohofes stellt die transgene Kartoffel gleich mehrere Probleme dar. Zum einen kann es passieren, dass sich durch unsachgemäßen Umgang auf dem Nachbarsfeld das veränderte Gen in der hofeigenen Sorte wiederfindet – der </a:t>
            </a:r>
            <a:r>
              <a:rPr lang="de-DE" b="1" dirty="0">
                <a:solidFill>
                  <a:schemeClr val="accent1"/>
                </a:solidFill>
              </a:rPr>
              <a:t>Verlust des Ökolabels </a:t>
            </a:r>
            <a:r>
              <a:rPr lang="de-DE" dirty="0"/>
              <a:t>wäre zu erwarten (wirtschaftliche Katastrophe für den Hof)</a:t>
            </a:r>
          </a:p>
          <a:p>
            <a:endParaRPr lang="de-DE" dirty="0"/>
          </a:p>
          <a:p>
            <a:r>
              <a:rPr lang="de-DE" dirty="0"/>
              <a:t>Zum anderen ist zu erwarten, dass langfristig nur noch </a:t>
            </a:r>
            <a:r>
              <a:rPr lang="de-DE" b="1" dirty="0">
                <a:solidFill>
                  <a:schemeClr val="accent1"/>
                </a:solidFill>
              </a:rPr>
              <a:t>gentechnisch verändertes Saatgut</a:t>
            </a:r>
            <a:r>
              <a:rPr lang="de-DE" dirty="0"/>
              <a:t> auf dem Markt zu finden ist. Aber auch ein weiteres Problem entsteht aus Sicht des Ökohofes. Da die transgene Kartoffel nicht besonders resistent gegen Krankheiten ist, müssen zum Pflanzenschutz Pestizide verwendet werden. Als ökologischer Landbau könnte man diese Arbeitsweise nicht mehr bezeichnen.</a:t>
            </a:r>
          </a:p>
          <a:p>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10</a:t>
            </a:fld>
            <a:endParaRPr lang="de-DE"/>
          </a:p>
        </p:txBody>
      </p:sp>
    </p:spTree>
    <p:extLst>
      <p:ext uri="{BB962C8B-B14F-4D97-AF65-F5344CB8AC3E}">
        <p14:creationId xmlns:p14="http://schemas.microsoft.com/office/powerpoint/2010/main" val="2948441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Bsp.: „Transgene Kartoffel –</a:t>
            </a:r>
            <a:br>
              <a:rPr lang="de-DE" dirty="0"/>
            </a:br>
            <a:r>
              <a:rPr lang="de-DE" dirty="0"/>
              <a:t>Umweltkiller oder Schlankmacher“</a:t>
            </a:r>
          </a:p>
        </p:txBody>
      </p:sp>
      <p:sp>
        <p:nvSpPr>
          <p:cNvPr id="3" name="Inhaltsplatzhalter 2"/>
          <p:cNvSpPr>
            <a:spLocks noGrp="1"/>
          </p:cNvSpPr>
          <p:nvPr>
            <p:ph sz="quarter" idx="1"/>
          </p:nvPr>
        </p:nvSpPr>
        <p:spPr/>
        <p:txBody>
          <a:bodyPr>
            <a:normAutofit fontScale="55000" lnSpcReduction="20000"/>
          </a:bodyPr>
          <a:lstStyle/>
          <a:p>
            <a:pPr marL="0" indent="0">
              <a:buNone/>
            </a:pPr>
            <a:r>
              <a:rPr lang="de-DE" b="1" dirty="0"/>
              <a:t>Züchtungsbetrieb „</a:t>
            </a:r>
            <a:r>
              <a:rPr lang="de-DE" b="1" dirty="0" err="1"/>
              <a:t>FloraTEc</a:t>
            </a:r>
            <a:r>
              <a:rPr lang="de-DE" b="1" dirty="0"/>
              <a:t> GmbH“</a:t>
            </a:r>
          </a:p>
          <a:p>
            <a:pPr marL="0" indent="0">
              <a:buNone/>
            </a:pPr>
            <a:endParaRPr lang="de-DE" b="1" dirty="0"/>
          </a:p>
          <a:p>
            <a:r>
              <a:rPr lang="de-DE" sz="2600" dirty="0"/>
              <a:t>Die Firma beschäftigt sich mit Pflanzenzüchtung. Sie hat in den letzten Jahren viel Zeit und Geld investiert, um mit gentechnischen Methoden arbeiten zu können</a:t>
            </a:r>
          </a:p>
          <a:p>
            <a:endParaRPr lang="de-DE" sz="2600" dirty="0"/>
          </a:p>
          <a:p>
            <a:r>
              <a:rPr lang="de-DE" sz="2600" dirty="0"/>
              <a:t>Finanzielle Hilfe bekam die Firma dabei im Rahmen eines „</a:t>
            </a:r>
            <a:r>
              <a:rPr lang="de-DE" sz="2600" dirty="0" err="1"/>
              <a:t>Regiotechnologie</a:t>
            </a:r>
            <a:r>
              <a:rPr lang="de-DE" sz="2600" dirty="0"/>
              <a:t> – Programms“ von Bund und der EU sowie von einem privaten Geldanleger</a:t>
            </a:r>
          </a:p>
          <a:p>
            <a:endParaRPr lang="de-DE" sz="2600" dirty="0"/>
          </a:p>
          <a:p>
            <a:r>
              <a:rPr lang="de-DE" sz="2600" dirty="0"/>
              <a:t>Aus Sicht des Züchtungsbetriebes </a:t>
            </a:r>
            <a:r>
              <a:rPr lang="de-DE" sz="2600" dirty="0" err="1"/>
              <a:t>FloraTec</a:t>
            </a:r>
            <a:r>
              <a:rPr lang="de-DE" sz="2600" dirty="0"/>
              <a:t> GmbH bergen die gentechnisch entwickelten Kartoffeln </a:t>
            </a:r>
            <a:r>
              <a:rPr lang="de-DE" sz="2600" b="1" dirty="0">
                <a:solidFill>
                  <a:schemeClr val="accent1"/>
                </a:solidFill>
              </a:rPr>
              <a:t>keine nachweisbaren Gesundheitsrisiken</a:t>
            </a:r>
          </a:p>
          <a:p>
            <a:endParaRPr lang="de-DE" sz="2600" dirty="0"/>
          </a:p>
          <a:p>
            <a:r>
              <a:rPr lang="de-DE" sz="2600" dirty="0"/>
              <a:t>Mit der neuen Eigenschaft des erhöhten Stärkeanteils und der damit verbundenen geringen Fettaufnahme bei der Weiterverarbeitung wird die neue Kartoffelsorte als </a:t>
            </a:r>
            <a:r>
              <a:rPr lang="de-DE" sz="2600" b="1" dirty="0">
                <a:solidFill>
                  <a:schemeClr val="accent1"/>
                </a:solidFill>
              </a:rPr>
              <a:t>ernährungsphysiologisch günstig </a:t>
            </a:r>
            <a:r>
              <a:rPr lang="de-DE" sz="2600" dirty="0"/>
              <a:t>angesehen.</a:t>
            </a:r>
          </a:p>
          <a:p>
            <a:endParaRPr lang="de-DE" sz="2600" dirty="0"/>
          </a:p>
          <a:p>
            <a:r>
              <a:rPr lang="de-DE" sz="2600" dirty="0"/>
              <a:t>Mit der Botschaft „Iss dich schlank“ lassen sich diese Produkte vermarkten und mit einem positiven Image versehen. Nach Meinung der Firma wird so eine Sorte produziert, die dem </a:t>
            </a:r>
            <a:r>
              <a:rPr lang="de-DE" sz="2600" b="1" dirty="0">
                <a:solidFill>
                  <a:schemeClr val="accent1"/>
                </a:solidFill>
              </a:rPr>
              <a:t>gewachsenen Gesundheitsdenken </a:t>
            </a:r>
            <a:r>
              <a:rPr lang="de-DE" sz="2600" dirty="0"/>
              <a:t>der Kunden entspricht.</a:t>
            </a:r>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11</a:t>
            </a:fld>
            <a:endParaRPr lang="de-DE"/>
          </a:p>
        </p:txBody>
      </p:sp>
    </p:spTree>
    <p:extLst>
      <p:ext uri="{BB962C8B-B14F-4D97-AF65-F5344CB8AC3E}">
        <p14:creationId xmlns:p14="http://schemas.microsoft.com/office/powerpoint/2010/main" val="3927494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Bsp.: „Transgene Kartoffel –</a:t>
            </a:r>
            <a:br>
              <a:rPr lang="de-DE" dirty="0"/>
            </a:br>
            <a:r>
              <a:rPr lang="de-DE" dirty="0"/>
              <a:t>Umweltkiller oder Schlankmacher“</a:t>
            </a:r>
          </a:p>
        </p:txBody>
      </p:sp>
      <p:sp>
        <p:nvSpPr>
          <p:cNvPr id="3" name="Inhaltsplatzhalter 2"/>
          <p:cNvSpPr>
            <a:spLocks noGrp="1"/>
          </p:cNvSpPr>
          <p:nvPr>
            <p:ph sz="quarter" idx="1"/>
          </p:nvPr>
        </p:nvSpPr>
        <p:spPr/>
        <p:txBody>
          <a:bodyPr>
            <a:normAutofit fontScale="92500" lnSpcReduction="10000"/>
          </a:bodyPr>
          <a:lstStyle/>
          <a:p>
            <a:pPr marL="0" indent="0">
              <a:buNone/>
            </a:pPr>
            <a:r>
              <a:rPr lang="de-DE" b="1" dirty="0"/>
              <a:t>Bauernverband „</a:t>
            </a:r>
            <a:r>
              <a:rPr lang="de-DE" b="1" dirty="0" err="1"/>
              <a:t>VDAgrar</a:t>
            </a:r>
            <a:r>
              <a:rPr lang="de-DE" b="1" dirty="0"/>
              <a:t>“</a:t>
            </a:r>
          </a:p>
          <a:p>
            <a:pPr marL="0" indent="0">
              <a:buNone/>
            </a:pPr>
            <a:endParaRPr lang="de-DE" b="1" dirty="0"/>
          </a:p>
          <a:p>
            <a:r>
              <a:rPr lang="de-DE" sz="1800" dirty="0"/>
              <a:t>Der Bauernverband </a:t>
            </a:r>
            <a:r>
              <a:rPr lang="de-DE" sz="1800" dirty="0" err="1"/>
              <a:t>VDArgar</a:t>
            </a:r>
            <a:r>
              <a:rPr lang="de-DE" sz="1800" dirty="0"/>
              <a:t>  ist eine Interessenvereinigung Landwirte aus der Region.</a:t>
            </a:r>
          </a:p>
          <a:p>
            <a:endParaRPr lang="de-DE" sz="1800" dirty="0"/>
          </a:p>
          <a:p>
            <a:r>
              <a:rPr lang="de-DE" sz="1800" dirty="0"/>
              <a:t>Die Eigenschaften der transgenen Kartoffel (kalorienarme Verarbeitung) versprechen im Hinblick auf das gesteigerte Gesundheitsbewusstsein der Bevölkerung gute Chancen auf eine </a:t>
            </a:r>
            <a:r>
              <a:rPr lang="de-DE" sz="1800" b="1" dirty="0">
                <a:solidFill>
                  <a:schemeClr val="accent1"/>
                </a:solidFill>
              </a:rPr>
              <a:t>starke Nachfrage und somit guten Absatz</a:t>
            </a:r>
            <a:r>
              <a:rPr lang="de-DE" sz="1800" dirty="0"/>
              <a:t>. Außerdem lässt sich mit dieser Sorte auf der gleichen Anbaufläche und mit dem gleichen Aufwand mehr Stärke produzieren. Auf der anderen Seite steht natürlich die Befürchtung, durch Negativschlagzeilen über „</a:t>
            </a:r>
            <a:r>
              <a:rPr lang="de-DE" sz="1800" dirty="0" err="1"/>
              <a:t>Genfood</a:t>
            </a:r>
            <a:r>
              <a:rPr lang="de-DE" sz="1800" dirty="0"/>
              <a:t>“ Umsatzbußen zu erleiden und einen </a:t>
            </a:r>
            <a:r>
              <a:rPr lang="de-DE" sz="1800" b="1" dirty="0">
                <a:solidFill>
                  <a:schemeClr val="accent1"/>
                </a:solidFill>
              </a:rPr>
              <a:t>schweren Imageverlust </a:t>
            </a:r>
            <a:r>
              <a:rPr lang="de-DE" sz="1800" dirty="0"/>
              <a:t>davonzutragen.</a:t>
            </a:r>
          </a:p>
          <a:p>
            <a:endParaRPr lang="de-DE" sz="1800" dirty="0"/>
          </a:p>
          <a:p>
            <a:r>
              <a:rPr lang="de-DE" sz="1800" dirty="0"/>
              <a:t>Der </a:t>
            </a:r>
            <a:r>
              <a:rPr lang="de-DE" sz="1800" dirty="0" err="1"/>
              <a:t>VDArgar</a:t>
            </a:r>
            <a:r>
              <a:rPr lang="de-DE" sz="1800" dirty="0"/>
              <a:t> sieht sich daher in hohem Maße </a:t>
            </a:r>
            <a:r>
              <a:rPr lang="de-DE" sz="1800" b="1" dirty="0">
                <a:solidFill>
                  <a:schemeClr val="accent1"/>
                </a:solidFill>
              </a:rPr>
              <a:t>abhängig von der öffentlichen Meinung </a:t>
            </a:r>
            <a:r>
              <a:rPr lang="de-DE" sz="1800" dirty="0"/>
              <a:t>über die transgene  Kartoffel. </a:t>
            </a:r>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12</a:t>
            </a:fld>
            <a:endParaRPr lang="de-DE"/>
          </a:p>
        </p:txBody>
      </p:sp>
    </p:spTree>
    <p:extLst>
      <p:ext uri="{BB962C8B-B14F-4D97-AF65-F5344CB8AC3E}">
        <p14:creationId xmlns:p14="http://schemas.microsoft.com/office/powerpoint/2010/main" val="4756217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Bsp.: „Transgene Kartoffel –</a:t>
            </a:r>
            <a:br>
              <a:rPr lang="de-DE" dirty="0"/>
            </a:br>
            <a:r>
              <a:rPr lang="de-DE" dirty="0"/>
              <a:t>Umweltkiller oder Schlankmacher“</a:t>
            </a:r>
          </a:p>
        </p:txBody>
      </p:sp>
      <p:sp>
        <p:nvSpPr>
          <p:cNvPr id="3" name="Inhaltsplatzhalter 2"/>
          <p:cNvSpPr>
            <a:spLocks noGrp="1"/>
          </p:cNvSpPr>
          <p:nvPr>
            <p:ph sz="quarter" idx="1"/>
          </p:nvPr>
        </p:nvSpPr>
        <p:spPr/>
        <p:txBody>
          <a:bodyPr>
            <a:normAutofit fontScale="62500" lnSpcReduction="20000"/>
          </a:bodyPr>
          <a:lstStyle/>
          <a:p>
            <a:pPr marL="0" indent="0">
              <a:buNone/>
            </a:pPr>
            <a:r>
              <a:rPr lang="de-DE" b="1" dirty="0"/>
              <a:t>Politiker „Minister Erdapfel“</a:t>
            </a:r>
          </a:p>
          <a:p>
            <a:pPr marL="0" indent="0">
              <a:buNone/>
            </a:pPr>
            <a:endParaRPr lang="de-DE" b="1" dirty="0"/>
          </a:p>
          <a:p>
            <a:r>
              <a:rPr lang="de-DE" dirty="0"/>
              <a:t>Minister Erdapfel ist verantwortlich für </a:t>
            </a:r>
            <a:r>
              <a:rPr lang="de-DE" b="1" dirty="0">
                <a:solidFill>
                  <a:schemeClr val="accent1"/>
                </a:solidFill>
              </a:rPr>
              <a:t>Forschung und Landwirtschaft</a:t>
            </a:r>
            <a:r>
              <a:rPr lang="de-DE" dirty="0"/>
              <a:t>. In dieser Tätigkeit hat er Interessen verschiedener Gruppen (Verbraucher, Firmen, Wissenschaftler usw.) zu berücksichtigen.</a:t>
            </a:r>
          </a:p>
          <a:p>
            <a:r>
              <a:rPr lang="de-DE" dirty="0"/>
              <a:t>Er pflegt gleichzeitig Kontakt mit Vertretern der Forschung und der Bauernverbände und hat nebenbei den </a:t>
            </a:r>
            <a:r>
              <a:rPr lang="de-DE" b="1" dirty="0">
                <a:solidFill>
                  <a:schemeClr val="accent1"/>
                </a:solidFill>
              </a:rPr>
              <a:t>laufenden Wahlkampf </a:t>
            </a:r>
            <a:r>
              <a:rPr lang="de-DE" dirty="0"/>
              <a:t>im Hinterkopf.</a:t>
            </a:r>
          </a:p>
          <a:p>
            <a:r>
              <a:rPr lang="de-DE" dirty="0"/>
              <a:t>Allein beim Thema „Transgene Kartoffel“ ergeben sich für die Minister große Probleme, da jede Gruppe eine andere Meinung vertritt und schwerwiegende Argumente anführt. Die Bauernverbände verweisen auf die </a:t>
            </a:r>
            <a:r>
              <a:rPr lang="de-DE" b="1" dirty="0">
                <a:solidFill>
                  <a:schemeClr val="accent1"/>
                </a:solidFill>
              </a:rPr>
              <a:t>schwierige Lage der Landwirte </a:t>
            </a:r>
            <a:r>
              <a:rPr lang="de-DE" dirty="0"/>
              <a:t>und die Sorge um die Sicherheit der landwirtschaftlichen Produkte.</a:t>
            </a:r>
          </a:p>
          <a:p>
            <a:r>
              <a:rPr lang="de-DE" b="1" dirty="0">
                <a:solidFill>
                  <a:schemeClr val="accent1"/>
                </a:solidFill>
              </a:rPr>
              <a:t>Forscher hoffen auf Fördergelder </a:t>
            </a:r>
            <a:r>
              <a:rPr lang="de-DE" dirty="0"/>
              <a:t>für weitere Forschung und verweisen auf ihre Erfolge bei der Entwicklung neuer Technologien und damit verbundenen Arbeitsplätzen.</a:t>
            </a:r>
          </a:p>
          <a:p>
            <a:r>
              <a:rPr lang="de-DE" dirty="0"/>
              <a:t>Die </a:t>
            </a:r>
            <a:r>
              <a:rPr lang="de-DE" b="1" dirty="0">
                <a:solidFill>
                  <a:schemeClr val="accent1"/>
                </a:solidFill>
              </a:rPr>
              <a:t>öffentliche Meinung </a:t>
            </a:r>
            <a:r>
              <a:rPr lang="de-DE" dirty="0"/>
              <a:t>zum Thema Gentechnologie ist angespannt, das die Verbraucher (wählende Bürger) um die Sicherheit ihrer Nahrungsmittel bangen.</a:t>
            </a:r>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13</a:t>
            </a:fld>
            <a:endParaRPr lang="de-DE"/>
          </a:p>
        </p:txBody>
      </p:sp>
    </p:spTree>
    <p:extLst>
      <p:ext uri="{BB962C8B-B14F-4D97-AF65-F5344CB8AC3E}">
        <p14:creationId xmlns:p14="http://schemas.microsoft.com/office/powerpoint/2010/main" val="2828684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Bsp.: „Transgene Kartoffel –</a:t>
            </a:r>
            <a:br>
              <a:rPr lang="de-DE" dirty="0"/>
            </a:br>
            <a:r>
              <a:rPr lang="de-DE" dirty="0"/>
              <a:t>Umweltkiller oder Schlankmacher“</a:t>
            </a:r>
          </a:p>
        </p:txBody>
      </p:sp>
      <p:sp>
        <p:nvSpPr>
          <p:cNvPr id="3" name="Inhaltsplatzhalter 2"/>
          <p:cNvSpPr>
            <a:spLocks noGrp="1"/>
          </p:cNvSpPr>
          <p:nvPr>
            <p:ph sz="quarter" idx="1"/>
          </p:nvPr>
        </p:nvSpPr>
        <p:spPr/>
        <p:txBody>
          <a:bodyPr>
            <a:normAutofit fontScale="77500" lnSpcReduction="20000"/>
          </a:bodyPr>
          <a:lstStyle/>
          <a:p>
            <a:pPr marL="0" indent="0">
              <a:buNone/>
            </a:pPr>
            <a:r>
              <a:rPr lang="de-DE" b="1" dirty="0"/>
              <a:t>Wissenschaftler „Prof. Frosch“</a:t>
            </a:r>
          </a:p>
          <a:p>
            <a:pPr marL="0" indent="0">
              <a:buNone/>
            </a:pPr>
            <a:endParaRPr lang="de-DE" b="1" dirty="0"/>
          </a:p>
          <a:p>
            <a:r>
              <a:rPr lang="de-DE" sz="2300" dirty="0"/>
              <a:t>Professor Frosch beschäftigt sich seit vielen Jahren mit transgenen Pflanzen. Er beteiligt sich insbesondere an der Erforschung ökologischer Folgen des Anbaus der transgenen Kartoffel. Dazu hat er Freisetzungsversuche geplant, die den Rahmen des Gentechnikgesetzes überschreiten würden. Er empfindet die Versuche als notwendig, um positive oder negative ökologische Folgen der transgenen Kartoffel besser abschätzen zu kommen und die Übertragbarkeit der Laborerfahrungen ins Freiland zu untersuchen</a:t>
            </a:r>
          </a:p>
          <a:p>
            <a:endParaRPr lang="de-DE" sz="2300" dirty="0"/>
          </a:p>
          <a:p>
            <a:r>
              <a:rPr lang="de-DE" sz="2300" dirty="0"/>
              <a:t>Professor Frosch ist zunehmend von </a:t>
            </a:r>
            <a:r>
              <a:rPr lang="de-DE" sz="2300" b="1" dirty="0">
                <a:solidFill>
                  <a:schemeClr val="accent1"/>
                </a:solidFill>
              </a:rPr>
              <a:t>Finanzspritzen durch die Wirtschaft und die Politik</a:t>
            </a:r>
            <a:r>
              <a:rPr lang="de-DE" sz="2300" dirty="0"/>
              <a:t> abhängig. Diese wirtschaftlichen Überlegungen spielen z.B. bei </a:t>
            </a:r>
            <a:r>
              <a:rPr lang="de-DE" sz="2300" b="1" dirty="0">
                <a:solidFill>
                  <a:schemeClr val="accent1"/>
                </a:solidFill>
              </a:rPr>
              <a:t>Patentanmeldungen</a:t>
            </a:r>
            <a:r>
              <a:rPr lang="de-DE" sz="2300" dirty="0"/>
              <a:t> eine große Rolle. Aber auch sein wissenschaftlicher Stellenwert und Ruf als guter Wissenschaftler ist von der Aktualität und Bedeutung seiner Arbeit abhängig.</a:t>
            </a:r>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14</a:t>
            </a:fld>
            <a:endParaRPr lang="de-DE"/>
          </a:p>
        </p:txBody>
      </p:sp>
    </p:spTree>
    <p:extLst>
      <p:ext uri="{BB962C8B-B14F-4D97-AF65-F5344CB8AC3E}">
        <p14:creationId xmlns:p14="http://schemas.microsoft.com/office/powerpoint/2010/main" val="10331350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Bsp.: „Transgene Kartoffel –</a:t>
            </a:r>
            <a:br>
              <a:rPr lang="de-DE" dirty="0"/>
            </a:br>
            <a:r>
              <a:rPr lang="de-DE" dirty="0"/>
              <a:t>Umweltkiller oder Schlankmacher“</a:t>
            </a:r>
          </a:p>
        </p:txBody>
      </p:sp>
      <p:sp>
        <p:nvSpPr>
          <p:cNvPr id="3" name="Inhaltsplatzhalter 2"/>
          <p:cNvSpPr>
            <a:spLocks noGrp="1"/>
          </p:cNvSpPr>
          <p:nvPr>
            <p:ph sz="quarter" idx="1"/>
          </p:nvPr>
        </p:nvSpPr>
        <p:spPr/>
        <p:txBody>
          <a:bodyPr>
            <a:normAutofit/>
          </a:bodyPr>
          <a:lstStyle/>
          <a:p>
            <a:pPr marL="0" indent="0">
              <a:buNone/>
            </a:pPr>
            <a:r>
              <a:rPr lang="de-DE" b="1" dirty="0"/>
              <a:t>Verbraucher „Familie Normalo“</a:t>
            </a:r>
          </a:p>
          <a:p>
            <a:pPr marL="0" indent="0">
              <a:buNone/>
            </a:pPr>
            <a:endParaRPr lang="de-DE" b="1" dirty="0"/>
          </a:p>
          <a:p>
            <a:r>
              <a:rPr lang="de-DE" sz="2000" dirty="0"/>
              <a:t>Die Informationen zum Thema Gentechnik waren sehr komplex und Familie Normalo hat nun Bedenken, auch gegenüber </a:t>
            </a:r>
            <a:r>
              <a:rPr lang="de-DE" sz="2000" b="1" dirty="0">
                <a:solidFill>
                  <a:schemeClr val="accent1"/>
                </a:solidFill>
              </a:rPr>
              <a:t>gentechnisch veränderten Nahrungsmitteln</a:t>
            </a:r>
            <a:r>
              <a:rPr lang="de-DE" sz="2000" dirty="0"/>
              <a:t>.</a:t>
            </a:r>
          </a:p>
          <a:p>
            <a:endParaRPr lang="de-DE" sz="2000" dirty="0"/>
          </a:p>
          <a:p>
            <a:r>
              <a:rPr lang="de-DE" sz="2000" dirty="0"/>
              <a:t>Niemand konnte ihnen bisher genaueres sagen und so quälen sie nun eine ganze Menge Fragen. Können diese Nahrungsmittel durch schlechte Verträglichkeit, Verdaulichkeit oder durch die Bildung unbekannter Inhaltsstoffe </a:t>
            </a:r>
            <a:r>
              <a:rPr lang="de-DE" sz="2000" b="1" dirty="0">
                <a:solidFill>
                  <a:schemeClr val="accent1"/>
                </a:solidFill>
              </a:rPr>
              <a:t>Stoffwechselstörungen</a:t>
            </a:r>
            <a:r>
              <a:rPr lang="de-DE" sz="2000" dirty="0"/>
              <a:t> verursachen?</a:t>
            </a:r>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15</a:t>
            </a:fld>
            <a:endParaRPr lang="de-DE"/>
          </a:p>
        </p:txBody>
      </p:sp>
    </p:spTree>
    <p:extLst>
      <p:ext uri="{BB962C8B-B14F-4D97-AF65-F5344CB8AC3E}">
        <p14:creationId xmlns:p14="http://schemas.microsoft.com/office/powerpoint/2010/main" val="1196749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Funktionen der Leittexte</a:t>
            </a:r>
          </a:p>
        </p:txBody>
      </p:sp>
      <p:sp>
        <p:nvSpPr>
          <p:cNvPr id="3" name="Inhaltsplatzhalter 2"/>
          <p:cNvSpPr>
            <a:spLocks noGrp="1"/>
          </p:cNvSpPr>
          <p:nvPr>
            <p:ph sz="quarter" idx="1"/>
          </p:nvPr>
        </p:nvSpPr>
        <p:spPr/>
        <p:txBody>
          <a:bodyPr>
            <a:normAutofit fontScale="85000" lnSpcReduction="20000"/>
          </a:bodyPr>
          <a:lstStyle/>
          <a:p>
            <a:r>
              <a:rPr lang="de-DE" dirty="0"/>
              <a:t>Sie führen in den Ausbildungsabschnitt ein. </a:t>
            </a:r>
          </a:p>
          <a:p>
            <a:endParaRPr lang="de-DE" dirty="0"/>
          </a:p>
          <a:p>
            <a:r>
              <a:rPr lang="de-DE" dirty="0"/>
              <a:t>Sie erläutern die „Spielregeln“ für den folgenden Lern- und Arbeitsprozess. </a:t>
            </a:r>
          </a:p>
          <a:p>
            <a:endParaRPr lang="de-DE" dirty="0"/>
          </a:p>
          <a:p>
            <a:r>
              <a:rPr lang="de-DE" dirty="0"/>
              <a:t>Sie stellen die anstehende praktische Aufgabe vor. </a:t>
            </a:r>
          </a:p>
          <a:p>
            <a:endParaRPr lang="de-DE" dirty="0"/>
          </a:p>
          <a:p>
            <a:r>
              <a:rPr lang="de-DE" dirty="0"/>
              <a:t>Sie leiten mit Leitfragen und Impulsen den Kenntniserwerb und die Arbeitsplanung an. </a:t>
            </a:r>
          </a:p>
          <a:p>
            <a:endParaRPr lang="de-DE" dirty="0"/>
          </a:p>
          <a:p>
            <a:r>
              <a:rPr lang="de-DE" dirty="0"/>
              <a:t>Sie geben Hinweise, anhand welcher Medien die Kenntnisse erarbeitet werden können und stellen ggf. auch Informationen bereit. </a:t>
            </a:r>
          </a:p>
          <a:p>
            <a:endParaRPr lang="de-DE" dirty="0"/>
          </a:p>
          <a:p>
            <a:r>
              <a:rPr lang="de-DE" dirty="0"/>
              <a:t>Sie geben Anleitung zur Selbst- und Fremdeinschätzung der geleisteten Arbeit. </a:t>
            </a:r>
          </a:p>
          <a:p>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16</a:t>
            </a:fld>
            <a:endParaRPr lang="de-DE"/>
          </a:p>
        </p:txBody>
      </p:sp>
    </p:spTree>
    <p:extLst>
      <p:ext uri="{BB962C8B-B14F-4D97-AF65-F5344CB8AC3E}">
        <p14:creationId xmlns:p14="http://schemas.microsoft.com/office/powerpoint/2010/main" val="41362536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Merkmale leittextgestützten Lernens</a:t>
            </a:r>
          </a:p>
        </p:txBody>
      </p:sp>
      <p:sp>
        <p:nvSpPr>
          <p:cNvPr id="3" name="Inhaltsplatzhalter 2"/>
          <p:cNvSpPr>
            <a:spLocks noGrp="1"/>
          </p:cNvSpPr>
          <p:nvPr>
            <p:ph sz="quarter" idx="1"/>
          </p:nvPr>
        </p:nvSpPr>
        <p:spPr/>
        <p:txBody>
          <a:bodyPr>
            <a:normAutofit fontScale="70000" lnSpcReduction="20000"/>
          </a:bodyPr>
          <a:lstStyle/>
          <a:p>
            <a:r>
              <a:rPr lang="de-DE" sz="2600" dirty="0"/>
              <a:t>Die Lernenden bearbeiten komplexe Aufgabenstellungen selbstständig. </a:t>
            </a:r>
          </a:p>
          <a:p>
            <a:endParaRPr lang="de-DE" sz="2600" dirty="0"/>
          </a:p>
          <a:p>
            <a:r>
              <a:rPr lang="de-DE" sz="2600" dirty="0"/>
              <a:t>Die für die Aufgabenbewältigung erforderlichen Kenntnisse erarbeiten sich die Lernenden selbstständig aus bereitstehenden Medien, angeleitet durch </a:t>
            </a:r>
            <a:r>
              <a:rPr lang="de-DE" sz="2600" b="1" dirty="0">
                <a:solidFill>
                  <a:schemeClr val="accent1"/>
                </a:solidFill>
              </a:rPr>
              <a:t>Leitfragen</a:t>
            </a:r>
            <a:r>
              <a:rPr lang="de-DE" sz="2600" dirty="0"/>
              <a:t>. </a:t>
            </a:r>
          </a:p>
          <a:p>
            <a:endParaRPr lang="de-DE" sz="2600" dirty="0"/>
          </a:p>
          <a:p>
            <a:r>
              <a:rPr lang="de-DE" sz="2600" dirty="0"/>
              <a:t>Die Lernenden planen selbst, teilweise gestützt aus </a:t>
            </a:r>
            <a:r>
              <a:rPr lang="de-DE" sz="2600" b="1" dirty="0">
                <a:solidFill>
                  <a:schemeClr val="accent1"/>
                </a:solidFill>
              </a:rPr>
              <a:t>Planungsraster</a:t>
            </a:r>
            <a:r>
              <a:rPr lang="de-DE" sz="2600" dirty="0">
                <a:solidFill>
                  <a:schemeClr val="accent1"/>
                </a:solidFill>
              </a:rPr>
              <a:t> </a:t>
            </a:r>
            <a:r>
              <a:rPr lang="de-DE" sz="2600" dirty="0"/>
              <a:t>oder andere Hilfsmittel, die Durchführung der Arbeiten. </a:t>
            </a:r>
          </a:p>
          <a:p>
            <a:endParaRPr lang="de-DE" sz="2600" dirty="0"/>
          </a:p>
          <a:p>
            <a:r>
              <a:rPr lang="de-DE" sz="2600" dirty="0"/>
              <a:t>Die Lernenden üben neue Fertigkeiten an sogenannten </a:t>
            </a:r>
            <a:r>
              <a:rPr lang="de-DE" sz="2600" b="1" dirty="0">
                <a:solidFill>
                  <a:schemeClr val="accent1"/>
                </a:solidFill>
              </a:rPr>
              <a:t>Übungshilfen</a:t>
            </a:r>
            <a:r>
              <a:rPr lang="de-DE" sz="2600" dirty="0"/>
              <a:t>, wobei sie weitgehend selbst über das Ausmaß der Übungen entscheiden. </a:t>
            </a:r>
          </a:p>
          <a:p>
            <a:endParaRPr lang="de-DE" sz="2600" dirty="0"/>
          </a:p>
          <a:p>
            <a:r>
              <a:rPr lang="de-DE" sz="2600" dirty="0"/>
              <a:t>Nach Abschluss angemessener Teilaufgaben werten die Lernenden den Verlauf und die Ergebnisse ihrer Arbeit zunächst selbst aus und besprechen ihre Auswertung schließlich mit dem Ausbilder. </a:t>
            </a:r>
          </a:p>
          <a:p>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17</a:t>
            </a:fld>
            <a:endParaRPr lang="de-DE"/>
          </a:p>
        </p:txBody>
      </p:sp>
    </p:spTree>
    <p:extLst>
      <p:ext uri="{BB962C8B-B14F-4D97-AF65-F5344CB8AC3E}">
        <p14:creationId xmlns:p14="http://schemas.microsoft.com/office/powerpoint/2010/main" val="27222458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Leitfragen erstellen</a:t>
            </a:r>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18</a:t>
            </a:fld>
            <a:endParaRPr lang="de-DE"/>
          </a:p>
        </p:txBody>
      </p:sp>
      <p:pic>
        <p:nvPicPr>
          <p:cNvPr id="1026" name="Picture 2"/>
          <p:cNvPicPr>
            <a:picLocks noChangeAspect="1" noChangeArrowheads="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323528" y="1502618"/>
            <a:ext cx="8210550" cy="523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45506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Ablauf</a:t>
            </a:r>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19</a:t>
            </a:fld>
            <a:endParaRPr lang="de-DE"/>
          </a:p>
        </p:txBody>
      </p:sp>
      <p:pic>
        <p:nvPicPr>
          <p:cNvPr id="5" name="Picture 5"/>
          <p:cNvPicPr>
            <a:picLocks noChangeAspect="1" noChangeArrowheads="1"/>
          </p:cNvPicPr>
          <p:nvPr/>
        </p:nvPicPr>
        <p:blipFill>
          <a:blip r:embed="rId2">
            <a:lum contrast="20000"/>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a:xfrm>
            <a:off x="827585" y="1412776"/>
            <a:ext cx="7059116" cy="5257800"/>
          </a:xfrm>
          <a:prstGeom prst="rect">
            <a:avLst/>
          </a:prstGeom>
          <a:noFill/>
        </p:spPr>
      </p:pic>
    </p:spTree>
    <p:extLst>
      <p:ext uri="{BB962C8B-B14F-4D97-AF65-F5344CB8AC3E}">
        <p14:creationId xmlns:p14="http://schemas.microsoft.com/office/powerpoint/2010/main" val="10770511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Definition Experiment</a:t>
            </a:r>
          </a:p>
        </p:txBody>
      </p:sp>
      <p:sp>
        <p:nvSpPr>
          <p:cNvPr id="3" name="Inhaltsplatzhalter 2"/>
          <p:cNvSpPr>
            <a:spLocks noGrp="1"/>
          </p:cNvSpPr>
          <p:nvPr>
            <p:ph sz="quarter" idx="1"/>
          </p:nvPr>
        </p:nvSpPr>
        <p:spPr/>
        <p:txBody>
          <a:bodyPr/>
          <a:lstStyle/>
          <a:p>
            <a:pPr marL="0" indent="0">
              <a:buNone/>
            </a:pPr>
            <a:r>
              <a:rPr lang="de-DE" dirty="0"/>
              <a:t>Ein Experiment ist eine Unterrichtskonzeption mit induktivem Erkenntnisweg. Ausgangspunkt ist ein technisches oder naturwissenschaftlich Phänomen, welches unter kontrollierten/eingeschränkten Bedingungen nachgestellt/simuliert und analysiert wird.</a:t>
            </a:r>
          </a:p>
          <a:p>
            <a:pPr marL="0" indent="0">
              <a:buNone/>
            </a:pPr>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20</a:t>
            </a:fld>
            <a:endParaRPr lang="de-DE"/>
          </a:p>
        </p:txBody>
      </p:sp>
    </p:spTree>
    <p:extLst>
      <p:ext uri="{BB962C8B-B14F-4D97-AF65-F5344CB8AC3E}">
        <p14:creationId xmlns:p14="http://schemas.microsoft.com/office/powerpoint/2010/main" val="17337925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Arten von Experimenten klassifiziert…</a:t>
            </a:r>
          </a:p>
        </p:txBody>
      </p:sp>
      <p:sp>
        <p:nvSpPr>
          <p:cNvPr id="3" name="Inhaltsplatzhalter 2"/>
          <p:cNvSpPr>
            <a:spLocks noGrp="1"/>
          </p:cNvSpPr>
          <p:nvPr>
            <p:ph sz="quarter" idx="1"/>
          </p:nvPr>
        </p:nvSpPr>
        <p:spPr/>
        <p:txBody>
          <a:bodyPr>
            <a:normAutofit fontScale="70000" lnSpcReduction="20000"/>
          </a:bodyPr>
          <a:lstStyle/>
          <a:p>
            <a:pPr marL="0" indent="0">
              <a:buNone/>
            </a:pPr>
            <a:r>
              <a:rPr lang="de-DE" sz="2600" b="1" dirty="0"/>
              <a:t>…nach dem Erkenntnisziel:</a:t>
            </a:r>
          </a:p>
          <a:p>
            <a:pPr lvl="1"/>
            <a:r>
              <a:rPr lang="de-DE" sz="2200" dirty="0"/>
              <a:t>Naturwissenschaftliches Experiment</a:t>
            </a:r>
          </a:p>
          <a:p>
            <a:pPr lvl="1"/>
            <a:r>
              <a:rPr lang="de-DE" sz="2200" dirty="0"/>
              <a:t>Technisches Experiment</a:t>
            </a:r>
          </a:p>
          <a:p>
            <a:pPr marL="0" indent="0">
              <a:buNone/>
            </a:pPr>
            <a:endParaRPr lang="de-DE" sz="2600" b="1" dirty="0"/>
          </a:p>
          <a:p>
            <a:pPr marL="0" indent="0">
              <a:buNone/>
            </a:pPr>
            <a:r>
              <a:rPr lang="de-DE" sz="2600" b="1" dirty="0"/>
              <a:t>…nach ihrer didaktischen Funktion:</a:t>
            </a:r>
          </a:p>
          <a:p>
            <a:pPr lvl="1"/>
            <a:r>
              <a:rPr lang="de-DE" sz="2200" dirty="0"/>
              <a:t>Experimente zum Einstieg in eine bestimmte Thematik</a:t>
            </a:r>
          </a:p>
          <a:p>
            <a:pPr lvl="1"/>
            <a:r>
              <a:rPr lang="de-DE" sz="2200" dirty="0"/>
              <a:t>Experimente für die Erarbeitung von Erkenntnissen</a:t>
            </a:r>
          </a:p>
          <a:p>
            <a:pPr lvl="1"/>
            <a:r>
              <a:rPr lang="de-DE" sz="2200" dirty="0"/>
              <a:t>Experimente zur Übung, Festigung, Falsifikation und Verifikation</a:t>
            </a:r>
          </a:p>
          <a:p>
            <a:pPr lvl="1"/>
            <a:r>
              <a:rPr lang="de-DE" sz="2200" dirty="0"/>
              <a:t>Experimente zur Leistungskontrolle</a:t>
            </a:r>
          </a:p>
          <a:p>
            <a:endParaRPr lang="de-DE" sz="2600" dirty="0"/>
          </a:p>
          <a:p>
            <a:pPr marL="0" indent="0">
              <a:buNone/>
            </a:pPr>
            <a:r>
              <a:rPr lang="de-DE" sz="2600" b="1" dirty="0"/>
              <a:t>…nach ihrer Sozial- und Organisationsform:</a:t>
            </a:r>
          </a:p>
          <a:p>
            <a:pPr lvl="1"/>
            <a:r>
              <a:rPr lang="de-DE" sz="2200" dirty="0"/>
              <a:t>Lehrerexperiment (Demonstration)</a:t>
            </a:r>
          </a:p>
          <a:p>
            <a:pPr lvl="1"/>
            <a:r>
              <a:rPr lang="de-DE" sz="2200" dirty="0"/>
              <a:t>Schülerexperiment in Einzelarbeit, in Partnerarbeit oder in Gruppenarbeit</a:t>
            </a:r>
          </a:p>
          <a:p>
            <a:pPr marL="0" indent="0">
              <a:buNone/>
            </a:pPr>
            <a:endParaRPr lang="de-DE" sz="2600" dirty="0"/>
          </a:p>
          <a:p>
            <a:pPr marL="0" indent="0">
              <a:buNone/>
            </a:pPr>
            <a:r>
              <a:rPr lang="de-DE" sz="2600" b="1" dirty="0"/>
              <a:t>…nach ihrem Wirklichkeitsbezug:</a:t>
            </a:r>
          </a:p>
          <a:p>
            <a:pPr lvl="1"/>
            <a:r>
              <a:rPr lang="de-DE" sz="2200" dirty="0"/>
              <a:t>Experimente mit Modellen</a:t>
            </a:r>
          </a:p>
          <a:p>
            <a:pPr lvl="1"/>
            <a:r>
              <a:rPr lang="de-DE" sz="2200" dirty="0"/>
              <a:t>Experimente mit Realgegenständen</a:t>
            </a:r>
          </a:p>
          <a:p>
            <a:pPr lvl="1"/>
            <a:r>
              <a:rPr lang="de-DE" sz="2200" dirty="0"/>
              <a:t>Gedankenexperiment</a:t>
            </a:r>
          </a:p>
          <a:p>
            <a:pPr marL="0" indent="0">
              <a:buNone/>
            </a:pPr>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21</a:t>
            </a:fld>
            <a:endParaRPr lang="de-DE"/>
          </a:p>
        </p:txBody>
      </p:sp>
    </p:spTree>
    <p:extLst>
      <p:ext uri="{BB962C8B-B14F-4D97-AF65-F5344CB8AC3E}">
        <p14:creationId xmlns:p14="http://schemas.microsoft.com/office/powerpoint/2010/main" val="39441864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Methodische Phasen von Experimenten</a:t>
            </a:r>
            <a:br>
              <a:rPr lang="de-DE" dirty="0"/>
            </a:br>
            <a:r>
              <a:rPr lang="de-DE" dirty="0"/>
              <a:t>nach BERNARD</a:t>
            </a:r>
          </a:p>
        </p:txBody>
      </p:sp>
      <p:sp>
        <p:nvSpPr>
          <p:cNvPr id="3" name="Inhaltsplatzhalter 2"/>
          <p:cNvSpPr>
            <a:spLocks noGrp="1"/>
          </p:cNvSpPr>
          <p:nvPr>
            <p:ph sz="quarter" idx="1"/>
          </p:nvPr>
        </p:nvSpPr>
        <p:spPr/>
        <p:txBody>
          <a:bodyPr>
            <a:normAutofit fontScale="62500" lnSpcReduction="20000"/>
          </a:bodyPr>
          <a:lstStyle/>
          <a:p>
            <a:pPr marL="457200" indent="-457200">
              <a:buSzPct val="100000"/>
              <a:buFont typeface="+mj-lt"/>
              <a:buAutoNum type="arabicPeriod"/>
            </a:pPr>
            <a:r>
              <a:rPr lang="de-DE" dirty="0"/>
              <a:t>Aufstellen von Hypothesen</a:t>
            </a:r>
          </a:p>
          <a:p>
            <a:pPr marL="457200" indent="-457200">
              <a:buSzPct val="100000"/>
              <a:buFont typeface="+mj-lt"/>
              <a:buAutoNum type="arabicPeriod"/>
            </a:pPr>
            <a:r>
              <a:rPr lang="de-DE" dirty="0"/>
              <a:t>Herausarbeiten experimenteller Fragestellungen</a:t>
            </a:r>
          </a:p>
          <a:p>
            <a:pPr marL="457200" indent="-457200">
              <a:buSzPct val="100000"/>
              <a:buFont typeface="+mj-lt"/>
              <a:buAutoNum type="arabicPeriod"/>
            </a:pPr>
            <a:r>
              <a:rPr lang="de-DE" dirty="0"/>
              <a:t>Vorbereiten und Durchführen des Experiments</a:t>
            </a:r>
          </a:p>
          <a:p>
            <a:pPr marL="457200" indent="-457200">
              <a:buSzPct val="100000"/>
              <a:buFont typeface="+mj-lt"/>
              <a:buAutoNum type="arabicPeriod"/>
            </a:pPr>
            <a:r>
              <a:rPr lang="de-DE" dirty="0"/>
              <a:t>Auswerten der Ergebnisse des Experiments</a:t>
            </a:r>
          </a:p>
          <a:p>
            <a:pPr marL="457200" indent="-457200">
              <a:buSzPct val="100000"/>
              <a:buFont typeface="+mj-lt"/>
              <a:buAutoNum type="arabicPeriod"/>
            </a:pPr>
            <a:endParaRPr lang="de-DE" dirty="0"/>
          </a:p>
          <a:p>
            <a:pPr marL="0" indent="0">
              <a:buSzPct val="100000"/>
              <a:buNone/>
            </a:pPr>
            <a:r>
              <a:rPr lang="de-DE" u="sng" dirty="0"/>
              <a:t>Beispiel: </a:t>
            </a:r>
            <a:r>
              <a:rPr lang="de-DE" u="sng" dirty="0" err="1"/>
              <a:t>Hooke‘sches</a:t>
            </a:r>
            <a:r>
              <a:rPr lang="de-DE" u="sng" dirty="0"/>
              <a:t> Gesetz für das elastische Verhalten von Werkstoffen</a:t>
            </a:r>
          </a:p>
          <a:p>
            <a:pPr marL="457200" indent="-457200">
              <a:buSzPct val="100000"/>
              <a:buFont typeface="+mj-lt"/>
              <a:buAutoNum type="arabicPeriod"/>
            </a:pPr>
            <a:r>
              <a:rPr lang="de-DE" dirty="0"/>
              <a:t>Analyse der Problemstellung</a:t>
            </a:r>
          </a:p>
          <a:p>
            <a:pPr lvl="1">
              <a:buSzPct val="100000"/>
            </a:pPr>
            <a:r>
              <a:rPr lang="de-DE" dirty="0"/>
              <a:t>Verhältnis von Dehnung bei vorliegender Belastung</a:t>
            </a:r>
          </a:p>
          <a:p>
            <a:pPr marL="457200" indent="-457200">
              <a:buSzPct val="100000"/>
              <a:buFont typeface="+mj-lt"/>
              <a:buAutoNum type="arabicPeriod"/>
            </a:pPr>
            <a:r>
              <a:rPr lang="de-DE" dirty="0"/>
              <a:t>Hypothesenbildung und experimentelle Fragestellung</a:t>
            </a:r>
          </a:p>
          <a:p>
            <a:pPr marL="822960" lvl="1" indent="-457200">
              <a:buSzPct val="100000"/>
              <a:buFont typeface="+mj-lt"/>
              <a:buAutoNum type="arabicPeriod"/>
            </a:pPr>
            <a:r>
              <a:rPr lang="de-DE" dirty="0"/>
              <a:t>Erfolgt die Dehnung proportional zur Spannung?</a:t>
            </a:r>
          </a:p>
          <a:p>
            <a:pPr marL="822960" lvl="1" indent="-457200">
              <a:buSzPct val="100000"/>
              <a:buFont typeface="+mj-lt"/>
              <a:buAutoNum type="arabicPeriod"/>
            </a:pPr>
            <a:r>
              <a:rPr lang="de-DE" dirty="0"/>
              <a:t>Ergibt die graphische Auswertung eine Gerade?</a:t>
            </a:r>
          </a:p>
          <a:p>
            <a:pPr marL="822960" lvl="1" indent="-457200">
              <a:buSzPct val="100000"/>
              <a:buFont typeface="+mj-lt"/>
              <a:buAutoNum type="arabicPeriod"/>
            </a:pPr>
            <a:r>
              <a:rPr lang="de-DE" dirty="0"/>
              <a:t>Wo liegt die Proportionalitätsgrenze?</a:t>
            </a:r>
          </a:p>
          <a:p>
            <a:pPr marL="457200" indent="-457200">
              <a:buSzPct val="100000"/>
              <a:buFont typeface="+mj-lt"/>
              <a:buAutoNum type="arabicPeriod"/>
            </a:pPr>
            <a:r>
              <a:rPr lang="de-DE" dirty="0"/>
              <a:t>Durchführung des Experiments</a:t>
            </a:r>
          </a:p>
          <a:p>
            <a:pPr marL="457200" indent="-457200">
              <a:buSzPct val="100000"/>
              <a:buFont typeface="+mj-lt"/>
              <a:buAutoNum type="arabicPeriod"/>
            </a:pPr>
            <a:r>
              <a:rPr lang="de-DE" dirty="0"/>
              <a:t>Auswertung der Ergebnisse des Experiments</a:t>
            </a:r>
          </a:p>
          <a:p>
            <a:pPr lvl="1">
              <a:buSzPct val="100000"/>
            </a:pPr>
            <a:r>
              <a:rPr lang="de-DE" dirty="0"/>
              <a:t>Kurven im Spannungs-Dehnungs-Diagramm</a:t>
            </a:r>
          </a:p>
          <a:p>
            <a:pPr lvl="1">
              <a:buSzPct val="100000"/>
            </a:pPr>
            <a:r>
              <a:rPr lang="de-DE" dirty="0"/>
              <a:t>Beantwortung der Fragen</a:t>
            </a:r>
          </a:p>
          <a:p>
            <a:pPr lvl="1">
              <a:buSzPct val="100000"/>
            </a:pPr>
            <a:r>
              <a:rPr lang="de-DE" dirty="0"/>
              <a:t>Bestätigung der Hypothese</a:t>
            </a:r>
          </a:p>
          <a:p>
            <a:pPr marL="0" indent="0">
              <a:buSzPct val="100000"/>
              <a:buNone/>
            </a:pPr>
            <a:r>
              <a:rPr lang="de-DE" dirty="0"/>
              <a:t>						</a:t>
            </a:r>
            <a:r>
              <a:rPr lang="de-DE" sz="1900" dirty="0"/>
              <a:t>(BERNARD 1995)</a:t>
            </a:r>
          </a:p>
          <a:p>
            <a:pPr marL="0" indent="0">
              <a:buSzPct val="100000"/>
              <a:buNone/>
            </a:pPr>
            <a:r>
              <a:rPr lang="de-DE" sz="1900" dirty="0"/>
              <a:t>Bernard, F.; Ebert, D.; Schröder, B.: Unterricht Metalltechnik – Fachdidaktische Handlungsanleitung. Handwerk und Technik. Hamburg 1995.</a:t>
            </a:r>
          </a:p>
          <a:p>
            <a:pPr marL="457200" indent="-457200">
              <a:buSzPct val="100000"/>
              <a:buFont typeface="+mj-lt"/>
              <a:buAutoNum type="arabicPeriod"/>
            </a:pPr>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22</a:t>
            </a:fld>
            <a:endParaRPr lang="de-DE"/>
          </a:p>
        </p:txBody>
      </p:sp>
    </p:spTree>
    <p:extLst>
      <p:ext uri="{BB962C8B-B14F-4D97-AF65-F5344CB8AC3E}">
        <p14:creationId xmlns:p14="http://schemas.microsoft.com/office/powerpoint/2010/main" val="9213759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Methodische Phasen von Experimenten</a:t>
            </a:r>
            <a:br>
              <a:rPr lang="de-DE" dirty="0"/>
            </a:br>
            <a:r>
              <a:rPr lang="de-DE" dirty="0"/>
              <a:t>nach BADER</a:t>
            </a:r>
          </a:p>
        </p:txBody>
      </p:sp>
      <p:sp>
        <p:nvSpPr>
          <p:cNvPr id="3" name="Inhaltsplatzhalter 2"/>
          <p:cNvSpPr>
            <a:spLocks noGrp="1"/>
          </p:cNvSpPr>
          <p:nvPr>
            <p:ph sz="quarter" idx="1"/>
          </p:nvPr>
        </p:nvSpPr>
        <p:spPr/>
        <p:txBody>
          <a:bodyPr>
            <a:normAutofit fontScale="25000" lnSpcReduction="20000"/>
          </a:bodyPr>
          <a:lstStyle/>
          <a:p>
            <a:pPr marL="457200" indent="-457200">
              <a:buSzPct val="100000"/>
              <a:buFont typeface="+mj-lt"/>
              <a:buAutoNum type="arabicPeriod"/>
            </a:pPr>
            <a:r>
              <a:rPr lang="de-DE" sz="6000" dirty="0"/>
              <a:t>Beobachten eines Phänomens (z.B. Bauteile verformen sich unter Belastung)</a:t>
            </a:r>
          </a:p>
          <a:p>
            <a:pPr marL="457200" indent="-457200">
              <a:buSzPct val="100000"/>
              <a:buFont typeface="+mj-lt"/>
              <a:buAutoNum type="arabicPeriod"/>
            </a:pPr>
            <a:r>
              <a:rPr lang="de-DE" sz="6000" dirty="0"/>
              <a:t>Formulieren einer Frage bzw. eines Hypothese (z.B. Welcher Zusammenhang besteht zwischen wirkender Kraft und der Formänderung eines Bauteils)</a:t>
            </a:r>
          </a:p>
          <a:p>
            <a:pPr marL="457200" indent="-457200">
              <a:buSzPct val="100000"/>
              <a:buFont typeface="+mj-lt"/>
              <a:buAutoNum type="arabicPeriod"/>
            </a:pPr>
            <a:r>
              <a:rPr lang="de-DE" sz="6000" dirty="0"/>
              <a:t>Planen eines Experiments, d.h. Schaffen einer künstlichen, technischen Wirklichkeit unter Beachtung bestimmter Randbedingungen (z.B. Planen eines Zug-Versuchs: Festlegen von Variablen und Konstanten; Einspannvorrichtung; Aufbringen der Last; Abmessungen der Probe; Laststeigerung in der Zeiteinheit; Abschätzen vom Messfehlern)</a:t>
            </a:r>
          </a:p>
          <a:p>
            <a:pPr marL="457200" indent="-457200">
              <a:buSzPct val="100000"/>
              <a:buFont typeface="+mj-lt"/>
              <a:buAutoNum type="arabicPeriod"/>
            </a:pPr>
            <a:r>
              <a:rPr lang="de-DE" sz="6000" dirty="0"/>
              <a:t>Durchführen eines Experiments (Beobachten, Messen, Protokollieren, Auswerten …)</a:t>
            </a:r>
          </a:p>
          <a:p>
            <a:pPr marL="457200" indent="-457200">
              <a:buSzPct val="100000"/>
              <a:buFont typeface="+mj-lt"/>
              <a:buAutoNum type="arabicPeriod"/>
            </a:pPr>
            <a:r>
              <a:rPr lang="de-DE" sz="6000" dirty="0"/>
              <a:t>Formulieren einer Aussage (eines Ergebnisses) bzw. Stützen, Falsifizieren der Ausgangshypothese unter Berücksichtigung der Randbedingungen und der Messgenauigkeit (z.B. Gültigkeit des </a:t>
            </a:r>
            <a:r>
              <a:rPr lang="de-DE" sz="6000" dirty="0" err="1"/>
              <a:t>Hooke‘schen</a:t>
            </a:r>
            <a:r>
              <a:rPr lang="de-DE" sz="6000" dirty="0"/>
              <a:t> Gesetzes für einen bestimmten Werkstoff, für einen bestimmten Lastbereich)</a:t>
            </a:r>
          </a:p>
          <a:p>
            <a:pPr marL="457200" indent="-457200">
              <a:buSzPct val="100000"/>
              <a:buFont typeface="+mj-lt"/>
              <a:buAutoNum type="arabicPeriod"/>
            </a:pPr>
            <a:r>
              <a:rPr lang="de-DE" sz="6000" dirty="0"/>
              <a:t>Einordnen der Teilaussagen in eine umfassende Theorie (z.B. Annahme eines einachsigen Spannungszustandes; Spannungshypothesen)</a:t>
            </a:r>
          </a:p>
          <a:p>
            <a:pPr marL="457200" indent="-457200">
              <a:buSzPct val="100000"/>
              <a:buFont typeface="+mj-lt"/>
              <a:buAutoNum type="arabicPeriod"/>
            </a:pPr>
            <a:r>
              <a:rPr lang="de-DE" sz="6000" dirty="0"/>
              <a:t>Reflexion über Konsequenzen der Aussagen, über Anwendungsmöglichkeiten (z.B. Übereinstimmung der experimentellen Ergebnisse mit dem Verhalten eines Bauteils im Gebrauchszustand; Möglichkeiten der rechnerischen Dimensionierung von Bauteilen)</a:t>
            </a:r>
            <a:endParaRPr lang="de-DE" dirty="0"/>
          </a:p>
          <a:p>
            <a:pPr marL="0" indent="0">
              <a:buSzPct val="100000"/>
              <a:buNone/>
            </a:pPr>
            <a:r>
              <a:rPr lang="de-DE" dirty="0"/>
              <a:t>			</a:t>
            </a:r>
            <a:r>
              <a:rPr lang="de-DE" sz="4800" dirty="0"/>
              <a:t>			                  (BADER 1990)</a:t>
            </a:r>
          </a:p>
          <a:p>
            <a:pPr marL="0" indent="0">
              <a:buSzPct val="100000"/>
              <a:buNone/>
            </a:pPr>
            <a:r>
              <a:rPr lang="de-DE" sz="4800" dirty="0"/>
              <a:t>Bader, R.: Entwicklung beruflicher Handlungskompetenz in der Berufsschule / Zum Begriff der </a:t>
            </a:r>
          </a:p>
          <a:p>
            <a:pPr marL="0" indent="0">
              <a:buSzPct val="100000"/>
              <a:buNone/>
            </a:pPr>
            <a:r>
              <a:rPr lang="de-DE" sz="4800" dirty="0"/>
              <a:t>„beruflichen Handlungskompetenz“ und zur didaktischen Strukturierung handlungsorientierten </a:t>
            </a:r>
          </a:p>
          <a:p>
            <a:pPr marL="0" indent="0">
              <a:buSzPct val="100000"/>
              <a:buNone/>
            </a:pPr>
            <a:r>
              <a:rPr lang="de-DE" sz="4800" dirty="0"/>
              <a:t>Unterrichts. Hochschuldidaktisches Zentrum Universität Dortmund. Dortmund 1990.</a:t>
            </a:r>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23</a:t>
            </a:fld>
            <a:endParaRPr lang="de-DE"/>
          </a:p>
        </p:txBody>
      </p:sp>
    </p:spTree>
    <p:extLst>
      <p:ext uri="{BB962C8B-B14F-4D97-AF65-F5344CB8AC3E}">
        <p14:creationId xmlns:p14="http://schemas.microsoft.com/office/powerpoint/2010/main" val="38772752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Hinweise zur Vorbereitung von technischen Experimenten</a:t>
            </a:r>
          </a:p>
        </p:txBody>
      </p:sp>
      <p:sp>
        <p:nvSpPr>
          <p:cNvPr id="3" name="Inhaltsplatzhalter 2"/>
          <p:cNvSpPr>
            <a:spLocks noGrp="1"/>
          </p:cNvSpPr>
          <p:nvPr>
            <p:ph sz="quarter" idx="1"/>
          </p:nvPr>
        </p:nvSpPr>
        <p:spPr/>
        <p:txBody>
          <a:bodyPr>
            <a:normAutofit fontScale="40000" lnSpcReduction="20000"/>
          </a:bodyPr>
          <a:lstStyle/>
          <a:p>
            <a:pPr marL="457200" indent="-457200">
              <a:buSzPct val="100000"/>
              <a:buFont typeface="+mj-lt"/>
              <a:buAutoNum type="arabicPeriod"/>
            </a:pPr>
            <a:r>
              <a:rPr lang="de-DE" sz="3300" b="1" dirty="0"/>
              <a:t>Abriss der fachlichen Grundlagen</a:t>
            </a:r>
          </a:p>
          <a:p>
            <a:pPr lvl="1">
              <a:buSzPct val="100000"/>
            </a:pPr>
            <a:r>
              <a:rPr lang="de-DE" sz="2900" dirty="0"/>
              <a:t>Zusammenfassung  des fachlichen Kontextes</a:t>
            </a:r>
          </a:p>
          <a:p>
            <a:pPr lvl="1">
              <a:buSzPct val="100000"/>
            </a:pPr>
            <a:r>
              <a:rPr lang="de-DE" sz="2900" dirty="0"/>
              <a:t>Welche Aussagen werden in technischen Regelwerken zum betreffenden fachlichen Kontext getroffen? (z.B. DIN, </a:t>
            </a:r>
            <a:r>
              <a:rPr lang="de-DE" sz="2900" dirty="0" err="1"/>
              <a:t>Richtl</a:t>
            </a:r>
            <a:r>
              <a:rPr lang="de-DE" sz="2900" dirty="0"/>
              <a:t>. des </a:t>
            </a:r>
            <a:r>
              <a:rPr lang="de-DE" sz="2900" dirty="0" err="1"/>
              <a:t>DAfStb</a:t>
            </a:r>
            <a:r>
              <a:rPr lang="de-DE" sz="2900" dirty="0"/>
              <a:t>, VOB)</a:t>
            </a:r>
          </a:p>
          <a:p>
            <a:pPr lvl="1">
              <a:buSzPct val="100000"/>
            </a:pPr>
            <a:r>
              <a:rPr lang="de-DE" sz="2900" dirty="0"/>
              <a:t>In welchem Umfang sind die Aussagen der technischen Regelwerke für Arbeitskräfte der mittleren Qualifikationsebene (Facharbeiter, Meister, Techniker) relevant?</a:t>
            </a:r>
          </a:p>
          <a:p>
            <a:pPr lvl="1">
              <a:buSzPct val="100000"/>
            </a:pPr>
            <a:endParaRPr lang="de-DE" sz="2900" dirty="0"/>
          </a:p>
          <a:p>
            <a:pPr marL="457200" indent="-457200">
              <a:buSzPct val="100000"/>
              <a:buFont typeface="+mj-lt"/>
              <a:buAutoNum type="arabicPeriod"/>
            </a:pPr>
            <a:r>
              <a:rPr lang="de-DE" sz="3300" b="1" dirty="0"/>
              <a:t>Einordnung in einen Bildungsgang</a:t>
            </a:r>
          </a:p>
          <a:p>
            <a:pPr lvl="1">
              <a:buSzPct val="100000"/>
            </a:pPr>
            <a:r>
              <a:rPr lang="de-DE" sz="2900" dirty="0"/>
              <a:t>Für welche Aus- und/oder Fortbildungsberufe ist Experiment X relevant?</a:t>
            </a:r>
          </a:p>
          <a:p>
            <a:pPr lvl="1">
              <a:buSzPct val="100000"/>
            </a:pPr>
            <a:r>
              <a:rPr lang="de-DE" sz="2900" dirty="0"/>
              <a:t>In welchem Lernfeld/Unterrichtsfach kann Experiment X sinnvoll eingesetzt werden?</a:t>
            </a:r>
          </a:p>
          <a:p>
            <a:pPr lvl="1">
              <a:buSzPct val="100000"/>
            </a:pPr>
            <a:r>
              <a:rPr lang="de-DE" sz="2900" dirty="0"/>
              <a:t>Welcher zeitliche Umfang würde für Experiment X im Bildungsgang Z zur Verfügung stehen?</a:t>
            </a:r>
          </a:p>
          <a:p>
            <a:pPr lvl="1">
              <a:buSzPct val="100000"/>
            </a:pPr>
            <a:endParaRPr lang="de-DE" sz="2900" dirty="0"/>
          </a:p>
          <a:p>
            <a:pPr marL="457200" indent="-457200">
              <a:buSzPct val="100000"/>
              <a:buFont typeface="+mj-lt"/>
              <a:buAutoNum type="arabicPeriod"/>
            </a:pPr>
            <a:r>
              <a:rPr lang="de-DE" sz="3300" b="1" dirty="0"/>
              <a:t>Theoretische Konzeption des Experiments</a:t>
            </a:r>
          </a:p>
          <a:p>
            <a:pPr lvl="1">
              <a:buSzPct val="100000"/>
            </a:pPr>
            <a:r>
              <a:rPr lang="de-DE" sz="2900" dirty="0"/>
              <a:t>Welche Vorkenntnisse können von den Lernenden erwartet werden?</a:t>
            </a:r>
          </a:p>
          <a:p>
            <a:pPr lvl="1">
              <a:buSzPct val="100000"/>
            </a:pPr>
            <a:r>
              <a:rPr lang="de-DE" sz="2900" dirty="0"/>
              <a:t>In welchem Umfang muss der fachwissenschaftliche Kontext vereinfacht werden?</a:t>
            </a:r>
          </a:p>
          <a:p>
            <a:pPr lvl="1">
              <a:buSzPct val="100000"/>
            </a:pPr>
            <a:r>
              <a:rPr lang="de-DE" sz="2900" dirty="0"/>
              <a:t>Welche fachwissenschaftlichen Aussagen sollen im Experiment erarbeitet, verdeutlicht oder wiederholt werden?</a:t>
            </a:r>
          </a:p>
          <a:p>
            <a:pPr lvl="1">
              <a:buSzPct val="100000"/>
            </a:pPr>
            <a:r>
              <a:rPr lang="de-DE" sz="2900" dirty="0"/>
              <a:t>Welcher didaktischen Funktion soll das Experiment dienen? (Erarbeitung, Wiederholung, Leistungskontrolle)</a:t>
            </a:r>
          </a:p>
          <a:p>
            <a:pPr lvl="1">
              <a:buSzPct val="100000"/>
            </a:pPr>
            <a:r>
              <a:rPr lang="de-DE" sz="2900" dirty="0"/>
              <a:t>Welche Organisationsform soll zum Einsatz kommen? (Lehrerexperiment, Schülerexperiment)</a:t>
            </a:r>
          </a:p>
          <a:p>
            <a:pPr marL="457200" indent="-457200">
              <a:buSzPct val="100000"/>
              <a:buFont typeface="+mj-lt"/>
              <a:buAutoNum type="arabicPeriod"/>
            </a:pPr>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24</a:t>
            </a:fld>
            <a:endParaRPr lang="de-DE"/>
          </a:p>
        </p:txBody>
      </p:sp>
    </p:spTree>
    <p:extLst>
      <p:ext uri="{BB962C8B-B14F-4D97-AF65-F5344CB8AC3E}">
        <p14:creationId xmlns:p14="http://schemas.microsoft.com/office/powerpoint/2010/main" val="42209530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normAutofit fontScale="90000"/>
          </a:bodyPr>
          <a:lstStyle/>
          <a:p>
            <a:r>
              <a:rPr lang="de-DE" dirty="0"/>
              <a:t>Hinweise zur Vorbereitung von (bau-)technischen Experimenten</a:t>
            </a:r>
          </a:p>
        </p:txBody>
      </p:sp>
      <p:sp>
        <p:nvSpPr>
          <p:cNvPr id="3" name="Inhaltsplatzhalter 2"/>
          <p:cNvSpPr>
            <a:spLocks noGrp="1"/>
          </p:cNvSpPr>
          <p:nvPr>
            <p:ph sz="quarter" idx="1"/>
          </p:nvPr>
        </p:nvSpPr>
        <p:spPr/>
        <p:txBody>
          <a:bodyPr>
            <a:normAutofit fontScale="55000" lnSpcReduction="20000"/>
          </a:bodyPr>
          <a:lstStyle/>
          <a:p>
            <a:pPr marL="514350" indent="-514350">
              <a:buSzPct val="100000"/>
              <a:buFont typeface="+mj-lt"/>
              <a:buAutoNum type="arabicPeriod" startAt="4"/>
            </a:pPr>
            <a:r>
              <a:rPr lang="de-DE" sz="3300" b="1" dirty="0"/>
              <a:t>Praktische Konzeption des Experiments</a:t>
            </a:r>
          </a:p>
          <a:p>
            <a:pPr lvl="1">
              <a:buSzPct val="100000"/>
            </a:pPr>
            <a:r>
              <a:rPr lang="de-DE" sz="3000" dirty="0"/>
              <a:t>Welche technischen Geräte sind erforderlich?</a:t>
            </a:r>
          </a:p>
          <a:p>
            <a:pPr lvl="1">
              <a:buSzPct val="100000"/>
            </a:pPr>
            <a:r>
              <a:rPr lang="de-DE" sz="3000" dirty="0"/>
              <a:t>Welche Verbrauchsmittel sind zu planen?</a:t>
            </a:r>
          </a:p>
          <a:p>
            <a:pPr lvl="1">
              <a:buSzPct val="100000"/>
            </a:pPr>
            <a:r>
              <a:rPr lang="de-DE" sz="3000" dirty="0"/>
              <a:t>Welche Arbeitsschutzmaßnahmen sind vorzusehen?</a:t>
            </a:r>
          </a:p>
          <a:p>
            <a:pPr lvl="1">
              <a:buSzPct val="100000"/>
            </a:pPr>
            <a:endParaRPr lang="de-DE" sz="3000" dirty="0"/>
          </a:p>
          <a:p>
            <a:pPr marL="514350" indent="-514350">
              <a:buSzPct val="100000"/>
              <a:buFont typeface="+mj-lt"/>
              <a:buAutoNum type="arabicPeriod" startAt="4"/>
            </a:pPr>
            <a:r>
              <a:rPr lang="de-DE" sz="3300" b="1" dirty="0"/>
              <a:t>Durchführung des Experiments</a:t>
            </a:r>
          </a:p>
          <a:p>
            <a:pPr lvl="1">
              <a:buSzPct val="100000"/>
            </a:pPr>
            <a:r>
              <a:rPr lang="de-DE" sz="3000" dirty="0"/>
              <a:t>Welche Hypothesen (Vermutungen) werden von den Lernenden aufgestellt?</a:t>
            </a:r>
          </a:p>
          <a:p>
            <a:pPr lvl="1">
              <a:buSzPct val="100000"/>
            </a:pPr>
            <a:r>
              <a:rPr lang="de-DE" sz="3000" dirty="0"/>
              <a:t>Welche Versuchsanordnung ist zweckmäßig? (Skizze des Versuchsaufbaus)</a:t>
            </a:r>
          </a:p>
          <a:p>
            <a:pPr lvl="1">
              <a:buSzPct val="100000"/>
            </a:pPr>
            <a:r>
              <a:rPr lang="de-DE" sz="3000" dirty="0"/>
              <a:t>Wie wird der Versuch ablaufen? (Ablaufbeschreibung)</a:t>
            </a:r>
          </a:p>
          <a:p>
            <a:pPr lvl="1">
              <a:buSzPct val="100000"/>
            </a:pPr>
            <a:r>
              <a:rPr lang="de-DE" sz="3000" dirty="0"/>
              <a:t>Welche Form der Protokollführung ist sinnvoll?</a:t>
            </a:r>
          </a:p>
          <a:p>
            <a:pPr lvl="1">
              <a:buSzPct val="100000"/>
            </a:pPr>
            <a:endParaRPr lang="de-DE" sz="3000" dirty="0"/>
          </a:p>
          <a:p>
            <a:pPr marL="514350" indent="-514350">
              <a:buSzPct val="100000"/>
              <a:buFont typeface="+mj-lt"/>
              <a:buAutoNum type="arabicPeriod" startAt="4"/>
            </a:pPr>
            <a:r>
              <a:rPr lang="de-DE" sz="3300" b="1" dirty="0"/>
              <a:t>Auswertung und Einbettung in weitere Lerneinheiten</a:t>
            </a:r>
          </a:p>
          <a:p>
            <a:pPr lvl="1">
              <a:buSzPct val="100000"/>
            </a:pPr>
            <a:r>
              <a:rPr lang="de-DE" sz="3000" dirty="0"/>
              <a:t>Wie soll die Auswertung des/der Protokolle erfolgen?</a:t>
            </a:r>
          </a:p>
          <a:p>
            <a:pPr lvl="1">
              <a:buSzPct val="100000"/>
            </a:pPr>
            <a:r>
              <a:rPr lang="de-DE" sz="3000" dirty="0"/>
              <a:t>Ist eine Bewertung der Protokolle vorgesehen?</a:t>
            </a:r>
          </a:p>
          <a:p>
            <a:pPr lvl="1">
              <a:buSzPct val="100000"/>
            </a:pPr>
            <a:r>
              <a:rPr lang="de-DE" sz="3000" dirty="0"/>
              <a:t>Verfügt das Experiment über exemplarischen Charakter für andere Inhalte? Wenn ja, wie kann dieser Bezug hergestellt werden?</a:t>
            </a:r>
          </a:p>
          <a:p>
            <a:pPr marL="457200" indent="-457200">
              <a:buSzPct val="100000"/>
              <a:buFont typeface="+mj-lt"/>
              <a:buAutoNum type="arabicPeriod" startAt="4"/>
            </a:pPr>
            <a:endParaRPr lang="de-DE"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25</a:t>
            </a:fld>
            <a:endParaRPr lang="de-DE"/>
          </a:p>
        </p:txBody>
      </p:sp>
    </p:spTree>
    <p:extLst>
      <p:ext uri="{BB962C8B-B14F-4D97-AF65-F5344CB8AC3E}">
        <p14:creationId xmlns:p14="http://schemas.microsoft.com/office/powerpoint/2010/main" val="11199588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Handreichungen zur Versuchsdurchführung</a:t>
            </a:r>
          </a:p>
        </p:txBody>
      </p:sp>
      <p:sp>
        <p:nvSpPr>
          <p:cNvPr id="3" name="Inhaltsplatzhalter 2"/>
          <p:cNvSpPr>
            <a:spLocks noGrp="1"/>
          </p:cNvSpPr>
          <p:nvPr>
            <p:ph sz="quarter" idx="1"/>
          </p:nvPr>
        </p:nvSpPr>
        <p:spPr>
          <a:xfrm>
            <a:off x="704800" y="1384176"/>
            <a:ext cx="7467600" cy="5429200"/>
          </a:xfrm>
        </p:spPr>
        <p:txBody>
          <a:bodyPr>
            <a:noAutofit/>
          </a:bodyPr>
          <a:lstStyle/>
          <a:p>
            <a:pPr marL="0" indent="0">
              <a:buNone/>
            </a:pPr>
            <a:r>
              <a:rPr lang="de-DE" sz="1600" i="1" u="sng" dirty="0"/>
              <a:t>Handreichungen für den Lehrer</a:t>
            </a:r>
            <a:endParaRPr lang="de-DE" sz="1600" dirty="0"/>
          </a:p>
          <a:p>
            <a:pPr marL="0" indent="0">
              <a:buNone/>
            </a:pPr>
            <a:r>
              <a:rPr lang="de-DE" sz="1600" dirty="0"/>
              <a:t>Ingenieurwissenschaftliche Grundlagen</a:t>
            </a:r>
          </a:p>
          <a:p>
            <a:pPr lvl="1"/>
            <a:r>
              <a:rPr lang="de-DE" sz="1400" dirty="0"/>
              <a:t>Zusammenfassung der relevanten Gesetzmäßigkeiten</a:t>
            </a:r>
          </a:p>
          <a:p>
            <a:pPr lvl="1"/>
            <a:r>
              <a:rPr lang="de-DE" sz="1400" dirty="0"/>
              <a:t>Zusammenfassung der wichtigsten Aussagen in Normen ( z.B. DIN, </a:t>
            </a:r>
            <a:r>
              <a:rPr lang="de-DE" sz="1400" dirty="0" err="1"/>
              <a:t>Eurocode</a:t>
            </a:r>
            <a:r>
              <a:rPr lang="de-DE" sz="1400" dirty="0"/>
              <a:t>)</a:t>
            </a:r>
            <a:endParaRPr lang="de-DE" sz="1600" dirty="0"/>
          </a:p>
          <a:p>
            <a:r>
              <a:rPr lang="de-DE" sz="1600" dirty="0"/>
              <a:t>Hinweise für die Versuchsdurchführung</a:t>
            </a:r>
          </a:p>
          <a:p>
            <a:pPr lvl="1"/>
            <a:r>
              <a:rPr lang="de-DE" sz="1400" dirty="0"/>
              <a:t>Hinweise auf mögliche Fehlerquellen</a:t>
            </a:r>
          </a:p>
          <a:p>
            <a:pPr lvl="1"/>
            <a:r>
              <a:rPr lang="de-DE" sz="1400" dirty="0"/>
              <a:t>Praktische Hinweise zur Durchführung</a:t>
            </a:r>
            <a:endParaRPr lang="de-DE" sz="1600" dirty="0"/>
          </a:p>
          <a:p>
            <a:r>
              <a:rPr lang="de-DE" sz="1600" dirty="0"/>
              <a:t>Beispielergebnisse der durchgeführten Versuchs</a:t>
            </a:r>
          </a:p>
          <a:p>
            <a:pPr lvl="1"/>
            <a:r>
              <a:rPr lang="de-DE" sz="1400" dirty="0"/>
              <a:t>Orientierungsfunktion für den Lehrer</a:t>
            </a:r>
            <a:endParaRPr lang="de-DE" sz="1600" dirty="0"/>
          </a:p>
          <a:p>
            <a:r>
              <a:rPr lang="de-DE" sz="1600" dirty="0"/>
              <a:t>Arbeitsblatt mit Beispiellösungen</a:t>
            </a:r>
          </a:p>
          <a:p>
            <a:endParaRPr lang="de-DE" sz="1200" dirty="0"/>
          </a:p>
          <a:p>
            <a:pPr marL="0" indent="0">
              <a:buNone/>
            </a:pPr>
            <a:r>
              <a:rPr lang="de-DE" sz="1600" i="1" u="sng" dirty="0"/>
              <a:t>Arbeitsblatt für den Lernenden</a:t>
            </a:r>
            <a:endParaRPr lang="de-DE" sz="1600" dirty="0"/>
          </a:p>
          <a:p>
            <a:pPr marL="0" indent="0">
              <a:buNone/>
            </a:pPr>
            <a:r>
              <a:rPr lang="de-DE" sz="1600" dirty="0"/>
              <a:t>Ingenieurwissenschaftliche Grundlagen</a:t>
            </a:r>
          </a:p>
          <a:p>
            <a:pPr lvl="1"/>
            <a:r>
              <a:rPr lang="de-DE" sz="1400" dirty="0"/>
              <a:t>Zusammenfassung der für die mittlere Qualifikationsebene relevanten und verständlichen Gesetzmäßigkeiten</a:t>
            </a:r>
          </a:p>
          <a:p>
            <a:pPr lvl="1"/>
            <a:r>
              <a:rPr lang="de-DE" sz="1400" dirty="0"/>
              <a:t>Zusammenfassung der für die mittlere Qualifikationsebene relevanten Aussagen in Normen</a:t>
            </a:r>
            <a:endParaRPr lang="de-DE" sz="1600" dirty="0"/>
          </a:p>
          <a:p>
            <a:r>
              <a:rPr lang="de-DE" sz="1600" dirty="0"/>
              <a:t>Hinweise zur Versuchsdurchführung</a:t>
            </a:r>
          </a:p>
          <a:p>
            <a:r>
              <a:rPr lang="de-DE" sz="1600" dirty="0"/>
              <a:t>Arbeitsaufgaben für den Lernenden</a:t>
            </a:r>
          </a:p>
          <a:p>
            <a:endParaRPr lang="de-DE" sz="1100" dirty="0"/>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26</a:t>
            </a:fld>
            <a:endParaRPr lang="de-DE"/>
          </a:p>
        </p:txBody>
      </p:sp>
    </p:spTree>
    <p:extLst>
      <p:ext uri="{BB962C8B-B14F-4D97-AF65-F5344CB8AC3E}">
        <p14:creationId xmlns:p14="http://schemas.microsoft.com/office/powerpoint/2010/main" val="10001889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de-DE" dirty="0"/>
              <a:t>Effizienzkriterien verschiedener Methoden</a:t>
            </a:r>
          </a:p>
        </p:txBody>
      </p:sp>
      <p:sp>
        <p:nvSpPr>
          <p:cNvPr id="4" name="Foliennummernplatzhalter 3"/>
          <p:cNvSpPr>
            <a:spLocks noGrp="1"/>
          </p:cNvSpPr>
          <p:nvPr>
            <p:ph type="sldNum" sz="quarter" idx="4294967295"/>
          </p:nvPr>
        </p:nvSpPr>
        <p:spPr>
          <a:xfrm>
            <a:off x="8129016" y="5734050"/>
            <a:ext cx="609600" cy="521208"/>
          </a:xfrm>
          <a:prstGeom prst="rect">
            <a:avLst/>
          </a:prstGeom>
        </p:spPr>
        <p:txBody>
          <a:bodyPr/>
          <a:lstStyle/>
          <a:p>
            <a:fld id="{33548601-C4B6-4D19-A7D5-04150560F062}" type="slidenum">
              <a:rPr lang="de-DE" smtClean="0"/>
              <a:pPr/>
              <a:t>27</a:t>
            </a:fld>
            <a:endParaRPr lang="de-DE"/>
          </a:p>
        </p:txBody>
      </p:sp>
      <p:pic>
        <p:nvPicPr>
          <p:cNvPr id="5" name="Picture 4" descr="C:\Dokumente und Einstellungen\annchen\Eigene Dateien\Uni\HiWi\Bünning\V6-1.BMP"/>
          <p:cNvPicPr>
            <a:picLocks noChangeAspect="1" noChangeArrowheads="1"/>
          </p:cNvPicPr>
          <p:nvPr/>
        </p:nvPicPr>
        <p:blipFill>
          <a:blip r:embed="rId2" cstate="print">
            <a:lum bright="20000" contrast="30000"/>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339752" y="1400724"/>
            <a:ext cx="3816424" cy="5412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360634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2_Nereus">
  <a:themeElements>
    <a:clrScheme name="Okeanos">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Nereus">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Nereus">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Larissa-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keanos">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docProps/app.xml><?xml version="1.0" encoding="utf-8"?>
<Properties xmlns="http://schemas.openxmlformats.org/officeDocument/2006/extended-properties" xmlns:vt="http://schemas.openxmlformats.org/officeDocument/2006/docPropsVTypes">
  <Template>Institutionen beruflicher Bildung</Template>
  <TotalTime>7</TotalTime>
  <Words>2258</Words>
  <Application>Microsoft Macintosh PowerPoint</Application>
  <PresentationFormat>On-screen Show (4:3)</PresentationFormat>
  <Paragraphs>322</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 Narrow</vt:lpstr>
      <vt:lpstr>Calibri</vt:lpstr>
      <vt:lpstr>Century Schoolbook</vt:lpstr>
      <vt:lpstr>Tahoma</vt:lpstr>
      <vt:lpstr>Times New Roman</vt:lpstr>
      <vt:lpstr>Wingdings</vt:lpstr>
      <vt:lpstr>Wingdings 2</vt:lpstr>
      <vt:lpstr>2_Nereus</vt:lpstr>
      <vt:lpstr>Fallstudie</vt:lpstr>
      <vt:lpstr>Varianten der Arbeit mit Fallstudien nach KAISER</vt:lpstr>
      <vt:lpstr>Phasenmodell der Fallstudie nach KAISER1</vt:lpstr>
      <vt:lpstr>Vergleichs-Veränderungs-Rückkoppelungs-Einheit (VVR-Einheit)</vt:lpstr>
      <vt:lpstr>Test-Operation-Test-Exit (TOTE-Einheit)</vt:lpstr>
      <vt:lpstr>Ablauf des Rollenspiels</vt:lpstr>
      <vt:lpstr>Phasenaufbau des Rollenspiels</vt:lpstr>
      <vt:lpstr>Bsp.: „Transgene Kartoffel – Umweltkiller oder Schlankmacher“</vt:lpstr>
      <vt:lpstr>Bsp.: „Transgene Kartoffel – Umweltkiller oder Schlankmacher“</vt:lpstr>
      <vt:lpstr>Bsp.: „Transgene Kartoffel – Umweltkiller oder Schlankmacher“</vt:lpstr>
      <vt:lpstr>Bsp.: „Transgene Kartoffel – Umweltkiller oder Schlankmacher“</vt:lpstr>
      <vt:lpstr>Bsp.: „Transgene Kartoffel – Umweltkiller oder Schlankmacher“</vt:lpstr>
      <vt:lpstr>Bsp.: „Transgene Kartoffel – Umweltkiller oder Schlankmacher“</vt:lpstr>
      <vt:lpstr>Bsp.: „Transgene Kartoffel – Umweltkiller oder Schlankmacher“</vt:lpstr>
      <vt:lpstr>Bsp.: „Transgene Kartoffel – Umweltkiller oder Schlankmacher“</vt:lpstr>
      <vt:lpstr>Funktionen der Leittexte</vt:lpstr>
      <vt:lpstr>Merkmale leittextgestützten Lernens</vt:lpstr>
      <vt:lpstr>Leitfragen erstellen</vt:lpstr>
      <vt:lpstr>Ablauf</vt:lpstr>
      <vt:lpstr>Definition Experiment</vt:lpstr>
      <vt:lpstr>Arten von Experimenten klassifiziert…</vt:lpstr>
      <vt:lpstr>Methodische Phasen von Experimenten nach BERNARD</vt:lpstr>
      <vt:lpstr>Methodische Phasen von Experimenten nach BADER</vt:lpstr>
      <vt:lpstr>Hinweise zur Vorbereitung von technischen Experimenten</vt:lpstr>
      <vt:lpstr>Hinweise zur Vorbereitung von (bau-)technischen Experimenten</vt:lpstr>
      <vt:lpstr>Handreichungen zur Versuchsdurchführung</vt:lpstr>
      <vt:lpstr>Effizienzkriterien verschiedener Methoden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dc:title>
  <dc:creator>Frank Bünning</dc:creator>
  <cp:lastModifiedBy>Hannes Tegelbeckers</cp:lastModifiedBy>
  <cp:revision>276</cp:revision>
  <cp:lastPrinted>2002-03-21T12:12:44Z</cp:lastPrinted>
  <dcterms:created xsi:type="dcterms:W3CDTF">2002-02-22T17:42:09Z</dcterms:created>
  <dcterms:modified xsi:type="dcterms:W3CDTF">2026-09-22T19:47:37Z</dcterms:modified>
</cp:coreProperties>
</file>