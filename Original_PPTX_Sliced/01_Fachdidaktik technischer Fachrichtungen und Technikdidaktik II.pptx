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740" r:id="rId1"/>
    <p:sldMasterId id="2147483752" r:id="rId2"/>
  </p:sldMasterIdLst>
  <p:notesMasterIdLst>
    <p:notesMasterId r:id="rId36"/>
  </p:notesMasterIdLst>
  <p:handoutMasterIdLst>
    <p:handoutMasterId r:id="rId37"/>
  </p:handoutMasterIdLst>
  <p:sldIdLst>
    <p:sldId id="431" r:id="rId3"/>
    <p:sldId id="475" r:id="rId4"/>
    <p:sldId id="474" r:id="rId5"/>
    <p:sldId id="479" r:id="rId6"/>
    <p:sldId id="480" r:id="rId7"/>
    <p:sldId id="482" r:id="rId8"/>
    <p:sldId id="483" r:id="rId9"/>
    <p:sldId id="512" r:id="rId10"/>
    <p:sldId id="508" r:id="rId11"/>
    <p:sldId id="717" r:id="rId12"/>
    <p:sldId id="514" r:id="rId13"/>
    <p:sldId id="513" r:id="rId14"/>
    <p:sldId id="515" r:id="rId15"/>
    <p:sldId id="516" r:id="rId16"/>
    <p:sldId id="520" r:id="rId17"/>
    <p:sldId id="519" r:id="rId18"/>
    <p:sldId id="517" r:id="rId19"/>
    <p:sldId id="522" r:id="rId20"/>
    <p:sldId id="521" r:id="rId21"/>
    <p:sldId id="518" r:id="rId22"/>
    <p:sldId id="525" r:id="rId23"/>
    <p:sldId id="524" r:id="rId24"/>
    <p:sldId id="523" r:id="rId25"/>
    <p:sldId id="526" r:id="rId26"/>
    <p:sldId id="529" r:id="rId27"/>
    <p:sldId id="528" r:id="rId28"/>
    <p:sldId id="527" r:id="rId29"/>
    <p:sldId id="530" r:id="rId30"/>
    <p:sldId id="531" r:id="rId31"/>
    <p:sldId id="532" r:id="rId32"/>
    <p:sldId id="535" r:id="rId33"/>
    <p:sldId id="533" r:id="rId34"/>
    <p:sldId id="536" r:id="rId35"/>
  </p:sldIdLst>
  <p:sldSz cx="9144000" cy="6858000" type="screen4x3"/>
  <p:notesSz cx="6854825" cy="97504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7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DDDD"/>
    <a:srgbClr val="B2B2B2"/>
    <a:srgbClr val="BD430A"/>
    <a:srgbClr val="0768B2"/>
    <a:srgbClr val="0A508D"/>
    <a:srgbClr val="0860A5"/>
    <a:srgbClr val="0C4175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3883" autoAdjust="0"/>
  </p:normalViewPr>
  <p:slideViewPr>
    <p:cSldViewPr showGuides="1">
      <p:cViewPr varScale="1">
        <p:scale>
          <a:sx n="125" d="100"/>
          <a:sy n="125" d="100"/>
        </p:scale>
        <p:origin x="1432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>
        <p:scale>
          <a:sx n="100" d="100"/>
          <a:sy n="100" d="100"/>
        </p:scale>
        <p:origin x="-787" y="2040"/>
      </p:cViewPr>
      <p:guideLst>
        <p:guide orient="horz" pos="3071"/>
        <p:guide pos="215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3025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99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3025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60BF8065-B72B-48E4-8526-D638D07A292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985732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3025" y="0"/>
            <a:ext cx="2971800" cy="487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1229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89013" y="730250"/>
            <a:ext cx="4876800" cy="36576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632325"/>
            <a:ext cx="5026025" cy="4387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/>
              <a:t>Klicken Sie, um die Formate des Vorlagentextes zu bearbeiten</a:t>
            </a:r>
          </a:p>
          <a:p>
            <a:pPr lvl="1"/>
            <a:r>
              <a:rPr lang="de-DE" noProof="0"/>
              <a:t>Zweite Ebene</a:t>
            </a:r>
          </a:p>
          <a:p>
            <a:pPr lvl="2"/>
            <a:r>
              <a:rPr lang="de-DE" noProof="0"/>
              <a:t>Dritte Ebene</a:t>
            </a:r>
          </a:p>
          <a:p>
            <a:pPr lvl="3"/>
            <a:r>
              <a:rPr lang="de-DE" noProof="0"/>
              <a:t>Vierte Ebene</a:t>
            </a:r>
          </a:p>
          <a:p>
            <a:pPr lvl="4"/>
            <a:r>
              <a:rPr lang="de-DE" noProof="0"/>
              <a:t>Fünfte Ebene</a:t>
            </a:r>
          </a:p>
        </p:txBody>
      </p:sp>
      <p:sp>
        <p:nvSpPr>
          <p:cNvPr id="358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58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3025" y="9263063"/>
            <a:ext cx="2971800" cy="48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fld id="{12F08462-A6CB-4CDF-B233-8E4BB04E3C16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281016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0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A81F854-A421-406C-9DB2-2DCD97E38C51}" type="slidenum">
              <a:rPr lang="de-DE" smtClean="0"/>
              <a:pPr/>
              <a:t>1</a:t>
            </a:fld>
            <a:endParaRPr lang="de-DE"/>
          </a:p>
        </p:txBody>
      </p:sp>
      <p:sp>
        <p:nvSpPr>
          <p:cNvPr id="13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06391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hemeOverride" Target="../theme/themeOverride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hteck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hteck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Gerade Verbindung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Gerade Verbindung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Gerade Verbindung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hteck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Ellipse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Ellipse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Ellipse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Foliennummernplatzhalt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pPr>
              <a:defRPr/>
            </a:pPr>
            <a:fld id="{EE7F088D-B82F-4692-9881-D4F6EC89926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800" y="404664"/>
            <a:ext cx="7467600" cy="92211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kumimoji="0" lang="de-DE"/>
              <a:t>Titelmasterformat durch Klicken bearbeiten</a:t>
            </a:r>
            <a:endParaRPr kumimoji="0"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704800" y="1600200"/>
            <a:ext cx="7467600" cy="4873752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86000" y="2060848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9" name="Rechteck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Gerade Verbindung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Gerade Verbindung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hteck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Ellipse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Ellipse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Ellipse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Ellipse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Ellipse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Gerade Verbindung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26368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370784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8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554360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442792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"/>
          </p:nvPr>
        </p:nvSpPr>
        <p:spPr>
          <a:xfrm>
            <a:off x="55436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"/>
          </p:nvPr>
        </p:nvSpPr>
        <p:spPr>
          <a:xfrm>
            <a:off x="4427984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0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9" name="Titel 1"/>
          <p:cNvSpPr txBox="1">
            <a:spLocks/>
          </p:cNvSpPr>
          <p:nvPr/>
        </p:nvSpPr>
        <p:spPr>
          <a:xfrm>
            <a:off x="611560" y="476672"/>
            <a:ext cx="7467600" cy="92211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vert="horz"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3000" b="0" i="0" u="none" strike="noStrike" kern="1200" cap="small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Calibri" pitchFamily="34" charset="0"/>
                <a:ea typeface="+mj-ea"/>
                <a:cs typeface="+mj-cs"/>
              </a:rPr>
              <a:t>Titelmasterformat durch Klicken bearbeiten</a:t>
            </a:r>
            <a:endParaRPr kumimoji="0" lang="en-US" sz="3000" b="0" i="0" u="none" strike="noStrike" kern="1200" cap="small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Calibri" pitchFamily="34" charset="0"/>
              <a:ea typeface="+mj-ea"/>
              <a:cs typeface="+mj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hteck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Inhaltsplatzhalt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21" name="Datumsplatzhalt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3" name="Fußzeilenplatzhalt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de-DE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de-DE"/>
              <a:t>Textmasterformat bearbeiten</a:t>
            </a: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hteck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Gerade Verbindung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Gerade Verbindung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umsplatzhalt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endParaRPr lang="de-DE"/>
          </a:p>
        </p:txBody>
      </p:sp>
      <p:sp>
        <p:nvSpPr>
          <p:cNvPr id="18" name="Foliennummernplatzhalt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  <p:sp>
        <p:nvSpPr>
          <p:cNvPr id="21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de-D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3" name="Gerade Verbindung 12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4" name="Gerade Verbindung 13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5" name="Gerade Verbindung 14"/>
          <p:cNvSpPr>
            <a:spLocks noChangeShapeType="1"/>
          </p:cNvSpPr>
          <p:nvPr/>
        </p:nvSpPr>
        <p:spPr bwMode="auto">
          <a:xfrm>
            <a:off x="9113838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6" name="Rechteck 15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8" name="Ellipse 17"/>
          <p:cNvSpPr/>
          <p:nvPr/>
        </p:nvSpPr>
        <p:spPr bwMode="auto">
          <a:xfrm>
            <a:off x="1309688" y="4867275"/>
            <a:ext cx="641350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9" name="Ellipse 18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0" name="Ellipse 19"/>
          <p:cNvSpPr/>
          <p:nvPr/>
        </p:nvSpPr>
        <p:spPr bwMode="auto">
          <a:xfrm>
            <a:off x="1663700" y="5788025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1905000" y="4495800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8" name="Titel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9" name="Untertitel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de-DE"/>
              <a:t>Formatvorlage des Untertitelmasters durch Klicken bearbeiten</a:t>
            </a:r>
            <a:endParaRPr lang="en-US"/>
          </a:p>
        </p:txBody>
      </p:sp>
      <p:sp>
        <p:nvSpPr>
          <p:cNvPr id="22" name="Foliennummernplatzhalter 28"/>
          <p:cNvSpPr>
            <a:spLocks noGrp="1"/>
          </p:cNvSpPr>
          <p:nvPr>
            <p:ph type="sldNum" sz="quarter" idx="10"/>
          </p:nvPr>
        </p:nvSpPr>
        <p:spPr bwMode="auto">
          <a:xfrm>
            <a:off x="1325563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EA18AB-3B41-40DB-8043-67BE53D2EBAE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17019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04800" y="404664"/>
            <a:ext cx="7467600" cy="922114"/>
          </a:xfrm>
          <a:solidFill>
            <a:schemeClr val="accent1">
              <a:lumMod val="60000"/>
              <a:lumOff val="40000"/>
            </a:schemeClr>
          </a:solidFill>
        </p:spPr>
        <p:txBody>
          <a:bodyPr/>
          <a:lstStyle>
            <a:lvl1pPr>
              <a:defRPr>
                <a:latin typeface="Calibri" pitchFamily="34" charset="0"/>
              </a:defRPr>
            </a:lvl1pPr>
          </a:lstStyle>
          <a:p>
            <a:r>
              <a:rPr lang="de-DE"/>
              <a:t>Titelmasterformat durch Klicken bearbeiten</a:t>
            </a:r>
            <a:endParaRPr lang="en-US" dirty="0"/>
          </a:p>
        </p:txBody>
      </p:sp>
      <p:sp>
        <p:nvSpPr>
          <p:cNvPr id="8" name="Inhaltsplatzhalter 7"/>
          <p:cNvSpPr>
            <a:spLocks noGrp="1"/>
          </p:cNvSpPr>
          <p:nvPr>
            <p:ph sz="quarter" idx="1"/>
          </p:nvPr>
        </p:nvSpPr>
        <p:spPr>
          <a:xfrm>
            <a:off x="704800" y="1600200"/>
            <a:ext cx="7467600" cy="4873752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Foliennummernplatzhalter 8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85CC79A6-A3D6-4B03-A78B-5E0A9B55FAB9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3123636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5" name="Rechteck 4"/>
          <p:cNvSpPr/>
          <p:nvPr/>
        </p:nvSpPr>
        <p:spPr bwMode="auto">
          <a:xfrm>
            <a:off x="276225" y="0"/>
            <a:ext cx="104775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6" name="Rechteck 5"/>
          <p:cNvSpPr/>
          <p:nvPr/>
        </p:nvSpPr>
        <p:spPr bwMode="auto">
          <a:xfrm>
            <a:off x="990600" y="0"/>
            <a:ext cx="182563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7" name="Rechteck 6"/>
          <p:cNvSpPr/>
          <p:nvPr/>
        </p:nvSpPr>
        <p:spPr bwMode="auto">
          <a:xfrm>
            <a:off x="1141413" y="0"/>
            <a:ext cx="230187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8" name="Gerade Verbindung 7"/>
          <p:cNvSpPr>
            <a:spLocks noChangeShapeType="1"/>
          </p:cNvSpPr>
          <p:nvPr/>
        </p:nvSpPr>
        <p:spPr bwMode="auto">
          <a:xfrm>
            <a:off x="106363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854075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172720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2" name="Gerade Verbindung 11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3" name="Rechteck 12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4" name="Ellipse 13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5" name="Ellipse 14"/>
          <p:cNvSpPr/>
          <p:nvPr/>
        </p:nvSpPr>
        <p:spPr bwMode="auto">
          <a:xfrm>
            <a:off x="1323975" y="4867275"/>
            <a:ext cx="642938" cy="64135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6" name="Ellipse 15"/>
          <p:cNvSpPr/>
          <p:nvPr/>
        </p:nvSpPr>
        <p:spPr bwMode="auto">
          <a:xfrm>
            <a:off x="1090613" y="5500688"/>
            <a:ext cx="138112" cy="136525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7" name="Ellipse 16"/>
          <p:cNvSpPr/>
          <p:nvPr/>
        </p:nvSpPr>
        <p:spPr bwMode="auto">
          <a:xfrm>
            <a:off x="1663700" y="5791200"/>
            <a:ext cx="274638" cy="274638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8" name="Ellipse 17"/>
          <p:cNvSpPr/>
          <p:nvPr/>
        </p:nvSpPr>
        <p:spPr bwMode="auto">
          <a:xfrm>
            <a:off x="1879600" y="4479925"/>
            <a:ext cx="365125" cy="365125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19" name="Gerade Verbindung 18"/>
          <p:cNvSpPr>
            <a:spLocks noChangeShapeType="1"/>
          </p:cNvSpPr>
          <p:nvPr/>
        </p:nvSpPr>
        <p:spPr bwMode="auto">
          <a:xfrm>
            <a:off x="9097963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286000" y="2060848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20" name="Foliennummernplatzhalter 5"/>
          <p:cNvSpPr>
            <a:spLocks noGrp="1"/>
          </p:cNvSpPr>
          <p:nvPr>
            <p:ph type="sldNum" sz="quarter" idx="10"/>
          </p:nvPr>
        </p:nvSpPr>
        <p:spPr bwMode="auto">
          <a:xfrm>
            <a:off x="1339850" y="4929188"/>
            <a:ext cx="609600" cy="5175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7140C4-5431-4AB6-B132-5D4CCD4549F3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48667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9" name="Inhaltsplatzhalter 8"/>
          <p:cNvSpPr>
            <a:spLocks noGrp="1"/>
          </p:cNvSpPr>
          <p:nvPr>
            <p:ph sz="quarter" idx="1"/>
          </p:nvPr>
        </p:nvSpPr>
        <p:spPr>
          <a:xfrm>
            <a:off x="626368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4370784" y="1600200"/>
            <a:ext cx="3657600" cy="45720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5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3C4066-8CFD-4E97-9A0D-CB926F440B6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6254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"/>
          </p:nvPr>
        </p:nvSpPr>
        <p:spPr>
          <a:xfrm>
            <a:off x="554360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3" name="Inhaltsplatzhalter 12"/>
          <p:cNvSpPr>
            <a:spLocks noGrp="1"/>
          </p:cNvSpPr>
          <p:nvPr>
            <p:ph sz="quarter" idx="4"/>
          </p:nvPr>
        </p:nvSpPr>
        <p:spPr>
          <a:xfrm>
            <a:off x="4442792" y="2362200"/>
            <a:ext cx="3657600" cy="3886200"/>
          </a:xfrm>
        </p:spPr>
        <p:txBody>
          <a:bodyPr/>
          <a:lstStyle>
            <a:lvl3pPr>
              <a:buFont typeface="Wingdings" pitchFamily="2" charset="2"/>
              <a:buChar char=""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</p:txBody>
      </p:sp>
      <p:sp>
        <p:nvSpPr>
          <p:cNvPr id="12" name="Textplatzhalter 11"/>
          <p:cNvSpPr>
            <a:spLocks noGrp="1"/>
          </p:cNvSpPr>
          <p:nvPr>
            <p:ph type="body" sz="quarter" idx="1"/>
          </p:nvPr>
        </p:nvSpPr>
        <p:spPr>
          <a:xfrm>
            <a:off x="55436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3"/>
          </p:nvPr>
        </p:nvSpPr>
        <p:spPr>
          <a:xfrm>
            <a:off x="4427984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7" name="Foliennummernplatzhalter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BF6A99-441C-49AE-AD83-9BC27C3DE34A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196403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 txBox="1">
            <a:spLocks/>
          </p:cNvSpPr>
          <p:nvPr/>
        </p:nvSpPr>
        <p:spPr>
          <a:xfrm>
            <a:off x="611188" y="476250"/>
            <a:ext cx="7467600" cy="9223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anchor="b">
            <a:normAutofit/>
          </a:bodyPr>
          <a:lstStyle>
            <a:lvl1pPr>
              <a:defRPr>
                <a:latin typeface="Calibri" pitchFamily="34" charset="0"/>
              </a:defRPr>
            </a:lvl1pPr>
          </a:lstStyle>
          <a:p>
            <a:pPr eaLnBrk="1" fontAlgn="auto" hangingPunct="1">
              <a:spcAft>
                <a:spcPts val="0"/>
              </a:spcAft>
              <a:defRPr/>
            </a:pPr>
            <a:r>
              <a:rPr lang="de-DE" sz="3000" b="0" cap="small">
                <a:solidFill>
                  <a:srgbClr val="464653"/>
                </a:solidFill>
              </a:rPr>
              <a:t>Titelmasterformat durch Klicken bearbeiten</a:t>
            </a:r>
            <a:endParaRPr lang="en-US" sz="3000" b="0" cap="small" dirty="0">
              <a:solidFill>
                <a:srgbClr val="464653"/>
              </a:solidFill>
            </a:endParaRPr>
          </a:p>
        </p:txBody>
      </p:sp>
      <p:sp>
        <p:nvSpPr>
          <p:cNvPr id="3" name="Foliennummernplatzhalter 6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F1A2DF14-515C-43F4-AD0B-3568C5A2B60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1853278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4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5328B9-E60A-4B25-A327-391175ECA0A1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631080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erade Verbindung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6" name="Gerade Verbindung 5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7" name="Gerade Verbindung 17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8" name="Gerade Verbindung 1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9" name="Rechteck 8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" name="Gerade Verbindung 2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1" name="Ellipse 10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/>
          <a:lstStyle>
            <a:lvl1pPr algn="l">
              <a:buNone/>
              <a:defRPr sz="2000" b="1" cap="small" baseline="0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8" name="Inhaltsplatzhalt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2" name="Datumsplatzhalter 20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464653"/>
              </a:solidFill>
            </a:endParaRPr>
          </a:p>
        </p:txBody>
      </p:sp>
      <p:sp>
        <p:nvSpPr>
          <p:cNvPr id="13" name="Foliennummernplatzhalter 21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59848D8D-98C0-47F5-8347-0F94624CC08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4" name="Fußzeilenplatzhalter 22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4008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erade Verbindung 4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6" name="Ellipse 5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7" name="Gerade Verbindung 17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8" name="Rechteck 7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9" name="Gerade Verbindung 19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0" name="Gerade Verbindung 9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11" name="Gerade Verbindung 23"/>
          <p:cNvSpPr>
            <a:spLocks noChangeShapeType="1"/>
          </p:cNvSpPr>
          <p:nvPr/>
        </p:nvSpPr>
        <p:spPr bwMode="auto">
          <a:xfrm>
            <a:off x="6192838" y="0"/>
            <a:ext cx="0" cy="6858000"/>
          </a:xfrm>
          <a:prstGeom prst="line">
            <a:avLst/>
          </a:prstGeom>
          <a:noFill/>
          <a:ln w="1270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/>
          <a:lstStyle>
            <a:lvl1pPr algn="l">
              <a:buNone/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>
            <a:normAutofit/>
          </a:bodyPr>
          <a:lstStyle>
            <a:lvl1pPr marL="0" indent="0">
              <a:buNone/>
              <a:defRPr sz="3200"/>
            </a:lvl1pPr>
          </a:lstStyle>
          <a:p>
            <a:pPr lvl="0"/>
            <a:r>
              <a:rPr lang="de-DE" noProof="0"/>
              <a:t>Bild durch Klicken auf Symbol hinzufügen</a:t>
            </a:r>
            <a:endParaRPr lang="en-US" noProof="0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spcCol="274320" rtlCol="0" fromWordArt="0" forceAA="0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12" name="Datumsplatzhalt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13" name="Foliennummernplatzhalt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fld id="{99A255E2-4A96-4C1F-91BF-80AF1DB373DC}" type="slidenum">
              <a:rPr lang="de-DE"/>
              <a:pPr>
                <a:defRPr/>
              </a:pPr>
              <a:t>‹#›</a:t>
            </a:fld>
            <a:endParaRPr lang="de-DE"/>
          </a:p>
        </p:txBody>
      </p:sp>
      <p:sp>
        <p:nvSpPr>
          <p:cNvPr id="14" name="Fußzeilenplatzhalt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9329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0D50BD-C27A-404B-923B-517A4EDFAA54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0120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Datumsplatzhalter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srgbClr val="464653"/>
              </a:solidFill>
            </a:endParaRPr>
          </a:p>
        </p:txBody>
      </p:sp>
      <p:sp>
        <p:nvSpPr>
          <p:cNvPr id="5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54CFCE-A7FF-4434-945E-7AFD59BA3682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62645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/>
          <p:cNvSpPr>
            <a:spLocks noGrp="1"/>
          </p:cNvSpPr>
          <p:nvPr>
            <p:ph/>
          </p:nvPr>
        </p:nvSpPr>
        <p:spPr>
          <a:xfrm>
            <a:off x="250825" y="214313"/>
            <a:ext cx="8704263" cy="5918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6F40E1-FC16-476C-9199-6ED76AD89BA0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215160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el und Tabel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abellenplatzhalter 2"/>
          <p:cNvSpPr>
            <a:spLocks noGrp="1"/>
          </p:cNvSpPr>
          <p:nvPr>
            <p:ph type="tbl" idx="1"/>
          </p:nvPr>
        </p:nvSpPr>
        <p:spPr>
          <a:xfrm>
            <a:off x="250825" y="2017713"/>
            <a:ext cx="8704263" cy="4114800"/>
          </a:xfrm>
        </p:spPr>
        <p:txBody>
          <a:bodyPr>
            <a:normAutofit/>
          </a:bodyPr>
          <a:lstStyle/>
          <a:p>
            <a:pPr lvl="0"/>
            <a:endParaRPr lang="de-DE" noProof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D99F12-28AF-40AF-B589-6959FC147AB8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05920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el und Inhalt üb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250825" y="20177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50825" y="41513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96EF5ED-E5B7-4A34-8D64-C5E876C698B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101259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el und Text über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50825" y="20177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250825" y="4151313"/>
            <a:ext cx="8704263" cy="19812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4C193-0012-4ED1-A660-B4617C99A245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0022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el, Text und Clip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Textplatzhalter 2"/>
          <p:cNvSpPr>
            <a:spLocks noGrp="1"/>
          </p:cNvSpPr>
          <p:nvPr>
            <p:ph type="body" sz="half" idx="1"/>
          </p:nvPr>
        </p:nvSpPr>
        <p:spPr>
          <a:xfrm>
            <a:off x="250825" y="2017713"/>
            <a:ext cx="4275138" cy="4114800"/>
          </a:xfrm>
        </p:spPr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ClipArt-Platzhalter 3"/>
          <p:cNvSpPr>
            <a:spLocks noGrp="1"/>
          </p:cNvSpPr>
          <p:nvPr>
            <p:ph type="clipArt" sz="half" idx="2"/>
          </p:nvPr>
        </p:nvSpPr>
        <p:spPr>
          <a:xfrm>
            <a:off x="4678363" y="2017713"/>
            <a:ext cx="4276725" cy="4114800"/>
          </a:xfrm>
        </p:spPr>
        <p:txBody>
          <a:bodyPr>
            <a:normAutofit/>
          </a:bodyPr>
          <a:lstStyle/>
          <a:p>
            <a:pPr lvl="0"/>
            <a:endParaRPr lang="de-DE" noProof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0"/>
          </p:nvPr>
        </p:nvSpPr>
        <p:spPr>
          <a:xfrm>
            <a:off x="3116263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>
              <a:solidFill>
                <a:srgbClr val="464653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1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813B49-D2D2-4C9C-AA2B-2361F48C0C9D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37880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de-DE" dirty="0"/>
              <a:t>Titelmasterformat durch Klicken bearbeiten</a:t>
            </a:r>
            <a:endParaRPr kumimoji="0" lang="en-US" dirty="0"/>
          </a:p>
        </p:txBody>
      </p:sp>
      <p:sp>
        <p:nvSpPr>
          <p:cNvPr id="13" name="Textplatzhalt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de-DE"/>
              <a:t>Textmasterformate durch Klicken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 algn="r" eaLnBrk="1" latinLnBrk="0" hangingPunct="1"/>
            <a:endParaRPr lang="en-US" sz="1200">
              <a:solidFill>
                <a:schemeClr val="bg2">
                  <a:shade val="50000"/>
                </a:schemeClr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kumimoji="0" lang="en-US" sz="1200">
              <a:solidFill>
                <a:schemeClr val="bg2">
                  <a:shade val="50000"/>
                </a:schemeClr>
              </a:solidFill>
              <a:effectLst/>
            </a:endParaRPr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Gerade Verbindung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hteck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Gerade Verbindung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33548601-C4B6-4D19-A7D5-04150560F062}" type="slidenum">
              <a:rPr lang="de-DE" smtClean="0"/>
              <a:pPr/>
              <a:t>‹#›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46" r:id="rId6"/>
    <p:sldLayoutId id="2147483747" r:id="rId7"/>
    <p:sldLayoutId id="2147483748" r:id="rId8"/>
    <p:sldLayoutId id="2147483749" r:id="rId9"/>
    <p:sldLayoutId id="2147483750" r:id="rId10"/>
    <p:sldLayoutId id="2147483751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erade Verbindung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 dirty="0">
              <a:solidFill>
                <a:prstClr val="black"/>
              </a:solidFill>
            </a:endParaRPr>
          </a:p>
        </p:txBody>
      </p:sp>
      <p:sp>
        <p:nvSpPr>
          <p:cNvPr id="22" name="Titelplatzhalt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lang="de-DE" dirty="0"/>
              <a:t>Titelmasterformat durch Klicken bearbeiten</a:t>
            </a:r>
            <a:endParaRPr lang="en-US" dirty="0"/>
          </a:p>
        </p:txBody>
      </p:sp>
      <p:sp>
        <p:nvSpPr>
          <p:cNvPr id="1028" name="Textplatzhalter 1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7467600" cy="487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4" name="Datumsplatzhalter 13"/>
          <p:cNvSpPr>
            <a:spLocks noGrp="1"/>
          </p:cNvSpPr>
          <p:nvPr>
            <p:ph type="dt" sz="half" idx="2"/>
          </p:nvPr>
        </p:nvSpPr>
        <p:spPr>
          <a:xfrm rot="5400000">
            <a:off x="7589045" y="1081881"/>
            <a:ext cx="2011362" cy="384175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 smtClean="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 b="0" dirty="0">
              <a:solidFill>
                <a:srgbClr val="464653"/>
              </a:solidFill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3"/>
          </p:nvPr>
        </p:nvSpPr>
        <p:spPr>
          <a:xfrm rot="5400000">
            <a:off x="6989763" y="3736975"/>
            <a:ext cx="32004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de-DE" b="0">
              <a:solidFill>
                <a:srgbClr val="464653"/>
              </a:solidFill>
            </a:endParaRPr>
          </a:p>
        </p:txBody>
      </p:sp>
      <p:sp>
        <p:nvSpPr>
          <p:cNvPr id="7" name="Gerade Verbindung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>
              <a:defRPr/>
            </a:pPr>
            <a:endParaRPr lang="en-US" b="0">
              <a:solidFill>
                <a:prstClr val="black"/>
              </a:solidFill>
            </a:endParaRPr>
          </a:p>
        </p:txBody>
      </p:sp>
      <p:sp>
        <p:nvSpPr>
          <p:cNvPr id="1032" name="Gerade Verbindung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>
              <a:solidFill>
                <a:prstClr val="white"/>
              </a:solidFill>
            </a:endParaRPr>
          </a:p>
        </p:txBody>
      </p:sp>
      <p:sp>
        <p:nvSpPr>
          <p:cNvPr id="1034" name="Gerade Verbindung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algn="ctr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1" hangingPunct="1"/>
            <a:endParaRPr lang="de-DE" b="0">
              <a:solidFill>
                <a:prstClr val="black"/>
              </a:solidFill>
            </a:endParaRPr>
          </a:p>
        </p:txBody>
      </p:sp>
      <p:sp>
        <p:nvSpPr>
          <p:cNvPr id="12" name="Ellipse 11"/>
          <p:cNvSpPr/>
          <p:nvPr/>
        </p:nvSpPr>
        <p:spPr>
          <a:xfrm>
            <a:off x="8156575" y="5715000"/>
            <a:ext cx="549275" cy="549275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b="0" dirty="0">
              <a:solidFill>
                <a:prstClr val="white"/>
              </a:solidFill>
            </a:endParaRPr>
          </a:p>
        </p:txBody>
      </p:sp>
      <p:sp>
        <p:nvSpPr>
          <p:cNvPr id="23" name="Foliennummernplatzhalter 22"/>
          <p:cNvSpPr>
            <a:spLocks noGrp="1"/>
          </p:cNvSpPr>
          <p:nvPr>
            <p:ph type="sldNum" sz="quarter" idx="4"/>
          </p:nvPr>
        </p:nvSpPr>
        <p:spPr>
          <a:xfrm>
            <a:off x="8129588" y="5734050"/>
            <a:ext cx="609600" cy="520700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08E6AA8-8F6A-4E42-B01B-62438D63E04B}" type="slidenum">
              <a:rPr lang="de-DE"/>
              <a:pPr>
                <a:defRPr/>
              </a:pPr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3297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  <p:sldLayoutId id="2147483765" r:id="rId13"/>
    <p:sldLayoutId id="2147483766" r:id="rId14"/>
    <p:sldLayoutId id="2147483767" r:id="rId15"/>
    <p:sldLayoutId id="2147483768" r:id="rId16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3000" kern="1200" cap="small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2pPr>
      <a:lvl3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3pPr>
      <a:lvl4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4pPr>
      <a:lvl5pPr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2"/>
          </a:solidFill>
          <a:latin typeface="Century Schoolbook"/>
        </a:defRPr>
      </a:lvl9pPr>
    </p:titleStyle>
    <p:bodyStyle>
      <a:lvl1pPr marL="273050" indent="-273050" algn="l" rtl="0" fontAlgn="base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Wingdings" pitchFamily="2" charset="2"/>
        <a:buChar char="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39763" indent="-273050" algn="l" rtl="0" fontAlgn="base">
        <a:spcBef>
          <a:spcPct val="20000"/>
        </a:spcBef>
        <a:spcAft>
          <a:spcPct val="0"/>
        </a:spcAft>
        <a:buClr>
          <a:schemeClr val="accent1"/>
        </a:buClr>
        <a:buSzPct val="80000"/>
        <a:buFont typeface="Wingdings 2" pitchFamily="18" charset="2"/>
        <a:buChar char="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563" algn="l" rtl="0" fontAlgn="base">
        <a:spcBef>
          <a:spcPct val="20000"/>
        </a:spcBef>
        <a:spcAft>
          <a:spcPct val="0"/>
        </a:spcAft>
        <a:buClr>
          <a:srgbClr val="646C8F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187450" indent="-182563" algn="l" rtl="0" fontAlgn="base">
        <a:spcBef>
          <a:spcPct val="20000"/>
        </a:spcBef>
        <a:spcAft>
          <a:spcPct val="0"/>
        </a:spcAft>
        <a:buClr>
          <a:srgbClr val="BCBFCE"/>
        </a:buClr>
        <a:buSzPct val="60000"/>
        <a:buFont typeface="Wingdings" pitchFamily="2" charset="2"/>
        <a:buChar char="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1462088" indent="-182563" algn="l" rtl="0" fontAlgn="base">
        <a:spcBef>
          <a:spcPct val="20000"/>
        </a:spcBef>
        <a:spcAft>
          <a:spcPct val="0"/>
        </a:spcAft>
        <a:buClr>
          <a:srgbClr val="CDD8E3"/>
        </a:buClr>
        <a:buSzPct val="68000"/>
        <a:buFont typeface="Wingdings 2" pitchFamily="18" charset="2"/>
        <a:buChar char="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Z-MRqTJMap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286000" y="3124200"/>
            <a:ext cx="6172200" cy="1893888"/>
          </a:xfrm>
        </p:spPr>
        <p:txBody>
          <a:bodyPr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de-DE" dirty="0"/>
              <a:t>Fachdidaktik technischer Allgemeinbildung II / Fachdidaktik gewerblich-Technischer Fachrichtungen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86000" y="5003800"/>
            <a:ext cx="6172200" cy="1371600"/>
          </a:xfrm>
        </p:spPr>
        <p:txBody>
          <a:bodyPr/>
          <a:lstStyle/>
          <a:p>
            <a:endParaRPr lang="de-D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10081B5-7AB8-4D50-B32A-C9C1DE8C40DF}" type="slidenum">
              <a:rPr lang="de-DE">
                <a:solidFill>
                  <a:srgbClr val="FFFFFF"/>
                </a:solidFill>
              </a:rPr>
              <a:pPr eaLnBrk="1" hangingPunct="1"/>
              <a:t>2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16387" name="Textfeld 2"/>
          <p:cNvSpPr txBox="1">
            <a:spLocks noChangeArrowheads="1"/>
          </p:cNvSpPr>
          <p:nvPr/>
        </p:nvSpPr>
        <p:spPr bwMode="auto">
          <a:xfrm>
            <a:off x="755650" y="2852738"/>
            <a:ext cx="7488238" cy="31700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Besonderheiten von Technik.</a:t>
            </a:r>
          </a:p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Wodurch unterscheidet sich Technik von den Naturwissenschaften und Wirtschaftswissenschaften?</a:t>
            </a:r>
          </a:p>
        </p:txBody>
      </p:sp>
    </p:spTree>
    <p:extLst>
      <p:ext uri="{BB962C8B-B14F-4D97-AF65-F5344CB8AC3E}">
        <p14:creationId xmlns:p14="http://schemas.microsoft.com/office/powerpoint/2010/main" val="1140336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sz="2400" dirty="0">
                <a:solidFill>
                  <a:srgbClr val="464653"/>
                </a:solidFill>
              </a:rPr>
              <a:t>1.1 Vergleich der Gegenstandsbereiche der Natur-, Technik-  </a:t>
            </a:r>
            <a:br>
              <a:rPr lang="de-DE" sz="2400" dirty="0">
                <a:solidFill>
                  <a:srgbClr val="464653"/>
                </a:solidFill>
              </a:rPr>
            </a:br>
            <a:r>
              <a:rPr lang="de-DE" sz="2400" dirty="0">
                <a:solidFill>
                  <a:srgbClr val="464653"/>
                </a:solidFill>
              </a:rPr>
              <a:t>       und Wirtschaftswissenschaften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</a:t>
            </a:fld>
            <a:endParaRPr lang="de-DE"/>
          </a:p>
        </p:txBody>
      </p:sp>
      <p:graphicFrame>
        <p:nvGraphicFramePr>
          <p:cNvPr id="6" name="Group 5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141395012"/>
              </p:ext>
            </p:extLst>
          </p:nvPr>
        </p:nvGraphicFramePr>
        <p:xfrm>
          <a:off x="704850" y="1412875"/>
          <a:ext cx="7467600" cy="4937548"/>
        </p:xfrm>
        <a:graphic>
          <a:graphicData uri="http://schemas.openxmlformats.org/drawingml/2006/table">
            <a:tbl>
              <a:tblPr/>
              <a:tblGrid>
                <a:gridCol w="972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5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39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09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Naturwissen-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schaften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Technik-wissenschaften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Wirtschafts-wissenschaften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7618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Gegen-stands-bereich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Natürliche Systeme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Vom Menschen geschaffene technische Systeme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Vom Menschen geschaffene ökonomische Systeme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5998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Ziel-stell-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ung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21" marB="4572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Gewinnen von Erkenntnissen über Objekte der Natur mit vorrangiger Explanations-funktion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Gewinnen von Erkenntnissen zur Konstruktion und Bewertung von technischen Systemen mit vorrangiger strategischer Funktion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Gewinnen von Erkenntnissen zur Funktionen ökonomischer Systeme zur Gestaltung wirtschaftswissen-</a:t>
                      </a:r>
                      <a:r>
                        <a:rPr kumimoji="0" lang="de-DE" sz="1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schaftlicher</a:t>
                      </a: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Prozesse</a:t>
                      </a:r>
                    </a:p>
                  </a:txBody>
                  <a:tcPr marL="78449" marR="78449" marT="45721" marB="4572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sz="2400" dirty="0">
                <a:solidFill>
                  <a:srgbClr val="464653"/>
                </a:solidFill>
              </a:rPr>
              <a:t>1.1 Vergleich der Gegenstandsbereiche der Natur-, Technik-  </a:t>
            </a:r>
            <a:br>
              <a:rPr lang="de-DE" sz="2400" dirty="0">
                <a:solidFill>
                  <a:srgbClr val="464653"/>
                </a:solidFill>
              </a:rPr>
            </a:br>
            <a:r>
              <a:rPr lang="de-DE" sz="2400" dirty="0">
                <a:solidFill>
                  <a:srgbClr val="464653"/>
                </a:solidFill>
              </a:rPr>
              <a:t>       und Wirtschaftswissenschaften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4</a:t>
            </a:fld>
            <a:endParaRPr lang="de-DE"/>
          </a:p>
        </p:txBody>
      </p:sp>
      <p:graphicFrame>
        <p:nvGraphicFramePr>
          <p:cNvPr id="6" name="Group 118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182262444"/>
              </p:ext>
            </p:extLst>
          </p:nvPr>
        </p:nvGraphicFramePr>
        <p:xfrm>
          <a:off x="704850" y="1600200"/>
          <a:ext cx="7467600" cy="4768850"/>
        </p:xfrm>
        <a:graphic>
          <a:graphicData uri="http://schemas.openxmlformats.org/drawingml/2006/table">
            <a:tbl>
              <a:tblPr/>
              <a:tblGrid>
                <a:gridCol w="972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1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17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Natur-wissenschaften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Technik-wissenschaften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Wirtschafts-wissenschaften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802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Aus-sagen-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sys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teme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28" marB="45728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Aussagensysteme in Form von Gesetzesaussagen, Begriffen und Theorien, die zum Beschreiben von Erscheinungen und Objekten der Natur dienen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Aussagensysteme in Form von Gesetzesaussagen, Begriffen und Theorien, die zum Regulieren von Tätigkeiten mittels der aus Gesetzesaussagen hergeleiteten Strategien in Form von Vorschriften, Programmen u. a. dienen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Aussagen zur Optimierung von wirtschaftlichen Prozessen mit Hilfe von Strategien, Prognosen zur wirtschaftlichen Entwicklung und zweckmäßigen wirtschaftlichen Gestaltung von Prozessen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651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marL="78449" marR="78449" marT="45728" marB="45728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89656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sz="2400" dirty="0">
                <a:solidFill>
                  <a:srgbClr val="464653"/>
                </a:solidFill>
              </a:rPr>
              <a:t>1.1 Vergleich der Gegenstandsbereiche der Natur-, Technik-  </a:t>
            </a:r>
            <a:br>
              <a:rPr lang="de-DE" sz="2400" dirty="0">
                <a:solidFill>
                  <a:srgbClr val="464653"/>
                </a:solidFill>
              </a:rPr>
            </a:br>
            <a:r>
              <a:rPr lang="de-DE" sz="2400" dirty="0">
                <a:solidFill>
                  <a:srgbClr val="464653"/>
                </a:solidFill>
              </a:rPr>
              <a:t>       und Wirtschaftswissenschaften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5</a:t>
            </a:fld>
            <a:endParaRPr lang="de-DE"/>
          </a:p>
        </p:txBody>
      </p:sp>
      <p:graphicFrame>
        <p:nvGraphicFramePr>
          <p:cNvPr id="4" name="Group 32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3109912270"/>
              </p:ext>
            </p:extLst>
          </p:nvPr>
        </p:nvGraphicFramePr>
        <p:xfrm>
          <a:off x="704850" y="1600200"/>
          <a:ext cx="7467600" cy="3354388"/>
        </p:xfrm>
        <a:graphic>
          <a:graphicData uri="http://schemas.openxmlformats.org/drawingml/2006/table">
            <a:tbl>
              <a:tblPr/>
              <a:tblGrid>
                <a:gridCol w="972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15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0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91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Natur-wissenschaften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Technik-wissenschaften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Wirtschafts-wissenschaften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263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Aus-sagen-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syst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eme</a:t>
                      </a: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…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7588">
                <a:tc v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Bewerten der Aussagen nach dem Kriterium der Wahrheit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Bewerten der Strategien nach dem Kriterium der Richtigkeit (Realisierbarkeit des Ziels) und der Zweckmäßigkeit des Weges zum Ziel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Bewerten von Strategien nach dem Kriterium der Wirtschaftlichkeit</a:t>
                      </a:r>
                    </a:p>
                  </a:txBody>
                  <a:tcPr marL="78449" marR="7844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dash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11524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sz="2400" dirty="0">
                <a:solidFill>
                  <a:srgbClr val="464653"/>
                </a:solidFill>
              </a:rPr>
              <a:t>1.1 Vergleich der Gegenstandsbereiche der Natur-, Technik-  </a:t>
            </a:r>
            <a:br>
              <a:rPr lang="de-DE" sz="2400" dirty="0">
                <a:solidFill>
                  <a:srgbClr val="464653"/>
                </a:solidFill>
              </a:rPr>
            </a:br>
            <a:r>
              <a:rPr lang="de-DE" sz="2400" dirty="0">
                <a:solidFill>
                  <a:srgbClr val="464653"/>
                </a:solidFill>
              </a:rPr>
              <a:t>       und Wirtschaftswissenschaften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6</a:t>
            </a:fld>
            <a:endParaRPr lang="de-DE"/>
          </a:p>
        </p:txBody>
      </p:sp>
      <p:graphicFrame>
        <p:nvGraphicFramePr>
          <p:cNvPr id="6" name="Group 36"/>
          <p:cNvGraphicFramePr>
            <a:graphicFrameLocks noGrp="1"/>
          </p:cNvGraphicFramePr>
          <p:nvPr>
            <p:ph sz="quarter" idx="1"/>
          </p:nvPr>
        </p:nvGraphicFramePr>
        <p:xfrm>
          <a:off x="704850" y="1600200"/>
          <a:ext cx="7467600" cy="2165350"/>
        </p:xfrm>
        <a:graphic>
          <a:graphicData uri="http://schemas.openxmlformats.org/drawingml/2006/table">
            <a:tbl>
              <a:tblPr/>
              <a:tblGrid>
                <a:gridCol w="9724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75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26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5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12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L="78449" marR="78449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Natur-wissenschaften</a:t>
                      </a:r>
                    </a:p>
                  </a:txBody>
                  <a:tcPr marL="78449" marR="78449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Technik-wissenschaften</a:t>
                      </a:r>
                    </a:p>
                  </a:txBody>
                  <a:tcPr marL="78449" marR="78449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Wirtschafts-wissenschaften</a:t>
                      </a:r>
                    </a:p>
                  </a:txBody>
                  <a:tcPr marL="78449" marR="78449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41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Er-kennt-nisme-thoden</a:t>
                      </a:r>
                    </a:p>
                  </a:txBody>
                  <a:tcPr marL="78449" marR="78449" marT="45733" marB="4573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Eigenständigkeit, abbildungsorientiert, Ursache-Wirkungs-Relation</a:t>
                      </a:r>
                    </a:p>
                  </a:txBody>
                  <a:tcPr marL="78449" marR="78449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Integrierend, anwendungsorientiert, Zweck-Mittel-Relation</a:t>
                      </a:r>
                    </a:p>
                  </a:txBody>
                  <a:tcPr marL="78449" marR="78449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Integrierend, anwendungsorientiert, Aufwand-Nutzen-Relation</a:t>
                      </a:r>
                    </a:p>
                  </a:txBody>
                  <a:tcPr marL="78449" marR="78449" marT="45733" marB="4573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Text Box 34"/>
          <p:cNvSpPr txBox="1">
            <a:spLocks noChangeArrowheads="1"/>
          </p:cNvSpPr>
          <p:nvPr/>
        </p:nvSpPr>
        <p:spPr bwMode="auto">
          <a:xfrm>
            <a:off x="1042988" y="4149080"/>
            <a:ext cx="7777162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de-DE" dirty="0"/>
              <a:t>(In Anlehnung an Bernhard, Ebert &amp; Schröder 1995, S. 19)</a:t>
            </a:r>
          </a:p>
        </p:txBody>
      </p:sp>
    </p:spTree>
    <p:extLst>
      <p:ext uri="{BB962C8B-B14F-4D97-AF65-F5344CB8AC3E}">
        <p14:creationId xmlns:p14="http://schemas.microsoft.com/office/powerpoint/2010/main" val="5569921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sz="2400" dirty="0">
                <a:solidFill>
                  <a:srgbClr val="464653"/>
                </a:solidFill>
              </a:rPr>
              <a:t>1.2 Quantitäten einiger ausgewählter Ausbildungsberufe</a:t>
            </a:r>
            <a:endParaRPr lang="de-DE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4" name="Picture 2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1916113"/>
            <a:ext cx="5327650" cy="383381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 Box 23"/>
          <p:cNvSpPr txBox="1">
            <a:spLocks noChangeArrowheads="1"/>
          </p:cNvSpPr>
          <p:nvPr/>
        </p:nvSpPr>
        <p:spPr bwMode="auto">
          <a:xfrm>
            <a:off x="1116013" y="5805488"/>
            <a:ext cx="7777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r>
              <a:rPr lang="de-DE" sz="2000" b="0" dirty="0"/>
              <a:t>Referenzjahr 2002</a:t>
            </a:r>
          </a:p>
          <a:p>
            <a:pPr eaLnBrk="1" hangingPunct="1"/>
            <a:r>
              <a:rPr lang="de-DE" sz="2000" b="0" dirty="0"/>
              <a:t>(Bertram &amp; Bärbel 2002)</a:t>
            </a:r>
          </a:p>
        </p:txBody>
      </p:sp>
    </p:spTree>
    <p:extLst>
      <p:ext uri="{BB962C8B-B14F-4D97-AF65-F5344CB8AC3E}">
        <p14:creationId xmlns:p14="http://schemas.microsoft.com/office/powerpoint/2010/main" val="353355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liennummernplatzhalter 1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eaLnBrk="1" hangingPunct="1"/>
            <a:fld id="{510081B5-7AB8-4D50-B32A-C9C1DE8C40DF}" type="slidenum">
              <a:rPr lang="de-DE">
                <a:solidFill>
                  <a:srgbClr val="FFFFFF"/>
                </a:solidFill>
              </a:rPr>
              <a:pPr eaLnBrk="1" hangingPunct="1"/>
              <a:t>8</a:t>
            </a:fld>
            <a:endParaRPr lang="de-DE">
              <a:solidFill>
                <a:srgbClr val="FFFFFF"/>
              </a:solidFill>
            </a:endParaRPr>
          </a:p>
        </p:txBody>
      </p:sp>
      <p:sp>
        <p:nvSpPr>
          <p:cNvPr id="16387" name="Textfeld 2"/>
          <p:cNvSpPr txBox="1">
            <a:spLocks noChangeArrowheads="1"/>
          </p:cNvSpPr>
          <p:nvPr/>
        </p:nvSpPr>
        <p:spPr bwMode="auto">
          <a:xfrm>
            <a:off x="755650" y="2852738"/>
            <a:ext cx="7488238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Tahoma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Tahoma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itchFamily="34" charset="0"/>
              </a:defRPr>
            </a:lvl9pPr>
          </a:lstStyle>
          <a:p>
            <a:pPr algn="ctr" eaLnBrk="1" hangingPunct="1"/>
            <a:r>
              <a:rPr lang="de-DE" sz="4000" b="0" dirty="0">
                <a:solidFill>
                  <a:prstClr val="black"/>
                </a:solidFill>
              </a:rPr>
              <a:t>Methodenkonzeption</a:t>
            </a:r>
          </a:p>
        </p:txBody>
      </p:sp>
    </p:spTree>
    <p:extLst>
      <p:ext uri="{BB962C8B-B14F-4D97-AF65-F5344CB8AC3E}">
        <p14:creationId xmlns:p14="http://schemas.microsoft.com/office/powerpoint/2010/main" val="30580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4.1 Definition Unterrichtsmethoden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0" indent="0" eaLnBrk="1" hangingPunct="1">
              <a:buFont typeface="Wingdings" pitchFamily="2" charset="2"/>
              <a:buNone/>
            </a:pPr>
            <a:r>
              <a:rPr lang="de-DE" dirty="0"/>
              <a:t>„Unterrichtsmethoden sind Formen und Verfahren, in und mit denen sich Lehrer und Schüler die sie umgebene natürliche und gesellschaftliche Wirklichkeit unter institutionellen Rahmenbedingungen aneignen“</a:t>
            </a:r>
          </a:p>
          <a:p>
            <a:pPr marL="0" indent="0" algn="r" eaLnBrk="1" hangingPunct="1">
              <a:buFont typeface="Wingdings" pitchFamily="2" charset="2"/>
              <a:buNone/>
            </a:pPr>
            <a:r>
              <a:rPr lang="de-DE" dirty="0"/>
              <a:t>(Meyer &amp; Hilbert 1994, S. 45)</a:t>
            </a:r>
          </a:p>
          <a:p>
            <a:pPr marL="0" indent="0" eaLnBrk="1" hangingPunct="1">
              <a:buFont typeface="Wingdings" pitchFamily="2" charset="2"/>
              <a:buNone/>
            </a:pPr>
            <a:endParaRPr lang="de-DE" dirty="0"/>
          </a:p>
          <a:p>
            <a:pPr marL="0" indent="0" eaLnBrk="1" hangingPunct="1">
              <a:buFont typeface="Wingdings" pitchFamily="2" charset="2"/>
              <a:buNone/>
            </a:pPr>
            <a:r>
              <a:rPr lang="de-DE" dirty="0"/>
              <a:t>„Unterrichtsmethode“ ist der prinzipielle Weg, den Lehrer und Schüler beschreiten, um die Ziele des Unterrichts zu erreichen.“</a:t>
            </a:r>
          </a:p>
          <a:p>
            <a:pPr marL="0" indent="0" algn="r" eaLnBrk="1" hangingPunct="1">
              <a:buFont typeface="Wingdings" pitchFamily="2" charset="2"/>
              <a:buNone/>
            </a:pPr>
            <a:r>
              <a:rPr lang="de-DE" dirty="0"/>
              <a:t>(Meyer &amp; Hilbert 1994)</a:t>
            </a:r>
          </a:p>
        </p:txBody>
      </p:sp>
    </p:spTree>
    <p:extLst>
      <p:ext uri="{BB962C8B-B14F-4D97-AF65-F5344CB8AC3E}">
        <p14:creationId xmlns:p14="http://schemas.microsoft.com/office/powerpoint/2010/main" val="1686538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Beispiel: Krümel und </a:t>
            </a:r>
            <a:r>
              <a:rPr lang="de-DE" dirty="0" err="1"/>
              <a:t>Lulatsch</a:t>
            </a:r>
            <a:endParaRPr lang="de-DE" dirty="0"/>
          </a:p>
        </p:txBody>
      </p:sp>
      <p:sp>
        <p:nvSpPr>
          <p:cNvPr id="3" name="Inhaltsplatzhalt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de-DE" u="sng" dirty="0">
                <a:hlinkClick r:id="rId2"/>
              </a:rPr>
              <a:t>https://www.youtube.com/watch?v=Z-MRqTJMapY</a:t>
            </a:r>
            <a:endParaRPr lang="de-DE" dirty="0"/>
          </a:p>
          <a:p>
            <a:endParaRPr lang="de-DE" dirty="0"/>
          </a:p>
          <a:p>
            <a:r>
              <a:rPr lang="de-DE" dirty="0"/>
              <a:t>Welches Problem haben Krümel und </a:t>
            </a:r>
            <a:r>
              <a:rPr lang="de-DE" dirty="0" err="1"/>
              <a:t>Lulatsch</a:t>
            </a:r>
            <a:r>
              <a:rPr lang="de-DE" dirty="0"/>
              <a:t> konkret?</a:t>
            </a:r>
          </a:p>
          <a:p>
            <a:r>
              <a:rPr lang="de-DE" dirty="0"/>
              <a:t>Welches Problem liegt „abstrakt“ vor?</a:t>
            </a:r>
          </a:p>
          <a:p>
            <a:r>
              <a:rPr lang="de-DE" dirty="0"/>
              <a:t>Welche Implikationen hat das Problem von Krümel und </a:t>
            </a:r>
            <a:r>
              <a:rPr lang="de-DE" dirty="0" err="1"/>
              <a:t>Lulatsch</a:t>
            </a:r>
            <a:r>
              <a:rPr lang="de-DE" dirty="0"/>
              <a:t> für die pädagogische Praxis?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316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4.1 Definition Unterrichtsmethoden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11</a:t>
            </a:fld>
            <a:endParaRPr lang="de-DE"/>
          </a:p>
        </p:txBody>
      </p:sp>
      <p:graphicFrame>
        <p:nvGraphicFramePr>
          <p:cNvPr id="5" name="Group 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70514780"/>
              </p:ext>
            </p:extLst>
          </p:nvPr>
        </p:nvGraphicFramePr>
        <p:xfrm>
          <a:off x="35496" y="2017713"/>
          <a:ext cx="8704263" cy="4114800"/>
        </p:xfrm>
        <a:graphic>
          <a:graphicData uri="http://schemas.openxmlformats.org/drawingml/2006/table">
            <a:tbl>
              <a:tblPr/>
              <a:tblGrid>
                <a:gridCol w="4352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1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716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Natur des Schülers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Gemäß seiner Entwicklungsstufe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Natur des Lehrers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Historische und rationale Elemente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71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Methode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Gesamtverfahren des Unterrichts oder Methode im weiteren Sinne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71600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Lehrformen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Methoden im engeren Sinne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62969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4.1 Definition Unterrichtsmethoden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12</a:t>
            </a:fld>
            <a:endParaRPr lang="de-DE"/>
          </a:p>
        </p:txBody>
      </p:sp>
      <p:graphicFrame>
        <p:nvGraphicFramePr>
          <p:cNvPr id="5" name="Group 4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7338037"/>
              </p:ext>
            </p:extLst>
          </p:nvPr>
        </p:nvGraphicFramePr>
        <p:xfrm>
          <a:off x="250825" y="2017713"/>
          <a:ext cx="8704263" cy="2651696"/>
        </p:xfrm>
        <a:graphic>
          <a:graphicData uri="http://schemas.openxmlformats.org/drawingml/2006/table">
            <a:tbl>
              <a:tblPr/>
              <a:tblGrid>
                <a:gridCol w="4924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79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51125"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Aspekt der äußeren Gestaltung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AutoNum type="arabicParenR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Mitteilende</a:t>
                      </a:r>
                    </a:p>
                    <a:p>
                      <a:pPr marL="1169988" marR="0" lvl="1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lphaLcPeriod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Vortragend</a:t>
                      </a:r>
                    </a:p>
                    <a:p>
                      <a:pPr marL="1169988" marR="0" lvl="1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lphaLcPeriod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Fragend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AutoNum type="arabicParenR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Entwickelnde, heuristische</a:t>
                      </a:r>
                      <a:endParaRPr kumimoji="0" lang="de-DE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1169988" marR="0" lvl="1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lphaLcPeriod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Vortragend</a:t>
                      </a:r>
                    </a:p>
                    <a:p>
                      <a:pPr marL="1169988" marR="0" lvl="1" indent="-4572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+mj-lt"/>
                        <a:buAutoNum type="alphaLcPeriod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Fragend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Logischer Aspekt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AutoNum type="arabicParenR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Analytische und synthetische Methode</a:t>
                      </a:r>
                    </a:p>
                    <a:p>
                      <a:pPr marL="533400" marR="0" lvl="0" indent="-5334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Tx/>
                        <a:buFont typeface="Wingdings" pitchFamily="2" charset="2"/>
                        <a:buAutoNum type="arabicParenR"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Induktive und deduktive Methode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2485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>
            <a:normAutofit fontScale="90000"/>
          </a:bodyPr>
          <a:lstStyle/>
          <a:p>
            <a:r>
              <a:rPr lang="de-DE" dirty="0"/>
              <a:t>4.2 Klassifikation von Methoden unter dem             </a:t>
            </a:r>
            <a:br>
              <a:rPr lang="de-DE" dirty="0"/>
            </a:br>
            <a:r>
              <a:rPr lang="de-DE" dirty="0"/>
              <a:t>       logischen Aspekt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Analytisch</a:t>
            </a:r>
          </a:p>
          <a:p>
            <a:pPr eaLnBrk="1" hangingPunct="1"/>
            <a:r>
              <a:rPr lang="de-DE" dirty="0"/>
              <a:t>Synthetisch</a:t>
            </a:r>
          </a:p>
          <a:p>
            <a:pPr eaLnBrk="1" hangingPunct="1"/>
            <a:r>
              <a:rPr lang="de-DE" dirty="0"/>
              <a:t>Deduktiv</a:t>
            </a:r>
          </a:p>
          <a:p>
            <a:pPr eaLnBrk="1" hangingPunct="1"/>
            <a:r>
              <a:rPr lang="de-DE" dirty="0"/>
              <a:t>Induktiv</a:t>
            </a:r>
          </a:p>
          <a:p>
            <a:pPr eaLnBrk="1" hangingPunct="1"/>
            <a:r>
              <a:rPr lang="de-DE" dirty="0"/>
              <a:t>Genetisch</a:t>
            </a:r>
          </a:p>
          <a:p>
            <a:pPr eaLnBrk="1" hangingPunct="1"/>
            <a:r>
              <a:rPr lang="de-DE" dirty="0"/>
              <a:t>Historisch</a:t>
            </a:r>
          </a:p>
          <a:p>
            <a:pPr eaLnBrk="1" hangingPunct="1"/>
            <a:r>
              <a:rPr lang="de-DE" dirty="0"/>
              <a:t>Reduktiv</a:t>
            </a:r>
          </a:p>
          <a:p>
            <a:pPr algn="r" eaLnBrk="1" hangingPunct="1">
              <a:buFont typeface="Wingdings" pitchFamily="2" charset="2"/>
              <a:buNone/>
            </a:pPr>
            <a:r>
              <a:rPr lang="de-DE" dirty="0"/>
              <a:t>(vgl. </a:t>
            </a:r>
            <a:r>
              <a:rPr lang="de-DE" dirty="0" err="1"/>
              <a:t>Diesterweg</a:t>
            </a:r>
            <a:r>
              <a:rPr lang="de-DE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197591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4.3 Analytische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Analysieren (anhand eines Ordnungsprinzips) der Gesamterscheinung</a:t>
            </a:r>
          </a:p>
          <a:p>
            <a:pPr eaLnBrk="1" hangingPunct="1"/>
            <a:r>
              <a:rPr lang="de-DE" dirty="0"/>
              <a:t>Erkennen des Wesens aus dem Ganzen durch heraus gelöste Teile</a:t>
            </a:r>
          </a:p>
          <a:p>
            <a:pPr eaLnBrk="1" hangingPunct="1"/>
            <a:r>
              <a:rPr lang="de-DE" dirty="0"/>
              <a:t>Anwendung: Erkennen von Aufbau, Wirkungsweisen von Maschinen</a:t>
            </a:r>
          </a:p>
          <a:p>
            <a:pPr eaLnBrk="1" hangingPunct="1"/>
            <a:r>
              <a:rPr lang="de-DE" dirty="0"/>
              <a:t>Beispiel:</a:t>
            </a:r>
          </a:p>
          <a:p>
            <a:pPr lvl="1" eaLnBrk="1" hangingPunct="1"/>
            <a:r>
              <a:rPr lang="de-DE" sz="2000" dirty="0"/>
              <a:t>Merkmale von Dachkonstruktionen</a:t>
            </a:r>
          </a:p>
          <a:p>
            <a:pPr lvl="1" eaLnBrk="1" hangingPunct="1"/>
            <a:r>
              <a:rPr lang="de-DE" sz="2000" dirty="0"/>
              <a:t>Ordnung nach Elementen, Verbindungen</a:t>
            </a:r>
          </a:p>
        </p:txBody>
      </p:sp>
    </p:spTree>
    <p:extLst>
      <p:ext uri="{BB962C8B-B14F-4D97-AF65-F5344CB8AC3E}">
        <p14:creationId xmlns:p14="http://schemas.microsoft.com/office/powerpoint/2010/main" val="1030888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4.3 Analytische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15</a:t>
            </a:fld>
            <a:endParaRPr lang="de-DE"/>
          </a:p>
        </p:txBody>
      </p:sp>
      <p:graphicFrame>
        <p:nvGraphicFramePr>
          <p:cNvPr id="5" name="Group 64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4059405772"/>
              </p:ext>
            </p:extLst>
          </p:nvPr>
        </p:nvGraphicFramePr>
        <p:xfrm>
          <a:off x="179512" y="1556792"/>
          <a:ext cx="8424862" cy="4114800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111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Sparren- und Kehlbalkendach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Pfettendach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Tragende Glieder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„Stuhl“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Dachneigung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Steiler (&gt;45°)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Flacher (&lt;45°)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0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Fußpunkt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Stahlbetonwiderlager; Schrägzapfen, Versatz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Lagerung des Sparrens auf der Fußpfette (Schwelle)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First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Verbindungen der Sparren durch Laschen, verkämmte Firstbohle; Scherzapfen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Lagerung des Sparrens auf der Firstpfette, Sicherung durch Lasche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86030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4.3 Analytische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16</a:t>
            </a:fld>
            <a:endParaRPr lang="de-DE"/>
          </a:p>
        </p:txBody>
      </p:sp>
      <p:graphicFrame>
        <p:nvGraphicFramePr>
          <p:cNvPr id="5" name="Group 48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1972757260"/>
              </p:ext>
            </p:extLst>
          </p:nvPr>
        </p:nvGraphicFramePr>
        <p:xfrm>
          <a:off x="179512" y="1628800"/>
          <a:ext cx="8424862" cy="4023200"/>
        </p:xfrm>
        <a:graphic>
          <a:graphicData uri="http://schemas.openxmlformats.org/drawingml/2006/table">
            <a:tbl>
              <a:tblPr/>
              <a:tblGrid>
                <a:gridCol w="2808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08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082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Sparren- und Kehlbalkendach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Pfettendach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09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Konstruktionselemente/ Verbindungen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Sparren- und Kehlbalkendach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Pfettendach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4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Längsverband; Längsstreifigkeit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Windrispen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Pfettenstränge; Anordnung von Pfosten, Bügen, Sparren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04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Querverband</a:t>
                      </a:r>
                    </a:p>
                  </a:txBody>
                  <a:tcPr marT="45700" marB="4570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Unverschiebliches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Dreieick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aus dem Sparrenpaar und der Decke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Dreieck aus Pfosten, Sparren und Decke</a:t>
                      </a:r>
                    </a:p>
                  </a:txBody>
                  <a:tcPr marT="45700" marB="457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7728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4.4 Synthetische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17</a:t>
            </a:fld>
            <a:endParaRPr lang="de-DE"/>
          </a:p>
        </p:txBody>
      </p:sp>
      <p:graphicFrame>
        <p:nvGraphicFramePr>
          <p:cNvPr id="5" name="Group 35"/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898112808"/>
              </p:ext>
            </p:extLst>
          </p:nvPr>
        </p:nvGraphicFramePr>
        <p:xfrm>
          <a:off x="394841" y="1844824"/>
          <a:ext cx="8137599" cy="1974902"/>
        </p:xfrm>
        <a:graphic>
          <a:graphicData uri="http://schemas.openxmlformats.org/drawingml/2006/table">
            <a:tbl>
              <a:tblPr/>
              <a:tblGrid>
                <a:gridCol w="3961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76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9600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Grundoperation 1: Analyse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(ist Voraussetzung)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Grundoperation: Synthese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78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Zergliederung eines Ganzen in einzelne Bestandteile nach einem bestimmten Ordnungsprinzip</a:t>
                      </a:r>
                    </a:p>
                  </a:txBody>
                  <a:tcPr marT="45692" marB="4569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Zusammenfügen einer Anzahl von Teilen zu einem Ganzen</a:t>
                      </a:r>
                    </a:p>
                  </a:txBody>
                  <a:tcPr marT="45692" marB="4569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692273" y="4005064"/>
            <a:ext cx="8704263" cy="1981200"/>
          </a:xfrm>
          <a:prstGeom prst="rect">
            <a:avLst/>
          </a:prstGeom>
        </p:spPr>
        <p:txBody>
          <a:bodyPr/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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Char char=""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dirty="0"/>
              <a:t>Gesamterscheinung wird thematisch beschrieben</a:t>
            </a:r>
          </a:p>
          <a:p>
            <a:r>
              <a:rPr lang="de-DE" b="0" dirty="0"/>
              <a:t>Arbeitsablauf wird in Einzelteile zerlegt</a:t>
            </a:r>
          </a:p>
          <a:p>
            <a:r>
              <a:rPr lang="de-DE" b="0" dirty="0"/>
              <a:t>Einzelteile wiederum einzeln erörtert</a:t>
            </a:r>
          </a:p>
          <a:p>
            <a:r>
              <a:rPr lang="de-DE" b="0" dirty="0"/>
              <a:t>Einzelteile werden wieder zu einem Ganzen zusammengefügt</a:t>
            </a:r>
          </a:p>
          <a:p>
            <a:pPr>
              <a:buFont typeface="Wingdings" pitchFamily="2" charset="2"/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59580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4.4 Synthetische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18</a:t>
            </a:fld>
            <a:endParaRPr lang="de-DE"/>
          </a:p>
        </p:txBody>
      </p:sp>
      <p:sp>
        <p:nvSpPr>
          <p:cNvPr id="5" name="Rectangle 30"/>
          <p:cNvSpPr txBox="1">
            <a:spLocks noChangeArrowheads="1"/>
          </p:cNvSpPr>
          <p:nvPr/>
        </p:nvSpPr>
        <p:spPr>
          <a:xfrm>
            <a:off x="548257" y="1844824"/>
            <a:ext cx="8704263" cy="1981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 pitchFamily="2" charset="2"/>
              <a:buChar char="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0" dirty="0"/>
              <a:t>Beispiel:</a:t>
            </a:r>
          </a:p>
          <a:p>
            <a:pPr lvl="1"/>
            <a:r>
              <a:rPr lang="de-DE" sz="2000" b="0" dirty="0"/>
              <a:t>Schüler werden angeregt, aus Zusammenstellung Merkmale entnehmen, die Unterschiede der Konstruktionen erkennbarer machen</a:t>
            </a:r>
          </a:p>
        </p:txBody>
      </p:sp>
      <p:graphicFrame>
        <p:nvGraphicFramePr>
          <p:cNvPr id="6" name="Group 5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65885385"/>
              </p:ext>
            </p:extLst>
          </p:nvPr>
        </p:nvGraphicFramePr>
        <p:xfrm>
          <a:off x="754881" y="3573463"/>
          <a:ext cx="7345511" cy="2590165"/>
        </p:xfrm>
        <a:graphic>
          <a:graphicData uri="http://schemas.openxmlformats.org/drawingml/2006/table">
            <a:tbl>
              <a:tblPr/>
              <a:tblGrid>
                <a:gridCol w="2160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7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Tragende Glieder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Sparren- und Kehlbalkendach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Pfettendach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de-DE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Stuhl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795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Querverband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Unverschiebbares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Dreieck von </a:t>
                      </a:r>
                      <a:r>
                        <a:rPr kumimoji="0" lang="de-D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Sparrenpaar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und </a:t>
                      </a:r>
                      <a:r>
                        <a:rPr kumimoji="0" lang="de-D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Decke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Dreieck aus </a:t>
                      </a:r>
                      <a:r>
                        <a:rPr kumimoji="0" lang="de-D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Pfosten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, </a:t>
                      </a:r>
                      <a:r>
                        <a:rPr kumimoji="0" lang="de-D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</a:t>
                      </a: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und </a:t>
                      </a:r>
                      <a:r>
                        <a:rPr kumimoji="0" lang="de-DE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Decke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455113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4.4 Synthetische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50825" y="1772816"/>
            <a:ext cx="8704263" cy="69056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 pitchFamily="2" charset="2"/>
              <a:buChar char="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90000"/>
              </a:lnSpc>
            </a:pPr>
            <a:r>
              <a:rPr lang="de-DE" sz="2000" b="0" dirty="0"/>
              <a:t>Untersuchen, wie Wind-, Schnee- und Eigenlast durch Dachkonstruktion aufgenommen und abgeleitet wird</a:t>
            </a:r>
          </a:p>
        </p:txBody>
      </p:sp>
      <p:graphicFrame>
        <p:nvGraphicFramePr>
          <p:cNvPr id="6" name="Group 73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79839245"/>
              </p:ext>
            </p:extLst>
          </p:nvPr>
        </p:nvGraphicFramePr>
        <p:xfrm>
          <a:off x="539552" y="2780928"/>
          <a:ext cx="8065591" cy="1706788"/>
        </p:xfrm>
        <a:graphic>
          <a:graphicData uri="http://schemas.openxmlformats.org/drawingml/2006/table">
            <a:tbl>
              <a:tblPr/>
              <a:tblGrid>
                <a:gridCol w="374511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149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Sparren- und Kehlbalkendächer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Pfettendächer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041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Belastungen nur über Sparren abgeleitet</a:t>
                      </a:r>
                    </a:p>
                  </a:txBody>
                  <a:tcPr marT="45697" marB="4569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Auf Sparren wirkende Belastungen auf die Pfetten übertragen und über Pfosten und Streben in das Gebäude abgeleitet</a:t>
                      </a:r>
                    </a:p>
                  </a:txBody>
                  <a:tcPr marT="45697" marB="4569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7" name="Rectangle 74"/>
          <p:cNvSpPr>
            <a:spLocks noChangeArrowheads="1"/>
          </p:cNvSpPr>
          <p:nvPr/>
        </p:nvSpPr>
        <p:spPr bwMode="auto">
          <a:xfrm>
            <a:off x="692273" y="4941168"/>
            <a:ext cx="8704263" cy="69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1260475" indent="-1260475">
              <a:lnSpc>
                <a:spcPct val="9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itchFamily="2" charset="2"/>
              <a:buNone/>
            </a:pPr>
            <a:r>
              <a:rPr lang="de-DE" sz="2400" b="0" dirty="0"/>
              <a:t>Hinweis: z. T. analytische und synthetische Methode zusammenhängend diskutiert, da sie einander bedingen</a:t>
            </a:r>
          </a:p>
        </p:txBody>
      </p:sp>
    </p:spTree>
    <p:extLst>
      <p:ext uri="{BB962C8B-B14F-4D97-AF65-F5344CB8AC3E}">
        <p14:creationId xmlns:p14="http://schemas.microsoft.com/office/powerpoint/2010/main" val="620666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4.5 Deduktive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Vom Allgemeinen zum Besonderen des Lerngegenstandes</a:t>
            </a:r>
          </a:p>
          <a:p>
            <a:pPr eaLnBrk="1" hangingPunct="1"/>
            <a:r>
              <a:rPr lang="de-DE" dirty="0"/>
              <a:t>Vom Abstrakten zum Konkreten</a:t>
            </a:r>
          </a:p>
          <a:p>
            <a:pPr eaLnBrk="1" hangingPunct="1"/>
            <a:r>
              <a:rPr lang="de-DE" dirty="0"/>
              <a:t>Von der Regel zu deren Anwendung</a:t>
            </a:r>
          </a:p>
          <a:p>
            <a:pPr eaLnBrk="1" hangingPunct="1"/>
            <a:r>
              <a:rPr lang="de-DE" dirty="0"/>
              <a:t>Schrittfolge:</a:t>
            </a:r>
          </a:p>
          <a:p>
            <a:pPr lvl="1" eaLnBrk="1" hangingPunct="1"/>
            <a:r>
              <a:rPr lang="de-DE" sz="2000" dirty="0"/>
              <a:t>Allgemeine Aussage</a:t>
            </a:r>
          </a:p>
          <a:p>
            <a:pPr lvl="1" eaLnBrk="1" hangingPunct="1"/>
            <a:r>
              <a:rPr lang="de-DE" sz="2000" dirty="0"/>
              <a:t>Interpretation</a:t>
            </a:r>
          </a:p>
          <a:p>
            <a:pPr lvl="1" eaLnBrk="1" hangingPunct="1"/>
            <a:r>
              <a:rPr lang="de-DE" sz="2000" dirty="0"/>
              <a:t>Anwendung</a:t>
            </a:r>
          </a:p>
          <a:p>
            <a:pPr eaLnBrk="1" hangingPunct="1"/>
            <a:r>
              <a:rPr lang="de-DE" dirty="0"/>
              <a:t>Lernziel: Befähigung in der konkreten Anwendung</a:t>
            </a:r>
          </a:p>
          <a:p>
            <a:pPr eaLnBrk="1" hangingPunct="1"/>
            <a:r>
              <a:rPr lang="de-DE" dirty="0"/>
              <a:t>Setzt größere Fähigkeit im abstrakten Denken beim Lernenden voraus</a:t>
            </a:r>
          </a:p>
        </p:txBody>
      </p:sp>
    </p:spTree>
    <p:extLst>
      <p:ext uri="{BB962C8B-B14F-4D97-AF65-F5344CB8AC3E}">
        <p14:creationId xmlns:p14="http://schemas.microsoft.com/office/powerpoint/2010/main" val="11156319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4.5 Deduktive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21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Beispiel: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/>
              <a:t>Zementhydratation im Beton bildet </a:t>
            </a:r>
            <a:r>
              <a:rPr lang="de-DE" sz="2000" dirty="0" err="1"/>
              <a:t>Ca</a:t>
            </a:r>
            <a:r>
              <a:rPr lang="de-DE" sz="2000" dirty="0"/>
              <a:t>(OH)2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/>
              <a:t>Kalziumhydroxid hat einen pH-Wert von 12,6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 </a:t>
            </a:r>
            <a:r>
              <a:rPr lang="de-DE" sz="2000" b="1" dirty="0">
                <a:sym typeface="Wingdings 3" pitchFamily="18" charset="2"/>
              </a:rPr>
              <a:t>Frischer Beton hat einen pH-Wert von 12,6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CO2 in der Luft bildet mit Wasser Kohlensäure. CO2 + H2O  H2CO3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Kalziumhydroxid reagiert mit Kohlensäure zu Kalziumcarbonat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 err="1">
                <a:sym typeface="Wingdings 3" pitchFamily="18" charset="2"/>
              </a:rPr>
              <a:t>Ca</a:t>
            </a:r>
            <a:r>
              <a:rPr lang="de-DE" sz="2000" dirty="0">
                <a:sym typeface="Wingdings 3" pitchFamily="18" charset="2"/>
              </a:rPr>
              <a:t>(OH)2 + H2CO3  CaCO3 + 2 H2O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</p:txBody>
      </p:sp>
    </p:spTree>
    <p:extLst>
      <p:ext uri="{BB962C8B-B14F-4D97-AF65-F5344CB8AC3E}">
        <p14:creationId xmlns:p14="http://schemas.microsoft.com/office/powerpoint/2010/main" val="18786988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4.5 Deduktive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22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Kalziumcarbonat hat einen pH-Wert von 8,3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 </a:t>
            </a:r>
            <a:r>
              <a:rPr lang="de-DE" sz="2000" b="1" dirty="0">
                <a:sym typeface="Wingdings 3" pitchFamily="18" charset="2"/>
              </a:rPr>
              <a:t>Alter Beton hat an der Oberfläche einen pH-Wert von 8,3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Korrosionsschutz ist nur bei einem pH-Wert über 9 gewährleistet.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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de-DE" sz="2000" dirty="0">
                <a:sym typeface="Wingdings 3" pitchFamily="18" charset="2"/>
              </a:rPr>
              <a:t> </a:t>
            </a:r>
            <a:r>
              <a:rPr lang="de-DE" sz="2000" b="1" dirty="0">
                <a:sym typeface="Wingdings 3" pitchFamily="18" charset="2"/>
              </a:rPr>
              <a:t>Bewehrung in Oberflächennähe kann rosten</a:t>
            </a:r>
          </a:p>
          <a:p>
            <a:pPr algn="ctr" eaLnBrk="1" hangingPunct="1">
              <a:buFont typeface="Wingdings" pitchFamily="2" charset="2"/>
              <a:buNone/>
            </a:pPr>
            <a:endParaRPr lang="de-DE" sz="2000" dirty="0">
              <a:sym typeface="Wingdings 3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755437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4.5 Deduktive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Vorteile:</a:t>
            </a:r>
          </a:p>
          <a:p>
            <a:pPr lvl="1" eaLnBrk="1" hangingPunct="1"/>
            <a:r>
              <a:rPr lang="de-DE" sz="2000" dirty="0"/>
              <a:t>Schulung des klaren, logisches Denkens</a:t>
            </a:r>
          </a:p>
          <a:p>
            <a:pPr lvl="1" eaLnBrk="1" hangingPunct="1"/>
            <a:r>
              <a:rPr lang="de-DE" sz="2000" dirty="0"/>
              <a:t>Schulung des Abstraktionsvermögens</a:t>
            </a:r>
          </a:p>
          <a:p>
            <a:pPr lvl="1" eaLnBrk="1" hangingPunct="1"/>
            <a:endParaRPr lang="de-DE" sz="2000" dirty="0"/>
          </a:p>
          <a:p>
            <a:pPr eaLnBrk="1" hangingPunct="1"/>
            <a:r>
              <a:rPr lang="de-DE" dirty="0"/>
              <a:t>Nachteile</a:t>
            </a:r>
          </a:p>
          <a:p>
            <a:pPr lvl="1" eaLnBrk="1" hangingPunct="1"/>
            <a:r>
              <a:rPr lang="de-DE" sz="2000" dirty="0"/>
              <a:t>Hoher Abstraktionsgrad</a:t>
            </a:r>
          </a:p>
          <a:p>
            <a:pPr lvl="1" eaLnBrk="1" hangingPunct="1"/>
            <a:r>
              <a:rPr lang="de-DE" sz="2000" dirty="0"/>
              <a:t>Geringe Anschaulichkeit</a:t>
            </a:r>
          </a:p>
          <a:p>
            <a:pPr lvl="1" eaLnBrk="1" hangingPunct="1"/>
            <a:r>
              <a:rPr lang="de-DE" sz="2000" dirty="0"/>
              <a:t>Geringes Motivationspotential</a:t>
            </a:r>
          </a:p>
        </p:txBody>
      </p:sp>
    </p:spTree>
    <p:extLst>
      <p:ext uri="{BB962C8B-B14F-4D97-AF65-F5344CB8AC3E}">
        <p14:creationId xmlns:p14="http://schemas.microsoft.com/office/powerpoint/2010/main" val="33825148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4.6 Induktive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24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Vom Besonderen zum Allgemeinen</a:t>
            </a:r>
          </a:p>
          <a:p>
            <a:pPr eaLnBrk="1" hangingPunct="1"/>
            <a:r>
              <a:rPr lang="de-DE" dirty="0"/>
              <a:t>Vom Konkreten zum Abstrakten </a:t>
            </a:r>
          </a:p>
          <a:p>
            <a:pPr eaLnBrk="1" hangingPunct="1"/>
            <a:r>
              <a:rPr lang="de-DE" dirty="0"/>
              <a:t>Von einzelnen Tatsächlichen zum übergreifenden Gültigen</a:t>
            </a:r>
          </a:p>
          <a:p>
            <a:pPr eaLnBrk="1" hangingPunct="1"/>
            <a:r>
              <a:rPr lang="de-DE" dirty="0"/>
              <a:t>Schrittfolge:</a:t>
            </a:r>
          </a:p>
          <a:p>
            <a:pPr lvl="1" eaLnBrk="1" hangingPunct="1"/>
            <a:r>
              <a:rPr lang="de-DE" sz="2000" dirty="0"/>
              <a:t>Fall</a:t>
            </a:r>
          </a:p>
          <a:p>
            <a:pPr lvl="1" eaLnBrk="1" hangingPunct="1"/>
            <a:r>
              <a:rPr lang="de-DE" sz="2000" dirty="0"/>
              <a:t>Lösung</a:t>
            </a:r>
          </a:p>
          <a:p>
            <a:pPr lvl="1" eaLnBrk="1" hangingPunct="1"/>
            <a:r>
              <a:rPr lang="de-DE" sz="2000" dirty="0"/>
              <a:t>Regel</a:t>
            </a:r>
          </a:p>
        </p:txBody>
      </p:sp>
    </p:spTree>
    <p:extLst>
      <p:ext uri="{BB962C8B-B14F-4D97-AF65-F5344CB8AC3E}">
        <p14:creationId xmlns:p14="http://schemas.microsoft.com/office/powerpoint/2010/main" val="23005560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4.6 Induktive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25</a:t>
            </a:fld>
            <a:endParaRPr lang="de-DE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214313" y="1519808"/>
            <a:ext cx="8704262" cy="198120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Char char=""/>
              <a:defRPr kumimoji="0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40080" indent="-274320" algn="l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Char char=""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 pitchFamily="2" charset="2"/>
              <a:buChar char=""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8872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63040" indent="-182880" algn="l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37360" indent="-182880" algn="l" rtl="0" eaLnBrk="1" latinLnBrk="0" hangingPunct="1">
              <a:spcBef>
                <a:spcPct val="20000"/>
              </a:spcBef>
              <a:buClr>
                <a:schemeClr val="accent1"/>
              </a:buClr>
              <a:buChar char="•"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011680" indent="-182880" algn="l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Char char="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286000" indent="-182880" algn="l" rtl="0" eaLnBrk="1" latinLnBrk="0" hangingPunct="1">
              <a:spcBef>
                <a:spcPct val="20000"/>
              </a:spcBef>
              <a:buClr>
                <a:schemeClr val="accent2"/>
              </a:buClr>
              <a:buChar char="•"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560320" indent="-182880" algn="l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Char char="•"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33400" indent="-533400"/>
            <a:r>
              <a:rPr lang="de-DE" b="0" dirty="0"/>
              <a:t>Beispiel:</a:t>
            </a:r>
          </a:p>
          <a:p>
            <a:pPr marL="533400" indent="-533400">
              <a:buFont typeface="Wingdings" pitchFamily="2" charset="2"/>
              <a:buNone/>
            </a:pPr>
            <a:r>
              <a:rPr lang="de-DE" b="0" dirty="0"/>
              <a:t>	</a:t>
            </a:r>
            <a:r>
              <a:rPr lang="de-DE" b="0" dirty="0" err="1"/>
              <a:t>HOOKE‘sches</a:t>
            </a:r>
            <a:r>
              <a:rPr lang="de-DE" b="0" dirty="0"/>
              <a:t> Gesetz für das elastische Verhalten von Stahl</a:t>
            </a:r>
          </a:p>
          <a:p>
            <a:pPr marL="914400" lvl="1" indent="-457200">
              <a:buFont typeface="Wingdings" pitchFamily="2" charset="2"/>
              <a:buAutoNum type="arabicPeriod"/>
            </a:pPr>
            <a:r>
              <a:rPr lang="de-DE" sz="2000" b="0" dirty="0"/>
              <a:t> Analyse von Ergebnissen des Zugversuches der Stähle</a:t>
            </a:r>
          </a:p>
        </p:txBody>
      </p:sp>
      <p:graphicFrame>
        <p:nvGraphicFramePr>
          <p:cNvPr id="6" name="Group 42"/>
          <p:cNvGraphicFramePr>
            <a:graphicFrameLocks noGrp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501091032"/>
              </p:ext>
            </p:extLst>
          </p:nvPr>
        </p:nvGraphicFramePr>
        <p:xfrm>
          <a:off x="683568" y="3284984"/>
          <a:ext cx="7920880" cy="2378076"/>
        </p:xfrm>
        <a:graphic>
          <a:graphicData uri="http://schemas.openxmlformats.org/drawingml/2006/table">
            <a:tbl>
              <a:tblPr/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46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45W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 60W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de-D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 in N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/ in mm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 in N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/ in mm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7,2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0,25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7,3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0,045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15,1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0,52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15,3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0,09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24,0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0,75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19,3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0,11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3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30,1</a:t>
                      </a:r>
                    </a:p>
                  </a:txBody>
                  <a:tcPr marT="45732" marB="45732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0,98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21,5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de-DE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0,13</a:t>
                      </a:r>
                    </a:p>
                  </a:txBody>
                  <a:tcPr marT="45732" marB="45732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6304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4.6 Induktive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26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marL="990600" lvl="1" indent="-533400" eaLnBrk="1" hangingPunct="1">
              <a:buFont typeface="Wingdings" pitchFamily="2" charset="2"/>
              <a:buAutoNum type="arabicPeriod" startAt="2"/>
            </a:pPr>
            <a:r>
              <a:rPr lang="de-DE" sz="2000" dirty="0"/>
              <a:t>Synthese der Ergebnisse durch Berechnung der Spannung und Dehnung sowie der grafischen Darstellung (Kurven im Spannungs-Dehnungs-Diagramm für den elastischen Bereich)</a:t>
            </a:r>
          </a:p>
          <a:p>
            <a:pPr marL="990600" lvl="1" indent="-533400" eaLnBrk="1" hangingPunct="1">
              <a:buFont typeface="Wingdings" pitchFamily="2" charset="2"/>
              <a:buAutoNum type="arabicPeriod" startAt="2"/>
            </a:pPr>
            <a:r>
              <a:rPr lang="de-DE" sz="2000" dirty="0"/>
              <a:t>Aufstellen Hypothese zur Proportionalität zwischen Spannung und Dehnung im elastischen Bereich. Aufstellen des </a:t>
            </a:r>
            <a:r>
              <a:rPr lang="de-DE" sz="2000" dirty="0" err="1"/>
              <a:t>HOOKE‘schen</a:t>
            </a:r>
            <a:r>
              <a:rPr lang="de-DE" sz="2000" dirty="0"/>
              <a:t> Gesetzes durch Induktionsschluss.</a:t>
            </a:r>
          </a:p>
          <a:p>
            <a:pPr marL="990600" lvl="1" indent="-533400" eaLnBrk="1" hangingPunct="1">
              <a:buFont typeface="Wingdings" pitchFamily="2" charset="2"/>
              <a:buAutoNum type="arabicPeriod" startAt="2"/>
            </a:pPr>
            <a:r>
              <a:rPr lang="de-DE" sz="2000" dirty="0"/>
              <a:t>Überprüfung dieser Erkenntnis durch Versuchsergebnisse weiterer Stahlarten</a:t>
            </a:r>
          </a:p>
        </p:txBody>
      </p:sp>
    </p:spTree>
    <p:extLst>
      <p:ext uri="{BB962C8B-B14F-4D97-AF65-F5344CB8AC3E}">
        <p14:creationId xmlns:p14="http://schemas.microsoft.com/office/powerpoint/2010/main" val="1358550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4.6 Induktive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27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Vorteile:</a:t>
            </a:r>
          </a:p>
          <a:p>
            <a:pPr lvl="1" eaLnBrk="1" hangingPunct="1"/>
            <a:r>
              <a:rPr lang="de-DE" sz="2000" dirty="0"/>
              <a:t>Natürlichen Lernprozess angepasst</a:t>
            </a:r>
          </a:p>
          <a:p>
            <a:pPr lvl="1" eaLnBrk="1" hangingPunct="1"/>
            <a:r>
              <a:rPr lang="de-DE" sz="2000" dirty="0"/>
              <a:t>Schüler mit Geschehen konfrontiert</a:t>
            </a:r>
          </a:p>
          <a:p>
            <a:pPr lvl="1" eaLnBrk="1" hangingPunct="1"/>
            <a:endParaRPr lang="de-DE" sz="2000" dirty="0"/>
          </a:p>
          <a:p>
            <a:pPr eaLnBrk="1" hangingPunct="1"/>
            <a:r>
              <a:rPr lang="de-DE" dirty="0"/>
              <a:t>Nachteile</a:t>
            </a:r>
          </a:p>
          <a:p>
            <a:pPr lvl="1" eaLnBrk="1" hangingPunct="1"/>
            <a:r>
              <a:rPr lang="de-DE" sz="2000" dirty="0"/>
              <a:t>Unterstellung, Bearbeitung eines Falles ausreichend zum Erkennen des Allgemeinen</a:t>
            </a:r>
          </a:p>
          <a:p>
            <a:pPr lvl="1" eaLnBrk="1" hangingPunct="1"/>
            <a:r>
              <a:rPr lang="de-DE" sz="2000" dirty="0" err="1"/>
              <a:t>Fallkontruktionen</a:t>
            </a:r>
            <a:r>
              <a:rPr lang="de-DE" sz="2000" dirty="0"/>
              <a:t> oft realitäts- bzw. praxisfern</a:t>
            </a:r>
          </a:p>
        </p:txBody>
      </p:sp>
    </p:spTree>
    <p:extLst>
      <p:ext uri="{BB962C8B-B14F-4D97-AF65-F5344CB8AC3E}">
        <p14:creationId xmlns:p14="http://schemas.microsoft.com/office/powerpoint/2010/main" val="310526119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4.7 Genetische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28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Wesen in Entwicklung von Lernobjekten zu bestimmten Themen</a:t>
            </a:r>
          </a:p>
          <a:p>
            <a:pPr eaLnBrk="1" hangingPunct="1"/>
            <a:r>
              <a:rPr lang="de-DE" dirty="0"/>
              <a:t>Vom Einfachen zum Komplizierten auf Basis eines Leitgedanken </a:t>
            </a:r>
          </a:p>
          <a:p>
            <a:pPr eaLnBrk="1" hangingPunct="1"/>
            <a:r>
              <a:rPr lang="de-DE" dirty="0"/>
              <a:t>Anwendung u. a. Themen, die aus ihrer Entwicklung dargestellt werden</a:t>
            </a:r>
          </a:p>
        </p:txBody>
      </p:sp>
    </p:spTree>
    <p:extLst>
      <p:ext uri="{BB962C8B-B14F-4D97-AF65-F5344CB8AC3E}">
        <p14:creationId xmlns:p14="http://schemas.microsoft.com/office/powerpoint/2010/main" val="40234486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4.7 Genetische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29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Beispiel:</a:t>
            </a:r>
          </a:p>
          <a:p>
            <a:pPr lvl="1" eaLnBrk="1" hangingPunct="1"/>
            <a:r>
              <a:rPr lang="de-DE" sz="2000" dirty="0"/>
              <a:t>Wesen Spannbetons mittels „fertigen“ Konstruktion erklärt</a:t>
            </a:r>
          </a:p>
          <a:p>
            <a:pPr lvl="1" eaLnBrk="1" hangingPunct="1"/>
            <a:r>
              <a:rPr lang="de-DE" sz="2000" dirty="0"/>
              <a:t>Betonkörper war abgebunden und erhärtet</a:t>
            </a:r>
          </a:p>
          <a:p>
            <a:pPr lvl="1" eaLnBrk="1" hangingPunct="1"/>
            <a:r>
              <a:rPr lang="de-DE" sz="2000" dirty="0"/>
              <a:t>Vorspannung war aufgebracht</a:t>
            </a:r>
          </a:p>
          <a:p>
            <a:pPr lvl="1" eaLnBrk="1" hangingPunct="1"/>
            <a:r>
              <a:rPr lang="de-DE" sz="2000" dirty="0"/>
              <a:t>Genetische Methode – erklärt über die Fertigung</a:t>
            </a:r>
          </a:p>
          <a:p>
            <a:pPr lvl="1" eaLnBrk="1" hangingPunct="1"/>
            <a:r>
              <a:rPr lang="de-DE" sz="2000" dirty="0"/>
              <a:t>Erfasst das „Sein vor dem Hintergrund des Werdens“</a:t>
            </a:r>
          </a:p>
          <a:p>
            <a:pPr lvl="1" eaLnBrk="1" hangingPunct="1"/>
            <a:r>
              <a:rPr lang="de-DE" sz="2000" dirty="0"/>
              <a:t>Fertigung des Spannbetons:</a:t>
            </a:r>
          </a:p>
          <a:p>
            <a:pPr lvl="2" eaLnBrk="1" hangingPunct="1"/>
            <a:r>
              <a:rPr lang="de-DE" dirty="0"/>
              <a:t>Verbund Spannstahl und</a:t>
            </a:r>
          </a:p>
          <a:p>
            <a:pPr lvl="2" eaLnBrk="1" hangingPunct="1"/>
            <a:r>
              <a:rPr lang="de-DE" dirty="0"/>
              <a:t>Beton und nachträglichen Verbund über Verankerung in der Hülse bildet Zugang, der die Art des Aufbringens der Vorspannung für den Unterricht nutzt</a:t>
            </a:r>
          </a:p>
        </p:txBody>
      </p:sp>
    </p:spTree>
    <p:extLst>
      <p:ext uri="{BB962C8B-B14F-4D97-AF65-F5344CB8AC3E}">
        <p14:creationId xmlns:p14="http://schemas.microsoft.com/office/powerpoint/2010/main" val="103375177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4.8 Historische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30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Entwicklungsgedanke wird durch gesellschaftliche Entwicklung bestimmt</a:t>
            </a:r>
          </a:p>
          <a:p>
            <a:pPr eaLnBrk="1" hangingPunct="1"/>
            <a:r>
              <a:rPr lang="de-DE" dirty="0"/>
              <a:t>Methodische Folge:</a:t>
            </a:r>
          </a:p>
          <a:p>
            <a:pPr lvl="1" eaLnBrk="1" hangingPunct="1"/>
            <a:r>
              <a:rPr lang="de-DE" sz="2000" dirty="0"/>
              <a:t>Analysieren des Lernobjektes in konkreten historischen Erscheinungsformen</a:t>
            </a:r>
          </a:p>
          <a:p>
            <a:pPr lvl="1" eaLnBrk="1" hangingPunct="1"/>
            <a:r>
              <a:rPr lang="de-DE" sz="2000" dirty="0"/>
              <a:t>Aufdecken von Einflussgrößen in der jeweiligen historischen Situation</a:t>
            </a:r>
          </a:p>
          <a:p>
            <a:pPr lvl="1" eaLnBrk="1" hangingPunct="1"/>
            <a:r>
              <a:rPr lang="de-DE" sz="2000" dirty="0"/>
              <a:t>Vergleich und Bewerten des jeweiligen Entwicklungsstandes</a:t>
            </a:r>
          </a:p>
          <a:p>
            <a:pPr lvl="1" eaLnBrk="1" hangingPunct="1"/>
            <a:r>
              <a:rPr lang="de-DE" sz="2000" dirty="0"/>
              <a:t>Zusammenfassen der gewonnenen Erkenntnisse</a:t>
            </a:r>
          </a:p>
        </p:txBody>
      </p:sp>
    </p:spTree>
    <p:extLst>
      <p:ext uri="{BB962C8B-B14F-4D97-AF65-F5344CB8AC3E}">
        <p14:creationId xmlns:p14="http://schemas.microsoft.com/office/powerpoint/2010/main" val="41627859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4.8 Historische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31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04850" y="1600200"/>
            <a:ext cx="7467600" cy="4873625"/>
          </a:xfrm>
        </p:spPr>
        <p:txBody>
          <a:bodyPr/>
          <a:lstStyle/>
          <a:p>
            <a:pPr eaLnBrk="1" hangingPunct="1"/>
            <a:r>
              <a:rPr lang="de-DE" dirty="0"/>
              <a:t>Beispiel:</a:t>
            </a:r>
          </a:p>
          <a:p>
            <a:pPr lvl="1" eaLnBrk="1" hangingPunct="1"/>
            <a:r>
              <a:rPr lang="de-DE" sz="2000" dirty="0"/>
              <a:t>Erfindung Spannbeton fast so alt wie Stahlbeton</a:t>
            </a:r>
          </a:p>
          <a:p>
            <a:pPr lvl="1" eaLnBrk="1" hangingPunct="1"/>
            <a:r>
              <a:rPr lang="de-DE" sz="2000" dirty="0"/>
              <a:t>Ungenügende Stahl- und Betonqualität erst spätere technische Realisierung</a:t>
            </a:r>
          </a:p>
          <a:p>
            <a:pPr lvl="1" eaLnBrk="1" hangingPunct="1"/>
            <a:r>
              <a:rPr lang="de-DE" sz="2000" dirty="0"/>
              <a:t>Entwicklung Stahl- und Spannbetons durch enormen Bedarf an Industrie- und Verkehrsbauten im 19. Jahrhundert gefördert</a:t>
            </a:r>
          </a:p>
          <a:p>
            <a:pPr lvl="1" eaLnBrk="1" hangingPunct="1"/>
            <a:r>
              <a:rPr lang="de-DE" sz="2000" dirty="0"/>
              <a:t>Verlangten großen Spannweiten waren Stahlbetonkonstruktionen nicht gewachsen</a:t>
            </a:r>
          </a:p>
          <a:p>
            <a:pPr lvl="1" eaLnBrk="1" hangingPunct="1"/>
            <a:r>
              <a:rPr lang="de-DE" sz="2000" dirty="0"/>
              <a:t>Gleiche Belastung, Betonquerschnitt minimiert, Weite </a:t>
            </a:r>
            <a:r>
              <a:rPr lang="de-DE" sz="2000" dirty="0">
                <a:sym typeface="Wingdings 3" pitchFamily="18" charset="2"/>
              </a:rPr>
              <a:t></a:t>
            </a:r>
            <a:r>
              <a:rPr lang="de-DE" sz="2000" dirty="0"/>
              <a:t> Spannbeton</a:t>
            </a:r>
          </a:p>
          <a:p>
            <a:pPr lvl="1" eaLnBrk="1" hangingPunct="1"/>
            <a:r>
              <a:rPr lang="de-DE" sz="2000" dirty="0"/>
              <a:t>Wirkungsprinzip historisch schwer erklärbar</a:t>
            </a:r>
          </a:p>
        </p:txBody>
      </p:sp>
    </p:spTree>
    <p:extLst>
      <p:ext uri="{BB962C8B-B14F-4D97-AF65-F5344CB8AC3E}">
        <p14:creationId xmlns:p14="http://schemas.microsoft.com/office/powerpoint/2010/main" val="374421965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4.9 Reduktive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32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683568" y="1556792"/>
            <a:ext cx="7560840" cy="4968552"/>
          </a:xfrm>
        </p:spPr>
        <p:txBody>
          <a:bodyPr>
            <a:normAutofit/>
          </a:bodyPr>
          <a:lstStyle/>
          <a:p>
            <a:pPr eaLnBrk="1" hangingPunct="1"/>
            <a:r>
              <a:rPr lang="de-DE" dirty="0"/>
              <a:t>Nicht wahrheitserblich</a:t>
            </a:r>
          </a:p>
          <a:p>
            <a:pPr eaLnBrk="1" hangingPunct="1"/>
            <a:r>
              <a:rPr lang="de-DE" dirty="0"/>
              <a:t>Es soll auf vorhandene oder zu schaffende Struktur geschlossen werden</a:t>
            </a:r>
          </a:p>
          <a:p>
            <a:pPr eaLnBrk="1" hangingPunct="1"/>
            <a:r>
              <a:rPr lang="de-DE" dirty="0"/>
              <a:t>Zurückgreifen auf bereits bekannte Vorgänge (beispielsweise aus der Natur)</a:t>
            </a:r>
          </a:p>
          <a:p>
            <a:pPr eaLnBrk="1" hangingPunct="1"/>
            <a:r>
              <a:rPr lang="de-DE" dirty="0"/>
              <a:t>Unterteilung der reduktiven Schlüsse</a:t>
            </a:r>
          </a:p>
          <a:p>
            <a:pPr lvl="1" eaLnBrk="1" hangingPunct="1"/>
            <a:r>
              <a:rPr lang="de-DE" sz="2000" dirty="0"/>
              <a:t>Regressive Reaktion</a:t>
            </a:r>
          </a:p>
          <a:p>
            <a:pPr lvl="2" eaLnBrk="1" hangingPunct="1"/>
            <a:r>
              <a:rPr lang="de-DE" dirty="0"/>
              <a:t>geht von bekannten Sachverhalten aus, die in Form von Aussagen widergespiegelt werden und führt u einer Erklärung dieser Sachverhalte</a:t>
            </a:r>
          </a:p>
          <a:p>
            <a:pPr lvl="1" eaLnBrk="1" hangingPunct="1"/>
            <a:r>
              <a:rPr lang="de-DE" sz="2000" dirty="0"/>
              <a:t>Progressive Reaktion</a:t>
            </a:r>
          </a:p>
          <a:p>
            <a:pPr lvl="2" eaLnBrk="1" hangingPunct="1"/>
            <a:r>
              <a:rPr lang="de-DE" dirty="0"/>
              <a:t>Hier sind keine von vornherein wahrheitsgemäßen Antworten und es müssen Hypothesen aufgestellt werden</a:t>
            </a:r>
          </a:p>
        </p:txBody>
      </p:sp>
    </p:spTree>
    <p:extLst>
      <p:ext uri="{BB962C8B-B14F-4D97-AF65-F5344CB8AC3E}">
        <p14:creationId xmlns:p14="http://schemas.microsoft.com/office/powerpoint/2010/main" val="58429228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de-DE" dirty="0"/>
              <a:t>4.9 Reduktive Methode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33548601-C4B6-4D19-A7D5-04150560F062}" type="slidenum">
              <a:rPr lang="de-DE" smtClean="0"/>
              <a:pPr/>
              <a:t>33</a:t>
            </a:fld>
            <a:endParaRPr lang="de-DE"/>
          </a:p>
        </p:txBody>
      </p:sp>
      <p:sp>
        <p:nvSpPr>
          <p:cNvPr id="5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755576" y="1484784"/>
            <a:ext cx="7488832" cy="5039841"/>
          </a:xfrm>
        </p:spPr>
        <p:txBody>
          <a:bodyPr/>
          <a:lstStyle/>
          <a:p>
            <a:pPr eaLnBrk="1" hangingPunct="1"/>
            <a:r>
              <a:rPr lang="de-DE" dirty="0"/>
              <a:t>Beispiel: Das Radio hört auf zu spielen</a:t>
            </a:r>
          </a:p>
          <a:p>
            <a:pPr lvl="1" eaLnBrk="1" hangingPunct="1"/>
            <a:r>
              <a:rPr lang="de-DE" sz="2000" dirty="0"/>
              <a:t>Regressive Reaktion</a:t>
            </a:r>
          </a:p>
          <a:p>
            <a:pPr lvl="2" eaLnBrk="1" hangingPunct="1"/>
            <a:r>
              <a:rPr lang="de-DE" dirty="0"/>
              <a:t>Auf Erklärung des Sachverhalts geschlossen, d.h. Aussage über Voraussetzungen, Bedingungen und Ursachen</a:t>
            </a:r>
          </a:p>
          <a:p>
            <a:pPr lvl="2" eaLnBrk="1" hangingPunct="1"/>
            <a:r>
              <a:rPr lang="de-DE" dirty="0"/>
              <a:t>Vorrangig gesetzmäßige Zusammenhänge untersucht </a:t>
            </a:r>
            <a:r>
              <a:rPr lang="de-DE" dirty="0">
                <a:sym typeface="Wingdings 3" pitchFamily="18" charset="2"/>
              </a:rPr>
              <a:t> daher oft keine einfache Aussage, sondern ein Gefüge von Aussagen bzw. eine ganze Theorie</a:t>
            </a:r>
          </a:p>
          <a:p>
            <a:pPr lvl="2" eaLnBrk="1" hangingPunct="1"/>
            <a:r>
              <a:rPr lang="de-DE" dirty="0">
                <a:sym typeface="Wingdings 3" pitchFamily="18" charset="2"/>
              </a:rPr>
              <a:t>Gründe Bsp.: Radio defekt, Wohnungssicherung durchgebrannt, …</a:t>
            </a:r>
          </a:p>
          <a:p>
            <a:pPr lvl="1" eaLnBrk="1" hangingPunct="1"/>
            <a:r>
              <a:rPr lang="de-DE" sz="2000" dirty="0"/>
              <a:t>Progressive Reaktion</a:t>
            </a:r>
          </a:p>
          <a:p>
            <a:pPr lvl="2" eaLnBrk="1" hangingPunct="1"/>
            <a:r>
              <a:rPr lang="de-DE" dirty="0"/>
              <a:t>Aus Hypothese abgeleitete Aussagen wahr </a:t>
            </a:r>
            <a:r>
              <a:rPr lang="de-DE" dirty="0">
                <a:sym typeface="Wingdings 3" pitchFamily="18" charset="2"/>
              </a:rPr>
              <a:t> gilt Hypothese bestätigt</a:t>
            </a:r>
          </a:p>
          <a:p>
            <a:pPr lvl="2" eaLnBrk="1" hangingPunct="1"/>
            <a:r>
              <a:rPr lang="de-DE" dirty="0">
                <a:sym typeface="Wingdings 3" pitchFamily="18" charset="2"/>
              </a:rPr>
              <a:t>Daher möglichst viele Aussagen ableiten</a:t>
            </a:r>
          </a:p>
          <a:p>
            <a:pPr lvl="2" eaLnBrk="1" hangingPunct="1"/>
            <a:r>
              <a:rPr lang="de-DE" dirty="0">
                <a:sym typeface="Wingdings 3" pitchFamily="18" charset="2"/>
              </a:rPr>
              <a:t>Bsp.: Wohnungssicherung durchgebrannt</a:t>
            </a:r>
          </a:p>
          <a:p>
            <a:pPr lvl="3" eaLnBrk="1" hangingPunct="1"/>
            <a:r>
              <a:rPr lang="de-DE" sz="1600" dirty="0">
                <a:sym typeface="Wingdings 3" pitchFamily="18" charset="2"/>
              </a:rPr>
              <a:t>Stehlampe brennt auch nicht</a:t>
            </a:r>
          </a:p>
        </p:txBody>
      </p:sp>
    </p:spTree>
    <p:extLst>
      <p:ext uri="{BB962C8B-B14F-4D97-AF65-F5344CB8AC3E}">
        <p14:creationId xmlns:p14="http://schemas.microsoft.com/office/powerpoint/2010/main" val="30446038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Nereus">
  <a:themeElements>
    <a:clrScheme name="Okeanos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Nereus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Nereus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Nereus">
  <a:themeElements>
    <a:clrScheme name="Okeanos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Nereus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Nereus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keanos">
    <a:dk1>
      <a:sysClr val="windowText" lastClr="000000"/>
    </a:dk1>
    <a:lt1>
      <a:sysClr val="window" lastClr="FFFFFF"/>
    </a:lt1>
    <a:dk2>
      <a:srgbClr val="464653"/>
    </a:dk2>
    <a:lt2>
      <a:srgbClr val="DDE9EC"/>
    </a:lt2>
    <a:accent1>
      <a:srgbClr val="727CA3"/>
    </a:accent1>
    <a:accent2>
      <a:srgbClr val="9FB8CD"/>
    </a:accent2>
    <a:accent3>
      <a:srgbClr val="D2DA7A"/>
    </a:accent3>
    <a:accent4>
      <a:srgbClr val="FADA7A"/>
    </a:accent4>
    <a:accent5>
      <a:srgbClr val="B88472"/>
    </a:accent5>
    <a:accent6>
      <a:srgbClr val="8E736A"/>
    </a:accent6>
    <a:hlink>
      <a:srgbClr val="B292CA"/>
    </a:hlink>
    <a:folHlink>
      <a:srgbClr val="6B56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Institutionen beruflicher Bildung</Template>
  <TotalTime>10</TotalTime>
  <Words>1484</Words>
  <Application>Microsoft Macintosh PowerPoint</Application>
  <PresentationFormat>On-screen Show (4:3)</PresentationFormat>
  <Paragraphs>322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2" baseType="lpstr">
      <vt:lpstr>Calibri</vt:lpstr>
      <vt:lpstr>Century Schoolbook</vt:lpstr>
      <vt:lpstr>Tahoma</vt:lpstr>
      <vt:lpstr>Times New Roman</vt:lpstr>
      <vt:lpstr>Wingdings</vt:lpstr>
      <vt:lpstr>Wingdings 2</vt:lpstr>
      <vt:lpstr>Wingdings 3</vt:lpstr>
      <vt:lpstr>Nereus</vt:lpstr>
      <vt:lpstr>1_Nereus</vt:lpstr>
      <vt:lpstr>Fachdidaktik technischer Allgemeinbildung II / Fachdidaktik gewerblich-Technischer Fachrichtungen</vt:lpstr>
      <vt:lpstr>PowerPoint Presentation</vt:lpstr>
      <vt:lpstr>1.1 Vergleich der Gegenstandsbereiche der Natur-, Technik-          und Wirtschaftswissenschaften</vt:lpstr>
      <vt:lpstr>1.1 Vergleich der Gegenstandsbereiche der Natur-, Technik-          und Wirtschaftswissenschaften</vt:lpstr>
      <vt:lpstr>1.1 Vergleich der Gegenstandsbereiche der Natur-, Technik-          und Wirtschaftswissenschaften</vt:lpstr>
      <vt:lpstr>1.1 Vergleich der Gegenstandsbereiche der Natur-, Technik-          und Wirtschaftswissenschaften</vt:lpstr>
      <vt:lpstr>1.2 Quantitäten einiger ausgewählter Ausbildungsberufe</vt:lpstr>
      <vt:lpstr>PowerPoint Presentation</vt:lpstr>
      <vt:lpstr>4.1 Definition Unterrichtsmethoden</vt:lpstr>
      <vt:lpstr>Beispiel: Krümel und Lulatsch</vt:lpstr>
      <vt:lpstr>4.1 Definition Unterrichtsmethoden</vt:lpstr>
      <vt:lpstr>4.1 Definition Unterrichtsmethoden</vt:lpstr>
      <vt:lpstr>4.2 Klassifikation von Methoden unter dem                     logischen Aspekt</vt:lpstr>
      <vt:lpstr>4.3 Analytische Methode</vt:lpstr>
      <vt:lpstr>4.3 Analytische Methode</vt:lpstr>
      <vt:lpstr>4.3 Analytische Methode</vt:lpstr>
      <vt:lpstr>4.4 Synthetische Methode</vt:lpstr>
      <vt:lpstr>4.4 Synthetische Methode</vt:lpstr>
      <vt:lpstr>4.4 Synthetische Methode</vt:lpstr>
      <vt:lpstr>4.5 Deduktive Methode</vt:lpstr>
      <vt:lpstr>4.5 Deduktive Methode</vt:lpstr>
      <vt:lpstr>4.5 Deduktive Methode</vt:lpstr>
      <vt:lpstr>4.5 Deduktive Methode</vt:lpstr>
      <vt:lpstr>4.6 Induktive Methode</vt:lpstr>
      <vt:lpstr>4.6 Induktive Methode</vt:lpstr>
      <vt:lpstr>4.6 Induktive Methode</vt:lpstr>
      <vt:lpstr>4.6 Induktive Methode</vt:lpstr>
      <vt:lpstr>4.7 Genetische Methode</vt:lpstr>
      <vt:lpstr>4.7 Genetische Methode</vt:lpstr>
      <vt:lpstr>4.8 Historische Methode</vt:lpstr>
      <vt:lpstr>4.8 Historische Methode</vt:lpstr>
      <vt:lpstr>4.9 Reduktive Methode</vt:lpstr>
      <vt:lpstr>4.9 Reduktive Methode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</dc:title>
  <dc:creator>Frank Bünning</dc:creator>
  <cp:lastModifiedBy>Hannes Tegelbeckers</cp:lastModifiedBy>
  <cp:revision>275</cp:revision>
  <cp:lastPrinted>2002-03-21T12:12:44Z</cp:lastPrinted>
  <dcterms:created xsi:type="dcterms:W3CDTF">2002-02-22T17:42:09Z</dcterms:created>
  <dcterms:modified xsi:type="dcterms:W3CDTF">2026-09-22T19:34:03Z</dcterms:modified>
</cp:coreProperties>
</file>