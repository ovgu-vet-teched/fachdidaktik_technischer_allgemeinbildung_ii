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52" r:id="rId1"/>
  </p:sldMasterIdLst>
  <p:notesMasterIdLst>
    <p:notesMasterId r:id="rId22"/>
  </p:notesMasterIdLst>
  <p:handoutMasterIdLst>
    <p:handoutMasterId r:id="rId23"/>
  </p:handoutMasterIdLst>
  <p:sldIdLst>
    <p:sldId id="658" r:id="rId2"/>
    <p:sldId id="644" r:id="rId3"/>
    <p:sldId id="645" r:id="rId4"/>
    <p:sldId id="646" r:id="rId5"/>
    <p:sldId id="679" r:id="rId6"/>
    <p:sldId id="647" r:id="rId7"/>
    <p:sldId id="649" r:id="rId8"/>
    <p:sldId id="650" r:id="rId9"/>
    <p:sldId id="651" r:id="rId10"/>
    <p:sldId id="652" r:id="rId11"/>
    <p:sldId id="653" r:id="rId12"/>
    <p:sldId id="654" r:id="rId13"/>
    <p:sldId id="655" r:id="rId14"/>
    <p:sldId id="656" r:id="rId15"/>
    <p:sldId id="657" r:id="rId16"/>
    <p:sldId id="680" r:id="rId17"/>
    <p:sldId id="681" r:id="rId18"/>
    <p:sldId id="682" r:id="rId19"/>
    <p:sldId id="683" r:id="rId20"/>
    <p:sldId id="684" r:id="rId21"/>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BCEA18AB-3B41-40DB-8043-67BE53D2EBAE}" type="slidenum">
              <a:rPr lang="de-DE"/>
              <a:pPr>
                <a:defRPr/>
              </a:pPr>
              <a:t>‹#›</a:t>
            </a:fld>
            <a:endParaRPr lang="de-DE"/>
          </a:p>
        </p:txBody>
      </p:sp>
    </p:spTree>
    <p:extLst>
      <p:ext uri="{BB962C8B-B14F-4D97-AF65-F5344CB8AC3E}">
        <p14:creationId xmlns:p14="http://schemas.microsoft.com/office/powerpoint/2010/main" val="5117019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85CC79A6-A3D6-4B03-A78B-5E0A9B55FAB9}" type="slidenum">
              <a:rPr lang="de-DE"/>
              <a:pPr>
                <a:defRPr/>
              </a:pPr>
              <a:t>‹#›</a:t>
            </a:fld>
            <a:endParaRPr lang="de-DE"/>
          </a:p>
        </p:txBody>
      </p:sp>
    </p:spTree>
    <p:extLst>
      <p:ext uri="{BB962C8B-B14F-4D97-AF65-F5344CB8AC3E}">
        <p14:creationId xmlns:p14="http://schemas.microsoft.com/office/powerpoint/2010/main" val="363123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CA7140C4-5431-4AB6-B132-5D4CCD4549F3}" type="slidenum">
              <a:rPr lang="de-DE"/>
              <a:pPr>
                <a:defRPr/>
              </a:pPr>
              <a:t>‹#›</a:t>
            </a:fld>
            <a:endParaRPr lang="de-DE"/>
          </a:p>
        </p:txBody>
      </p:sp>
    </p:spTree>
    <p:extLst>
      <p:ext uri="{BB962C8B-B14F-4D97-AF65-F5344CB8AC3E}">
        <p14:creationId xmlns:p14="http://schemas.microsoft.com/office/powerpoint/2010/main" val="234866791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9B3C4066-8CFD-4E97-9A0D-CB926F440B64}" type="slidenum">
              <a:rPr lang="de-DE"/>
              <a:pPr>
                <a:defRPr/>
              </a:pPr>
              <a:t>‹#›</a:t>
            </a:fld>
            <a:endParaRPr lang="de-DE"/>
          </a:p>
        </p:txBody>
      </p:sp>
    </p:spTree>
    <p:extLst>
      <p:ext uri="{BB962C8B-B14F-4D97-AF65-F5344CB8AC3E}">
        <p14:creationId xmlns:p14="http://schemas.microsoft.com/office/powerpoint/2010/main" val="366625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DDBF6A99-441C-49AE-AD83-9BC27C3DE34A}" type="slidenum">
              <a:rPr lang="de-DE"/>
              <a:pPr>
                <a:defRPr/>
              </a:pPr>
              <a:t>‹#›</a:t>
            </a:fld>
            <a:endParaRPr lang="de-DE"/>
          </a:p>
        </p:txBody>
      </p:sp>
    </p:spTree>
    <p:extLst>
      <p:ext uri="{BB962C8B-B14F-4D97-AF65-F5344CB8AC3E}">
        <p14:creationId xmlns:p14="http://schemas.microsoft.com/office/powerpoint/2010/main" val="4119640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F1A2DF14-515C-43F4-AD0B-3568C5A2B60D}" type="slidenum">
              <a:rPr lang="de-DE"/>
              <a:pPr>
                <a:defRPr/>
              </a:pPr>
              <a:t>‹#›</a:t>
            </a:fld>
            <a:endParaRPr lang="de-DE"/>
          </a:p>
        </p:txBody>
      </p:sp>
    </p:spTree>
    <p:extLst>
      <p:ext uri="{BB962C8B-B14F-4D97-AF65-F5344CB8AC3E}">
        <p14:creationId xmlns:p14="http://schemas.microsoft.com/office/powerpoint/2010/main" val="201853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865328B9-E60A-4B25-A327-391175ECA0A1}" type="slidenum">
              <a:rPr lang="de-DE"/>
              <a:pPr>
                <a:defRPr/>
              </a:pPr>
              <a:t>‹#›</a:t>
            </a:fld>
            <a:endParaRPr lang="de-DE"/>
          </a:p>
        </p:txBody>
      </p:sp>
    </p:spTree>
    <p:extLst>
      <p:ext uri="{BB962C8B-B14F-4D97-AF65-F5344CB8AC3E}">
        <p14:creationId xmlns:p14="http://schemas.microsoft.com/office/powerpoint/2010/main" val="763108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59848D8D-98C0-47F5-8347-0F94624CC085}"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68140088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99A255E2-4A96-4C1F-91BF-80AF1DB373DC}"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709329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DA0D50BD-C27A-404B-923B-517A4EDFAA54}" type="slidenum">
              <a:rPr lang="de-DE"/>
              <a:pPr>
                <a:defRPr/>
              </a:pPr>
              <a:t>‹#›</a:t>
            </a:fld>
            <a:endParaRPr lang="de-DE"/>
          </a:p>
        </p:txBody>
      </p:sp>
    </p:spTree>
    <p:extLst>
      <p:ext uri="{BB962C8B-B14F-4D97-AF65-F5344CB8AC3E}">
        <p14:creationId xmlns:p14="http://schemas.microsoft.com/office/powerpoint/2010/main" val="109012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5454CFCE-A7FF-4434-945E-7AFD59BA3682}" type="slidenum">
              <a:rPr lang="de-DE"/>
              <a:pPr>
                <a:defRPr/>
              </a:pPr>
              <a:t>‹#›</a:t>
            </a:fld>
            <a:endParaRPr lang="de-DE"/>
          </a:p>
        </p:txBody>
      </p:sp>
    </p:spTree>
    <p:extLst>
      <p:ext uri="{BB962C8B-B14F-4D97-AF65-F5344CB8AC3E}">
        <p14:creationId xmlns:p14="http://schemas.microsoft.com/office/powerpoint/2010/main" val="272626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276F40E1-FC16-476C-9199-6ED76AD89BA0}" type="slidenum">
              <a:rPr lang="de-DE"/>
              <a:pPr>
                <a:defRPr/>
              </a:pPr>
              <a:t>‹#›</a:t>
            </a:fld>
            <a:endParaRPr lang="de-DE"/>
          </a:p>
        </p:txBody>
      </p:sp>
    </p:spTree>
    <p:extLst>
      <p:ext uri="{BB962C8B-B14F-4D97-AF65-F5344CB8AC3E}">
        <p14:creationId xmlns:p14="http://schemas.microsoft.com/office/powerpoint/2010/main" val="3922151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2CD99F12-28AF-40AF-B589-6959FC147AB8}" type="slidenum">
              <a:rPr lang="de-DE"/>
              <a:pPr>
                <a:defRPr/>
              </a:pPr>
              <a:t>‹#›</a:t>
            </a:fld>
            <a:endParaRPr lang="de-DE"/>
          </a:p>
        </p:txBody>
      </p:sp>
    </p:spTree>
    <p:extLst>
      <p:ext uri="{BB962C8B-B14F-4D97-AF65-F5344CB8AC3E}">
        <p14:creationId xmlns:p14="http://schemas.microsoft.com/office/powerpoint/2010/main" val="900592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396EF5ED-E5B7-4A34-8D64-C5E876C698BB}" type="slidenum">
              <a:rPr lang="de-DE"/>
              <a:pPr>
                <a:defRPr/>
              </a:pPr>
              <a:t>‹#›</a:t>
            </a:fld>
            <a:endParaRPr lang="de-DE"/>
          </a:p>
        </p:txBody>
      </p:sp>
    </p:spTree>
    <p:extLst>
      <p:ext uri="{BB962C8B-B14F-4D97-AF65-F5344CB8AC3E}">
        <p14:creationId xmlns:p14="http://schemas.microsoft.com/office/powerpoint/2010/main" val="2461012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F1C4C193-0012-4ED1-A660-B4617C99A245}" type="slidenum">
              <a:rPr lang="de-DE"/>
              <a:pPr>
                <a:defRPr/>
              </a:pPr>
              <a:t>‹#›</a:t>
            </a:fld>
            <a:endParaRPr lang="de-DE"/>
          </a:p>
        </p:txBody>
      </p:sp>
    </p:spTree>
    <p:extLst>
      <p:ext uri="{BB962C8B-B14F-4D97-AF65-F5344CB8AC3E}">
        <p14:creationId xmlns:p14="http://schemas.microsoft.com/office/powerpoint/2010/main" val="79900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F3813B49-D2D2-4C9C-AA2B-2361F48C0C9D}" type="slidenum">
              <a:rPr lang="de-DE"/>
              <a:pPr>
                <a:defRPr/>
              </a:pPr>
              <a:t>‹#›</a:t>
            </a:fld>
            <a:endParaRPr lang="de-DE"/>
          </a:p>
        </p:txBody>
      </p:sp>
    </p:spTree>
    <p:extLst>
      <p:ext uri="{BB962C8B-B14F-4D97-AF65-F5344CB8AC3E}">
        <p14:creationId xmlns:p14="http://schemas.microsoft.com/office/powerpoint/2010/main" val="263378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smtClean="0">
                <a:solidFill>
                  <a:schemeClr val="tx2"/>
                </a:solidFill>
              </a:defRPr>
            </a:lvl1pPr>
          </a:lstStyle>
          <a:p>
            <a:pPr>
              <a:defRPr/>
            </a:pPr>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smtClean="0">
                <a:solidFill>
                  <a:srgbClr val="FFFFFF"/>
                </a:solidFill>
              </a:defRPr>
            </a:lvl1pPr>
          </a:lstStyle>
          <a:p>
            <a:pPr>
              <a:defRPr/>
            </a:pPr>
            <a:fld id="{A08E6AA8-8F6A-4E42-B01B-62438D63E04B}" type="slidenum">
              <a:rPr lang="de-DE"/>
              <a:pPr>
                <a:defRPr/>
              </a:pPr>
              <a:t>‹#›</a:t>
            </a:fld>
            <a:endParaRPr lang="de-DE"/>
          </a:p>
        </p:txBody>
      </p:sp>
    </p:spTree>
    <p:extLst>
      <p:ext uri="{BB962C8B-B14F-4D97-AF65-F5344CB8AC3E}">
        <p14:creationId xmlns:p14="http://schemas.microsoft.com/office/powerpoint/2010/main" val="2513297586"/>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Lst>
  <p:hf hdr="0" ftr="0" dt="0"/>
  <p:txStyles>
    <p:titleStyle>
      <a:lvl1pPr algn="l" rtl="0" fontAlgn="base">
        <a:spcBef>
          <a:spcPct val="0"/>
        </a:spcBef>
        <a:spcAft>
          <a:spcPct val="0"/>
        </a:spcAft>
        <a:defRPr sz="3000" kern="1200" cap="small">
          <a:solidFill>
            <a:schemeClr val="tx2"/>
          </a:solidFill>
          <a:latin typeface="+mj-lt"/>
          <a:ea typeface="+mj-ea"/>
          <a:cs typeface="+mj-cs"/>
        </a:defRPr>
      </a:lvl1pPr>
      <a:lvl2pPr algn="l" rtl="0" fontAlgn="base">
        <a:spcBef>
          <a:spcPct val="0"/>
        </a:spcBef>
        <a:spcAft>
          <a:spcPct val="0"/>
        </a:spcAft>
        <a:defRPr sz="3000">
          <a:solidFill>
            <a:schemeClr val="tx2"/>
          </a:solidFill>
          <a:latin typeface="Century Schoolbook"/>
        </a:defRPr>
      </a:lvl2pPr>
      <a:lvl3pPr algn="l" rtl="0" fontAlgn="base">
        <a:spcBef>
          <a:spcPct val="0"/>
        </a:spcBef>
        <a:spcAft>
          <a:spcPct val="0"/>
        </a:spcAft>
        <a:defRPr sz="3000">
          <a:solidFill>
            <a:schemeClr val="tx2"/>
          </a:solidFill>
          <a:latin typeface="Century Schoolbook"/>
        </a:defRPr>
      </a:lvl3pPr>
      <a:lvl4pPr algn="l" rtl="0" fontAlgn="base">
        <a:spcBef>
          <a:spcPct val="0"/>
        </a:spcBef>
        <a:spcAft>
          <a:spcPct val="0"/>
        </a:spcAft>
        <a:defRPr sz="3000">
          <a:solidFill>
            <a:schemeClr val="tx2"/>
          </a:solidFill>
          <a:latin typeface="Century Schoolbook"/>
        </a:defRPr>
      </a:lvl4pPr>
      <a:lvl5pPr algn="l" rtl="0" fontAlgn="base">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fontAlgn="base">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fontAlgn="base">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fontAlgn="base">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fontAlgn="base">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fontAlgn="base">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a:t>
            </a:fld>
            <a:endParaRPr lang="de-DE">
              <a:solidFill>
                <a:srgbClr val="FFFFFF"/>
              </a:solidFill>
            </a:endParaRPr>
          </a:p>
        </p:txBody>
      </p:sp>
      <p:sp>
        <p:nvSpPr>
          <p:cNvPr id="16387" name="Textfeld 2"/>
          <p:cNvSpPr txBox="1">
            <a:spLocks noChangeArrowheads="1"/>
          </p:cNvSpPr>
          <p:nvPr/>
        </p:nvSpPr>
        <p:spPr bwMode="auto">
          <a:xfrm>
            <a:off x="755650" y="2852738"/>
            <a:ext cx="74882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03_Tradierte Methodische Konzepte</a:t>
            </a:r>
            <a:endParaRPr lang="de-DE" sz="2200" b="0" dirty="0">
              <a:solidFill>
                <a:prstClr val="black"/>
              </a:solidFill>
            </a:endParaRPr>
          </a:p>
        </p:txBody>
      </p:sp>
    </p:spTree>
    <p:extLst>
      <p:ext uri="{BB962C8B-B14F-4D97-AF65-F5344CB8AC3E}">
        <p14:creationId xmlns:p14="http://schemas.microsoft.com/office/powerpoint/2010/main" val="3410585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p:txBody>
          <a:bodyPr anchor="ctr">
            <a:normAutofit fontScale="90000"/>
          </a:bodyPr>
          <a:lstStyle/>
          <a:p>
            <a:r>
              <a:rPr lang="de-DE" dirty="0"/>
              <a:t>Charakteristische Merkmale der Arbeitsschulkonzepte in Russland</a:t>
            </a:r>
          </a:p>
        </p:txBody>
      </p:sp>
      <p:sp>
        <p:nvSpPr>
          <p:cNvPr id="11267" name="Inhaltsplatzhalter 2"/>
          <p:cNvSpPr>
            <a:spLocks noGrp="1"/>
          </p:cNvSpPr>
          <p:nvPr>
            <p:ph sz="quarter" idx="1"/>
          </p:nvPr>
        </p:nvSpPr>
        <p:spPr/>
        <p:txBody>
          <a:bodyPr/>
          <a:lstStyle/>
          <a:p>
            <a:r>
              <a:rPr lang="de-DE" dirty="0"/>
              <a:t>produktive Betätigung als bildendes Element</a:t>
            </a:r>
          </a:p>
          <a:p>
            <a:endParaRPr lang="de-DE" dirty="0"/>
          </a:p>
          <a:p>
            <a:r>
              <a:rPr lang="de-DE" dirty="0"/>
              <a:t>Bildung an Realitäten der Gegenwart</a:t>
            </a:r>
          </a:p>
          <a:p>
            <a:endParaRPr lang="de-DE" dirty="0"/>
          </a:p>
          <a:p>
            <a:r>
              <a:rPr lang="de-DE" dirty="0"/>
              <a:t>Versuche zur Annäherung von Kopf- und Handarbeit</a:t>
            </a:r>
          </a:p>
          <a:p>
            <a:endParaRPr lang="de-DE" sz="2400" dirty="0"/>
          </a:p>
        </p:txBody>
      </p:sp>
      <p:sp>
        <p:nvSpPr>
          <p:cNvPr id="2" name="Foliennummernplatzhalter 1"/>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a:t>
            </a:fld>
            <a:endParaRPr lang="de-DE"/>
          </a:p>
        </p:txBody>
      </p:sp>
    </p:spTree>
    <p:extLst>
      <p:ext uri="{BB962C8B-B14F-4D97-AF65-F5344CB8AC3E}">
        <p14:creationId xmlns:p14="http://schemas.microsoft.com/office/powerpoint/2010/main" val="3241746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Forderungen der Reformpädagogen</a:t>
            </a:r>
            <a:br>
              <a:rPr lang="de-DE" dirty="0"/>
            </a:br>
            <a:r>
              <a:rPr lang="de-DE" dirty="0"/>
              <a:t>zu Beginn des 20. Jh.</a:t>
            </a:r>
          </a:p>
        </p:txBody>
      </p:sp>
      <p:sp>
        <p:nvSpPr>
          <p:cNvPr id="3" name="Inhaltsplatzhalter 2"/>
          <p:cNvSpPr>
            <a:spLocks noGrp="1"/>
          </p:cNvSpPr>
          <p:nvPr>
            <p:ph sz="quarter" idx="1"/>
          </p:nvPr>
        </p:nvSpPr>
        <p:spPr/>
        <p:txBody>
          <a:bodyPr>
            <a:normAutofit lnSpcReduction="10000"/>
          </a:bodyPr>
          <a:lstStyle/>
          <a:p>
            <a:r>
              <a:rPr lang="de-DE" dirty="0"/>
              <a:t>Selbsttätigkeit des Schülers</a:t>
            </a:r>
          </a:p>
          <a:p>
            <a:endParaRPr lang="de-DE" dirty="0"/>
          </a:p>
          <a:p>
            <a:r>
              <a:rPr lang="de-DE" dirty="0"/>
              <a:t>Konstruktive Betätigung</a:t>
            </a:r>
          </a:p>
          <a:p>
            <a:endParaRPr lang="de-DE" dirty="0"/>
          </a:p>
          <a:p>
            <a:r>
              <a:rPr lang="de-DE" dirty="0"/>
              <a:t>Teilnahme an der Unterrichtsplanung</a:t>
            </a:r>
          </a:p>
          <a:p>
            <a:endParaRPr lang="de-DE" dirty="0"/>
          </a:p>
          <a:p>
            <a:r>
              <a:rPr lang="de-DE" dirty="0"/>
              <a:t>Produktorientierte Arbeit</a:t>
            </a:r>
          </a:p>
          <a:p>
            <a:endParaRPr lang="de-DE" dirty="0"/>
          </a:p>
          <a:p>
            <a:endParaRPr lang="de-DE" dirty="0"/>
          </a:p>
          <a:p>
            <a:endParaRPr lang="de-DE" dirty="0"/>
          </a:p>
          <a:p>
            <a:r>
              <a:rPr lang="de-DE" dirty="0"/>
              <a:t>Umsetzung der Ideen einer praxisbezogenen Ausbildung am Beispiel der Arbeitsschule</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3</a:t>
            </a:fld>
            <a:endParaRPr lang="de-DE"/>
          </a:p>
        </p:txBody>
      </p:sp>
    </p:spTree>
    <p:extLst>
      <p:ext uri="{BB962C8B-B14F-4D97-AF65-F5344CB8AC3E}">
        <p14:creationId xmlns:p14="http://schemas.microsoft.com/office/powerpoint/2010/main" val="244195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Kerngedanken zum Projektunterricht</a:t>
            </a:r>
            <a:br>
              <a:rPr lang="de-DE" dirty="0"/>
            </a:br>
            <a:r>
              <a:rPr lang="de-DE" dirty="0"/>
              <a:t>in den 60er und 70er Jahren</a:t>
            </a:r>
          </a:p>
        </p:txBody>
      </p:sp>
      <p:sp>
        <p:nvSpPr>
          <p:cNvPr id="3" name="Inhaltsplatzhalter 2"/>
          <p:cNvSpPr>
            <a:spLocks noGrp="1"/>
          </p:cNvSpPr>
          <p:nvPr>
            <p:ph sz="quarter" idx="1"/>
          </p:nvPr>
        </p:nvSpPr>
        <p:spPr/>
        <p:txBody>
          <a:bodyPr/>
          <a:lstStyle/>
          <a:p>
            <a:r>
              <a:rPr lang="de-DE" dirty="0"/>
              <a:t>Das Alltagsleben wieder stärker in die Bildung zu integrieren</a:t>
            </a:r>
          </a:p>
          <a:p>
            <a:endParaRPr lang="de-DE" dirty="0"/>
          </a:p>
          <a:p>
            <a:r>
              <a:rPr lang="de-DE" dirty="0"/>
              <a:t>Kopf- und Handarbeit wieder zu vereinigen</a:t>
            </a:r>
          </a:p>
          <a:p>
            <a:endParaRPr lang="de-DE" dirty="0"/>
          </a:p>
          <a:p>
            <a:r>
              <a:rPr lang="de-DE" dirty="0"/>
              <a:t>Mitbestimmung und –</a:t>
            </a:r>
            <a:r>
              <a:rPr lang="de-DE" dirty="0" err="1"/>
              <a:t>gestaltung</a:t>
            </a:r>
            <a:r>
              <a:rPr lang="de-DE" dirty="0"/>
              <a:t> des Bildungsprozesses durch die Lernenden</a:t>
            </a:r>
          </a:p>
          <a:p>
            <a:endParaRPr lang="de-DE" dirty="0"/>
          </a:p>
          <a:p>
            <a:r>
              <a:rPr lang="de-DE" dirty="0"/>
              <a:t>Kollektives Lernen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4</a:t>
            </a:fld>
            <a:endParaRPr lang="de-DE"/>
          </a:p>
        </p:txBody>
      </p:sp>
    </p:spTree>
    <p:extLst>
      <p:ext uri="{BB962C8B-B14F-4D97-AF65-F5344CB8AC3E}">
        <p14:creationId xmlns:p14="http://schemas.microsoft.com/office/powerpoint/2010/main" val="212731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Projektunterricht nach </a:t>
            </a:r>
            <a:r>
              <a:rPr lang="de-DE" dirty="0" err="1"/>
              <a:t>Kilpatrick</a:t>
            </a:r>
            <a:r>
              <a:rPr lang="de-DE" dirty="0"/>
              <a:t> / Dewey</a:t>
            </a:r>
          </a:p>
        </p:txBody>
      </p:sp>
      <p:sp>
        <p:nvSpPr>
          <p:cNvPr id="3" name="Inhaltsplatzhalter 2"/>
          <p:cNvSpPr>
            <a:spLocks noGrp="1"/>
          </p:cNvSpPr>
          <p:nvPr>
            <p:ph sz="quarter" idx="1"/>
          </p:nvPr>
        </p:nvSpPr>
        <p:spPr/>
        <p:txBody>
          <a:bodyPr>
            <a:normAutofit fontScale="77500" lnSpcReduction="20000"/>
          </a:bodyPr>
          <a:lstStyle/>
          <a:p>
            <a:pPr marL="457200" indent="-457200">
              <a:buSzPct val="100000"/>
              <a:buFont typeface="+mj-lt"/>
              <a:buAutoNum type="arabicPeriod"/>
            </a:pPr>
            <a:r>
              <a:rPr lang="de-DE" dirty="0"/>
              <a:t>Beginn durch gestelltes offensichtliches Problem aus dem Lebensraum der Teilnehmer (z.B. Woher kommt Typhus?)</a:t>
            </a:r>
          </a:p>
          <a:p>
            <a:pPr marL="457200" indent="-457200">
              <a:buSzPct val="100000"/>
              <a:buFont typeface="+mj-lt"/>
              <a:buAutoNum type="arabicPeriod"/>
            </a:pPr>
            <a:r>
              <a:rPr lang="de-DE" dirty="0"/>
              <a:t>Lokalisierung, Präzisierung</a:t>
            </a:r>
          </a:p>
          <a:p>
            <a:pPr lvl="1">
              <a:buSzPct val="100000"/>
            </a:pPr>
            <a:r>
              <a:rPr lang="de-DE" dirty="0"/>
              <a:t>Allgemeines Bildungsziel durch Problem gegeben</a:t>
            </a:r>
          </a:p>
          <a:p>
            <a:pPr lvl="1">
              <a:buSzPct val="100000"/>
            </a:pPr>
            <a:r>
              <a:rPr lang="de-DE" dirty="0"/>
              <a:t>Bildungsrelevanz des Tuns zum Teil durch Problem, Planerstellung und Experiment gegeben</a:t>
            </a:r>
          </a:p>
          <a:p>
            <a:pPr marL="457200" indent="-457200">
              <a:buSzPct val="100000"/>
              <a:buFont typeface="+mj-lt"/>
              <a:buAutoNum type="arabicPeriod"/>
            </a:pPr>
            <a:r>
              <a:rPr lang="de-DE" dirty="0"/>
              <a:t>Lösungsansatz</a:t>
            </a:r>
          </a:p>
          <a:p>
            <a:pPr lvl="1">
              <a:buSzPct val="100000"/>
            </a:pPr>
            <a:r>
              <a:rPr lang="de-DE" dirty="0"/>
              <a:t>Erstellen eines Plans zur Problemlösung, dadurch Präzisieren der Zielrichtung</a:t>
            </a:r>
          </a:p>
          <a:p>
            <a:pPr marL="457200" indent="-457200">
              <a:buSzPct val="100000"/>
              <a:buFont typeface="+mj-lt"/>
              <a:buAutoNum type="arabicPeriod"/>
            </a:pPr>
            <a:r>
              <a:rPr lang="de-DE" dirty="0"/>
              <a:t>Simulation der Lösungsmöglichkeiten</a:t>
            </a:r>
          </a:p>
          <a:p>
            <a:pPr lvl="1">
              <a:buSzPct val="100000"/>
            </a:pPr>
            <a:r>
              <a:rPr lang="de-DE" dirty="0"/>
              <a:t>Gedankliche Ausführung des Planes</a:t>
            </a:r>
          </a:p>
          <a:p>
            <a:pPr marL="457200" indent="-457200">
              <a:buSzPct val="100000"/>
              <a:buFont typeface="+mj-lt"/>
              <a:buAutoNum type="arabicPeriod"/>
            </a:pPr>
            <a:r>
              <a:rPr lang="de-DE" dirty="0"/>
              <a:t>Experimentelle Prüfung</a:t>
            </a:r>
          </a:p>
          <a:p>
            <a:pPr lvl="1">
              <a:buSzPct val="100000"/>
            </a:pPr>
            <a:r>
              <a:rPr lang="de-DE" dirty="0"/>
              <a:t>Ausführung des Planes als Problemlösung oder Erstellung des Produktes bei Bedarf abgestimmte arbeitsteilige Ausführung</a:t>
            </a:r>
          </a:p>
          <a:p>
            <a:pPr lvl="1">
              <a:buSzPct val="100000"/>
            </a:pPr>
            <a:r>
              <a:rPr lang="de-DE" dirty="0"/>
              <a:t>Praktische Umsetzung und Nutzung der Ergebnisse</a:t>
            </a:r>
          </a:p>
          <a:p>
            <a:pPr marL="457200" indent="-457200">
              <a:buSzPct val="100000"/>
              <a:buFont typeface="+mj-lt"/>
              <a:buAutoNum type="arabicPeriod"/>
            </a:pPr>
            <a:endParaRPr lang="de-DE" dirty="0"/>
          </a:p>
          <a:p>
            <a:pPr marL="365760" lvl="1" indent="0">
              <a:buSzPct val="100000"/>
              <a:buNone/>
            </a:pPr>
            <a:r>
              <a:rPr lang="de-DE" dirty="0"/>
              <a:t>	    vgl. FREY, Karl: Die Projektmethode. Weinheim, Basel 1991</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5</a:t>
            </a:fld>
            <a:endParaRPr lang="de-DE"/>
          </a:p>
        </p:txBody>
      </p:sp>
    </p:spTree>
    <p:extLst>
      <p:ext uri="{BB962C8B-B14F-4D97-AF65-F5344CB8AC3E}">
        <p14:creationId xmlns:p14="http://schemas.microsoft.com/office/powerpoint/2010/main" val="330738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Autofit/>
          </a:bodyPr>
          <a:lstStyle/>
          <a:p>
            <a:r>
              <a:rPr lang="de-DE" sz="3200" dirty="0"/>
              <a:t>Merkmale der Arbeit an Projekten aus didaktischer Sicht</a:t>
            </a:r>
          </a:p>
        </p:txBody>
      </p:sp>
      <p:sp>
        <p:nvSpPr>
          <p:cNvPr id="3" name="Inhaltsplatzhalter 2"/>
          <p:cNvSpPr>
            <a:spLocks noGrp="1"/>
          </p:cNvSpPr>
          <p:nvPr>
            <p:ph sz="quarter" idx="1"/>
          </p:nvPr>
        </p:nvSpPr>
        <p:spPr/>
        <p:txBody>
          <a:bodyPr>
            <a:normAutofit fontScale="77500" lnSpcReduction="20000"/>
          </a:bodyPr>
          <a:lstStyle/>
          <a:p>
            <a:pPr marL="457200" indent="-457200">
              <a:buSzPct val="100000"/>
              <a:buFont typeface="+mj-lt"/>
              <a:buAutoNum type="arabicPeriod"/>
            </a:pPr>
            <a:r>
              <a:rPr lang="de-DE" b="1" dirty="0"/>
              <a:t>Es ist ein Projekt vorhanden</a:t>
            </a:r>
          </a:p>
          <a:p>
            <a:pPr lvl="1">
              <a:buSzPct val="100000"/>
            </a:pPr>
            <a:r>
              <a:rPr lang="de-DE" dirty="0"/>
              <a:t>Existenzbedingung</a:t>
            </a:r>
          </a:p>
          <a:p>
            <a:pPr marL="457200" indent="-457200">
              <a:buSzPct val="100000"/>
              <a:buFont typeface="+mj-lt"/>
              <a:buAutoNum type="arabicPeriod"/>
            </a:pPr>
            <a:endParaRPr lang="de-DE" dirty="0"/>
          </a:p>
          <a:p>
            <a:pPr marL="457200" indent="-457200">
              <a:buSzPct val="100000"/>
              <a:buFont typeface="+mj-lt"/>
              <a:buAutoNum type="arabicPeriod"/>
            </a:pPr>
            <a:r>
              <a:rPr lang="de-DE" b="1" dirty="0"/>
              <a:t>Die Arbeit am Projekt weist Problemlösungsstrukturen auf.</a:t>
            </a:r>
          </a:p>
          <a:p>
            <a:pPr lvl="1">
              <a:buSzPct val="100000"/>
            </a:pPr>
            <a:r>
              <a:rPr lang="de-DE" dirty="0"/>
              <a:t>das bedeutet ein Projekt hat oder generiert Probleme</a:t>
            </a:r>
          </a:p>
          <a:p>
            <a:pPr marL="457200" indent="-457200">
              <a:buSzPct val="100000"/>
              <a:buFont typeface="+mj-lt"/>
              <a:buAutoNum type="arabicPeriod"/>
            </a:pPr>
            <a:endParaRPr lang="de-DE" dirty="0"/>
          </a:p>
          <a:p>
            <a:pPr marL="457200" indent="-457200">
              <a:buSzPct val="100000"/>
              <a:buFont typeface="+mj-lt"/>
              <a:buAutoNum type="arabicPeriod"/>
            </a:pPr>
            <a:r>
              <a:rPr lang="de-DE" b="1" dirty="0"/>
              <a:t>Das Problem lässt mindestens zwei Lösungen zu.</a:t>
            </a:r>
          </a:p>
          <a:p>
            <a:pPr lvl="1">
              <a:buSzPct val="100000"/>
            </a:pPr>
            <a:r>
              <a:rPr lang="de-DE" dirty="0"/>
              <a:t>eine Lösung wäre Projekt im erziehungswissenschaftlichen Sinne</a:t>
            </a:r>
          </a:p>
          <a:p>
            <a:pPr marL="457200" indent="-457200">
              <a:buSzPct val="100000"/>
              <a:buFont typeface="+mj-lt"/>
              <a:buAutoNum type="arabicPeriod"/>
            </a:pPr>
            <a:endParaRPr lang="de-DE" dirty="0"/>
          </a:p>
          <a:p>
            <a:pPr marL="457200" indent="-457200">
              <a:buSzPct val="100000"/>
              <a:buFont typeface="+mj-lt"/>
              <a:buAutoNum type="arabicPeriod"/>
            </a:pPr>
            <a:r>
              <a:rPr lang="de-DE" b="1" dirty="0"/>
              <a:t>Die Arbeit an Projekten orientiert sich an den Erfahrungen und Interessen der Lernenden</a:t>
            </a:r>
          </a:p>
          <a:p>
            <a:pPr lvl="1">
              <a:buSzPct val="100000"/>
            </a:pPr>
            <a:r>
              <a:rPr lang="de-DE" dirty="0"/>
              <a:t>Da aus dem Projekt die Aneignungsgegenstände entstehen, d.h. durch den Lernenden erarbeitet werden, müssen auch seine Bedürfnisse im Mittelpunkt stehen.</a:t>
            </a:r>
          </a:p>
          <a:p>
            <a:pPr marL="457200" indent="-457200">
              <a:buSzPct val="100000"/>
              <a:buFont typeface="+mj-lt"/>
              <a:buAutoNum type="arabicPeriod"/>
            </a:pPr>
            <a:endParaRPr lang="de-DE" dirty="0"/>
          </a:p>
          <a:p>
            <a:pPr marL="457200" indent="-457200">
              <a:buSzPct val="100000"/>
              <a:buFont typeface="+mj-lt"/>
              <a:buAutoNum type="arabicPeriod"/>
            </a:pPr>
            <a:r>
              <a:rPr lang="de-DE" b="1" dirty="0"/>
              <a:t>Die Arbeit an Projekten ist durch vollständige Lernhandlungen gekennzeichnet.</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6</a:t>
            </a:fld>
            <a:endParaRPr lang="de-DE"/>
          </a:p>
        </p:txBody>
      </p:sp>
    </p:spTree>
    <p:extLst>
      <p:ext uri="{BB962C8B-B14F-4D97-AF65-F5344CB8AC3E}">
        <p14:creationId xmlns:p14="http://schemas.microsoft.com/office/powerpoint/2010/main" val="1950080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Autofit/>
          </a:bodyPr>
          <a:lstStyle/>
          <a:p>
            <a:r>
              <a:rPr lang="de-DE" sz="3200" dirty="0"/>
              <a:t>Merkmale der Arbeit an Projekten aus didaktischer Sicht</a:t>
            </a:r>
          </a:p>
        </p:txBody>
      </p:sp>
      <p:sp>
        <p:nvSpPr>
          <p:cNvPr id="3" name="Inhaltsplatzhalter 2"/>
          <p:cNvSpPr>
            <a:spLocks noGrp="1"/>
          </p:cNvSpPr>
          <p:nvPr>
            <p:ph sz="quarter" idx="1"/>
          </p:nvPr>
        </p:nvSpPr>
        <p:spPr/>
        <p:txBody>
          <a:bodyPr>
            <a:normAutofit fontScale="62500" lnSpcReduction="20000"/>
          </a:bodyPr>
          <a:lstStyle/>
          <a:p>
            <a:pPr marL="457200" indent="-457200">
              <a:buSzPct val="100000"/>
              <a:buFont typeface="+mj-lt"/>
              <a:buAutoNum type="arabicPeriod" startAt="6"/>
            </a:pPr>
            <a:r>
              <a:rPr lang="de-DE" b="1" dirty="0"/>
              <a:t>Die Arbeit an Projekten erfolgt in größeren oder kleineren Gruppen aber auch einzeln.</a:t>
            </a:r>
          </a:p>
          <a:p>
            <a:pPr marL="457200" indent="-457200">
              <a:buSzPct val="100000"/>
              <a:buFont typeface="+mj-lt"/>
              <a:buAutoNum type="arabicPeriod" startAt="6"/>
            </a:pPr>
            <a:endParaRPr lang="de-DE" dirty="0"/>
          </a:p>
          <a:p>
            <a:pPr marL="457200" indent="-457200">
              <a:buSzPct val="100000"/>
              <a:buFont typeface="+mj-lt"/>
              <a:buAutoNum type="arabicPeriod" startAt="6"/>
            </a:pPr>
            <a:r>
              <a:rPr lang="de-DE" b="1" dirty="0"/>
              <a:t>Die Arbeit an Projekten ist fach- und berufsfeldübergreifend.</a:t>
            </a:r>
          </a:p>
          <a:p>
            <a:pPr lvl="1">
              <a:buSzPct val="100000"/>
            </a:pPr>
            <a:r>
              <a:rPr lang="de-DE" dirty="0"/>
              <a:t>Eine Integration von Wissen, Können und Wollen wird angestrebt. Außerdem die Dreiheit von Fach-, Sozial- und Methodenkompetenz angezielt werden kann.</a:t>
            </a:r>
          </a:p>
          <a:p>
            <a:pPr marL="457200" indent="-457200">
              <a:buSzPct val="100000"/>
              <a:buFont typeface="+mj-lt"/>
              <a:buAutoNum type="arabicPeriod" startAt="6"/>
            </a:pPr>
            <a:endParaRPr lang="de-DE" dirty="0"/>
          </a:p>
          <a:p>
            <a:pPr marL="457200" indent="-457200">
              <a:buSzPct val="100000"/>
              <a:buFont typeface="+mj-lt"/>
              <a:buAutoNum type="arabicPeriod" startAt="6"/>
            </a:pPr>
            <a:r>
              <a:rPr lang="de-DE" b="1" dirty="0"/>
              <a:t>Die Arbeit an Projekten ist polyinstrumental und methodenpluralistisch.</a:t>
            </a:r>
          </a:p>
          <a:p>
            <a:pPr marL="457200" indent="-457200">
              <a:buSzPct val="100000"/>
              <a:buFont typeface="+mj-lt"/>
              <a:buAutoNum type="arabicPeriod" startAt="6"/>
            </a:pPr>
            <a:endParaRPr lang="de-DE" b="1" dirty="0"/>
          </a:p>
          <a:p>
            <a:pPr marL="457200" indent="-457200">
              <a:buSzPct val="100000"/>
              <a:buFont typeface="+mj-lt"/>
              <a:buAutoNum type="arabicPeriod" startAt="6"/>
            </a:pPr>
            <a:r>
              <a:rPr lang="de-DE" b="1" dirty="0"/>
              <a:t>Die Arbeit an Projekten ist vorrangig durch Selbstorganisation und -verantwortung geprägt</a:t>
            </a:r>
          </a:p>
          <a:p>
            <a:pPr marL="457200" indent="-457200">
              <a:buSzPct val="100000"/>
              <a:buFont typeface="+mj-lt"/>
              <a:buAutoNum type="arabicPeriod" startAt="6"/>
            </a:pPr>
            <a:endParaRPr lang="de-DE" b="1" dirty="0"/>
          </a:p>
          <a:p>
            <a:pPr marL="457200" indent="-457200">
              <a:buSzPct val="100000"/>
              <a:buFont typeface="+mj-lt"/>
              <a:buAutoNum type="arabicPeriod" startAt="6"/>
            </a:pPr>
            <a:r>
              <a:rPr lang="de-DE" b="1" dirty="0"/>
              <a:t>Das vergegenständlichte Projekt hat einen objektiven oder subjektiven Gebrauchswert.</a:t>
            </a:r>
          </a:p>
          <a:p>
            <a:pPr lvl="1">
              <a:buSzPct val="100000"/>
            </a:pPr>
            <a:r>
              <a:rPr lang="de-DE" dirty="0"/>
              <a:t>Wichtig ist, das etwas subjektiv Bedeutsames hergestellt wird.</a:t>
            </a:r>
          </a:p>
          <a:p>
            <a:pPr marL="457200" indent="-457200">
              <a:buSzPct val="100000"/>
              <a:buFont typeface="+mj-lt"/>
              <a:buAutoNum type="arabicPeriod" startAt="6"/>
            </a:pPr>
            <a:endParaRPr lang="de-DE" dirty="0"/>
          </a:p>
          <a:p>
            <a:pPr marL="0" indent="0">
              <a:buSzPct val="100000"/>
              <a:buNone/>
            </a:pPr>
            <a:r>
              <a:rPr lang="de-DE" sz="1700" dirty="0"/>
              <a:t>	Vgl. HORTSCH, Hanno: Didaktik der Berufsbildung – Merkblätter zur Vorlesung Dresden 1999</a:t>
            </a:r>
          </a:p>
          <a:p>
            <a:pPr marL="457200" indent="-457200">
              <a:buSzPct val="100000"/>
              <a:buFont typeface="+mj-lt"/>
              <a:buAutoNum type="arabicPeriod" startAt="6"/>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7</a:t>
            </a:fld>
            <a:endParaRPr lang="de-DE"/>
          </a:p>
        </p:txBody>
      </p:sp>
    </p:spTree>
    <p:extLst>
      <p:ext uri="{BB962C8B-B14F-4D97-AF65-F5344CB8AC3E}">
        <p14:creationId xmlns:p14="http://schemas.microsoft.com/office/powerpoint/2010/main" val="2248311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„Grundmuster der Projektmethode“</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8</a:t>
            </a:fld>
            <a:endParaRPr lang="de-DE"/>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683568" y="1412776"/>
            <a:ext cx="7848872"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565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Mögliche Handlungsstruktur des Lehrers</a:t>
            </a:r>
            <a:br>
              <a:rPr lang="de-DE" dirty="0"/>
            </a:br>
            <a:r>
              <a:rPr lang="de-DE" dirty="0"/>
              <a:t>beim Arbeiten mit Projekten:</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9</a:t>
            </a:fld>
            <a:endParaRPr lang="de-DE"/>
          </a:p>
        </p:txBody>
      </p:sp>
      <p:pic>
        <p:nvPicPr>
          <p:cNvPr id="2050"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7504" y="1313259"/>
            <a:ext cx="8696325"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3482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Kreislauf der Innovation</a:t>
            </a:r>
          </a:p>
        </p:txBody>
      </p:sp>
      <p:sp>
        <p:nvSpPr>
          <p:cNvPr id="3" name="Inhaltsplatzhalter 2"/>
          <p:cNvSpPr>
            <a:spLocks noGrp="1"/>
          </p:cNvSpPr>
          <p:nvPr>
            <p:ph sz="quarter" idx="1"/>
          </p:nvPr>
        </p:nvSpPr>
        <p:spPr/>
        <p:txBody>
          <a:bodyPr/>
          <a:lstStyle/>
          <a:p>
            <a:pPr marL="0" indent="0">
              <a:buNone/>
            </a:pPr>
            <a:r>
              <a:rPr lang="de-DE" sz="2000" dirty="0"/>
              <a:t>Die Innovation ist nur das vorläufige Ende der erfolgreichen Problemlösung. In unserem fortlaufenden Bemühen um die Verbesserung der Gesamtsituation durchlaufen wir immer wieder einen Kreislauf.</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10</a:t>
            </a:fld>
            <a:endParaRPr lang="de-DE"/>
          </a:p>
        </p:txBody>
      </p:sp>
      <p:pic>
        <p:nvPicPr>
          <p:cNvPr id="5" name="Picture 5" descr="V4-1"/>
          <p:cNvPicPr>
            <a:picLocks noChangeAspect="1" noChangeArrowheads="1"/>
          </p:cNvPicPr>
          <p:nvPr/>
        </p:nvPicPr>
        <p:blipFill>
          <a:blip r:embed="rId2" cstate="print">
            <a:clrChange>
              <a:clrFrom>
                <a:srgbClr val="C8C2D1"/>
              </a:clrFrom>
              <a:clrTo>
                <a:srgbClr val="C8C2D1">
                  <a:alpha val="0"/>
                </a:srgbClr>
              </a:clrTo>
            </a:clrChange>
            <a:lum bright="20000" contrast="36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491880" y="2622276"/>
            <a:ext cx="3816424" cy="41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9776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Problemarten und Bezug der Prüfung der Lösung</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11</a:t>
            </a:fld>
            <a:endParaRPr lang="de-DE"/>
          </a:p>
        </p:txBody>
      </p:sp>
      <p:graphicFrame>
        <p:nvGraphicFramePr>
          <p:cNvPr id="5" name="Group 43"/>
          <p:cNvGraphicFramePr>
            <a:graphicFrameLocks noGrp="1"/>
          </p:cNvGraphicFramePr>
          <p:nvPr>
            <p:extLst>
              <p:ext uri="{D42A27DB-BD31-4B8C-83A1-F6EECF244321}">
                <p14:modId xmlns:p14="http://schemas.microsoft.com/office/powerpoint/2010/main" val="4058956231"/>
              </p:ext>
            </p:extLst>
          </p:nvPr>
        </p:nvGraphicFramePr>
        <p:xfrm>
          <a:off x="755576" y="1411559"/>
          <a:ext cx="7344816" cy="5257801"/>
        </p:xfrm>
        <a:graphic>
          <a:graphicData uri="http://schemas.openxmlformats.org/drawingml/2006/table">
            <a:tbl>
              <a:tblPr/>
              <a:tblGrid>
                <a:gridCol w="3672408">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tblGrid>
              <a:tr h="1050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dirty="0">
                          <a:ln>
                            <a:noFill/>
                          </a:ln>
                          <a:solidFill>
                            <a:schemeClr val="tx1"/>
                          </a:solidFill>
                          <a:effectLst/>
                          <a:latin typeface="+mn-lt"/>
                        </a:rPr>
                        <a:t>Problemart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dirty="0">
                          <a:ln>
                            <a:noFill/>
                          </a:ln>
                          <a:solidFill>
                            <a:schemeClr val="tx1"/>
                          </a:solidFill>
                          <a:effectLst/>
                          <a:latin typeface="+mn-lt"/>
                        </a:rPr>
                        <a:t>Lösung des Problems wird geprüft hinsichtlich: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525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dirty="0">
                          <a:ln>
                            <a:noFill/>
                          </a:ln>
                          <a:solidFill>
                            <a:schemeClr val="tx1"/>
                          </a:solidFill>
                          <a:effectLst/>
                          <a:latin typeface="+mn-lt"/>
                        </a:rPr>
                        <a:t>Erkenntnisproblem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a:ln>
                            <a:noFill/>
                          </a:ln>
                          <a:solidFill>
                            <a:schemeClr val="tx1"/>
                          </a:solidFill>
                          <a:effectLst/>
                          <a:latin typeface="+mn-lt"/>
                        </a:rPr>
                        <a:t>Wahrheit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50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dirty="0">
                          <a:ln>
                            <a:noFill/>
                          </a:ln>
                          <a:solidFill>
                            <a:schemeClr val="tx1"/>
                          </a:solidFill>
                          <a:effectLst/>
                          <a:latin typeface="+mn-lt"/>
                        </a:rPr>
                        <a:t>Gestaltungsproblem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a:ln>
                            <a:noFill/>
                          </a:ln>
                          <a:solidFill>
                            <a:schemeClr val="tx1"/>
                          </a:solidFill>
                          <a:effectLst/>
                          <a:latin typeface="+mn-lt"/>
                        </a:rPr>
                        <a:t>Tauglichkeit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525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a:ln>
                            <a:noFill/>
                          </a:ln>
                          <a:solidFill>
                            <a:schemeClr val="tx1"/>
                          </a:solidFill>
                          <a:effectLst/>
                          <a:latin typeface="+mn-lt"/>
                        </a:rPr>
                        <a:t>Wertungsproblem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a:ln>
                            <a:noFill/>
                          </a:ln>
                          <a:solidFill>
                            <a:schemeClr val="tx1"/>
                          </a:solidFill>
                          <a:effectLst/>
                          <a:latin typeface="+mn-lt"/>
                        </a:rPr>
                        <a:t>Zweckmäßigkeit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50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a:ln>
                            <a:noFill/>
                          </a:ln>
                          <a:solidFill>
                            <a:schemeClr val="tx1"/>
                          </a:solidFill>
                          <a:effectLst/>
                          <a:latin typeface="+mn-lt"/>
                        </a:rPr>
                        <a:t>Ausdruckproblem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0" i="0" u="none" strike="noStrike" cap="none" normalizeH="0" baseline="0" dirty="0">
                          <a:ln>
                            <a:noFill/>
                          </a:ln>
                          <a:solidFill>
                            <a:schemeClr val="tx1"/>
                          </a:solidFill>
                          <a:effectLst/>
                          <a:latin typeface="+mn-lt"/>
                        </a:rPr>
                        <a:t>Verständlichkeit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69892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dirty="0"/>
              <a:t>Ziele des Projektes „Abriss eines alten Hauses“</a:t>
            </a:r>
          </a:p>
        </p:txBody>
      </p:sp>
      <p:sp>
        <p:nvSpPr>
          <p:cNvPr id="3" name="Inhaltsplatzhalter 2"/>
          <p:cNvSpPr>
            <a:spLocks noGrp="1"/>
          </p:cNvSpPr>
          <p:nvPr>
            <p:ph sz="quarter" idx="1"/>
          </p:nvPr>
        </p:nvSpPr>
        <p:spPr/>
        <p:txBody>
          <a:bodyPr>
            <a:normAutofit fontScale="85000" lnSpcReduction="20000"/>
          </a:bodyPr>
          <a:lstStyle/>
          <a:p>
            <a:pPr marL="0" indent="0">
              <a:buNone/>
            </a:pPr>
            <a:r>
              <a:rPr lang="de-DE" dirty="0"/>
              <a:t> – Hauptziel –</a:t>
            </a:r>
          </a:p>
          <a:p>
            <a:r>
              <a:rPr lang="de-DE" dirty="0"/>
              <a:t>Die Auszubildenden lernen am Beispiel des Abrisses eines nicht sanierungswürdigen alten Hauses die Möglichkeiten der Wiederverwendung alter Baustoffe kennen.</a:t>
            </a:r>
          </a:p>
          <a:p>
            <a:endParaRPr lang="de-DE" dirty="0"/>
          </a:p>
          <a:p>
            <a:pPr marL="0" indent="0">
              <a:buNone/>
            </a:pPr>
            <a:r>
              <a:rPr lang="de-DE" dirty="0"/>
              <a:t>– Teilziele –</a:t>
            </a:r>
          </a:p>
          <a:p>
            <a:r>
              <a:rPr lang="de-DE" dirty="0"/>
              <a:t>die Notwenigkeit der Wiederverwendung alter Baustoffe begreifen</a:t>
            </a:r>
          </a:p>
          <a:p>
            <a:r>
              <a:rPr lang="de-DE" dirty="0"/>
              <a:t>Möglichkeiten des Abrisses eines Hauses erfahren</a:t>
            </a:r>
          </a:p>
          <a:p>
            <a:r>
              <a:rPr lang="de-DE" dirty="0"/>
              <a:t>die Einteilung alter Baustoffe und die Möglichkeit ihrer Wiederverwendung kennen lernen</a:t>
            </a:r>
          </a:p>
          <a:p>
            <a:r>
              <a:rPr lang="de-DE" dirty="0"/>
              <a:t>den Aufbau einer Aufbereitungsanlage kennen lernen</a:t>
            </a:r>
          </a:p>
          <a:p>
            <a:r>
              <a:rPr lang="de-DE" dirty="0"/>
              <a:t>den Ablauf der Aufbereitung kennen lernen</a:t>
            </a:r>
          </a:p>
          <a:p>
            <a:r>
              <a:rPr lang="de-DE" dirty="0"/>
              <a:t>Fähigkeiten kooperativer Zusammenarbeit entwickeln</a:t>
            </a:r>
          </a:p>
          <a:p>
            <a:r>
              <a:rPr lang="de-DE" dirty="0"/>
              <a:t>kommunikativer Fähigkeiten zum Präsentieren der Arbeitsergebnisse entwickeln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12</a:t>
            </a:fld>
            <a:endParaRPr lang="de-DE"/>
          </a:p>
        </p:txBody>
      </p:sp>
    </p:spTree>
    <p:extLst>
      <p:ext uri="{BB962C8B-B14F-4D97-AF65-F5344CB8AC3E}">
        <p14:creationId xmlns:p14="http://schemas.microsoft.com/office/powerpoint/2010/main" val="3868622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Projektskizze</a:t>
            </a:r>
          </a:p>
        </p:txBody>
      </p:sp>
      <p:sp>
        <p:nvSpPr>
          <p:cNvPr id="3" name="Inhaltsplatzhalter 2"/>
          <p:cNvSpPr>
            <a:spLocks noGrp="1"/>
          </p:cNvSpPr>
          <p:nvPr>
            <p:ph sz="quarter" idx="1"/>
          </p:nvPr>
        </p:nvSpPr>
        <p:spPr/>
        <p:txBody>
          <a:bodyPr>
            <a:normAutofit fontScale="92500" lnSpcReduction="10000"/>
          </a:bodyPr>
          <a:lstStyle/>
          <a:p>
            <a:pPr marL="0" indent="0">
              <a:buNone/>
            </a:pPr>
            <a:r>
              <a:rPr lang="de-DE" b="1" dirty="0"/>
              <a:t>Produkt</a:t>
            </a:r>
            <a:r>
              <a:rPr lang="de-DE" dirty="0"/>
              <a:t>: Eine Präsentation über den technologischen Ablauf der Baustoffwiederverwertung, vom Abriss über die Aufbereitung bis zur Wiederverwendung.</a:t>
            </a:r>
          </a:p>
          <a:p>
            <a:endParaRPr lang="de-DE" dirty="0"/>
          </a:p>
          <a:p>
            <a:pPr marL="0" indent="0">
              <a:buNone/>
            </a:pPr>
            <a:r>
              <a:rPr lang="de-DE" b="1" dirty="0"/>
              <a:t>Fragestellungen</a:t>
            </a:r>
            <a:r>
              <a:rPr lang="de-DE" dirty="0"/>
              <a:t>:</a:t>
            </a:r>
          </a:p>
          <a:p>
            <a:pPr lvl="1"/>
            <a:r>
              <a:rPr lang="de-DE" dirty="0"/>
              <a:t>Wie entsteht </a:t>
            </a:r>
            <a:r>
              <a:rPr lang="de-DE" dirty="0" err="1"/>
              <a:t>Baumüll</a:t>
            </a:r>
            <a:r>
              <a:rPr lang="de-DE" dirty="0"/>
              <a:t>?</a:t>
            </a:r>
          </a:p>
          <a:p>
            <a:pPr lvl="1"/>
            <a:r>
              <a:rPr lang="de-DE" dirty="0"/>
              <a:t>Welche Baustoffe sind in einem alten Haus enthalten?</a:t>
            </a:r>
          </a:p>
          <a:p>
            <a:pPr lvl="1"/>
            <a:r>
              <a:rPr lang="de-DE" dirty="0"/>
              <a:t>Wie erfolgt die Aufbereitung der Baustoffe?</a:t>
            </a:r>
          </a:p>
          <a:p>
            <a:pPr lvl="1"/>
            <a:r>
              <a:rPr lang="de-DE" dirty="0"/>
              <a:t>Wo lassen sich die aufbereiteten Baustoffe einsetzen?</a:t>
            </a:r>
          </a:p>
          <a:p>
            <a:endParaRPr lang="de-DE" dirty="0"/>
          </a:p>
          <a:p>
            <a:pPr marL="0" indent="0">
              <a:buNone/>
            </a:pPr>
            <a:r>
              <a:rPr lang="de-DE" b="1" dirty="0"/>
              <a:t>Arbeitsmethoden</a:t>
            </a:r>
            <a:r>
              <a:rPr lang="de-DE" dirty="0"/>
              <a:t>:</a:t>
            </a:r>
          </a:p>
          <a:p>
            <a:pPr lvl="1"/>
            <a:r>
              <a:rPr lang="de-DE" dirty="0"/>
              <a:t>Literaturstudium</a:t>
            </a:r>
          </a:p>
          <a:p>
            <a:pPr lvl="1"/>
            <a:r>
              <a:rPr lang="de-DE" dirty="0"/>
              <a:t>Befragungen im Bauamt und in Baufirmen</a:t>
            </a:r>
          </a:p>
          <a:p>
            <a:pPr lvl="1"/>
            <a:r>
              <a:rPr lang="de-DE" dirty="0"/>
              <a:t>Darstellung der Ergebnisse in einer Schautafel</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13</a:t>
            </a:fld>
            <a:endParaRPr lang="de-DE"/>
          </a:p>
        </p:txBody>
      </p:sp>
    </p:spTree>
    <p:extLst>
      <p:ext uri="{BB962C8B-B14F-4D97-AF65-F5344CB8AC3E}">
        <p14:creationId xmlns:p14="http://schemas.microsoft.com/office/powerpoint/2010/main" val="1552033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Projektplan</a:t>
            </a:r>
          </a:p>
        </p:txBody>
      </p:sp>
      <p:sp>
        <p:nvSpPr>
          <p:cNvPr id="3" name="Inhaltsplatzhalter 2"/>
          <p:cNvSpPr>
            <a:spLocks noGrp="1"/>
          </p:cNvSpPr>
          <p:nvPr>
            <p:ph sz="quarter" idx="1"/>
          </p:nvPr>
        </p:nvSpPr>
        <p:spPr/>
        <p:txBody>
          <a:bodyPr>
            <a:normAutofit fontScale="77500" lnSpcReduction="20000"/>
          </a:bodyPr>
          <a:lstStyle/>
          <a:p>
            <a:pPr marL="0" indent="0">
              <a:buNone/>
            </a:pPr>
            <a:r>
              <a:rPr lang="de-DE" b="1" dirty="0"/>
              <a:t>Arbeitstätigkeiten</a:t>
            </a:r>
            <a:r>
              <a:rPr lang="de-DE" dirty="0"/>
              <a:t>:</a:t>
            </a:r>
          </a:p>
          <a:p>
            <a:pPr marL="0" indent="0">
              <a:buNone/>
            </a:pPr>
            <a:r>
              <a:rPr lang="de-DE" dirty="0"/>
              <a:t>Es werden 5 Arbeitsgruppen gebildet, denen verschiedene Aufgaben zugeteilt werden.</a:t>
            </a:r>
          </a:p>
          <a:p>
            <a:endParaRPr lang="de-DE" dirty="0"/>
          </a:p>
          <a:p>
            <a:pPr marL="0" indent="0">
              <a:buNone/>
            </a:pPr>
            <a:r>
              <a:rPr lang="de-DE" dirty="0"/>
              <a:t>Gruppe 1:	Gründe für den Abriss eines Hauses</a:t>
            </a:r>
          </a:p>
          <a:p>
            <a:pPr marL="0" indent="0">
              <a:buNone/>
            </a:pPr>
            <a:r>
              <a:rPr lang="de-DE" dirty="0"/>
              <a:t>		</a:t>
            </a:r>
            <a:r>
              <a:rPr lang="de-DE" dirty="0">
                <a:sym typeface="Wingdings" pitchFamily="2" charset="2"/>
              </a:rPr>
              <a:t> </a:t>
            </a:r>
            <a:r>
              <a:rPr lang="de-DE" dirty="0"/>
              <a:t>Befragung im Bauamt</a:t>
            </a:r>
          </a:p>
          <a:p>
            <a:pPr marL="0" indent="0">
              <a:buNone/>
            </a:pPr>
            <a:r>
              <a:rPr lang="de-DE" dirty="0"/>
              <a:t>Gruppe 2:	Mögliche Abrissverfahren</a:t>
            </a:r>
          </a:p>
          <a:p>
            <a:pPr marL="0" indent="0">
              <a:buNone/>
            </a:pPr>
            <a:r>
              <a:rPr lang="de-DE" dirty="0"/>
              <a:t>		</a:t>
            </a:r>
            <a:r>
              <a:rPr lang="de-DE" dirty="0">
                <a:sym typeface="Wingdings" pitchFamily="2" charset="2"/>
              </a:rPr>
              <a:t> </a:t>
            </a:r>
            <a:r>
              <a:rPr lang="de-DE" dirty="0"/>
              <a:t>Literaturstudium</a:t>
            </a:r>
          </a:p>
          <a:p>
            <a:pPr marL="0" indent="0">
              <a:buNone/>
            </a:pPr>
            <a:r>
              <a:rPr lang="de-DE" dirty="0"/>
              <a:t>		</a:t>
            </a:r>
            <a:r>
              <a:rPr lang="de-DE" dirty="0">
                <a:sym typeface="Wingdings" pitchFamily="2" charset="2"/>
              </a:rPr>
              <a:t> </a:t>
            </a:r>
            <a:r>
              <a:rPr lang="de-DE" dirty="0"/>
              <a:t>Befragung in Bauunternehmen</a:t>
            </a:r>
          </a:p>
          <a:p>
            <a:pPr marL="0" indent="0">
              <a:buNone/>
            </a:pPr>
            <a:r>
              <a:rPr lang="de-DE" dirty="0"/>
              <a:t>Gruppe 3:	Baustoffe im Abrisshaus</a:t>
            </a:r>
          </a:p>
          <a:p>
            <a:pPr marL="0" indent="0">
              <a:buNone/>
            </a:pPr>
            <a:r>
              <a:rPr lang="de-DE" dirty="0"/>
              <a:t>		</a:t>
            </a:r>
            <a:r>
              <a:rPr lang="de-DE" dirty="0">
                <a:sym typeface="Wingdings" pitchFamily="2" charset="2"/>
              </a:rPr>
              <a:t> </a:t>
            </a:r>
            <a:r>
              <a:rPr lang="de-DE" dirty="0"/>
              <a:t>Untersuchung auf der Baustelle</a:t>
            </a:r>
          </a:p>
          <a:p>
            <a:pPr marL="0" indent="0">
              <a:buNone/>
            </a:pPr>
            <a:r>
              <a:rPr lang="de-DE" dirty="0"/>
              <a:t>Gruppe 4:	Möglichkeiten der Aufbereitung alter Baustoffe</a:t>
            </a:r>
          </a:p>
          <a:p>
            <a:pPr marL="0" indent="0">
              <a:buNone/>
            </a:pPr>
            <a:r>
              <a:rPr lang="de-DE" dirty="0"/>
              <a:t>		</a:t>
            </a:r>
            <a:r>
              <a:rPr lang="de-DE" dirty="0">
                <a:sym typeface="Wingdings" pitchFamily="2" charset="2"/>
              </a:rPr>
              <a:t> </a:t>
            </a:r>
            <a:r>
              <a:rPr lang="de-DE" dirty="0"/>
              <a:t>Untersuchung in einer Aufbereitungsanlage</a:t>
            </a:r>
          </a:p>
          <a:p>
            <a:pPr marL="0" indent="0">
              <a:buNone/>
            </a:pPr>
            <a:r>
              <a:rPr lang="de-DE" dirty="0"/>
              <a:t>Gruppe 5:	Einsatz aufbereiteter Baustoffe</a:t>
            </a:r>
          </a:p>
          <a:p>
            <a:pPr marL="0" indent="0">
              <a:buNone/>
            </a:pPr>
            <a:r>
              <a:rPr lang="de-DE" dirty="0"/>
              <a:t>		</a:t>
            </a:r>
            <a:r>
              <a:rPr lang="de-DE" dirty="0">
                <a:sym typeface="Wingdings" pitchFamily="2" charset="2"/>
              </a:rPr>
              <a:t></a:t>
            </a:r>
            <a:r>
              <a:rPr lang="de-DE" dirty="0"/>
              <a:t>Befragung in Bauunternehmen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14</a:t>
            </a:fld>
            <a:endParaRPr lang="de-DE"/>
          </a:p>
        </p:txBody>
      </p:sp>
    </p:spTree>
    <p:extLst>
      <p:ext uri="{BB962C8B-B14F-4D97-AF65-F5344CB8AC3E}">
        <p14:creationId xmlns:p14="http://schemas.microsoft.com/office/powerpoint/2010/main" val="2336465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Projektplan</a:t>
            </a:r>
          </a:p>
        </p:txBody>
      </p:sp>
      <p:sp>
        <p:nvSpPr>
          <p:cNvPr id="3" name="Inhaltsplatzhalter 2"/>
          <p:cNvSpPr>
            <a:spLocks noGrp="1"/>
          </p:cNvSpPr>
          <p:nvPr>
            <p:ph sz="quarter" idx="1"/>
          </p:nvPr>
        </p:nvSpPr>
        <p:spPr/>
        <p:txBody>
          <a:bodyPr>
            <a:normAutofit fontScale="70000" lnSpcReduction="20000"/>
          </a:bodyPr>
          <a:lstStyle/>
          <a:p>
            <a:pPr marL="0" indent="0">
              <a:buNone/>
            </a:pPr>
            <a:r>
              <a:rPr lang="de-DE" sz="3100" b="1" dirty="0"/>
              <a:t>Zeitplan</a:t>
            </a:r>
            <a:r>
              <a:rPr lang="de-DE" sz="3100" dirty="0"/>
              <a:t>: </a:t>
            </a:r>
          </a:p>
          <a:p>
            <a:pPr marL="0" indent="0">
              <a:buNone/>
            </a:pPr>
            <a:endParaRPr lang="de-DE" dirty="0"/>
          </a:p>
          <a:p>
            <a:pPr marL="0" indent="0">
              <a:buNone/>
            </a:pPr>
            <a:r>
              <a:rPr lang="de-DE" dirty="0"/>
              <a:t>1. Tag: Projektskizze und Projektplan</a:t>
            </a:r>
          </a:p>
          <a:p>
            <a:pPr lvl="1"/>
            <a:r>
              <a:rPr lang="de-DE" dirty="0"/>
              <a:t>Feinplanung in den Gruppen</a:t>
            </a:r>
          </a:p>
          <a:p>
            <a:pPr lvl="1"/>
            <a:r>
              <a:rPr lang="de-DE" dirty="0"/>
              <a:t>organisatorische Absprachen für die Untersuchungen außerhalb der Schule</a:t>
            </a:r>
          </a:p>
          <a:p>
            <a:endParaRPr lang="de-DE" dirty="0"/>
          </a:p>
          <a:p>
            <a:pPr marL="0" indent="0">
              <a:buNone/>
            </a:pPr>
            <a:r>
              <a:rPr lang="de-DE" dirty="0"/>
              <a:t>2. Tag: Literaturstudium</a:t>
            </a:r>
          </a:p>
          <a:p>
            <a:pPr lvl="1"/>
            <a:r>
              <a:rPr lang="de-DE" dirty="0"/>
              <a:t>Vorbereitung der Befragungen bzw. Untersuchungen</a:t>
            </a:r>
          </a:p>
          <a:p>
            <a:pPr lvl="1"/>
            <a:r>
              <a:rPr lang="de-DE" dirty="0"/>
              <a:t>Präsentation der Fragebögen bzw. Untersuchungsabläufe vor der Klasse</a:t>
            </a:r>
          </a:p>
          <a:p>
            <a:pPr lvl="1"/>
            <a:r>
              <a:rPr lang="de-DE" dirty="0"/>
              <a:t>erste Befragungen / Untersuchungen</a:t>
            </a:r>
          </a:p>
          <a:p>
            <a:endParaRPr lang="de-DE" dirty="0"/>
          </a:p>
          <a:p>
            <a:pPr marL="0" indent="0">
              <a:buNone/>
            </a:pPr>
            <a:r>
              <a:rPr lang="de-DE" dirty="0"/>
              <a:t>3. Tag: Befragungen / Untersuchungen</a:t>
            </a:r>
          </a:p>
          <a:p>
            <a:pPr lvl="1"/>
            <a:r>
              <a:rPr lang="de-DE" dirty="0"/>
              <a:t>erste Auswertung der Ergebnisse</a:t>
            </a:r>
          </a:p>
          <a:p>
            <a:endParaRPr lang="de-DE" dirty="0"/>
          </a:p>
          <a:p>
            <a:pPr marL="0" indent="0">
              <a:buNone/>
            </a:pPr>
            <a:r>
              <a:rPr lang="de-DE" dirty="0"/>
              <a:t>4. Tag: Auswertung der Ergebnisse</a:t>
            </a:r>
          </a:p>
          <a:p>
            <a:pPr lvl="1"/>
            <a:r>
              <a:rPr lang="de-DE" dirty="0"/>
              <a:t>Präsentation der Ergebnisse in einer Schautafel</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15</a:t>
            </a:fld>
            <a:endParaRPr lang="de-DE"/>
          </a:p>
        </p:txBody>
      </p:sp>
    </p:spTree>
    <p:extLst>
      <p:ext uri="{BB962C8B-B14F-4D97-AF65-F5344CB8AC3E}">
        <p14:creationId xmlns:p14="http://schemas.microsoft.com/office/powerpoint/2010/main" val="3603977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p:txBody>
          <a:bodyPr anchor="ctr">
            <a:normAutofit fontScale="90000"/>
          </a:bodyPr>
          <a:lstStyle/>
          <a:p>
            <a:r>
              <a:rPr lang="de-DE" dirty="0"/>
              <a:t>Funktion von Kontrolle und Bewertung</a:t>
            </a:r>
            <a:br>
              <a:rPr lang="de-DE" dirty="0"/>
            </a:br>
            <a:r>
              <a:rPr lang="de-DE" dirty="0"/>
              <a:t>im Unterricht</a:t>
            </a:r>
          </a:p>
        </p:txBody>
      </p:sp>
      <p:sp>
        <p:nvSpPr>
          <p:cNvPr id="11267" name="Inhaltsplatzhalter 2"/>
          <p:cNvSpPr>
            <a:spLocks noGrp="1"/>
          </p:cNvSpPr>
          <p:nvPr>
            <p:ph sz="quarter" idx="1"/>
          </p:nvPr>
        </p:nvSpPr>
        <p:spPr/>
        <p:txBody>
          <a:bodyPr>
            <a:normAutofit fontScale="92500" lnSpcReduction="10000"/>
          </a:bodyPr>
          <a:lstStyle/>
          <a:p>
            <a:r>
              <a:rPr lang="de-DE" dirty="0"/>
              <a:t>Rückkopplung für den Lehrer</a:t>
            </a:r>
          </a:p>
          <a:p>
            <a:pPr lvl="1"/>
            <a:r>
              <a:rPr lang="de-DE" dirty="0"/>
              <a:t>Hat er seine pädagogischen Ziele erreicht?</a:t>
            </a:r>
          </a:p>
          <a:p>
            <a:pPr lvl="1"/>
            <a:r>
              <a:rPr lang="de-DE" dirty="0"/>
              <a:t>War die didaktisch-methodische Gestaltung zweckmäßig?</a:t>
            </a:r>
          </a:p>
          <a:p>
            <a:endParaRPr lang="de-DE" dirty="0"/>
          </a:p>
          <a:p>
            <a:r>
              <a:rPr lang="de-DE" dirty="0"/>
              <a:t>Rückkopplung für den Schüler</a:t>
            </a:r>
          </a:p>
          <a:p>
            <a:pPr lvl="1"/>
            <a:r>
              <a:rPr lang="de-DE" dirty="0"/>
              <a:t>Welche Lernfortschritte wurden erzielt?</a:t>
            </a:r>
          </a:p>
          <a:p>
            <a:endParaRPr lang="de-DE" dirty="0"/>
          </a:p>
          <a:p>
            <a:r>
              <a:rPr lang="de-DE" dirty="0"/>
              <a:t>Bewertung von Ausbildungsgängen und Ausbildungsunterlagen</a:t>
            </a:r>
          </a:p>
          <a:p>
            <a:pPr lvl="1"/>
            <a:r>
              <a:rPr lang="de-DE" dirty="0"/>
              <a:t>Ist der Lehrplan geeignet um bestimmte Qualifikationen zu entwickeln?</a:t>
            </a:r>
          </a:p>
          <a:p>
            <a:endParaRPr lang="de-DE" dirty="0"/>
          </a:p>
          <a:p>
            <a:r>
              <a:rPr lang="de-DE" dirty="0"/>
              <a:t>Ermittlung von Zeugnissen und Beurteilungen als Grundlage für weitere Laufbahnentscheidungen</a:t>
            </a:r>
          </a:p>
          <a:p>
            <a:endParaRPr lang="de-DE" sz="2400" dirty="0"/>
          </a:p>
        </p:txBody>
      </p:sp>
      <p:sp>
        <p:nvSpPr>
          <p:cNvPr id="2" name="Foliennummernplatzhalter 1"/>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16</a:t>
            </a:fld>
            <a:endParaRPr lang="de-DE"/>
          </a:p>
        </p:txBody>
      </p:sp>
    </p:spTree>
    <p:extLst>
      <p:ext uri="{BB962C8B-B14F-4D97-AF65-F5344CB8AC3E}">
        <p14:creationId xmlns:p14="http://schemas.microsoft.com/office/powerpoint/2010/main" val="466302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Kontrolle und Bewertung von Lernleistungen</a:t>
            </a:r>
            <a:br>
              <a:rPr lang="de-DE" dirty="0"/>
            </a:br>
            <a:r>
              <a:rPr lang="de-DE" dirty="0"/>
              <a:t>im Unterricht</a:t>
            </a:r>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3528" y="1340768"/>
            <a:ext cx="8220075" cy="553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17</a:t>
            </a:fld>
            <a:endParaRPr lang="de-DE"/>
          </a:p>
        </p:txBody>
      </p:sp>
    </p:spTree>
    <p:extLst>
      <p:ext uri="{BB962C8B-B14F-4D97-AF65-F5344CB8AC3E}">
        <p14:creationId xmlns:p14="http://schemas.microsoft.com/office/powerpoint/2010/main" val="1022948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Merkmale einer Bewertungssituation im Unterricht</a:t>
            </a:r>
          </a:p>
        </p:txBody>
      </p:sp>
      <p:sp>
        <p:nvSpPr>
          <p:cNvPr id="3" name="Inhaltsplatzhalter 2"/>
          <p:cNvSpPr>
            <a:spLocks noGrp="1"/>
          </p:cNvSpPr>
          <p:nvPr>
            <p:ph sz="quarter" idx="1"/>
          </p:nvPr>
        </p:nvSpPr>
        <p:spPr/>
        <p:txBody>
          <a:bodyPr>
            <a:normAutofit fontScale="85000" lnSpcReduction="20000"/>
          </a:bodyPr>
          <a:lstStyle/>
          <a:p>
            <a:pPr marL="457200" indent="-457200">
              <a:buSzPct val="100000"/>
              <a:buFont typeface="+mj-lt"/>
              <a:buAutoNum type="arabicPeriod"/>
            </a:pPr>
            <a:r>
              <a:rPr lang="de-DE" dirty="0"/>
              <a:t>Objektivierbarkeit und Aufgabencharakter des Handlungsergebnisses</a:t>
            </a:r>
          </a:p>
          <a:p>
            <a:pPr marL="457200" indent="-457200">
              <a:buSzPct val="100000"/>
              <a:buFont typeface="+mj-lt"/>
              <a:buAutoNum type="arabicPeriod"/>
            </a:pPr>
            <a:endParaRPr lang="de-DE" dirty="0"/>
          </a:p>
          <a:p>
            <a:pPr marL="457200" indent="-457200">
              <a:buSzPct val="100000"/>
              <a:buFont typeface="+mj-lt"/>
              <a:buAutoNum type="arabicPeriod"/>
            </a:pPr>
            <a:r>
              <a:rPr lang="de-DE" dirty="0"/>
              <a:t>Bezug auf einen Schwierigkeitsmaßstab bzw. „Kraftaufwand“</a:t>
            </a:r>
          </a:p>
          <a:p>
            <a:pPr marL="457200" indent="-457200">
              <a:buSzPct val="100000"/>
              <a:buFont typeface="+mj-lt"/>
              <a:buAutoNum type="arabicPeriod"/>
            </a:pPr>
            <a:endParaRPr lang="de-DE" dirty="0"/>
          </a:p>
          <a:p>
            <a:pPr marL="457200" indent="-457200">
              <a:buSzPct val="100000"/>
              <a:buFont typeface="+mj-lt"/>
              <a:buAutoNum type="arabicPeriod"/>
            </a:pPr>
            <a:r>
              <a:rPr lang="de-DE" dirty="0"/>
              <a:t>Möglichkeit des Gelingens oder Misslingens einer Handlung</a:t>
            </a:r>
          </a:p>
          <a:p>
            <a:pPr marL="457200" indent="-457200">
              <a:buSzPct val="100000"/>
              <a:buFont typeface="+mj-lt"/>
              <a:buAutoNum type="arabicPeriod"/>
            </a:pPr>
            <a:endParaRPr lang="de-DE" dirty="0"/>
          </a:p>
          <a:p>
            <a:pPr marL="457200" indent="-457200">
              <a:buSzPct val="100000"/>
              <a:buFont typeface="+mj-lt"/>
              <a:buAutoNum type="arabicPeriod"/>
            </a:pPr>
            <a:r>
              <a:rPr lang="de-DE" dirty="0"/>
              <a:t>Subjektive verbindliche „Maßstäbe“ für die Bewertung</a:t>
            </a:r>
          </a:p>
          <a:p>
            <a:pPr marL="457200" indent="-457200">
              <a:buSzPct val="100000"/>
              <a:buFont typeface="+mj-lt"/>
              <a:buAutoNum type="arabicPeriod"/>
            </a:pPr>
            <a:endParaRPr lang="de-DE" dirty="0"/>
          </a:p>
          <a:p>
            <a:pPr marL="457200" indent="-457200">
              <a:buSzPct val="100000"/>
              <a:buFont typeface="+mj-lt"/>
              <a:buAutoNum type="arabicPeriod"/>
            </a:pPr>
            <a:r>
              <a:rPr lang="de-DE" dirty="0"/>
              <a:t>Abhängigkeit (Urheberschaft) der Leistung vom Handelnden</a:t>
            </a:r>
          </a:p>
          <a:p>
            <a:pPr marL="457200" indent="-457200">
              <a:buSzPct val="100000"/>
              <a:buFont typeface="+mj-lt"/>
              <a:buAutoNum type="arabicPeriod"/>
            </a:pPr>
            <a:endParaRPr lang="de-DE" dirty="0"/>
          </a:p>
          <a:p>
            <a:pPr marL="0" indent="0">
              <a:buSzPct val="100000"/>
              <a:buNone/>
            </a:pPr>
            <a:r>
              <a:rPr lang="de-DE" dirty="0"/>
              <a:t>				(vgl. HECKHAUSEN, 1974)</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18</a:t>
            </a:fld>
            <a:endParaRPr lang="de-DE"/>
          </a:p>
        </p:txBody>
      </p:sp>
    </p:spTree>
    <p:extLst>
      <p:ext uri="{BB962C8B-B14F-4D97-AF65-F5344CB8AC3E}">
        <p14:creationId xmlns:p14="http://schemas.microsoft.com/office/powerpoint/2010/main" val="1106847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Probleme der Kontrolle und Bewertung</a:t>
            </a:r>
            <a:br>
              <a:rPr lang="de-DE" dirty="0"/>
            </a:br>
            <a:r>
              <a:rPr lang="de-DE" dirty="0"/>
              <a:t>in Projekten</a:t>
            </a:r>
          </a:p>
        </p:txBody>
      </p:sp>
      <p:sp>
        <p:nvSpPr>
          <p:cNvPr id="3" name="Inhaltsplatzhalter 2"/>
          <p:cNvSpPr>
            <a:spLocks noGrp="1"/>
          </p:cNvSpPr>
          <p:nvPr>
            <p:ph sz="quarter" idx="1"/>
          </p:nvPr>
        </p:nvSpPr>
        <p:spPr/>
        <p:txBody>
          <a:bodyPr>
            <a:normAutofit fontScale="85000" lnSpcReduction="10000"/>
          </a:bodyPr>
          <a:lstStyle/>
          <a:p>
            <a:pPr marL="457200" indent="-457200">
              <a:buSzPct val="100000"/>
              <a:buFont typeface="+mj-lt"/>
              <a:buAutoNum type="arabicPeriod"/>
            </a:pPr>
            <a:r>
              <a:rPr lang="de-DE" dirty="0"/>
              <a:t>Widerspruch zwischen Selbstorganisation / Selbstverantwortung und Fremdkontrolle</a:t>
            </a:r>
          </a:p>
          <a:p>
            <a:pPr lvl="1">
              <a:buSzPct val="100000"/>
            </a:pPr>
            <a:r>
              <a:rPr lang="de-DE" dirty="0"/>
              <a:t>Lehrer setzt die Ziele nicht und kann daher auch über kein Antwortbild verfügen: Wie kann er daher die Leistung bewerten?</a:t>
            </a:r>
          </a:p>
          <a:p>
            <a:pPr marL="457200" indent="-457200">
              <a:buSzPct val="100000"/>
              <a:buFont typeface="+mj-lt"/>
              <a:buAutoNum type="arabicPeriod"/>
            </a:pPr>
            <a:endParaRPr lang="de-DE" dirty="0"/>
          </a:p>
          <a:p>
            <a:pPr marL="457200" indent="-457200">
              <a:buSzPct val="100000"/>
              <a:buFont typeface="+mj-lt"/>
              <a:buAutoNum type="arabicPeriod"/>
            </a:pPr>
            <a:r>
              <a:rPr lang="de-DE" dirty="0"/>
              <a:t>Widerspruch zwischen kooperativer Lernorganisation und individueller Leistungsbewertung</a:t>
            </a:r>
          </a:p>
          <a:p>
            <a:pPr marL="457200" indent="-457200">
              <a:buSzPct val="100000"/>
              <a:buFont typeface="+mj-lt"/>
              <a:buAutoNum type="arabicPeriod"/>
            </a:pPr>
            <a:endParaRPr lang="de-DE" dirty="0"/>
          </a:p>
          <a:p>
            <a:pPr marL="457200" indent="-457200">
              <a:buSzPct val="100000"/>
              <a:buFont typeface="+mj-lt"/>
              <a:buAutoNum type="arabicPeriod"/>
            </a:pPr>
            <a:r>
              <a:rPr lang="de-DE" dirty="0"/>
              <a:t>Widerspruch zwischen pädagogischen Zwecken der Arbeit an und mit Projekten und der Kontrolle und Bewertung des Projektprodukts</a:t>
            </a:r>
          </a:p>
          <a:p>
            <a:pPr lvl="1">
              <a:buSzPct val="100000"/>
            </a:pPr>
            <a:r>
              <a:rPr lang="de-DE" dirty="0"/>
              <a:t>gemeint ist das Projektprodukt war letztlich auch nur Mittel zum Zweck: Persönlichkeitseigenschaften sollten am Produkt entwickelt werden …</a:t>
            </a:r>
          </a:p>
          <a:p>
            <a:pPr marL="0" indent="0">
              <a:buSzPct val="100000"/>
              <a:buNone/>
            </a:pPr>
            <a:r>
              <a:rPr lang="de-DE" dirty="0"/>
              <a:t>					(vgl. KERSTEN, 1997)</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19</a:t>
            </a:fld>
            <a:endParaRPr lang="de-DE"/>
          </a:p>
        </p:txBody>
      </p:sp>
    </p:spTree>
    <p:extLst>
      <p:ext uri="{BB962C8B-B14F-4D97-AF65-F5344CB8AC3E}">
        <p14:creationId xmlns:p14="http://schemas.microsoft.com/office/powerpoint/2010/main" val="1805276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Besonderheiten von Kontrolle und Bewertung</a:t>
            </a:r>
            <a:br>
              <a:rPr lang="de-DE" dirty="0"/>
            </a:br>
            <a:r>
              <a:rPr lang="de-DE" dirty="0"/>
              <a:t>bei der Arbeit an und mit Projekten</a:t>
            </a:r>
          </a:p>
        </p:txBody>
      </p:sp>
      <p:sp>
        <p:nvSpPr>
          <p:cNvPr id="3" name="Inhaltsplatzhalter 2"/>
          <p:cNvSpPr>
            <a:spLocks noGrp="1"/>
          </p:cNvSpPr>
          <p:nvPr>
            <p:ph sz="quarter" idx="1"/>
          </p:nvPr>
        </p:nvSpPr>
        <p:spPr/>
        <p:txBody>
          <a:bodyPr>
            <a:normAutofit fontScale="85000" lnSpcReduction="20000"/>
          </a:bodyPr>
          <a:lstStyle/>
          <a:p>
            <a:pPr marL="457200" indent="-457200">
              <a:buSzPct val="100000"/>
              <a:buFont typeface="+mj-lt"/>
              <a:buAutoNum type="arabicPeriod"/>
            </a:pPr>
            <a:r>
              <a:rPr lang="de-DE" dirty="0"/>
              <a:t>Eine ausschließliche Fremdkontrolle und –</a:t>
            </a:r>
            <a:r>
              <a:rPr lang="de-DE" dirty="0" err="1"/>
              <a:t>bewertung</a:t>
            </a:r>
            <a:r>
              <a:rPr lang="de-DE" dirty="0"/>
              <a:t> der Lernleistungen durch den Lehrenden ist nicht möglich.</a:t>
            </a:r>
          </a:p>
          <a:p>
            <a:pPr marL="457200" indent="-457200">
              <a:buSzPct val="100000"/>
              <a:buFont typeface="+mj-lt"/>
              <a:buAutoNum type="arabicPeriod"/>
            </a:pPr>
            <a:endParaRPr lang="de-DE" dirty="0"/>
          </a:p>
          <a:p>
            <a:pPr marL="457200" indent="-457200">
              <a:buSzPct val="100000"/>
              <a:buFont typeface="+mj-lt"/>
              <a:buAutoNum type="arabicPeriod"/>
            </a:pPr>
            <a:r>
              <a:rPr lang="de-DE" dirty="0"/>
              <a:t>Kontrolle und Bewertung von Lernleistungen muss in Zusammenarbeit zwischen den Lernenden und dem Lehrenden erfolgen. Ausgangspunkt dafür bildet die Selbstkontrolle und –</a:t>
            </a:r>
            <a:r>
              <a:rPr lang="de-DE" dirty="0" err="1"/>
              <a:t>bewertung</a:t>
            </a:r>
            <a:r>
              <a:rPr lang="de-DE" dirty="0"/>
              <a:t> der Lernenden, gefolgt von der gegenseitigen Einschätzung der erbrachten Leistungen durch die Lernenden. Auf dieser Grundlage kann dann der Lehrende seine Leistungseinschätzung begründet darlegen.</a:t>
            </a:r>
          </a:p>
          <a:p>
            <a:pPr marL="457200" indent="-457200">
              <a:buSzPct val="100000"/>
              <a:buFont typeface="+mj-lt"/>
              <a:buAutoNum type="arabicPeriod"/>
            </a:pPr>
            <a:endParaRPr lang="de-DE" dirty="0"/>
          </a:p>
          <a:p>
            <a:pPr marL="457200" indent="-457200">
              <a:buSzPct val="100000"/>
              <a:buFont typeface="+mj-lt"/>
              <a:buAutoNum type="arabicPeriod"/>
            </a:pPr>
            <a:r>
              <a:rPr lang="de-DE" dirty="0"/>
              <a:t>Trotz der Produktorientiertheit beim Lernen durch die Arbeit an und mit Projekten sollte der Schwerpunkt der Kontrolle und Bewertung nicht auf den Qualitätsmerkmalen des Produktes sondern im Prozess der Problemlösung liegen.</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20</a:t>
            </a:fld>
            <a:endParaRPr lang="de-DE"/>
          </a:p>
        </p:txBody>
      </p:sp>
    </p:spTree>
    <p:extLst>
      <p:ext uri="{BB962C8B-B14F-4D97-AF65-F5344CB8AC3E}">
        <p14:creationId xmlns:p14="http://schemas.microsoft.com/office/powerpoint/2010/main" val="2014239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11</TotalTime>
  <Words>1121</Words>
  <Application>Microsoft Macintosh PowerPoint</Application>
  <PresentationFormat>On-screen Show (4:3)</PresentationFormat>
  <Paragraphs>201</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Calibri</vt:lpstr>
      <vt:lpstr>Century Schoolbook</vt:lpstr>
      <vt:lpstr>Tahoma</vt:lpstr>
      <vt:lpstr>Times New Roman</vt:lpstr>
      <vt:lpstr>Wingdings</vt:lpstr>
      <vt:lpstr>Wingdings 2</vt:lpstr>
      <vt:lpstr>1_Nereus</vt:lpstr>
      <vt:lpstr>PowerPoint Presentation</vt:lpstr>
      <vt:lpstr>Charakteristische Merkmale der Arbeitsschulkonzepte in Russland</vt:lpstr>
      <vt:lpstr>Forderungen der Reformpädagogen zu Beginn des 20. Jh.</vt:lpstr>
      <vt:lpstr>Kerngedanken zum Projektunterricht in den 60er und 70er Jahren</vt:lpstr>
      <vt:lpstr>Projektunterricht nach Kilpatrick / Dewey</vt:lpstr>
      <vt:lpstr>Merkmale der Arbeit an Projekten aus didaktischer Sicht</vt:lpstr>
      <vt:lpstr>Merkmale der Arbeit an Projekten aus didaktischer Sicht</vt:lpstr>
      <vt:lpstr>„Grundmuster der Projektmethode“</vt:lpstr>
      <vt:lpstr>Mögliche Handlungsstruktur des Lehrers beim Arbeiten mit Projekten:</vt:lpstr>
      <vt:lpstr>Kreislauf der Innovation</vt:lpstr>
      <vt:lpstr>Problemarten und Bezug der Prüfung der Lösung</vt:lpstr>
      <vt:lpstr>Ziele des Projektes „Abriss eines alten Hauses“</vt:lpstr>
      <vt:lpstr>Projektskizze</vt:lpstr>
      <vt:lpstr>Projektplan</vt:lpstr>
      <vt:lpstr>Projektplan</vt:lpstr>
      <vt:lpstr>Funktion von Kontrolle und Bewertung im Unterricht</vt:lpstr>
      <vt:lpstr>Kontrolle und Bewertung von Lernleistungen im Unterricht</vt:lpstr>
      <vt:lpstr>Merkmale einer Bewertungssituation im Unterricht</vt:lpstr>
      <vt:lpstr>Probleme der Kontrolle und Bewertung in Projekten</vt:lpstr>
      <vt:lpstr>Besonderheiten von Kontrolle und Bewertung bei der Arbeit an und mit Projekten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276</cp:revision>
  <cp:lastPrinted>2002-03-21T12:12:44Z</cp:lastPrinted>
  <dcterms:created xsi:type="dcterms:W3CDTF">2002-02-22T17:42:09Z</dcterms:created>
  <dcterms:modified xsi:type="dcterms:W3CDTF">2026-09-22T19:42:45Z</dcterms:modified>
</cp:coreProperties>
</file>