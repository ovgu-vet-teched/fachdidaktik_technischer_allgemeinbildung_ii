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40" r:id="rId1"/>
    <p:sldMasterId id="2147483769" r:id="rId2"/>
  </p:sldMasterIdLst>
  <p:notesMasterIdLst>
    <p:notesMasterId r:id="rId98"/>
  </p:notesMasterIdLst>
  <p:handoutMasterIdLst>
    <p:handoutMasterId r:id="rId99"/>
  </p:handoutMasterIdLst>
  <p:sldIdLst>
    <p:sldId id="537" r:id="rId3"/>
    <p:sldId id="720" r:id="rId4"/>
    <p:sldId id="534" r:id="rId5"/>
    <p:sldId id="544" r:id="rId6"/>
    <p:sldId id="543" r:id="rId7"/>
    <p:sldId id="542" r:id="rId8"/>
    <p:sldId id="541" r:id="rId9"/>
    <p:sldId id="540" r:id="rId10"/>
    <p:sldId id="539" r:id="rId11"/>
    <p:sldId id="538" r:id="rId12"/>
    <p:sldId id="545" r:id="rId13"/>
    <p:sldId id="546" r:id="rId14"/>
    <p:sldId id="547" r:id="rId15"/>
    <p:sldId id="550" r:id="rId16"/>
    <p:sldId id="548" r:id="rId17"/>
    <p:sldId id="551" r:id="rId18"/>
    <p:sldId id="549" r:id="rId19"/>
    <p:sldId id="552" r:id="rId20"/>
    <p:sldId id="553" r:id="rId21"/>
    <p:sldId id="556" r:id="rId22"/>
    <p:sldId id="554" r:id="rId23"/>
    <p:sldId id="557" r:id="rId24"/>
    <p:sldId id="555" r:id="rId25"/>
    <p:sldId id="558" r:id="rId26"/>
    <p:sldId id="559" r:id="rId27"/>
    <p:sldId id="560" r:id="rId28"/>
    <p:sldId id="563" r:id="rId29"/>
    <p:sldId id="566" r:id="rId30"/>
    <p:sldId id="561" r:id="rId31"/>
    <p:sldId id="564" r:id="rId32"/>
    <p:sldId id="565" r:id="rId33"/>
    <p:sldId id="562" r:id="rId34"/>
    <p:sldId id="721" r:id="rId35"/>
    <p:sldId id="726" r:id="rId36"/>
    <p:sldId id="722" r:id="rId37"/>
    <p:sldId id="723" r:id="rId38"/>
    <p:sldId id="725" r:id="rId39"/>
    <p:sldId id="724" r:id="rId40"/>
    <p:sldId id="567" r:id="rId41"/>
    <p:sldId id="568" r:id="rId42"/>
    <p:sldId id="712" r:id="rId43"/>
    <p:sldId id="713" r:id="rId44"/>
    <p:sldId id="714" r:id="rId45"/>
    <p:sldId id="715" r:id="rId46"/>
    <p:sldId id="716" r:id="rId47"/>
    <p:sldId id="571" r:id="rId48"/>
    <p:sldId id="569" r:id="rId49"/>
    <p:sldId id="570" r:id="rId50"/>
    <p:sldId id="572" r:id="rId51"/>
    <p:sldId id="573" r:id="rId52"/>
    <p:sldId id="576" r:id="rId53"/>
    <p:sldId id="577" r:id="rId54"/>
    <p:sldId id="574" r:id="rId55"/>
    <p:sldId id="578" r:id="rId56"/>
    <p:sldId id="579" r:id="rId57"/>
    <p:sldId id="580" r:id="rId58"/>
    <p:sldId id="575" r:id="rId59"/>
    <p:sldId id="582" r:id="rId60"/>
    <p:sldId id="581" r:id="rId61"/>
    <p:sldId id="586" r:id="rId62"/>
    <p:sldId id="585" r:id="rId63"/>
    <p:sldId id="583" r:id="rId64"/>
    <p:sldId id="584" r:id="rId65"/>
    <p:sldId id="587" r:id="rId66"/>
    <p:sldId id="589" r:id="rId67"/>
    <p:sldId id="588" r:id="rId68"/>
    <p:sldId id="591" r:id="rId69"/>
    <p:sldId id="590" r:id="rId70"/>
    <p:sldId id="595" r:id="rId71"/>
    <p:sldId id="592" r:id="rId72"/>
    <p:sldId id="593" r:id="rId73"/>
    <p:sldId id="596" r:id="rId74"/>
    <p:sldId id="594" r:id="rId75"/>
    <p:sldId id="597" r:id="rId76"/>
    <p:sldId id="598" r:id="rId77"/>
    <p:sldId id="599" r:id="rId78"/>
    <p:sldId id="601" r:id="rId79"/>
    <p:sldId id="602" r:id="rId80"/>
    <p:sldId id="600" r:id="rId81"/>
    <p:sldId id="603" r:id="rId82"/>
    <p:sldId id="604" r:id="rId83"/>
    <p:sldId id="605" r:id="rId84"/>
    <p:sldId id="608" r:id="rId85"/>
    <p:sldId id="609" r:id="rId86"/>
    <p:sldId id="606" r:id="rId87"/>
    <p:sldId id="610" r:id="rId88"/>
    <p:sldId id="611" r:id="rId89"/>
    <p:sldId id="612" r:id="rId90"/>
    <p:sldId id="613" r:id="rId91"/>
    <p:sldId id="614" r:id="rId92"/>
    <p:sldId id="615" r:id="rId93"/>
    <p:sldId id="607" r:id="rId94"/>
    <p:sldId id="616" r:id="rId95"/>
    <p:sldId id="617" r:id="rId96"/>
    <p:sldId id="618" r:id="rId97"/>
  </p:sldIdLst>
  <p:sldSz cx="9144000" cy="6858000" type="screen4x3"/>
  <p:notesSz cx="6854825" cy="9750425"/>
  <p:defaultTextStyle>
    <a:defPPr>
      <a:defRPr lang="en-US"/>
    </a:defPPr>
    <a:lvl1pPr algn="l" rtl="0" eaLnBrk="0" fontAlgn="base" hangingPunct="0">
      <a:spcBef>
        <a:spcPct val="0"/>
      </a:spcBef>
      <a:spcAft>
        <a:spcPct val="0"/>
      </a:spcAft>
      <a:defRPr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itchFamily="34" charset="0"/>
        <a:ea typeface="+mn-ea"/>
        <a:cs typeface="+mn-cs"/>
      </a:defRPr>
    </a:lvl5pPr>
    <a:lvl6pPr marL="2286000" algn="l" defTabSz="914400" rtl="0" eaLnBrk="1" latinLnBrk="0" hangingPunct="1">
      <a:defRPr b="1" kern="1200">
        <a:solidFill>
          <a:schemeClr val="tx1"/>
        </a:solidFill>
        <a:latin typeface="Tahoma" pitchFamily="34" charset="0"/>
        <a:ea typeface="+mn-ea"/>
        <a:cs typeface="+mn-cs"/>
      </a:defRPr>
    </a:lvl6pPr>
    <a:lvl7pPr marL="2743200" algn="l" defTabSz="914400" rtl="0" eaLnBrk="1" latinLnBrk="0" hangingPunct="1">
      <a:defRPr b="1" kern="1200">
        <a:solidFill>
          <a:schemeClr val="tx1"/>
        </a:solidFill>
        <a:latin typeface="Tahoma" pitchFamily="34" charset="0"/>
        <a:ea typeface="+mn-ea"/>
        <a:cs typeface="+mn-cs"/>
      </a:defRPr>
    </a:lvl7pPr>
    <a:lvl8pPr marL="3200400" algn="l" defTabSz="914400" rtl="0" eaLnBrk="1" latinLnBrk="0" hangingPunct="1">
      <a:defRPr b="1" kern="1200">
        <a:solidFill>
          <a:schemeClr val="tx1"/>
        </a:solidFill>
        <a:latin typeface="Tahoma" pitchFamily="34" charset="0"/>
        <a:ea typeface="+mn-ea"/>
        <a:cs typeface="+mn-cs"/>
      </a:defRPr>
    </a:lvl8pPr>
    <a:lvl9pPr marL="3657600" algn="l" defTabSz="914400" rtl="0" eaLnBrk="1" latinLnBrk="0" hangingPunct="1">
      <a:defRPr b="1"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7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B2B2B2"/>
    <a:srgbClr val="BD430A"/>
    <a:srgbClr val="0768B2"/>
    <a:srgbClr val="0A508D"/>
    <a:srgbClr val="0860A5"/>
    <a:srgbClr val="0C417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3883" autoAdjust="0"/>
  </p:normalViewPr>
  <p:slideViewPr>
    <p:cSldViewPr showGuides="1">
      <p:cViewPr varScale="1">
        <p:scale>
          <a:sx n="125" d="100"/>
          <a:sy n="125" d="100"/>
        </p:scale>
        <p:origin x="1432" y="16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787" y="2040"/>
      </p:cViewPr>
      <p:guideLst>
        <p:guide orient="horz" pos="3071"/>
        <p:guide pos="215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_rels/viewProps.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slide" Target="slides/slide42.xml"/><Relationship Id="rId1" Type="http://schemas.openxmlformats.org/officeDocument/2006/relationships/slide" Target="slides/slide41.xml"/><Relationship Id="rId5" Type="http://schemas.openxmlformats.org/officeDocument/2006/relationships/slide" Target="slides/slide45.xml"/><Relationship Id="rId4"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9939" name="Rectangle 3"/>
          <p:cNvSpPr>
            <a:spLocks noGrp="1" noChangeArrowheads="1"/>
          </p:cNvSpPr>
          <p:nvPr>
            <p:ph type="dt" sz="quarter"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39940" name="Rectangle 4"/>
          <p:cNvSpPr>
            <a:spLocks noGrp="1" noChangeArrowheads="1"/>
          </p:cNvSpPr>
          <p:nvPr>
            <p:ph type="ftr" sz="quarter" idx="2"/>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9941" name="Rectangle 5"/>
          <p:cNvSpPr>
            <a:spLocks noGrp="1" noChangeArrowheads="1"/>
          </p:cNvSpPr>
          <p:nvPr>
            <p:ph type="sldNum" sz="quarter" idx="3"/>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60BF8065-B72B-48E4-8526-D638D07A292D}" type="slidenum">
              <a:rPr lang="de-DE"/>
              <a:pPr>
                <a:defRPr/>
              </a:pPr>
              <a:t>‹#›</a:t>
            </a:fld>
            <a:endParaRPr lang="de-DE"/>
          </a:p>
        </p:txBody>
      </p:sp>
    </p:spTree>
    <p:extLst>
      <p:ext uri="{BB962C8B-B14F-4D97-AF65-F5344CB8AC3E}">
        <p14:creationId xmlns:p14="http://schemas.microsoft.com/office/powerpoint/2010/main" val="167985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3" name="Rectangle 3"/>
          <p:cNvSpPr>
            <a:spLocks noGrp="1" noChangeArrowheads="1"/>
          </p:cNvSpPr>
          <p:nvPr>
            <p:ph type="dt"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12292" name="Rectangle 4"/>
          <p:cNvSpPr>
            <a:spLocks noGrp="1" noRot="1" noChangeAspect="1" noChangeArrowheads="1" noTextEdit="1"/>
          </p:cNvSpPr>
          <p:nvPr>
            <p:ph type="sldImg" idx="2"/>
          </p:nvPr>
        </p:nvSpPr>
        <p:spPr bwMode="auto">
          <a:xfrm>
            <a:off x="989013" y="730250"/>
            <a:ext cx="4876800" cy="3657600"/>
          </a:xfrm>
          <a:prstGeom prst="rect">
            <a:avLst/>
          </a:prstGeom>
          <a:noFill/>
          <a:ln w="9525">
            <a:solidFill>
              <a:srgbClr val="000000"/>
            </a:solidFill>
            <a:miter lim="800000"/>
            <a:headEnd/>
            <a:tailEnd/>
          </a:ln>
        </p:spPr>
      </p:sp>
      <p:sp>
        <p:nvSpPr>
          <p:cNvPr id="35845" name="Rectangle 5"/>
          <p:cNvSpPr>
            <a:spLocks noGrp="1" noChangeArrowheads="1"/>
          </p:cNvSpPr>
          <p:nvPr>
            <p:ph type="body" sz="quarter" idx="3"/>
          </p:nvPr>
        </p:nvSpPr>
        <p:spPr bwMode="auto">
          <a:xfrm>
            <a:off x="914400" y="4632325"/>
            <a:ext cx="5026025" cy="4387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35846" name="Rectangle 6"/>
          <p:cNvSpPr>
            <a:spLocks noGrp="1" noChangeArrowheads="1"/>
          </p:cNvSpPr>
          <p:nvPr>
            <p:ph type="ftr" sz="quarter" idx="4"/>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7" name="Rectangle 7"/>
          <p:cNvSpPr>
            <a:spLocks noGrp="1" noChangeArrowheads="1"/>
          </p:cNvSpPr>
          <p:nvPr>
            <p:ph type="sldNum" sz="quarter" idx="5"/>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12F08462-A6CB-4CDF-B233-8E4BB04E3C16}" type="slidenum">
              <a:rPr lang="de-DE"/>
              <a:pPr>
                <a:defRPr/>
              </a:pPr>
              <a:t>‹#›</a:t>
            </a:fld>
            <a:endParaRPr lang="de-DE"/>
          </a:p>
        </p:txBody>
      </p:sp>
    </p:spTree>
    <p:extLst>
      <p:ext uri="{BB962C8B-B14F-4D97-AF65-F5344CB8AC3E}">
        <p14:creationId xmlns:p14="http://schemas.microsoft.com/office/powerpoint/2010/main" val="3128101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0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12F08462-A6CB-4CDF-B233-8E4BB04E3C16}" type="slidenum">
              <a:rPr lang="de-DE" smtClean="0"/>
              <a:pPr>
                <a:defRPr/>
              </a:pPr>
              <a:t>39</a:t>
            </a:fld>
            <a:endParaRPr lang="de-DE"/>
          </a:p>
        </p:txBody>
      </p:sp>
    </p:spTree>
    <p:extLst>
      <p:ext uri="{BB962C8B-B14F-4D97-AF65-F5344CB8AC3E}">
        <p14:creationId xmlns:p14="http://schemas.microsoft.com/office/powerpoint/2010/main" val="2605930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kumimoji="1" lang="de-DE" sz="1000" b="1" kern="1200" dirty="0">
                <a:solidFill>
                  <a:schemeClr val="tx1"/>
                </a:solidFill>
                <a:latin typeface="Tahoma" pitchFamily="34" charset="0"/>
                <a:ea typeface="+mn-ea"/>
                <a:cs typeface="+mn-cs"/>
              </a:rPr>
              <a:t>6 Moleküle Wasser und 6 Moleküle Kohlenstoffdioxid ergeben </a:t>
            </a:r>
            <a:br>
              <a:rPr kumimoji="1" lang="de-DE" sz="1000" b="1" kern="1200" dirty="0">
                <a:solidFill>
                  <a:schemeClr val="tx1"/>
                </a:solidFill>
                <a:latin typeface="Tahoma" pitchFamily="34" charset="0"/>
                <a:ea typeface="+mn-ea"/>
                <a:cs typeface="+mn-cs"/>
              </a:rPr>
            </a:br>
            <a:r>
              <a:rPr kumimoji="1" lang="de-DE" sz="1000" b="1" kern="1200" dirty="0">
                <a:solidFill>
                  <a:schemeClr val="tx1"/>
                </a:solidFill>
                <a:latin typeface="Tahoma" pitchFamily="34" charset="0"/>
                <a:ea typeface="+mn-ea"/>
                <a:cs typeface="+mn-cs"/>
              </a:rPr>
              <a:t>unter Einwirkung von Sonnenlicht </a:t>
            </a:r>
            <a:br>
              <a:rPr kumimoji="1" lang="de-DE" sz="1000" b="1" kern="1200" dirty="0">
                <a:solidFill>
                  <a:schemeClr val="tx1"/>
                </a:solidFill>
                <a:latin typeface="Tahoma" pitchFamily="34" charset="0"/>
                <a:ea typeface="+mn-ea"/>
                <a:cs typeface="+mn-cs"/>
              </a:rPr>
            </a:br>
            <a:r>
              <a:rPr kumimoji="1" lang="de-DE" sz="1000" b="1" kern="1200" dirty="0">
                <a:solidFill>
                  <a:schemeClr val="tx1"/>
                </a:solidFill>
                <a:latin typeface="Tahoma" pitchFamily="34" charset="0"/>
                <a:ea typeface="+mn-ea"/>
                <a:cs typeface="+mn-cs"/>
              </a:rPr>
              <a:t>1 Molekül Glucose und 6 Moleküle Sauerstoff.</a:t>
            </a:r>
          </a:p>
          <a:p>
            <a:endParaRPr kumimoji="1" lang="de-DE" sz="1000" b="1" kern="1200" dirty="0">
              <a:solidFill>
                <a:schemeClr val="tx1"/>
              </a:solidFill>
              <a:latin typeface="Tahoma" pitchFamily="34" charset="0"/>
              <a:ea typeface="+mn-ea"/>
              <a:cs typeface="+mn-cs"/>
            </a:endParaRPr>
          </a:p>
          <a:p>
            <a:r>
              <a:rPr lang="de-DE" dirty="0"/>
              <a:t>Mithilfe von Experimenten konnte schließlich nachgewiesen werden, dass der Sauerstoff der Glucose aus dem Kohlenstoffdioxid stammt (und entsprechend der freigesetzte Sauerstoff aus dem Wasser stammt).</a:t>
            </a:r>
          </a:p>
        </p:txBody>
      </p:sp>
      <p:sp>
        <p:nvSpPr>
          <p:cNvPr id="4" name="Foliennummernplatzhalter 3"/>
          <p:cNvSpPr>
            <a:spLocks noGrp="1"/>
          </p:cNvSpPr>
          <p:nvPr>
            <p:ph type="sldNum" sz="quarter" idx="10"/>
          </p:nvPr>
        </p:nvSpPr>
        <p:spPr/>
        <p:txBody>
          <a:bodyPr/>
          <a:lstStyle/>
          <a:p>
            <a:pPr>
              <a:defRPr/>
            </a:pPr>
            <a:fld id="{12F08462-A6CB-4CDF-B233-8E4BB04E3C16}" type="slidenum">
              <a:rPr lang="de-DE" smtClean="0"/>
              <a:pPr>
                <a:defRPr/>
              </a:pPr>
              <a:t>42</a:t>
            </a:fld>
            <a:endParaRPr lang="de-DE"/>
          </a:p>
        </p:txBody>
      </p:sp>
    </p:spTree>
    <p:extLst>
      <p:ext uri="{BB962C8B-B14F-4D97-AF65-F5344CB8AC3E}">
        <p14:creationId xmlns:p14="http://schemas.microsoft.com/office/powerpoint/2010/main" val="2991634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pPr>
              <a:defRPr/>
            </a:pPr>
            <a:fld id="{12F08462-A6CB-4CDF-B233-8E4BB04E3C16}" type="slidenum">
              <a:rPr lang="de-DE" smtClean="0"/>
              <a:pPr>
                <a:defRPr/>
              </a:pPr>
              <a:t>51</a:t>
            </a:fld>
            <a:endParaRPr lang="de-DE"/>
          </a:p>
        </p:txBody>
      </p:sp>
    </p:spTree>
    <p:extLst>
      <p:ext uri="{BB962C8B-B14F-4D97-AF65-F5344CB8AC3E}">
        <p14:creationId xmlns:p14="http://schemas.microsoft.com/office/powerpoint/2010/main" val="1027792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Ref idx="1001">
        <a:schemeClr val="bg1"/>
      </p:bgRef>
    </p:bg>
    <p:spTree>
      <p:nvGrpSpPr>
        <p:cNvPr id="1" name=""/>
        <p:cNvGrpSpPr/>
        <p:nvPr/>
      </p:nvGrpSpPr>
      <p:grpSpPr>
        <a:xfrm>
          <a:off x="0" y="0"/>
          <a:ext cx="0" cy="0"/>
          <a:chOff x="0" y="0"/>
          <a:chExt cx="0" cy="0"/>
        </a:xfrm>
      </p:grpSpPr>
      <p:sp>
        <p:nvSpPr>
          <p:cNvPr id="8" name="Titel 7"/>
          <p:cNvSpPr>
            <a:spLocks noGrp="1"/>
          </p:cNvSpPr>
          <p:nvPr>
            <p:ph type="ctrTitle"/>
          </p:nvPr>
        </p:nvSpPr>
        <p:spPr>
          <a:xfrm>
            <a:off x="2286000" y="3124200"/>
            <a:ext cx="6172200" cy="1894362"/>
          </a:xfrm>
        </p:spPr>
        <p:txBody>
          <a:bodyPr/>
          <a:lstStyle>
            <a:lvl1pPr>
              <a:defRPr b="1"/>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10" name="Rechteck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hteck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hteck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hteck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Gerade Verbindung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Gerade Verbindung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Gerade Verbindung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Gerade Verbindung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Gerade Verbindung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Gerade Verbindung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hteck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Foliennummernplatzhalter 28"/>
          <p:cNvSpPr>
            <a:spLocks noGrp="1"/>
          </p:cNvSpPr>
          <p:nvPr>
            <p:ph type="sldNum" sz="quarter" idx="12"/>
          </p:nvPr>
        </p:nvSpPr>
        <p:spPr bwMode="auto">
          <a:xfrm>
            <a:off x="1325544" y="4928702"/>
            <a:ext cx="609600" cy="517524"/>
          </a:xfrm>
        </p:spPr>
        <p:txBody>
          <a:bodyPr/>
          <a:lstStyle/>
          <a:p>
            <a:pPr>
              <a:defRPr/>
            </a:pPr>
            <a:fld id="{EE7F088D-B82F-4692-9881-D4F6EC899268}"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kumimoji="0" lang="de-DE"/>
              <a:t>Titelmasterformat durch Klicken bearbeiten</a:t>
            </a:r>
            <a:endParaRPr kumimoji="0"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p:txBody>
      </p:sp>
      <p:sp>
        <p:nvSpPr>
          <p:cNvPr id="9" name="Foliennummernplatzhalter 8"/>
          <p:cNvSpPr>
            <a:spLocks noGrp="1"/>
          </p:cNvSpPr>
          <p:nvPr>
            <p:ph type="sldNum" sz="quarter" idx="15"/>
          </p:nvPr>
        </p:nvSpPr>
        <p:spPr/>
        <p:txBody>
          <a:bodyPr rtlCol="0"/>
          <a:lstStyle/>
          <a:p>
            <a:fld id="{33548601-C4B6-4D19-A7D5-04150560F062}" type="slidenum">
              <a:rPr lang="de-DE" smtClean="0"/>
              <a:pPr/>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9" name="Rechteck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hteck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hteck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hteck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Gerade Verbindung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Gerade Verbindung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Gerade Verbindung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Gerade Verbindung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Gerade Verbindung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hteck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Gerade Verbindung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Foliennummernplatzhalter 5"/>
          <p:cNvSpPr>
            <a:spLocks noGrp="1"/>
          </p:cNvSpPr>
          <p:nvPr>
            <p:ph type="sldNum" sz="quarter" idx="12"/>
          </p:nvPr>
        </p:nvSpPr>
        <p:spPr bwMode="auto">
          <a:xfrm>
            <a:off x="1340616" y="4928702"/>
            <a:ext cx="609600" cy="517524"/>
          </a:xfrm>
        </p:spPr>
        <p:txBody>
          <a:bodyPr/>
          <a:lstStyle/>
          <a:p>
            <a:fld id="{33548601-C4B6-4D19-A7D5-04150560F062}" type="slidenum">
              <a:rPr lang="de-DE" smtClean="0"/>
              <a:pPr/>
              <a:t>‹#›</a:t>
            </a:fld>
            <a:endParaRPr lang="de-D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7" name="Foliennummernplatzhalter 6"/>
          <p:cNvSpPr>
            <a:spLocks noGrp="1"/>
          </p:cNvSpPr>
          <p:nvPr>
            <p:ph type="sldNum" sz="quarter" idx="12"/>
          </p:nvPr>
        </p:nvSpPr>
        <p:spPr/>
        <p:txBody>
          <a:bodyPr/>
          <a:lstStyle/>
          <a:p>
            <a:fld id="{33548601-C4B6-4D19-A7D5-04150560F062}" type="slidenum">
              <a:rPr lang="de-DE" smtClean="0"/>
              <a:pPr/>
              <a:t>‹#›</a:t>
            </a:fld>
            <a:endParaRPr lang="de-DE"/>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8"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9" name="Foliennummernplatzhalter 8"/>
          <p:cNvSpPr>
            <a:spLocks noGrp="1"/>
          </p:cNvSpPr>
          <p:nvPr>
            <p:ph type="sldNum" sz="quarter" idx="12"/>
          </p:nvPr>
        </p:nvSpPr>
        <p:spPr/>
        <p:txBody>
          <a:bodyPr/>
          <a:lstStyle/>
          <a:p>
            <a:fld id="{33548601-C4B6-4D19-A7D5-04150560F062}" type="slidenum">
              <a:rPr lang="de-DE" smtClean="0"/>
              <a:pPr/>
              <a:t>‹#›</a:t>
            </a:fld>
            <a:endParaRPr lang="de-DE"/>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de-DE"/>
              <a:t>Textmasterformat bearbeiten</a:t>
            </a:r>
          </a:p>
        </p:txBody>
      </p:sp>
      <p:sp>
        <p:nvSpPr>
          <p:cNvPr id="10"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7" name="Foliennummernplatzhalter 6"/>
          <p:cNvSpPr>
            <a:spLocks noGrp="1"/>
          </p:cNvSpPr>
          <p:nvPr>
            <p:ph type="sldNum" sz="quarter" idx="11"/>
          </p:nvPr>
        </p:nvSpPr>
        <p:spPr/>
        <p:txBody>
          <a:bodyPr rtlCol="0"/>
          <a:lstStyle/>
          <a:p>
            <a:fld id="{33548601-C4B6-4D19-A7D5-04150560F062}" type="slidenum">
              <a:rPr lang="de-DE" smtClean="0"/>
              <a:pPr/>
              <a:t>‹#›</a:t>
            </a:fld>
            <a:endParaRPr lang="de-DE"/>
          </a:p>
        </p:txBody>
      </p:sp>
      <p:sp>
        <p:nvSpPr>
          <p:cNvPr id="9" name="Titel 1"/>
          <p:cNvSpPr txBox="1">
            <a:spLocks/>
          </p:cNvSpPr>
          <p:nvPr/>
        </p:nvSpPr>
        <p:spPr>
          <a:xfrm>
            <a:off x="611560" y="476672"/>
            <a:ext cx="7467600" cy="922114"/>
          </a:xfrm>
          <a:prstGeom prst="rect">
            <a:avLst/>
          </a:prstGeom>
          <a:solidFill>
            <a:schemeClr val="accent1">
              <a:lumMod val="40000"/>
              <a:lumOff val="60000"/>
            </a:schemeClr>
          </a:solidFill>
        </p:spPr>
        <p:txBody>
          <a:bodyPr vert="horz" anchor="b">
            <a:normAutofit/>
          </a:bodyPr>
          <a:lstStyle>
            <a:lvl1pPr>
              <a:defRPr>
                <a:latin typeface="Calibri"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sz="3000" b="0" i="0" u="none" strike="noStrike" kern="1200" cap="small" spc="0" normalizeH="0" baseline="0" noProof="0">
                <a:ln>
                  <a:noFill/>
                </a:ln>
                <a:solidFill>
                  <a:schemeClr val="tx2"/>
                </a:solidFill>
                <a:effectLst/>
                <a:uLnTx/>
                <a:uFillTx/>
                <a:latin typeface="Calibri" pitchFamily="34" charset="0"/>
                <a:ea typeface="+mj-ea"/>
                <a:cs typeface="+mj-cs"/>
              </a:rPr>
              <a:t>Titelmasterformat durch Klicken bearbeiten</a:t>
            </a:r>
            <a:endParaRPr kumimoji="0" lang="en-US" sz="3000" b="0" i="0" u="none" strike="noStrike" kern="1200" cap="small" spc="0" normalizeH="0" baseline="0" noProof="0" dirty="0">
              <a:ln>
                <a:noFill/>
              </a:ln>
              <a:solidFill>
                <a:schemeClr val="tx2"/>
              </a:solidFill>
              <a:effectLst/>
              <a:uLnTx/>
              <a:uFillTx/>
              <a:latin typeface="Calibri" pitchFamily="34" charset="0"/>
              <a:ea typeface="+mj-ea"/>
              <a:cs typeface="+mj-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bg>
      <p:bgRef idx="1001">
        <a:schemeClr val="bg1"/>
      </p:bgRef>
    </p:bg>
    <p:spTree>
      <p:nvGrpSpPr>
        <p:cNvPr id="1" name=""/>
        <p:cNvGrpSpPr/>
        <p:nvPr/>
      </p:nvGrpSpPr>
      <p:grpSpPr>
        <a:xfrm>
          <a:off x="0" y="0"/>
          <a:ext cx="0" cy="0"/>
          <a:chOff x="0" y="0"/>
          <a:chExt cx="0" cy="0"/>
        </a:xfrm>
      </p:grpSpPr>
      <p:sp>
        <p:nvSpPr>
          <p:cNvPr id="10" name="Gerade Verbindung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el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8" name="Gerade Verbindung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erade Verbindung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Gerade Verbindung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hteck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Gerade Verbindung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nhaltsplatzhalter 17"/>
          <p:cNvSpPr>
            <a:spLocks noGrp="1"/>
          </p:cNvSpPr>
          <p:nvPr>
            <p:ph sz="quarter" idx="1"/>
          </p:nvPr>
        </p:nvSpPr>
        <p:spPr>
          <a:xfrm>
            <a:off x="304800" y="274320"/>
            <a:ext cx="5638800" cy="6327648"/>
          </a:xfrm>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1" name="Datumsplatzhalter 20"/>
          <p:cNvSpPr>
            <a:spLocks noGrp="1"/>
          </p:cNvSpPr>
          <p:nvPr>
            <p:ph type="dt" sz="half" idx="14"/>
          </p:nvPr>
        </p:nvSpPr>
        <p:spPr/>
        <p:txBody>
          <a:bodyPr rtlCol="0"/>
          <a:lstStyle/>
          <a:p>
            <a:endParaRPr lang="de-DE"/>
          </a:p>
        </p:txBody>
      </p:sp>
      <p:sp>
        <p:nvSpPr>
          <p:cNvPr id="22" name="Foliennummernplatzhalter 21"/>
          <p:cNvSpPr>
            <a:spLocks noGrp="1"/>
          </p:cNvSpPr>
          <p:nvPr>
            <p:ph type="sldNum" sz="quarter" idx="15"/>
          </p:nvPr>
        </p:nvSpPr>
        <p:spPr/>
        <p:txBody>
          <a:bodyPr rtlCol="0"/>
          <a:lstStyle/>
          <a:p>
            <a:fld id="{33548601-C4B6-4D19-A7D5-04150560F062}" type="slidenum">
              <a:rPr lang="de-DE" smtClean="0"/>
              <a:pPr/>
              <a:t>‹#›</a:t>
            </a:fld>
            <a:endParaRPr lang="de-DE"/>
          </a:p>
        </p:txBody>
      </p:sp>
      <p:sp>
        <p:nvSpPr>
          <p:cNvPr id="23" name="Fußzeilenplatzhalter 22"/>
          <p:cNvSpPr>
            <a:spLocks noGrp="1"/>
          </p:cNvSpPr>
          <p:nvPr>
            <p:ph type="ftr" sz="quarter" idx="16"/>
          </p:nvPr>
        </p:nvSpPr>
        <p:spPr/>
        <p:txBody>
          <a:bodyPr rtlCol="0"/>
          <a:lstStyle/>
          <a:p>
            <a:endParaRPr lang="de-D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9" name="Gerade Verbindung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el 1"/>
          <p:cNvSpPr>
            <a:spLocks noGrp="1"/>
          </p:cNvSpPr>
          <p:nvPr>
            <p:ph type="title"/>
          </p:nvPr>
        </p:nvSpPr>
        <p:spPr>
          <a:xfrm rot="5400000">
            <a:off x="3350133" y="3200400"/>
            <a:ext cx="6309360" cy="457200"/>
          </a:xfrm>
        </p:spPr>
        <p:txBody>
          <a:bodyPr anchor="b"/>
          <a:lstStyle>
            <a:lvl1pPr algn="l">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de-DE"/>
              <a:t>Bild durch Klicken auf Symbol hinzufügen</a:t>
            </a:r>
            <a:endParaRPr kumimoji="0" lang="en-US"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de-DE"/>
              <a:t>Textmasterformat bearbeiten</a:t>
            </a:r>
          </a:p>
        </p:txBody>
      </p:sp>
      <p:sp>
        <p:nvSpPr>
          <p:cNvPr id="10" name="Gerade Verbindung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hteck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Gerade Verbindung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Gerade Verbindung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Gerade Verbindung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umsplatzhalter 16"/>
          <p:cNvSpPr>
            <a:spLocks noGrp="1"/>
          </p:cNvSpPr>
          <p:nvPr>
            <p:ph type="dt" sz="half" idx="10"/>
          </p:nvPr>
        </p:nvSpPr>
        <p:spPr/>
        <p:txBody>
          <a:bodyPr rtlCol="0"/>
          <a:lstStyle/>
          <a:p>
            <a:endParaRPr lang="de-DE"/>
          </a:p>
        </p:txBody>
      </p:sp>
      <p:sp>
        <p:nvSpPr>
          <p:cNvPr id="18" name="Foliennummernplatzhalter 17"/>
          <p:cNvSpPr>
            <a:spLocks noGrp="1"/>
          </p:cNvSpPr>
          <p:nvPr>
            <p:ph type="sldNum" sz="quarter" idx="11"/>
          </p:nvPr>
        </p:nvSpPr>
        <p:spPr/>
        <p:txBody>
          <a:bodyPr rtlCol="0"/>
          <a:lstStyle/>
          <a:p>
            <a:fld id="{33548601-C4B6-4D19-A7D5-04150560F062}" type="slidenum">
              <a:rPr lang="de-DE" smtClean="0"/>
              <a:pPr/>
              <a:t>‹#›</a:t>
            </a:fld>
            <a:endParaRPr lang="de-DE"/>
          </a:p>
        </p:txBody>
      </p:sp>
      <p:sp>
        <p:nvSpPr>
          <p:cNvPr id="21" name="Fußzeilenplatzhalter 20"/>
          <p:cNvSpPr>
            <a:spLocks noGrp="1"/>
          </p:cNvSpPr>
          <p:nvPr>
            <p:ph type="ftr" sz="quarter" idx="12"/>
          </p:nvPr>
        </p:nvSpPr>
        <p:spPr/>
        <p:txBody>
          <a:bodyPr rtlCol="0"/>
          <a:lstStyle/>
          <a:p>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33548601-C4B6-4D19-A7D5-04150560F062}" type="slidenum">
              <a:rPr lang="de-DE" smtClean="0"/>
              <a:pPr/>
              <a:t>‹#›</a:t>
            </a:fld>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1" name="Gerade Verbindung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2" name="Gerade Verbindung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3" name="Gerade Verbindung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4" name="Gerade Verbindung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5" name="Gerade Verbindung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6" name="Rechteck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Ellipse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0" name="Ellipse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1" name="Ellipse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8" name="Titel 7"/>
          <p:cNvSpPr>
            <a:spLocks noGrp="1"/>
          </p:cNvSpPr>
          <p:nvPr>
            <p:ph type="ctrTitle"/>
          </p:nvPr>
        </p:nvSpPr>
        <p:spPr>
          <a:xfrm>
            <a:off x="2286000" y="3124200"/>
            <a:ext cx="6172200" cy="1894362"/>
          </a:xfrm>
        </p:spPr>
        <p:txBody>
          <a:bodyPr/>
          <a:lstStyle>
            <a:lvl1pPr>
              <a:defRPr b="1"/>
            </a:lvl1pPr>
          </a:lstStyle>
          <a:p>
            <a:r>
              <a:rPr lang="de-DE"/>
              <a:t>Titelmasterformat durch Klicken bearbeiten</a:t>
            </a:r>
            <a:endParaRPr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de-DE"/>
              <a:t>Formatvorlage des Untertitelmasters durch Klicken bearbeiten</a:t>
            </a:r>
            <a:endParaRPr lang="en-US"/>
          </a:p>
        </p:txBody>
      </p:sp>
      <p:sp>
        <p:nvSpPr>
          <p:cNvPr id="22" name="Foliennummernplatzhalter 28"/>
          <p:cNvSpPr>
            <a:spLocks noGrp="1"/>
          </p:cNvSpPr>
          <p:nvPr>
            <p:ph type="sldNum" sz="quarter" idx="10"/>
          </p:nvPr>
        </p:nvSpPr>
        <p:spPr bwMode="auto">
          <a:xfrm>
            <a:off x="1325563" y="4929188"/>
            <a:ext cx="609600" cy="517525"/>
          </a:xfrm>
        </p:spPr>
        <p:txBody>
          <a:bodyPr/>
          <a:lstStyle>
            <a:lvl1pPr>
              <a:defRPr/>
            </a:lvl1pPr>
          </a:lstStyle>
          <a:p>
            <a:pPr>
              <a:defRPr/>
            </a:pPr>
            <a:fld id="{3405188A-E5F9-4DDE-97AF-A8E018C865B2}" type="slidenum">
              <a:rPr lang="de-DE"/>
              <a:pPr>
                <a:defRPr/>
              </a:pPr>
              <a:t>‹#›</a:t>
            </a:fld>
            <a:endParaRPr lang="de-DE"/>
          </a:p>
        </p:txBody>
      </p:sp>
    </p:spTree>
    <p:extLst>
      <p:ext uri="{BB962C8B-B14F-4D97-AF65-F5344CB8AC3E}">
        <p14:creationId xmlns:p14="http://schemas.microsoft.com/office/powerpoint/2010/main" val="47438624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7188" y="6357938"/>
            <a:ext cx="12858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lang="de-DE"/>
              <a:t>Titelmasterformat durch Klicken bearbeiten</a:t>
            </a:r>
            <a:endParaRPr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a:p>
            <a:pPr lvl="3"/>
            <a:r>
              <a:rPr lang="de-DE"/>
              <a:t>Vierte Ebene</a:t>
            </a:r>
          </a:p>
        </p:txBody>
      </p:sp>
      <p:sp>
        <p:nvSpPr>
          <p:cNvPr id="5" name="Foliennummernplatzhalter 8"/>
          <p:cNvSpPr>
            <a:spLocks noGrp="1"/>
          </p:cNvSpPr>
          <p:nvPr>
            <p:ph type="sldNum" sz="quarter" idx="10"/>
          </p:nvPr>
        </p:nvSpPr>
        <p:spPr/>
        <p:txBody>
          <a:bodyPr rtlCol="0"/>
          <a:lstStyle>
            <a:lvl1pPr>
              <a:defRPr/>
            </a:lvl1pPr>
          </a:lstStyle>
          <a:p>
            <a:pPr>
              <a:defRPr/>
            </a:pPr>
            <a:fld id="{E1EAD199-F4D6-4932-A8DD-6DE4CF271C2F}" type="slidenum">
              <a:rPr lang="de-DE"/>
              <a:pPr>
                <a:defRPr/>
              </a:pPr>
              <a:t>‹#›</a:t>
            </a:fld>
            <a:endParaRPr lang="de-DE"/>
          </a:p>
        </p:txBody>
      </p:sp>
    </p:spTree>
    <p:extLst>
      <p:ext uri="{BB962C8B-B14F-4D97-AF65-F5344CB8AC3E}">
        <p14:creationId xmlns:p14="http://schemas.microsoft.com/office/powerpoint/2010/main" val="217865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8" name="Gerade Verbindung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9" name="Gerade Verbindung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0" name="Gerade Verbindung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1" name="Gerade Verbindung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2" name="Gerade Verbindung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3" name="Rechteck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4" name="Ellipse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5" name="Ellipse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6" name="Ellipse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Gerade Verbindung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lang="de-DE"/>
              <a:t>Titelmasterformat durch Klicken bearbeiten</a:t>
            </a:r>
            <a:endParaRPr lang="en-US"/>
          </a:p>
        </p:txBody>
      </p:sp>
      <p:sp>
        <p:nvSpPr>
          <p:cNvPr id="3" name="Textplatzhalt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de-DE"/>
              <a:t>Textmasterformat bearbeiten</a:t>
            </a:r>
          </a:p>
        </p:txBody>
      </p:sp>
      <p:sp>
        <p:nvSpPr>
          <p:cNvPr id="20" name="Foliennummernplatzhalter 5"/>
          <p:cNvSpPr>
            <a:spLocks noGrp="1"/>
          </p:cNvSpPr>
          <p:nvPr>
            <p:ph type="sldNum" sz="quarter" idx="10"/>
          </p:nvPr>
        </p:nvSpPr>
        <p:spPr bwMode="auto">
          <a:xfrm>
            <a:off x="1339850" y="4929188"/>
            <a:ext cx="609600" cy="517525"/>
          </a:xfrm>
        </p:spPr>
        <p:txBody>
          <a:bodyPr/>
          <a:lstStyle>
            <a:lvl1pPr>
              <a:defRPr/>
            </a:lvl1pPr>
          </a:lstStyle>
          <a:p>
            <a:pPr>
              <a:defRPr/>
            </a:pPr>
            <a:fld id="{7DD58880-2E45-41BD-BF49-423CAB338498}" type="slidenum">
              <a:rPr lang="de-DE"/>
              <a:pPr>
                <a:defRPr/>
              </a:pPr>
              <a:t>‹#›</a:t>
            </a:fld>
            <a:endParaRPr lang="de-DE"/>
          </a:p>
        </p:txBody>
      </p:sp>
    </p:spTree>
    <p:extLst>
      <p:ext uri="{BB962C8B-B14F-4D97-AF65-F5344CB8AC3E}">
        <p14:creationId xmlns:p14="http://schemas.microsoft.com/office/powerpoint/2010/main" val="58935702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5" name="Foliennummernplatzhalter 6"/>
          <p:cNvSpPr>
            <a:spLocks noGrp="1"/>
          </p:cNvSpPr>
          <p:nvPr>
            <p:ph type="sldNum" sz="quarter" idx="10"/>
          </p:nvPr>
        </p:nvSpPr>
        <p:spPr/>
        <p:txBody>
          <a:bodyPr/>
          <a:lstStyle>
            <a:lvl1pPr>
              <a:defRPr/>
            </a:lvl1pPr>
          </a:lstStyle>
          <a:p>
            <a:pPr>
              <a:defRPr/>
            </a:pPr>
            <a:fld id="{12E88B20-3529-4E09-9D3C-82DF28CF38A6}" type="slidenum">
              <a:rPr lang="de-DE"/>
              <a:pPr>
                <a:defRPr/>
              </a:pPr>
              <a:t>‹#›</a:t>
            </a:fld>
            <a:endParaRPr lang="de-DE"/>
          </a:p>
        </p:txBody>
      </p:sp>
    </p:spTree>
    <p:extLst>
      <p:ext uri="{BB962C8B-B14F-4D97-AF65-F5344CB8AC3E}">
        <p14:creationId xmlns:p14="http://schemas.microsoft.com/office/powerpoint/2010/main" val="35958530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6"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7" name="Foliennummernplatzhalter 8"/>
          <p:cNvSpPr>
            <a:spLocks noGrp="1"/>
          </p:cNvSpPr>
          <p:nvPr>
            <p:ph type="sldNum" sz="quarter" idx="10"/>
          </p:nvPr>
        </p:nvSpPr>
        <p:spPr/>
        <p:txBody>
          <a:bodyPr/>
          <a:lstStyle>
            <a:lvl1pPr>
              <a:defRPr/>
            </a:lvl1pPr>
          </a:lstStyle>
          <a:p>
            <a:pPr>
              <a:defRPr/>
            </a:pPr>
            <a:fld id="{7D70C7BB-B7CE-42A6-B7A0-A8D35543B10C}" type="slidenum">
              <a:rPr lang="de-DE"/>
              <a:pPr>
                <a:defRPr/>
              </a:pPr>
              <a:t>‹#›</a:t>
            </a:fld>
            <a:endParaRPr lang="de-DE"/>
          </a:p>
        </p:txBody>
      </p:sp>
    </p:spTree>
    <p:extLst>
      <p:ext uri="{BB962C8B-B14F-4D97-AF65-F5344CB8AC3E}">
        <p14:creationId xmlns:p14="http://schemas.microsoft.com/office/powerpoint/2010/main" val="124468704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3" name="Foliennummernplatzhalter 6"/>
          <p:cNvSpPr>
            <a:spLocks noGrp="1"/>
          </p:cNvSpPr>
          <p:nvPr>
            <p:ph type="sldNum" sz="quarter" idx="10"/>
          </p:nvPr>
        </p:nvSpPr>
        <p:spPr/>
        <p:txBody>
          <a:bodyPr rtlCol="0"/>
          <a:lstStyle>
            <a:lvl1pPr>
              <a:defRPr/>
            </a:lvl1pPr>
          </a:lstStyle>
          <a:p>
            <a:pPr>
              <a:defRPr/>
            </a:pPr>
            <a:fld id="{DFF4C0D2-F585-4BDA-BCF6-7CFA29A26E52}" type="slidenum">
              <a:rPr lang="de-DE"/>
              <a:pPr>
                <a:defRPr/>
              </a:pPr>
              <a:t>‹#›</a:t>
            </a:fld>
            <a:endParaRPr lang="de-DE"/>
          </a:p>
        </p:txBody>
      </p:sp>
    </p:spTree>
    <p:extLst>
      <p:ext uri="{BB962C8B-B14F-4D97-AF65-F5344CB8AC3E}">
        <p14:creationId xmlns:p14="http://schemas.microsoft.com/office/powerpoint/2010/main" val="164122118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3"/>
          <p:cNvSpPr>
            <a:spLocks noGrp="1"/>
          </p:cNvSpPr>
          <p:nvPr>
            <p:ph type="dt" sz="half" idx="10"/>
          </p:nvPr>
        </p:nvSpPr>
        <p:spPr/>
        <p:txBody>
          <a:bodyPr/>
          <a:lstStyle>
            <a:lvl1pPr>
              <a:defRPr/>
            </a:lvl1pPr>
          </a:lstStyle>
          <a:p>
            <a:pPr>
              <a:defRPr/>
            </a:pPr>
            <a:fld id="{AD7994A4-3EA6-416D-B5B8-AF58ACC8DB5A}" type="datetimeFigureOut">
              <a:rPr lang="en-US">
                <a:solidFill>
                  <a:srgbClr val="464653"/>
                </a:solidFill>
              </a:rPr>
              <a:pPr>
                <a:defRPr/>
              </a:pPr>
              <a:t>9/22/26</a:t>
            </a:fld>
            <a:endParaRPr lang="en-US" dirty="0">
              <a:solidFill>
                <a:srgbClr val="464653"/>
              </a:solidFill>
            </a:endParaRPr>
          </a:p>
        </p:txBody>
      </p:sp>
      <p:sp>
        <p:nvSpPr>
          <p:cNvPr id="3"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4" name="Foliennummernplatzhalter 22"/>
          <p:cNvSpPr>
            <a:spLocks noGrp="1"/>
          </p:cNvSpPr>
          <p:nvPr>
            <p:ph type="sldNum" sz="quarter" idx="12"/>
          </p:nvPr>
        </p:nvSpPr>
        <p:spPr/>
        <p:txBody>
          <a:bodyPr/>
          <a:lstStyle>
            <a:lvl1pPr>
              <a:defRPr/>
            </a:lvl1pPr>
          </a:lstStyle>
          <a:p>
            <a:pPr>
              <a:defRPr/>
            </a:pPr>
            <a:fld id="{D1D48CC8-DC1B-4C80-A29C-E62550CAAEF4}" type="slidenum">
              <a:rPr lang="de-DE"/>
              <a:pPr>
                <a:defRPr/>
              </a:pPr>
              <a:t>‹#›</a:t>
            </a:fld>
            <a:endParaRPr lang="de-DE"/>
          </a:p>
        </p:txBody>
      </p:sp>
    </p:spTree>
    <p:extLst>
      <p:ext uri="{BB962C8B-B14F-4D97-AF65-F5344CB8AC3E}">
        <p14:creationId xmlns:p14="http://schemas.microsoft.com/office/powerpoint/2010/main" val="34595231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6" name="Gerade Verbindung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7" name="Gerade Verbindung 17"/>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Gerade Verbindung 1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9" name="Rechteck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2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1" name="Ellipse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 name="Titel 1"/>
          <p:cNvSpPr>
            <a:spLocks noGrp="1"/>
          </p:cNvSpPr>
          <p:nvPr>
            <p:ph type="title"/>
          </p:nvPr>
        </p:nvSpPr>
        <p:spPr>
          <a:xfrm rot="5400000">
            <a:off x="3371850" y="3200400"/>
            <a:ext cx="6309360" cy="457200"/>
          </a:xfrm>
        </p:spPr>
        <p:txBody>
          <a:bodyPr/>
          <a:lstStyle>
            <a:lvl1pPr algn="l">
              <a:buNone/>
              <a:defRPr sz="2000" b="1" cap="small" baseline="0"/>
            </a:lvl1pPr>
          </a:lstStyle>
          <a:p>
            <a:r>
              <a:rPr lang="de-DE"/>
              <a:t>Titelmasterformat durch Klicken bearbeiten</a:t>
            </a:r>
            <a:endParaRPr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de-DE"/>
              <a:t>Textmasterformat bearbeiten</a:t>
            </a:r>
          </a:p>
        </p:txBody>
      </p:sp>
      <p:sp>
        <p:nvSpPr>
          <p:cNvPr id="18" name="Inhaltsplatzhalter 17"/>
          <p:cNvSpPr>
            <a:spLocks noGrp="1"/>
          </p:cNvSpPr>
          <p:nvPr>
            <p:ph sz="quarter" idx="1"/>
          </p:nvPr>
        </p:nvSpPr>
        <p:spPr>
          <a:xfrm>
            <a:off x="304800" y="274320"/>
            <a:ext cx="5638800" cy="632764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Datumsplatzhalter 20"/>
          <p:cNvSpPr>
            <a:spLocks noGrp="1"/>
          </p:cNvSpPr>
          <p:nvPr>
            <p:ph type="dt" sz="half" idx="10"/>
          </p:nvPr>
        </p:nvSpPr>
        <p:spPr/>
        <p:txBody>
          <a:bodyPr rtlCol="0"/>
          <a:lstStyle>
            <a:lvl1pPr>
              <a:defRPr/>
            </a:lvl1pPr>
          </a:lstStyle>
          <a:p>
            <a:pPr>
              <a:defRPr/>
            </a:pPr>
            <a:fld id="{E5EA74D1-F734-4E0A-8BBE-2788A29B17AE}" type="datetimeFigureOut">
              <a:rPr lang="en-US">
                <a:solidFill>
                  <a:srgbClr val="464653"/>
                </a:solidFill>
              </a:rPr>
              <a:pPr>
                <a:defRPr/>
              </a:pPr>
              <a:t>9/22/26</a:t>
            </a:fld>
            <a:endParaRPr lang="en-US">
              <a:solidFill>
                <a:srgbClr val="464653"/>
              </a:solidFill>
            </a:endParaRPr>
          </a:p>
        </p:txBody>
      </p:sp>
      <p:sp>
        <p:nvSpPr>
          <p:cNvPr id="13" name="Foliennummernplatzhalter 21"/>
          <p:cNvSpPr>
            <a:spLocks noGrp="1"/>
          </p:cNvSpPr>
          <p:nvPr>
            <p:ph type="sldNum" sz="quarter" idx="11"/>
          </p:nvPr>
        </p:nvSpPr>
        <p:spPr/>
        <p:txBody>
          <a:bodyPr rtlCol="0"/>
          <a:lstStyle>
            <a:lvl1pPr>
              <a:defRPr/>
            </a:lvl1pPr>
          </a:lstStyle>
          <a:p>
            <a:pPr>
              <a:defRPr/>
            </a:pPr>
            <a:fld id="{4F929730-C6EE-4C27-B33F-F8E5500E7589}" type="slidenum">
              <a:rPr lang="de-DE"/>
              <a:pPr>
                <a:defRPr/>
              </a:pPr>
              <a:t>‹#›</a:t>
            </a:fld>
            <a:endParaRPr lang="de-DE"/>
          </a:p>
        </p:txBody>
      </p:sp>
      <p:sp>
        <p:nvSpPr>
          <p:cNvPr id="14" name="Fußzeilenplatzhalter 22"/>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32756507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6" name="Ellipse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7" name="Gerade Verbindung 17"/>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Rechteck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9" name="Gerade Verbindung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Gerade Verbindung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11" name="Gerade Verbindung 23"/>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2" name="Titel 1"/>
          <p:cNvSpPr>
            <a:spLocks noGrp="1"/>
          </p:cNvSpPr>
          <p:nvPr>
            <p:ph type="title"/>
          </p:nvPr>
        </p:nvSpPr>
        <p:spPr>
          <a:xfrm rot="5400000">
            <a:off x="3350133" y="3200400"/>
            <a:ext cx="6309360" cy="457200"/>
          </a:xfrm>
        </p:spPr>
        <p:txBody>
          <a:bodyPr/>
          <a:lstStyle>
            <a:lvl1pPr algn="l">
              <a:buNone/>
              <a:defRPr sz="2000" b="1"/>
            </a:lvl1pPr>
          </a:lstStyle>
          <a:p>
            <a:r>
              <a:rPr lang="de-DE"/>
              <a:t>Titelmasterformat durch Klicken bearbeiten</a:t>
            </a:r>
            <a:endParaRPr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de-DE" noProof="0"/>
              <a:t>Bild durch Klicken auf Symbol hinzufügen</a:t>
            </a:r>
            <a:endParaRPr lang="en-US" noProof="0"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de-DE"/>
              <a:t>Textmasterformat bearbeiten</a:t>
            </a:r>
          </a:p>
        </p:txBody>
      </p:sp>
      <p:sp>
        <p:nvSpPr>
          <p:cNvPr id="12" name="Datumsplatzhalter 16"/>
          <p:cNvSpPr>
            <a:spLocks noGrp="1"/>
          </p:cNvSpPr>
          <p:nvPr>
            <p:ph type="dt" sz="half" idx="10"/>
          </p:nvPr>
        </p:nvSpPr>
        <p:spPr/>
        <p:txBody>
          <a:bodyPr rtlCol="0"/>
          <a:lstStyle>
            <a:lvl1pPr>
              <a:defRPr/>
            </a:lvl1pPr>
          </a:lstStyle>
          <a:p>
            <a:pPr>
              <a:defRPr/>
            </a:pPr>
            <a:fld id="{24C394BD-AA8D-45B7-AB86-B8526A170CAC}" type="datetimeFigureOut">
              <a:rPr lang="en-US">
                <a:solidFill>
                  <a:srgbClr val="464653"/>
                </a:solidFill>
              </a:rPr>
              <a:pPr>
                <a:defRPr/>
              </a:pPr>
              <a:t>9/22/26</a:t>
            </a:fld>
            <a:endParaRPr lang="en-US" dirty="0">
              <a:solidFill>
                <a:srgbClr val="464653"/>
              </a:solidFill>
            </a:endParaRPr>
          </a:p>
        </p:txBody>
      </p:sp>
      <p:sp>
        <p:nvSpPr>
          <p:cNvPr id="13" name="Foliennummernplatzhalter 17"/>
          <p:cNvSpPr>
            <a:spLocks noGrp="1"/>
          </p:cNvSpPr>
          <p:nvPr>
            <p:ph type="sldNum" sz="quarter" idx="11"/>
          </p:nvPr>
        </p:nvSpPr>
        <p:spPr/>
        <p:txBody>
          <a:bodyPr rtlCol="0"/>
          <a:lstStyle>
            <a:lvl1pPr>
              <a:defRPr/>
            </a:lvl1pPr>
          </a:lstStyle>
          <a:p>
            <a:pPr>
              <a:defRPr/>
            </a:pPr>
            <a:fld id="{DDCEF3E8-631B-4F9C-88CD-8913E55F5CA1}" type="slidenum">
              <a:rPr lang="de-DE"/>
              <a:pPr>
                <a:defRPr/>
              </a:pPr>
              <a:t>‹#›</a:t>
            </a:fld>
            <a:endParaRPr lang="de-DE"/>
          </a:p>
        </p:txBody>
      </p:sp>
      <p:sp>
        <p:nvSpPr>
          <p:cNvPr id="14" name="Fußzeilenplatzhalter 20"/>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516128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E2C5196A-941C-4F4D-A55B-4D4E367443C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A41119E4-F49F-44AE-A94F-4121505D914E}" type="slidenum">
              <a:rPr lang="de-DE"/>
              <a:pPr>
                <a:defRPr/>
              </a:pPr>
              <a:t>‹#›</a:t>
            </a:fld>
            <a:endParaRPr lang="de-DE"/>
          </a:p>
        </p:txBody>
      </p:sp>
    </p:spTree>
    <p:extLst>
      <p:ext uri="{BB962C8B-B14F-4D97-AF65-F5344CB8AC3E}">
        <p14:creationId xmlns:p14="http://schemas.microsoft.com/office/powerpoint/2010/main" val="89823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63D5E341-8269-4939-972C-AD0B4D5A288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C3662087-E383-4CE7-86C5-E5AA1DD8434C}" type="slidenum">
              <a:rPr lang="de-DE"/>
              <a:pPr>
                <a:defRPr/>
              </a:pPr>
              <a:t>‹#›</a:t>
            </a:fld>
            <a:endParaRPr lang="de-DE"/>
          </a:p>
        </p:txBody>
      </p:sp>
    </p:spTree>
    <p:extLst>
      <p:ext uri="{BB962C8B-B14F-4D97-AF65-F5344CB8AC3E}">
        <p14:creationId xmlns:p14="http://schemas.microsoft.com/office/powerpoint/2010/main" val="37285400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250825" y="214313"/>
            <a:ext cx="8704263" cy="5918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4" name="Foliennummernplatzhalter 3"/>
          <p:cNvSpPr>
            <a:spLocks noGrp="1"/>
          </p:cNvSpPr>
          <p:nvPr>
            <p:ph type="sldNum" sz="quarter" idx="11"/>
          </p:nvPr>
        </p:nvSpPr>
        <p:spPr>
          <a:xfrm>
            <a:off x="7042150" y="6243638"/>
            <a:ext cx="1905000" cy="457200"/>
          </a:xfrm>
        </p:spPr>
        <p:txBody>
          <a:bodyPr/>
          <a:lstStyle>
            <a:lvl1pPr>
              <a:defRPr/>
            </a:lvl1pPr>
          </a:lstStyle>
          <a:p>
            <a:pPr>
              <a:defRPr/>
            </a:pPr>
            <a:fld id="{98453007-BE9A-4008-B474-0CCEDEE2D831}" type="slidenum">
              <a:rPr lang="de-DE"/>
              <a:pPr>
                <a:defRPr/>
              </a:pPr>
              <a:t>‹#›</a:t>
            </a:fld>
            <a:endParaRPr lang="de-DE"/>
          </a:p>
        </p:txBody>
      </p:sp>
    </p:spTree>
    <p:extLst>
      <p:ext uri="{BB962C8B-B14F-4D97-AF65-F5344CB8AC3E}">
        <p14:creationId xmlns:p14="http://schemas.microsoft.com/office/powerpoint/2010/main" val="896194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abellenplatzhalter 2"/>
          <p:cNvSpPr>
            <a:spLocks noGrp="1"/>
          </p:cNvSpPr>
          <p:nvPr>
            <p:ph type="tbl" idx="1"/>
          </p:nvPr>
        </p:nvSpPr>
        <p:spPr>
          <a:xfrm>
            <a:off x="250825" y="2017713"/>
            <a:ext cx="8704263" cy="4114800"/>
          </a:xfrm>
        </p:spPr>
        <p:txBody>
          <a:bodyPr>
            <a:normAutofit/>
          </a:bodyPr>
          <a:lstStyle/>
          <a:p>
            <a:pPr lvl="0"/>
            <a:endParaRPr lang="de-DE" noProof="0"/>
          </a:p>
        </p:txBody>
      </p:sp>
      <p:sp>
        <p:nvSpPr>
          <p:cNvPr id="4" name="Fußzeilenplatzhalter 3"/>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5" name="Foliennummernplatzhalter 4"/>
          <p:cNvSpPr>
            <a:spLocks noGrp="1"/>
          </p:cNvSpPr>
          <p:nvPr>
            <p:ph type="sldNum" sz="quarter" idx="11"/>
          </p:nvPr>
        </p:nvSpPr>
        <p:spPr>
          <a:xfrm>
            <a:off x="7042150" y="6243638"/>
            <a:ext cx="1905000" cy="457200"/>
          </a:xfrm>
        </p:spPr>
        <p:txBody>
          <a:bodyPr/>
          <a:lstStyle>
            <a:lvl1pPr>
              <a:defRPr/>
            </a:lvl1pPr>
          </a:lstStyle>
          <a:p>
            <a:pPr>
              <a:defRPr/>
            </a:pPr>
            <a:fld id="{98B8E929-94FB-45CD-9D45-4984F34B9E01}" type="slidenum">
              <a:rPr lang="de-DE"/>
              <a:pPr>
                <a:defRPr/>
              </a:pPr>
              <a:t>‹#›</a:t>
            </a:fld>
            <a:endParaRPr lang="de-DE"/>
          </a:p>
        </p:txBody>
      </p:sp>
    </p:spTree>
    <p:extLst>
      <p:ext uri="{BB962C8B-B14F-4D97-AF65-F5344CB8AC3E}">
        <p14:creationId xmlns:p14="http://schemas.microsoft.com/office/powerpoint/2010/main" val="2933341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cSld name="Titel und Inhalt über Tex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Inhaltsplatzhalter 2"/>
          <p:cNvSpPr>
            <a:spLocks noGrp="1"/>
          </p:cNvSpPr>
          <p:nvPr>
            <p:ph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143C6CFB-1D54-4A46-9DAB-95E7EEAEB634}" type="slidenum">
              <a:rPr lang="de-DE"/>
              <a:pPr>
                <a:defRPr/>
              </a:pPr>
              <a:t>‹#›</a:t>
            </a:fld>
            <a:endParaRPr lang="de-DE"/>
          </a:p>
        </p:txBody>
      </p:sp>
    </p:spTree>
    <p:extLst>
      <p:ext uri="{BB962C8B-B14F-4D97-AF65-F5344CB8AC3E}">
        <p14:creationId xmlns:p14="http://schemas.microsoft.com/office/powerpoint/2010/main" val="34549457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OverObj">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A4203A62-1233-4A4C-955D-FABE4F9B2291}" type="slidenum">
              <a:rPr lang="de-DE"/>
              <a:pPr>
                <a:defRPr/>
              </a:pPr>
              <a:t>‹#›</a:t>
            </a:fld>
            <a:endParaRPr lang="de-DE"/>
          </a:p>
        </p:txBody>
      </p:sp>
    </p:spTree>
    <p:extLst>
      <p:ext uri="{BB962C8B-B14F-4D97-AF65-F5344CB8AC3E}">
        <p14:creationId xmlns:p14="http://schemas.microsoft.com/office/powerpoint/2010/main" val="31073435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ClipArt">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4275138" cy="4114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ClipArt-Platzhalter 3"/>
          <p:cNvSpPr>
            <a:spLocks noGrp="1"/>
          </p:cNvSpPr>
          <p:nvPr>
            <p:ph type="clipArt" sz="half" idx="2"/>
          </p:nvPr>
        </p:nvSpPr>
        <p:spPr>
          <a:xfrm>
            <a:off x="4678363" y="2017713"/>
            <a:ext cx="4276725" cy="4114800"/>
          </a:xfrm>
        </p:spPr>
        <p:txBody>
          <a:bodyPr>
            <a:normAutofit/>
          </a:bodyPr>
          <a:lstStyle/>
          <a:p>
            <a:pPr lvl="0"/>
            <a:endParaRPr lang="de-DE" noProof="0"/>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9A05D395-2999-46F7-93A2-67091598DEB8}" type="slidenum">
              <a:rPr lang="de-DE"/>
              <a:pPr>
                <a:defRPr/>
              </a:pPr>
              <a:t>‹#›</a:t>
            </a:fld>
            <a:endParaRPr lang="de-DE"/>
          </a:p>
        </p:txBody>
      </p:sp>
    </p:spTree>
    <p:extLst>
      <p:ext uri="{BB962C8B-B14F-4D97-AF65-F5344CB8AC3E}">
        <p14:creationId xmlns:p14="http://schemas.microsoft.com/office/powerpoint/2010/main" val="1070793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kumimoji="0" lang="de-DE" dirty="0"/>
              <a:t>Titelmasterformat durch Klicken bearbeiten</a:t>
            </a:r>
            <a:endParaRPr kumimoji="0" lang="en-US" dirty="0"/>
          </a:p>
        </p:txBody>
      </p:sp>
      <p:sp>
        <p:nvSpPr>
          <p:cNvPr id="13" name="Textplatzhalt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de-DE"/>
              <a:t>Textmasterformate durch Klicken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lgn="r" eaLnBrk="1" latinLnBrk="0" hangingPunct="1"/>
            <a:endParaRPr lang="en-US" sz="1200">
              <a:solidFill>
                <a:schemeClr val="bg2">
                  <a:shade val="50000"/>
                </a:schemeClr>
              </a:solidFill>
            </a:endParaRPr>
          </a:p>
        </p:txBody>
      </p:sp>
      <p:sp>
        <p:nvSpPr>
          <p:cNvPr id="3" name="Fußzeilenplatzhalt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kumimoji="0" lang="en-US" sz="1200">
              <a:solidFill>
                <a:schemeClr val="bg2">
                  <a:shade val="50000"/>
                </a:schemeClr>
              </a:solidFill>
              <a:effectLst/>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Gerade Verbindung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Gerade Verbindung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Foliennummernplatzhalt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3548601-C4B6-4D19-A7D5-04150560F062}" type="slidenum">
              <a:rPr lang="de-DE" smtClean="0"/>
              <a:pPr/>
              <a:t>‹#›</a:t>
            </a:fld>
            <a:endParaRPr lang="de-DE"/>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lang="de-DE" dirty="0"/>
              <a:t>Titelmasterformat durch Klicken bearbeiten</a:t>
            </a:r>
            <a:endParaRPr lang="en-US" dirty="0"/>
          </a:p>
        </p:txBody>
      </p:sp>
      <p:sp>
        <p:nvSpPr>
          <p:cNvPr id="1028" name="Textplatzhalt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4" name="Datumsplatzhalt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pPr>
              <a:defRPr/>
            </a:pPr>
            <a:fld id="{D4186DAE-0811-49CA-B507-F48A2B2A4134}" type="datetimeFigureOut">
              <a:rPr lang="en-US" b="0">
                <a:solidFill>
                  <a:srgbClr val="464653"/>
                </a:solidFill>
              </a:rPr>
              <a:pPr>
                <a:defRPr/>
              </a:pPr>
              <a:t>9/22/26</a:t>
            </a:fld>
            <a:endParaRPr lang="en-US" b="0" dirty="0">
              <a:solidFill>
                <a:srgbClr val="464653"/>
              </a:solidFill>
            </a:endParaRPr>
          </a:p>
        </p:txBody>
      </p:sp>
      <p:sp>
        <p:nvSpPr>
          <p:cNvPr id="3" name="Fußzeilenplatzhalt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de-DE" b="0">
              <a:solidFill>
                <a:srgbClr val="464653"/>
              </a:solidFill>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032" name="Gerade Verbindung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34" name="Gerade Verbindung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2" name="Ellipse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3" name="Foliennummernplatzhalt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defRPr>
            </a:lvl1pPr>
          </a:lstStyle>
          <a:p>
            <a:pPr>
              <a:defRPr/>
            </a:pPr>
            <a:fld id="{2C1B35C4-6AEB-490B-B369-3E9B8FA4D091}" type="slidenum">
              <a:rPr lang="de-DE"/>
              <a:pPr>
                <a:defRPr/>
              </a:pPr>
              <a:t>‹#›</a:t>
            </a:fld>
            <a:endParaRPr lang="de-DE"/>
          </a:p>
        </p:txBody>
      </p:sp>
    </p:spTree>
    <p:extLst>
      <p:ext uri="{BB962C8B-B14F-4D97-AF65-F5344CB8AC3E}">
        <p14:creationId xmlns:p14="http://schemas.microsoft.com/office/powerpoint/2010/main" val="2107695482"/>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a:defRPr>
      </a:lvl2pPr>
      <a:lvl3pPr algn="l" rtl="0" eaLnBrk="0" fontAlgn="base" hangingPunct="0">
        <a:spcBef>
          <a:spcPct val="0"/>
        </a:spcBef>
        <a:spcAft>
          <a:spcPct val="0"/>
        </a:spcAft>
        <a:defRPr sz="3000">
          <a:solidFill>
            <a:schemeClr val="tx2"/>
          </a:solidFill>
          <a:latin typeface="Century Schoolbook"/>
        </a:defRPr>
      </a:lvl3pPr>
      <a:lvl4pPr algn="l" rtl="0" eaLnBrk="0" fontAlgn="base" hangingPunct="0">
        <a:spcBef>
          <a:spcPct val="0"/>
        </a:spcBef>
        <a:spcAft>
          <a:spcPct val="0"/>
        </a:spcAft>
        <a:defRPr sz="3000">
          <a:solidFill>
            <a:schemeClr val="tx2"/>
          </a:solidFill>
          <a:latin typeface="Century Schoolbook"/>
        </a:defRPr>
      </a:lvl4pPr>
      <a:lvl5pPr algn="l" rtl="0" eaLnBrk="0" fontAlgn="base" hangingPunct="0">
        <a:spcBef>
          <a:spcPct val="0"/>
        </a:spcBef>
        <a:spcAft>
          <a:spcPct val="0"/>
        </a:spcAft>
        <a:defRPr sz="3000">
          <a:solidFill>
            <a:schemeClr val="tx2"/>
          </a:solidFill>
          <a:latin typeface="Century Schoolbook"/>
        </a:defRPr>
      </a:lvl5pPr>
      <a:lvl6pPr marL="457200" algn="l" rtl="0" fontAlgn="base">
        <a:spcBef>
          <a:spcPct val="0"/>
        </a:spcBef>
        <a:spcAft>
          <a:spcPct val="0"/>
        </a:spcAft>
        <a:defRPr sz="3000">
          <a:solidFill>
            <a:schemeClr val="tx2"/>
          </a:solidFill>
          <a:latin typeface="Century Schoolbook"/>
        </a:defRPr>
      </a:lvl6pPr>
      <a:lvl7pPr marL="914400" algn="l" rtl="0" fontAlgn="base">
        <a:spcBef>
          <a:spcPct val="0"/>
        </a:spcBef>
        <a:spcAft>
          <a:spcPct val="0"/>
        </a:spcAft>
        <a:defRPr sz="3000">
          <a:solidFill>
            <a:schemeClr val="tx2"/>
          </a:solidFill>
          <a:latin typeface="Century Schoolbook"/>
        </a:defRPr>
      </a:lvl7pPr>
      <a:lvl8pPr marL="1371600" algn="l" rtl="0" fontAlgn="base">
        <a:spcBef>
          <a:spcPct val="0"/>
        </a:spcBef>
        <a:spcAft>
          <a:spcPct val="0"/>
        </a:spcAft>
        <a:defRPr sz="3000">
          <a:solidFill>
            <a:schemeClr val="tx2"/>
          </a:solidFill>
          <a:latin typeface="Century Schoolbook"/>
        </a:defRPr>
      </a:lvl8pPr>
      <a:lvl9pPr marL="1828800" algn="l" rtl="0" fontAlgn="base">
        <a:spcBef>
          <a:spcPct val="0"/>
        </a:spcBef>
        <a:spcAft>
          <a:spcPct val="0"/>
        </a:spcAft>
        <a:defRPr sz="3000">
          <a:solidFill>
            <a:schemeClr val="tx2"/>
          </a:solidFill>
          <a:latin typeface="Century Schoolbook"/>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646C8F"/>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BCBFCE"/>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CDD8E3"/>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10.png"/><Relationship Id="rId5" Type="http://schemas.openxmlformats.org/officeDocument/2006/relationships/image" Target="../media/image28.png"/><Relationship Id="rId10" Type="http://schemas.openxmlformats.org/officeDocument/2006/relationships/image" Target="../media/image9.png"/><Relationship Id="rId4" Type="http://schemas.openxmlformats.org/officeDocument/2006/relationships/image" Target="../media/image27.png"/><Relationship Id="rId9"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1</a:t>
            </a:fld>
            <a:endParaRPr lang="de-DE">
              <a:solidFill>
                <a:srgbClr val="FFFFFF"/>
              </a:solidFill>
            </a:endParaRPr>
          </a:p>
        </p:txBody>
      </p:sp>
      <p:sp>
        <p:nvSpPr>
          <p:cNvPr id="16387" name="Textfeld 2"/>
          <p:cNvSpPr txBox="1">
            <a:spLocks noChangeArrowheads="1"/>
          </p:cNvSpPr>
          <p:nvPr/>
        </p:nvSpPr>
        <p:spPr bwMode="auto">
          <a:xfrm>
            <a:off x="755650" y="2852738"/>
            <a:ext cx="7488238"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Methodische Großform</a:t>
            </a:r>
            <a:endParaRPr lang="de-DE" sz="1100" b="0" dirty="0">
              <a:solidFill>
                <a:prstClr val="black"/>
              </a:solidFill>
            </a:endParaRPr>
          </a:p>
          <a:p>
            <a:pPr algn="ctr" eaLnBrk="1" hangingPunct="1"/>
            <a:endParaRPr lang="de-DE" sz="1050" b="0" dirty="0">
              <a:solidFill>
                <a:prstClr val="black"/>
              </a:solidFill>
            </a:endParaRPr>
          </a:p>
          <a:p>
            <a:pPr marL="342900" indent="-342900" eaLnBrk="1" hangingPunct="1">
              <a:buFont typeface="Wingdings" pitchFamily="2" charset="2"/>
              <a:buChar char="Ø"/>
            </a:pPr>
            <a:r>
              <a:rPr lang="de-DE" sz="2200" b="0" dirty="0">
                <a:solidFill>
                  <a:prstClr val="black"/>
                </a:solidFill>
              </a:rPr>
              <a:t>Vorrangig unter dem Aspekt der analytischen und synthetischen Akzentuierung betrachtet</a:t>
            </a:r>
          </a:p>
          <a:p>
            <a:pPr marL="342900" indent="-342900" eaLnBrk="1" hangingPunct="1">
              <a:buFont typeface="Wingdings" pitchFamily="2" charset="2"/>
              <a:buChar char="Ø"/>
            </a:pPr>
            <a:r>
              <a:rPr lang="de-DE" sz="2200" b="0" dirty="0">
                <a:solidFill>
                  <a:prstClr val="black"/>
                </a:solidFill>
              </a:rPr>
              <a:t>Hinweis:</a:t>
            </a:r>
          </a:p>
          <a:p>
            <a:pPr marL="1085850" lvl="1" indent="-342900" eaLnBrk="1" hangingPunct="1">
              <a:buFont typeface="Symbol" pitchFamily="18" charset="2"/>
              <a:buChar char="-"/>
            </a:pPr>
            <a:r>
              <a:rPr lang="de-DE" sz="2200" b="0" dirty="0">
                <a:solidFill>
                  <a:prstClr val="black"/>
                </a:solidFill>
              </a:rPr>
              <a:t>Zuordnung einer Methode im </a:t>
            </a:r>
            <a:r>
              <a:rPr lang="de-DE" sz="2200" b="0">
                <a:solidFill>
                  <a:prstClr val="black"/>
                </a:solidFill>
              </a:rPr>
              <a:t>engeren Sinne </a:t>
            </a:r>
            <a:r>
              <a:rPr lang="de-DE" sz="2200" b="0" dirty="0">
                <a:solidFill>
                  <a:prstClr val="black"/>
                </a:solidFill>
              </a:rPr>
              <a:t>nur zu einer methodischen Großform „mit Vorsicht zu genießen“</a:t>
            </a:r>
          </a:p>
        </p:txBody>
      </p:sp>
    </p:spTree>
    <p:extLst>
      <p:ext uri="{BB962C8B-B14F-4D97-AF65-F5344CB8AC3E}">
        <p14:creationId xmlns:p14="http://schemas.microsoft.com/office/powerpoint/2010/main" val="3662093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33548601-C4B6-4D19-A7D5-04150560F062}" type="slidenum">
              <a:rPr lang="de-DE" smtClean="0"/>
              <a:pPr/>
              <a:t>2</a:t>
            </a:fld>
            <a:endParaRPr lang="de-DE"/>
          </a:p>
        </p:txBody>
      </p:sp>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576762"/>
            <a:ext cx="4104456" cy="5823890"/>
          </a:xfrm>
          <a:prstGeom prst="rect">
            <a:avLst/>
          </a:prstGeom>
        </p:spPr>
      </p:pic>
    </p:spTree>
    <p:extLst>
      <p:ext uri="{BB962C8B-B14F-4D97-AF65-F5344CB8AC3E}">
        <p14:creationId xmlns:p14="http://schemas.microsoft.com/office/powerpoint/2010/main" val="1648471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5.1 analytische akzentuiert – Diagnoseaufgabe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a:t>
            </a:fld>
            <a:endParaRPr lang="de-DE"/>
          </a:p>
        </p:txBody>
      </p:sp>
      <p:graphicFrame>
        <p:nvGraphicFramePr>
          <p:cNvPr id="5" name="Group 34"/>
          <p:cNvGraphicFramePr>
            <a:graphicFrameLocks noGrp="1"/>
          </p:cNvGraphicFramePr>
          <p:nvPr>
            <p:ph sz="quarter" idx="1"/>
          </p:nvPr>
        </p:nvGraphicFramePr>
        <p:xfrm>
          <a:off x="704850" y="1600200"/>
          <a:ext cx="7467600" cy="4310063"/>
        </p:xfrm>
        <a:graphic>
          <a:graphicData uri="http://schemas.openxmlformats.org/drawingml/2006/table">
            <a:tbl>
              <a:tblPr/>
              <a:tblGrid>
                <a:gridCol w="7467600">
                  <a:extLst>
                    <a:ext uri="{9D8B030D-6E8A-4147-A177-3AD203B41FA5}">
                      <a16:colId xmlns:a16="http://schemas.microsoft.com/office/drawing/2014/main" val="20000"/>
                    </a:ext>
                  </a:extLst>
                </a:gridCol>
              </a:tblGrid>
              <a:tr h="4572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Diagnoseaufgabe</a:t>
                      </a:r>
                    </a:p>
                  </a:txBody>
                  <a:tcPr marL="78449" marR="78449"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98294">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grundlegenden Aspekten der Diagnose technischer Systeme</a:t>
                      </a:r>
                      <a:r>
                        <a:rPr kumimoji="0" lang="de-DE" sz="2400" b="0" i="0" u="none" strike="noStrike" cap="none" normalizeH="0" baseline="0" dirty="0">
                          <a:ln>
                            <a:noFill/>
                          </a:ln>
                          <a:solidFill>
                            <a:schemeClr val="tx1"/>
                          </a:solidFill>
                          <a:effectLst/>
                          <a:latin typeface="Tahoma" pitchFamily="34" charset="0"/>
                        </a:rPr>
                        <a:t> </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Ermittlung Kenntnisse und Fähigkeiten Diagnose Geräte, Maschinen, Anlagen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Erfassen typischer Abläufe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Befähigung künftiger Systemdiagnosen</a:t>
                      </a:r>
                    </a:p>
                  </a:txBody>
                  <a:tcPr marL="78449" marR="78449"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54549">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Aufgaben- und Problemstellung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Planung der Diagnose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Durchführung der Diagnose</a:t>
                      </a:r>
                    </a:p>
                  </a:txBody>
                  <a:tcPr marL="78449" marR="78449"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3784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5.1 analytische akzentuiert – Diagnoseaufgabe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a:t>
            </a:fld>
            <a:endParaRPr lang="de-DE"/>
          </a:p>
        </p:txBody>
      </p:sp>
      <p:graphicFrame>
        <p:nvGraphicFramePr>
          <p:cNvPr id="5" name="Group 25"/>
          <p:cNvGraphicFramePr>
            <a:graphicFrameLocks noGrp="1"/>
          </p:cNvGraphicFramePr>
          <p:nvPr>
            <p:ph sz="quarter" idx="1"/>
          </p:nvPr>
        </p:nvGraphicFramePr>
        <p:xfrm>
          <a:off x="704850" y="1600200"/>
          <a:ext cx="7467600" cy="3718472"/>
        </p:xfrm>
        <a:graphic>
          <a:graphicData uri="http://schemas.openxmlformats.org/drawingml/2006/table">
            <a:tbl>
              <a:tblPr/>
              <a:tblGrid>
                <a:gridCol w="7467600">
                  <a:extLst>
                    <a:ext uri="{9D8B030D-6E8A-4147-A177-3AD203B41FA5}">
                      <a16:colId xmlns:a16="http://schemas.microsoft.com/office/drawing/2014/main" val="20000"/>
                    </a:ext>
                  </a:extLst>
                </a:gridCol>
              </a:tblGrid>
              <a:tr h="2590369">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a:ln>
                            <a:noFill/>
                          </a:ln>
                          <a:solidFill>
                            <a:schemeClr val="tx1"/>
                          </a:solidFill>
                          <a:effectLst/>
                          <a:latin typeface="Tahoma" pitchFamily="34" charset="0"/>
                        </a:rPr>
                        <a:t>Durchführung der Diagnose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   - Zustand identifizieren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   - Verfolgen von Signalen bzw. Werten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   - Fehlerquellen eingrenzen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   - Fehlerbestimmung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4"/>
                        <a:tabLst/>
                      </a:pPr>
                      <a:r>
                        <a:rPr kumimoji="0" lang="de-DE" sz="2000" b="0" i="0" u="none" strike="noStrike" cap="none" normalizeH="0" baseline="0">
                          <a:ln>
                            <a:noFill/>
                          </a:ln>
                          <a:solidFill>
                            <a:schemeClr val="tx1"/>
                          </a:solidFill>
                          <a:effectLst/>
                          <a:latin typeface="Tahoma" pitchFamily="34" charset="0"/>
                        </a:rPr>
                        <a:t>Kontrolle der Durchführung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4"/>
                        <a:tabLst/>
                      </a:pPr>
                      <a:r>
                        <a:rPr kumimoji="0" lang="de-DE" sz="2000" b="0" i="0" u="none" strike="noStrike" cap="none" normalizeH="0" baseline="0">
                          <a:ln>
                            <a:noFill/>
                          </a:ln>
                          <a:solidFill>
                            <a:schemeClr val="tx1"/>
                          </a:solidFill>
                          <a:effectLst/>
                          <a:latin typeface="Tahoma" pitchFamily="34" charset="0"/>
                        </a:rPr>
                        <a:t>Auswertung, Bewertung, Reflexion und Transfer</a:t>
                      </a:r>
                    </a:p>
                  </a:txBody>
                  <a:tcPr marL="78449" marR="78449" marT="45698" marB="4569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27556">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Untersuchung des Fehlverhaltens einer Titrations- und Neutralisationsanlage</a:t>
                      </a:r>
                    </a:p>
                  </a:txBody>
                  <a:tcPr marL="78449" marR="78449" marT="45698" marB="4569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69239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5.1 analytische akzentuiert – Fallstudie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a:t>
            </a:fld>
            <a:endParaRPr lang="de-DE"/>
          </a:p>
        </p:txBody>
      </p:sp>
      <p:graphicFrame>
        <p:nvGraphicFramePr>
          <p:cNvPr id="5" name="Group 19"/>
          <p:cNvGraphicFramePr>
            <a:graphicFrameLocks noGrp="1"/>
          </p:cNvGraphicFramePr>
          <p:nvPr>
            <p:ph sz="quarter" idx="1"/>
          </p:nvPr>
        </p:nvGraphicFramePr>
        <p:xfrm>
          <a:off x="704850" y="1600200"/>
          <a:ext cx="7467600" cy="4297626"/>
        </p:xfrm>
        <a:graphic>
          <a:graphicData uri="http://schemas.openxmlformats.org/drawingml/2006/table">
            <a:tbl>
              <a:tblPr/>
              <a:tblGrid>
                <a:gridCol w="7467600">
                  <a:extLst>
                    <a:ext uri="{9D8B030D-6E8A-4147-A177-3AD203B41FA5}">
                      <a16:colId xmlns:a16="http://schemas.microsoft.com/office/drawing/2014/main" val="20000"/>
                    </a:ext>
                  </a:extLst>
                </a:gridCol>
              </a:tblGrid>
              <a:tr h="45715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a:ln>
                            <a:noFill/>
                          </a:ln>
                          <a:solidFill>
                            <a:schemeClr val="tx1"/>
                          </a:solidFill>
                          <a:effectLst/>
                          <a:latin typeface="Tahoma" pitchFamily="34" charset="0"/>
                        </a:rPr>
                        <a:t>Fallstudie</a:t>
                      </a:r>
                    </a:p>
                  </a:txBody>
                  <a:tcPr marL="78449" marR="78449"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54366">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Entscheidungstraining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Entscheidungen sollen getroffen und bewertet werden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Merkmale differenzieren sich nach der jeweiligen Fallstudienart</a:t>
                      </a:r>
                    </a:p>
                  </a:txBody>
                  <a:tcPr marL="78449" marR="78449"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5839">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Erfassen bzw. Ausgestalten der Fallsituation (Konfrontation)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Beschaffen der notwendigen Informationen (Information)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Ermitteln der Lösungsvarianten (Exploration)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Treffen der Entscheidung (Resolution)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Verteidigen der Entscheidung (Disputation)</a:t>
                      </a:r>
                    </a:p>
                  </a:txBody>
                  <a:tcPr marL="78449" marR="78449"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95041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5.1 analytische akzentuiert – Fallstudie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a:t>
            </a:fld>
            <a:endParaRPr lang="de-DE"/>
          </a:p>
        </p:txBody>
      </p:sp>
      <p:graphicFrame>
        <p:nvGraphicFramePr>
          <p:cNvPr id="5" name="Group 13"/>
          <p:cNvGraphicFramePr>
            <a:graphicFrameLocks noGrp="1"/>
          </p:cNvGraphicFramePr>
          <p:nvPr>
            <p:ph sz="quarter" idx="1"/>
          </p:nvPr>
        </p:nvGraphicFramePr>
        <p:xfrm>
          <a:off x="704850" y="1600200"/>
          <a:ext cx="7467600" cy="1730375"/>
        </p:xfrm>
        <a:graphic>
          <a:graphicData uri="http://schemas.openxmlformats.org/drawingml/2006/table">
            <a:tbl>
              <a:tblPr/>
              <a:tblGrid>
                <a:gridCol w="7467600">
                  <a:extLst>
                    <a:ext uri="{9D8B030D-6E8A-4147-A177-3AD203B41FA5}">
                      <a16:colId xmlns:a16="http://schemas.microsoft.com/office/drawing/2014/main" val="20000"/>
                    </a:ext>
                  </a:extLst>
                </a:gridCol>
              </a:tblGrid>
              <a:tr h="701297">
                <a:tc>
                  <a:txBody>
                    <a:bodyPr/>
                    <a:lstStyle/>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6"/>
                        <a:tabLst/>
                      </a:pPr>
                      <a:r>
                        <a:rPr kumimoji="0" lang="de-DE" sz="2000" b="0" i="0" u="none" strike="noStrike" cap="none" normalizeH="0" baseline="0">
                          <a:ln>
                            <a:noFill/>
                          </a:ln>
                          <a:solidFill>
                            <a:schemeClr val="tx1"/>
                          </a:solidFill>
                          <a:effectLst/>
                          <a:latin typeface="Tahoma" pitchFamily="34" charset="0"/>
                        </a:rPr>
                        <a:t>Überprüfen und Bewerten der Entscheidung mit Lösungen in der Realität (Kollation)</a:t>
                      </a:r>
                    </a:p>
                  </a:txBody>
                  <a:tcPr marL="78449" marR="78449" marT="45737" marB="4573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9078">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Wasser in den Wänden</a:t>
                      </a:r>
                    </a:p>
                  </a:txBody>
                  <a:tcPr marL="78449" marR="78449" marT="45737" marB="4573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82757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5.1 analytische akzentuiert – Instandsetzungsanalyse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a:t>
            </a:fld>
            <a:endParaRPr lang="de-DE"/>
          </a:p>
        </p:txBody>
      </p:sp>
      <p:graphicFrame>
        <p:nvGraphicFramePr>
          <p:cNvPr id="5" name="Group 19"/>
          <p:cNvGraphicFramePr>
            <a:graphicFrameLocks noGrp="1"/>
          </p:cNvGraphicFramePr>
          <p:nvPr>
            <p:ph sz="quarter" idx="1"/>
          </p:nvPr>
        </p:nvGraphicFramePr>
        <p:xfrm>
          <a:off x="704850" y="1600200"/>
          <a:ext cx="7467600" cy="4602426"/>
        </p:xfrm>
        <a:graphic>
          <a:graphicData uri="http://schemas.openxmlformats.org/drawingml/2006/table">
            <a:tbl>
              <a:tblPr/>
              <a:tblGrid>
                <a:gridCol w="7467600">
                  <a:extLst>
                    <a:ext uri="{9D8B030D-6E8A-4147-A177-3AD203B41FA5}">
                      <a16:colId xmlns:a16="http://schemas.microsoft.com/office/drawing/2014/main" val="20000"/>
                    </a:ext>
                  </a:extLst>
                </a:gridCol>
              </a:tblGrid>
              <a:tr h="4571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a:ln>
                            <a:noFill/>
                          </a:ln>
                          <a:solidFill>
                            <a:schemeClr val="tx1"/>
                          </a:solidFill>
                          <a:effectLst/>
                          <a:latin typeface="Tahoma" pitchFamily="34" charset="0"/>
                        </a:rPr>
                        <a:t>Instandsetzungsanalyse</a:t>
                      </a:r>
                    </a:p>
                  </a:txBody>
                  <a:tcPr marL="78449" marR="78449"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56367">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Förderung des analytischen und schlussfolgernden Denken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Motorische Aktivitäten treten zurück, kognitive dominieren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Prozessbezogene Methoden vermittelt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Bereits durchgeführte Instandsetzungen analysiert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Fachspezifische Inhalte vermittelt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Konfrontation aus betriebliche Praxis gelösten Instandsetzungsfall</a:t>
                      </a:r>
                    </a:p>
                  </a:txBody>
                  <a:tcPr marL="78449" marR="78449"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88635">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Einstieg mit Schadenbeschreibung und Problemstellung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Problemerklärung und intuitive Problemlösungsversuche</a:t>
                      </a:r>
                    </a:p>
                  </a:txBody>
                  <a:tcPr marL="78449" marR="78449"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43337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5.1 analytische akzentuiert – Instandsetzungsanalyse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a:t>
            </a:fld>
            <a:endParaRPr lang="de-DE"/>
          </a:p>
        </p:txBody>
      </p:sp>
      <p:graphicFrame>
        <p:nvGraphicFramePr>
          <p:cNvPr id="5" name="Group 17"/>
          <p:cNvGraphicFramePr>
            <a:graphicFrameLocks noGrp="1"/>
          </p:cNvGraphicFramePr>
          <p:nvPr>
            <p:ph sz="quarter" idx="1"/>
          </p:nvPr>
        </p:nvGraphicFramePr>
        <p:xfrm>
          <a:off x="704850" y="1600200"/>
          <a:ext cx="7467600" cy="3559175"/>
        </p:xfrm>
        <a:graphic>
          <a:graphicData uri="http://schemas.openxmlformats.org/drawingml/2006/table">
            <a:tbl>
              <a:tblPr/>
              <a:tblGrid>
                <a:gridCol w="7467600">
                  <a:extLst>
                    <a:ext uri="{9D8B030D-6E8A-4147-A177-3AD203B41FA5}">
                      <a16:colId xmlns:a16="http://schemas.microsoft.com/office/drawing/2014/main" val="20000"/>
                    </a:ext>
                  </a:extLst>
                </a:gridCol>
              </a:tblGrid>
              <a:tr h="2530154">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Sachgerechte Planung des Problemlösungs- und Analyseweges</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Information über das technische Objekt und die durchgeführte Arbeit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Analyse der durchgeführten Instandsetzung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Auswertung des Analyseergebnisses</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Schadensbericht mit Lösungsvorschlägen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Auswertung</a:t>
                      </a:r>
                    </a:p>
                  </a:txBody>
                  <a:tcPr marL="78449" marR="78449"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9021">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Instandsetzung von Stahlbeton im Iran</a:t>
                      </a:r>
                    </a:p>
                  </a:txBody>
                  <a:tcPr marL="78449" marR="78449"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0572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5.1 analytische akzentuiert – Konstruktionsanalyse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9</a:t>
            </a:fld>
            <a:endParaRPr lang="de-DE"/>
          </a:p>
        </p:txBody>
      </p:sp>
      <p:graphicFrame>
        <p:nvGraphicFramePr>
          <p:cNvPr id="5" name="Group 25"/>
          <p:cNvGraphicFramePr>
            <a:graphicFrameLocks noGrp="1"/>
          </p:cNvGraphicFramePr>
          <p:nvPr>
            <p:ph sz="quarter" idx="1"/>
          </p:nvPr>
        </p:nvGraphicFramePr>
        <p:xfrm>
          <a:off x="704850" y="1600200"/>
          <a:ext cx="7467600" cy="4625975"/>
        </p:xfrm>
        <a:graphic>
          <a:graphicData uri="http://schemas.openxmlformats.org/drawingml/2006/table">
            <a:tbl>
              <a:tblPr/>
              <a:tblGrid>
                <a:gridCol w="7467600">
                  <a:extLst>
                    <a:ext uri="{9D8B030D-6E8A-4147-A177-3AD203B41FA5}">
                      <a16:colId xmlns:a16="http://schemas.microsoft.com/office/drawing/2014/main" val="20000"/>
                    </a:ext>
                  </a:extLst>
                </a:gridCol>
              </a:tblGrid>
              <a:tr h="45731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Konstruktionsanalyse</a:t>
                      </a:r>
                    </a:p>
                  </a:txBody>
                  <a:tcPr marL="78449" marR="78449" marT="45731" marB="457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39716">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Systemdenken, Analyse und die Kritikfähigkeit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Nachvollziehendes Analysieren einer durchgeführten Konstruktion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Methodische Möglichkeit zum Erkennen von Konstruktionsschritten sowie Verständlichmachen eines Konstruktionsprozesses</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Einblick in die Voraussetzungen einer Konstruktion, aber auch Zusammenhänge und Ergebnis eines Prozesses</a:t>
                      </a:r>
                    </a:p>
                  </a:txBody>
                  <a:tcPr marL="78449" marR="78449" marT="45731" marB="457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8949">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Erfassen und Analysieren der Aufgabe</a:t>
                      </a:r>
                    </a:p>
                  </a:txBody>
                  <a:tcPr marL="78449" marR="78449" marT="45731" marB="457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46965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5.1 analytische akzentuiert – Konstruktionsanalyse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10</a:t>
            </a:fld>
            <a:endParaRPr lang="de-DE"/>
          </a:p>
        </p:txBody>
      </p:sp>
      <p:graphicFrame>
        <p:nvGraphicFramePr>
          <p:cNvPr id="5" name="Group 26"/>
          <p:cNvGraphicFramePr>
            <a:graphicFrameLocks noGrp="1"/>
          </p:cNvGraphicFramePr>
          <p:nvPr>
            <p:ph sz="quarter" idx="1"/>
          </p:nvPr>
        </p:nvGraphicFramePr>
        <p:xfrm>
          <a:off x="704850" y="1600200"/>
          <a:ext cx="7467600" cy="3132138"/>
        </p:xfrm>
        <a:graphic>
          <a:graphicData uri="http://schemas.openxmlformats.org/drawingml/2006/table">
            <a:tbl>
              <a:tblPr/>
              <a:tblGrid>
                <a:gridCol w="7467600">
                  <a:extLst>
                    <a:ext uri="{9D8B030D-6E8A-4147-A177-3AD203B41FA5}">
                      <a16:colId xmlns:a16="http://schemas.microsoft.com/office/drawing/2014/main" val="20000"/>
                    </a:ext>
                  </a:extLst>
                </a:gridCol>
              </a:tblGrid>
              <a:tr h="2103334">
                <a:tc>
                  <a:txBody>
                    <a:bodyPr/>
                    <a:lstStyle/>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2"/>
                        <a:tabLst/>
                      </a:pPr>
                      <a:r>
                        <a:rPr kumimoji="0" lang="de-DE" sz="2000" b="0" i="0" u="none" strike="noStrike" cap="none" normalizeH="0" baseline="0" dirty="0">
                          <a:ln>
                            <a:noFill/>
                          </a:ln>
                          <a:solidFill>
                            <a:schemeClr val="tx1"/>
                          </a:solidFill>
                          <a:effectLst/>
                          <a:latin typeface="Tahoma" pitchFamily="34" charset="0"/>
                        </a:rPr>
                        <a:t>Setzung von Prioritäten des Vorgehens, Festlegen der Untersuchungsbereiche und Planes des Analyseweges</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2"/>
                        <a:tabLst/>
                      </a:pPr>
                      <a:r>
                        <a:rPr kumimoji="0" lang="de-DE" sz="2000" b="0" i="0" u="none" strike="noStrike" cap="none" normalizeH="0" baseline="0" dirty="0">
                          <a:ln>
                            <a:noFill/>
                          </a:ln>
                          <a:solidFill>
                            <a:schemeClr val="tx1"/>
                          </a:solidFill>
                          <a:effectLst/>
                          <a:latin typeface="Tahoma" pitchFamily="34" charset="0"/>
                        </a:rPr>
                        <a:t>Konstruktionsanalyse im engeren Sinne, Untersuchung der Konstruktion</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2"/>
                        <a:tabLst/>
                      </a:pPr>
                      <a:r>
                        <a:rPr kumimoji="0" lang="de-DE" sz="2000" b="0" i="0" u="none" strike="noStrike" cap="none" normalizeH="0" baseline="0" dirty="0">
                          <a:ln>
                            <a:noFill/>
                          </a:ln>
                          <a:solidFill>
                            <a:schemeClr val="tx1"/>
                          </a:solidFill>
                          <a:effectLst/>
                          <a:latin typeface="Tahoma" pitchFamily="34" charset="0"/>
                        </a:rPr>
                        <a:t>Bewerten der Konstruktion, Analyseergebnis</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2"/>
                        <a:tabLst/>
                      </a:pPr>
                      <a:r>
                        <a:rPr kumimoji="0" lang="de-DE" sz="2000" b="0" i="0" u="none" strike="noStrike" cap="none" normalizeH="0" baseline="0" dirty="0">
                          <a:ln>
                            <a:noFill/>
                          </a:ln>
                          <a:solidFill>
                            <a:schemeClr val="tx1"/>
                          </a:solidFill>
                          <a:effectLst/>
                          <a:latin typeface="Tahoma" pitchFamily="34" charset="0"/>
                        </a:rPr>
                        <a:t>Anwendung der Erkenntnisse und Transfer</a:t>
                      </a:r>
                    </a:p>
                  </a:txBody>
                  <a:tcPr marL="78449" marR="78449"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804">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Leitungskanal analysieren</a:t>
                      </a:r>
                    </a:p>
                  </a:txBody>
                  <a:tcPr marL="78449" marR="78449"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71285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 5.2 synthetisch akzentuiert – Fertigungsaufgabe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11</a:t>
            </a:fld>
            <a:endParaRPr lang="de-DE"/>
          </a:p>
        </p:txBody>
      </p:sp>
      <p:graphicFrame>
        <p:nvGraphicFramePr>
          <p:cNvPr id="5" name="Group 20"/>
          <p:cNvGraphicFramePr>
            <a:graphicFrameLocks noGrp="1"/>
          </p:cNvGraphicFramePr>
          <p:nvPr>
            <p:ph sz="quarter" idx="1"/>
          </p:nvPr>
        </p:nvGraphicFramePr>
        <p:xfrm>
          <a:off x="704850" y="1600200"/>
          <a:ext cx="7467600" cy="4785252"/>
        </p:xfrm>
        <a:graphic>
          <a:graphicData uri="http://schemas.openxmlformats.org/drawingml/2006/table">
            <a:tbl>
              <a:tblPr/>
              <a:tblGrid>
                <a:gridCol w="7467600">
                  <a:extLst>
                    <a:ext uri="{9D8B030D-6E8A-4147-A177-3AD203B41FA5}">
                      <a16:colId xmlns:a16="http://schemas.microsoft.com/office/drawing/2014/main" val="20000"/>
                    </a:ext>
                  </a:extLst>
                </a:gridCol>
              </a:tblGrid>
              <a:tr h="45712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Fertigungsaufgabe</a:t>
                      </a:r>
                    </a:p>
                  </a:txBody>
                  <a:tcPr marL="78449" marR="78449" marT="45702" marB="4570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63802">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Im Mittelpunkt steht die Herstellung von technischen Bauteilen, Baugruppen, Geräten und Anlagen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Aufgabe muss analysiert und erkannt werden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Anschließende Durchführung und Bewertung sind Teil des Auftrages</a:t>
                      </a:r>
                    </a:p>
                  </a:txBody>
                  <a:tcPr marL="78449" marR="78449" marT="45702" marB="4570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63802">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Bekanntgabe der Fertigungsauftrages/Entwicklung der Fertigungsaufgabe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Analyse des Fertigungsauftrages/Klärung der Aufgabenstellung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Intuitive Lösungsansätze zur Ermittlung des </a:t>
                      </a:r>
                      <a:r>
                        <a:rPr kumimoji="0" lang="de-DE" sz="2000" b="0" i="0" u="none" strike="noStrike" cap="none" normalizeH="0" baseline="0" dirty="0" err="1">
                          <a:ln>
                            <a:noFill/>
                          </a:ln>
                          <a:solidFill>
                            <a:schemeClr val="tx1"/>
                          </a:solidFill>
                          <a:effectLst/>
                          <a:latin typeface="Tahoma" pitchFamily="34" charset="0"/>
                        </a:rPr>
                        <a:t>FErtigungsauftrages</a:t>
                      </a:r>
                      <a:endParaRPr kumimoji="0" lang="de-DE" sz="2000" b="0" i="0" u="none" strike="noStrike" cap="none" normalizeH="0" baseline="0" dirty="0">
                        <a:ln>
                          <a:noFill/>
                        </a:ln>
                        <a:solidFill>
                          <a:schemeClr val="tx1"/>
                        </a:solidFill>
                        <a:effectLst/>
                        <a:latin typeface="Tahoma" pitchFamily="34" charset="0"/>
                      </a:endParaRPr>
                    </a:p>
                  </a:txBody>
                  <a:tcPr marL="78449" marR="78449" marT="45702" marB="4570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41341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 5.2 synthetisch akzentuiert – Fertigungsaufgabe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12</a:t>
            </a:fld>
            <a:endParaRPr lang="de-DE"/>
          </a:p>
        </p:txBody>
      </p:sp>
      <p:graphicFrame>
        <p:nvGraphicFramePr>
          <p:cNvPr id="5" name="Group 16"/>
          <p:cNvGraphicFramePr>
            <a:graphicFrameLocks noGrp="1"/>
          </p:cNvGraphicFramePr>
          <p:nvPr>
            <p:ph sz="quarter" idx="1"/>
          </p:nvPr>
        </p:nvGraphicFramePr>
        <p:xfrm>
          <a:off x="704850" y="1600200"/>
          <a:ext cx="7467600" cy="2887736"/>
        </p:xfrm>
        <a:graphic>
          <a:graphicData uri="http://schemas.openxmlformats.org/drawingml/2006/table">
            <a:tbl>
              <a:tblPr/>
              <a:tblGrid>
                <a:gridCol w="7467600">
                  <a:extLst>
                    <a:ext uri="{9D8B030D-6E8A-4147-A177-3AD203B41FA5}">
                      <a16:colId xmlns:a16="http://schemas.microsoft.com/office/drawing/2014/main" val="20000"/>
                    </a:ext>
                  </a:extLst>
                </a:gridCol>
              </a:tblGrid>
              <a:tr h="1859187">
                <a:tc>
                  <a:txBody>
                    <a:bodyPr/>
                    <a:lstStyle/>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4"/>
                        <a:tabLst/>
                      </a:pPr>
                      <a:r>
                        <a:rPr kumimoji="0" lang="de-DE" sz="2000" b="0" i="0" u="none" strike="noStrike" cap="none" normalizeH="0" baseline="0">
                          <a:ln>
                            <a:noFill/>
                          </a:ln>
                          <a:solidFill>
                            <a:schemeClr val="tx1"/>
                          </a:solidFill>
                          <a:effectLst/>
                          <a:latin typeface="Tahoma" pitchFamily="34" charset="0"/>
                        </a:rPr>
                        <a:t>Fachgerechte Planung der Fertigung</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4"/>
                        <a:tabLst/>
                      </a:pPr>
                      <a:r>
                        <a:rPr kumimoji="0" lang="de-DE" sz="2000" b="0" i="0" u="none" strike="noStrike" cap="none" normalizeH="0" baseline="0">
                          <a:ln>
                            <a:noFill/>
                          </a:ln>
                          <a:solidFill>
                            <a:schemeClr val="tx1"/>
                          </a:solidFill>
                          <a:effectLst/>
                          <a:latin typeface="Tahoma" pitchFamily="34" charset="0"/>
                        </a:rPr>
                        <a:t>Durchführung der Fertigung bei gleichzeitiger Kontrolle</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4"/>
                        <a:tabLst/>
                      </a:pPr>
                      <a:r>
                        <a:rPr kumimoji="0" lang="de-DE" sz="2000" b="0" i="0" u="none" strike="noStrike" cap="none" normalizeH="0" baseline="0">
                          <a:ln>
                            <a:noFill/>
                          </a:ln>
                          <a:solidFill>
                            <a:schemeClr val="tx1"/>
                          </a:solidFill>
                          <a:effectLst/>
                          <a:latin typeface="Tahoma" pitchFamily="34" charset="0"/>
                        </a:rPr>
                        <a:t>Bewertung des Produktes</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4"/>
                        <a:tabLst/>
                      </a:pPr>
                      <a:r>
                        <a:rPr kumimoji="0" lang="de-DE" sz="2000" b="0" i="0" u="none" strike="noStrike" cap="none" normalizeH="0" baseline="0">
                          <a:ln>
                            <a:noFill/>
                          </a:ln>
                          <a:solidFill>
                            <a:schemeClr val="tx1"/>
                          </a:solidFill>
                          <a:effectLst/>
                          <a:latin typeface="Tahoma" pitchFamily="34" charset="0"/>
                        </a:rPr>
                        <a:t>Optimierung des Fertigungsablaufes</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4"/>
                        <a:tabLst/>
                      </a:pPr>
                      <a:r>
                        <a:rPr kumimoji="0" lang="de-DE" sz="2000" b="0" i="0" u="none" strike="noStrike" cap="none" normalizeH="0" baseline="0">
                          <a:ln>
                            <a:noFill/>
                          </a:ln>
                          <a:solidFill>
                            <a:schemeClr val="tx1"/>
                          </a:solidFill>
                          <a:effectLst/>
                          <a:latin typeface="Tahoma" pitchFamily="34" charset="0"/>
                        </a:rPr>
                        <a:t>Anwendung und Transfer</a:t>
                      </a:r>
                    </a:p>
                  </a:txBody>
                  <a:tcPr marL="78449" marR="78449"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476">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Herstellung von Betonprobekörpern</a:t>
                      </a:r>
                    </a:p>
                  </a:txBody>
                  <a:tcPr marL="78449" marR="78449"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80810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5.2 synthetisch akzentuiert – Inspektionsaufgabe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13</a:t>
            </a:fld>
            <a:endParaRPr lang="de-DE"/>
          </a:p>
        </p:txBody>
      </p:sp>
      <p:graphicFrame>
        <p:nvGraphicFramePr>
          <p:cNvPr id="5" name="Group 19"/>
          <p:cNvGraphicFramePr>
            <a:graphicFrameLocks noGrp="1"/>
          </p:cNvGraphicFramePr>
          <p:nvPr>
            <p:ph sz="quarter" idx="1"/>
          </p:nvPr>
        </p:nvGraphicFramePr>
        <p:xfrm>
          <a:off x="704850" y="1600200"/>
          <a:ext cx="7467600" cy="3870834"/>
        </p:xfrm>
        <a:graphic>
          <a:graphicData uri="http://schemas.openxmlformats.org/drawingml/2006/table">
            <a:tbl>
              <a:tblPr/>
              <a:tblGrid>
                <a:gridCol w="7467600">
                  <a:extLst>
                    <a:ext uri="{9D8B030D-6E8A-4147-A177-3AD203B41FA5}">
                      <a16:colId xmlns:a16="http://schemas.microsoft.com/office/drawing/2014/main" val="20000"/>
                    </a:ext>
                  </a:extLst>
                </a:gridCol>
              </a:tblGrid>
              <a:tr h="4571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a:ln>
                            <a:noFill/>
                          </a:ln>
                          <a:solidFill>
                            <a:schemeClr val="tx1"/>
                          </a:solidFill>
                          <a:effectLst/>
                          <a:latin typeface="Tahoma" pitchFamily="34" charset="0"/>
                        </a:rPr>
                        <a:t>Inspektionsaufgabe</a:t>
                      </a:r>
                    </a:p>
                  </a:txBody>
                  <a:tcPr marL="78449" marR="78449" marT="45699" marB="4569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24697">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Richtet sich auf die Planung und Durchführung einer Inspektion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Endet mit einer Dokumentation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Maßnahmeempfehlungen sollen entstehen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Wirkprinzipien können besprochen werden</a:t>
                      </a:r>
                    </a:p>
                  </a:txBody>
                  <a:tcPr marL="78449" marR="78449" marT="45699" marB="4569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88523">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Aufgaben- und Problemstellung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Intuitive Problemlösungsphase und Vorbereitung</a:t>
                      </a:r>
                    </a:p>
                  </a:txBody>
                  <a:tcPr marL="78449" marR="78449" marT="45699" marB="4569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39449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5.2 synthetisch akzentuiert – Inspektionsaufgabe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14</a:t>
            </a:fld>
            <a:endParaRPr lang="de-DE"/>
          </a:p>
        </p:txBody>
      </p:sp>
      <p:graphicFrame>
        <p:nvGraphicFramePr>
          <p:cNvPr id="5" name="Group 12"/>
          <p:cNvGraphicFramePr>
            <a:graphicFrameLocks noGrp="1"/>
          </p:cNvGraphicFramePr>
          <p:nvPr>
            <p:ph sz="quarter" idx="1"/>
          </p:nvPr>
        </p:nvGraphicFramePr>
        <p:xfrm>
          <a:off x="704850" y="1600200"/>
          <a:ext cx="7467600" cy="1790700"/>
        </p:xfrm>
        <a:graphic>
          <a:graphicData uri="http://schemas.openxmlformats.org/drawingml/2006/table">
            <a:tbl>
              <a:tblPr/>
              <a:tblGrid>
                <a:gridCol w="7467600">
                  <a:extLst>
                    <a:ext uri="{9D8B030D-6E8A-4147-A177-3AD203B41FA5}">
                      <a16:colId xmlns:a16="http://schemas.microsoft.com/office/drawing/2014/main" val="20000"/>
                    </a:ext>
                  </a:extLst>
                </a:gridCol>
              </a:tblGrid>
              <a:tr h="180975">
                <a:tc>
                  <a:txBody>
                    <a:bodyPr/>
                    <a:lstStyle/>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a:ln>
                            <a:noFill/>
                          </a:ln>
                          <a:solidFill>
                            <a:schemeClr val="tx1"/>
                          </a:solidFill>
                          <a:effectLst/>
                          <a:latin typeface="Tahoma" pitchFamily="34" charset="0"/>
                        </a:rPr>
                        <a:t>Planung der Inspektionsaufgabe</a:t>
                      </a:r>
                    </a:p>
                    <a:p>
                      <a:pPr marL="533400" marR="0" lvl="0" indent="-5334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a:ln>
                            <a:noFill/>
                          </a:ln>
                          <a:solidFill>
                            <a:schemeClr val="tx1"/>
                          </a:solidFill>
                          <a:effectLst/>
                          <a:latin typeface="Tahoma" pitchFamily="34" charset="0"/>
                        </a:rPr>
                        <a:t>Auswertung, Bewertung und Reflexion</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00">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TÜV-Kontrolle eines Autos</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06365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5.2 synthetisch akzentuiert – </a:t>
            </a:r>
            <a:r>
              <a:rPr lang="de-DE" dirty="0" err="1"/>
              <a:t>Szenariomethode</a:t>
            </a:r>
            <a:endParaRPr lang="de-DE" dirty="0"/>
          </a:p>
        </p:txBody>
      </p:sp>
      <p:sp>
        <p:nvSpPr>
          <p:cNvPr id="4" name="Foliennummernplatzhalter 3"/>
          <p:cNvSpPr>
            <a:spLocks noGrp="1"/>
          </p:cNvSpPr>
          <p:nvPr>
            <p:ph type="sldNum" sz="quarter" idx="15"/>
          </p:nvPr>
        </p:nvSpPr>
        <p:spPr/>
        <p:txBody>
          <a:bodyPr/>
          <a:lstStyle/>
          <a:p>
            <a:fld id="{33548601-C4B6-4D19-A7D5-04150560F062}" type="slidenum">
              <a:rPr lang="de-DE" smtClean="0"/>
              <a:pPr/>
              <a:t>15</a:t>
            </a:fld>
            <a:endParaRPr lang="de-DE"/>
          </a:p>
        </p:txBody>
      </p:sp>
      <p:graphicFrame>
        <p:nvGraphicFramePr>
          <p:cNvPr id="5" name="Group 23"/>
          <p:cNvGraphicFramePr>
            <a:graphicFrameLocks noGrp="1"/>
          </p:cNvGraphicFramePr>
          <p:nvPr>
            <p:ph sz="quarter" idx="1"/>
          </p:nvPr>
        </p:nvGraphicFramePr>
        <p:xfrm>
          <a:off x="704850" y="1600200"/>
          <a:ext cx="7467600" cy="4328084"/>
        </p:xfrm>
        <a:graphic>
          <a:graphicData uri="http://schemas.openxmlformats.org/drawingml/2006/table">
            <a:tbl>
              <a:tblPr/>
              <a:tblGrid>
                <a:gridCol w="7467600">
                  <a:extLst>
                    <a:ext uri="{9D8B030D-6E8A-4147-A177-3AD203B41FA5}">
                      <a16:colId xmlns:a16="http://schemas.microsoft.com/office/drawing/2014/main" val="20000"/>
                    </a:ext>
                  </a:extLst>
                </a:gridCol>
              </a:tblGrid>
              <a:tr h="457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err="1">
                          <a:ln>
                            <a:noFill/>
                          </a:ln>
                          <a:solidFill>
                            <a:schemeClr val="tx1"/>
                          </a:solidFill>
                          <a:effectLst/>
                          <a:latin typeface="Tahoma" pitchFamily="34" charset="0"/>
                        </a:rPr>
                        <a:t>Szenariomethode</a:t>
                      </a:r>
                      <a:endParaRPr kumimoji="0" lang="de-DE" sz="2400" b="1" i="0" u="none" strike="noStrike" cap="none" normalizeH="0" baseline="0" dirty="0">
                        <a:ln>
                          <a:noFill/>
                        </a:ln>
                        <a:solidFill>
                          <a:schemeClr val="tx1"/>
                        </a:solidFill>
                        <a:effectLst/>
                        <a:latin typeface="Tahoma" pitchFamily="34" charset="0"/>
                      </a:endParaRPr>
                    </a:p>
                  </a:txBody>
                  <a:tcPr marL="78449" marR="78449"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70413">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Beschreibt die hypothetische Abfolge von mehreren, aufeinander aufbauenden Ereignissen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In wissenschaftliche, politischen, militärischen und industriellen Bereichen angewandt, geeignet Entwicklungsprozesse zu erarbeiten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Dient als Planungsinstrument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Verlangt Kreativität, Neugier, Phantasie für Veränderungen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Fördert Strukturierungs-, Analyse-, Problemlöse- und Entscheidungsfähigkeiten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Mehrdimensionalität</a:t>
                      </a:r>
                    </a:p>
                  </a:txBody>
                  <a:tcPr marL="78449" marR="78449"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80771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5.2 synthetisch akzentuiert – </a:t>
            </a:r>
            <a:r>
              <a:rPr lang="de-DE" dirty="0" err="1"/>
              <a:t>Szenariomethode</a:t>
            </a:r>
            <a:endParaRPr lang="de-DE" dirty="0"/>
          </a:p>
        </p:txBody>
      </p:sp>
      <p:sp>
        <p:nvSpPr>
          <p:cNvPr id="4" name="Foliennummernplatzhalter 3"/>
          <p:cNvSpPr>
            <a:spLocks noGrp="1"/>
          </p:cNvSpPr>
          <p:nvPr>
            <p:ph type="sldNum" sz="quarter" idx="15"/>
          </p:nvPr>
        </p:nvSpPr>
        <p:spPr/>
        <p:txBody>
          <a:bodyPr/>
          <a:lstStyle/>
          <a:p>
            <a:fld id="{33548601-C4B6-4D19-A7D5-04150560F062}" type="slidenum">
              <a:rPr lang="de-DE" smtClean="0"/>
              <a:pPr/>
              <a:t>16</a:t>
            </a:fld>
            <a:endParaRPr lang="de-DE"/>
          </a:p>
        </p:txBody>
      </p:sp>
      <p:graphicFrame>
        <p:nvGraphicFramePr>
          <p:cNvPr id="5" name="Group 19"/>
          <p:cNvGraphicFramePr>
            <a:graphicFrameLocks noGrp="1"/>
          </p:cNvGraphicFramePr>
          <p:nvPr>
            <p:ph sz="quarter" idx="1"/>
            <p:extLst>
              <p:ext uri="{D42A27DB-BD31-4B8C-83A1-F6EECF244321}">
                <p14:modId xmlns:p14="http://schemas.microsoft.com/office/powerpoint/2010/main" val="1520465967"/>
              </p:ext>
            </p:extLst>
          </p:nvPr>
        </p:nvGraphicFramePr>
        <p:xfrm>
          <a:off x="704850" y="1600200"/>
          <a:ext cx="7467600" cy="3475038"/>
        </p:xfrm>
        <a:graphic>
          <a:graphicData uri="http://schemas.openxmlformats.org/drawingml/2006/table">
            <a:tbl>
              <a:tblPr/>
              <a:tblGrid>
                <a:gridCol w="7467600">
                  <a:extLst>
                    <a:ext uri="{9D8B030D-6E8A-4147-A177-3AD203B41FA5}">
                      <a16:colId xmlns:a16="http://schemas.microsoft.com/office/drawing/2014/main" val="20000"/>
                    </a:ext>
                  </a:extLst>
                </a:gridCol>
              </a:tblGrid>
              <a:tr h="2286209">
                <a:tc>
                  <a:txBody>
                    <a:bodyPr/>
                    <a:lstStyle/>
                    <a:p>
                      <a:pPr marL="355600" marR="0" lvl="0" indent="-35560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355600" marR="0" lvl="0" indent="-3556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Problemstellung</a:t>
                      </a:r>
                    </a:p>
                    <a:p>
                      <a:pPr marL="355600" marR="0" lvl="0" indent="-3556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Ermittlung möglicher Szenarien und </a:t>
                      </a:r>
                      <a:r>
                        <a:rPr kumimoji="0" lang="de-DE" sz="2000" b="0" i="0" u="none" strike="noStrike" cap="none" normalizeH="0" baseline="0" dirty="0" err="1">
                          <a:ln>
                            <a:noFill/>
                          </a:ln>
                          <a:solidFill>
                            <a:schemeClr val="tx1"/>
                          </a:solidFill>
                          <a:effectLst/>
                          <a:latin typeface="Tahoma" pitchFamily="34" charset="0"/>
                        </a:rPr>
                        <a:t>Szenarioentwurf</a:t>
                      </a:r>
                      <a:endParaRPr kumimoji="0" lang="de-DE" sz="2000" b="0" i="0" u="none" strike="noStrike" cap="none" normalizeH="0" baseline="0" dirty="0">
                        <a:ln>
                          <a:noFill/>
                        </a:ln>
                        <a:solidFill>
                          <a:schemeClr val="tx1"/>
                        </a:solidFill>
                        <a:effectLst/>
                        <a:latin typeface="Tahoma" pitchFamily="34" charset="0"/>
                      </a:endParaRPr>
                    </a:p>
                    <a:p>
                      <a:pPr marL="355600" marR="0" lvl="0" indent="-3556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Vergleich der Szenarien und Diskussion</a:t>
                      </a:r>
                    </a:p>
                    <a:p>
                      <a:pPr marL="355600" marR="0" lvl="0" indent="-3556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Meinungsbildung und persönliche Stellungnahme</a:t>
                      </a:r>
                    </a:p>
                    <a:p>
                      <a:pPr marL="355600" marR="0" lvl="0" indent="-3556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Bewertung des Verfahrens und Transfer</a:t>
                      </a:r>
                    </a:p>
                  </a:txBody>
                  <a:tcPr marL="78449" marR="78449"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8829">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Geiseln wurden in ein bekanntes Haus verschleppt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Wasserknappheit in der Truppe in Afghanistan</a:t>
                      </a:r>
                    </a:p>
                  </a:txBody>
                  <a:tcPr marL="78449" marR="78449"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3670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5.2 synthetisch akzentuiert – Konstruktionsaufgabe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17</a:t>
            </a:fld>
            <a:endParaRPr lang="de-DE"/>
          </a:p>
        </p:txBody>
      </p:sp>
      <p:graphicFrame>
        <p:nvGraphicFramePr>
          <p:cNvPr id="5" name="Group 19"/>
          <p:cNvGraphicFramePr>
            <a:graphicFrameLocks noGrp="1"/>
          </p:cNvGraphicFramePr>
          <p:nvPr>
            <p:ph sz="quarter" idx="1"/>
          </p:nvPr>
        </p:nvGraphicFramePr>
        <p:xfrm>
          <a:off x="704850" y="1600200"/>
          <a:ext cx="7467600" cy="4237038"/>
        </p:xfrm>
        <a:graphic>
          <a:graphicData uri="http://schemas.openxmlformats.org/drawingml/2006/table">
            <a:tbl>
              <a:tblPr/>
              <a:tblGrid>
                <a:gridCol w="7467600">
                  <a:extLst>
                    <a:ext uri="{9D8B030D-6E8A-4147-A177-3AD203B41FA5}">
                      <a16:colId xmlns:a16="http://schemas.microsoft.com/office/drawing/2014/main" val="20000"/>
                    </a:ext>
                  </a:extLst>
                </a:gridCol>
              </a:tblGrid>
              <a:tr h="45725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Konstruktionsaufgabe</a:t>
                      </a:r>
                    </a:p>
                  </a:txBody>
                  <a:tcPr marL="78449" marR="78449"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54660">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Zum schöpferischen Denken und Konstruieren angeregt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Hoher Grad an Motivation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a:ln>
                            <a:noFill/>
                          </a:ln>
                          <a:solidFill>
                            <a:schemeClr val="tx1"/>
                          </a:solidFill>
                          <a:effectLst/>
                          <a:latin typeface="Tahoma" pitchFamily="34" charset="0"/>
                        </a:rPr>
                        <a:t>Ideen werden Umgesetzt und so in der Praxis geprüft</a:t>
                      </a:r>
                    </a:p>
                  </a:txBody>
                  <a:tcPr marL="78449" marR="78449"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25125">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Stellen der Konstruktionsaufgabe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Klären der Problemstellung und Analyse der Aufgabenstellung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Intuitive Problemlösungsvorschläge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Wahl der Bewertungsmaßstäbe und Klärung der Arbeitsschritte</a:t>
                      </a:r>
                    </a:p>
                  </a:txBody>
                  <a:tcPr marL="78449" marR="78449"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45187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5.2 synthetisch akzentuiert – Konstruktionsaufgabe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18</a:t>
            </a:fld>
            <a:endParaRPr lang="de-DE"/>
          </a:p>
        </p:txBody>
      </p:sp>
      <p:graphicFrame>
        <p:nvGraphicFramePr>
          <p:cNvPr id="5" name="Group 15"/>
          <p:cNvGraphicFramePr>
            <a:graphicFrameLocks noGrp="1"/>
          </p:cNvGraphicFramePr>
          <p:nvPr>
            <p:ph sz="quarter" idx="1"/>
          </p:nvPr>
        </p:nvGraphicFramePr>
        <p:xfrm>
          <a:off x="704850" y="1600200"/>
          <a:ext cx="7467600" cy="3559175"/>
        </p:xfrm>
        <a:graphic>
          <a:graphicData uri="http://schemas.openxmlformats.org/drawingml/2006/table">
            <a:tbl>
              <a:tblPr/>
              <a:tblGrid>
                <a:gridCol w="7467600">
                  <a:extLst>
                    <a:ext uri="{9D8B030D-6E8A-4147-A177-3AD203B41FA5}">
                      <a16:colId xmlns:a16="http://schemas.microsoft.com/office/drawing/2014/main" val="20000"/>
                    </a:ext>
                  </a:extLst>
                </a:gridCol>
              </a:tblGrid>
              <a:tr h="2530291">
                <a:tc>
                  <a:txBody>
                    <a:bodyPr/>
                    <a:lstStyle/>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5"/>
                        <a:tabLst/>
                      </a:pPr>
                      <a:r>
                        <a:rPr kumimoji="0" lang="de-DE" sz="2000" b="0" i="0" u="none" strike="noStrike" cap="none" normalizeH="0" baseline="0" dirty="0">
                          <a:ln>
                            <a:noFill/>
                          </a:ln>
                          <a:solidFill>
                            <a:schemeClr val="tx1"/>
                          </a:solidFill>
                          <a:effectLst/>
                          <a:latin typeface="Tahoma" pitchFamily="34" charset="0"/>
                        </a:rPr>
                        <a:t>Sammeln von Informationen</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5"/>
                        <a:tabLst/>
                      </a:pPr>
                      <a:r>
                        <a:rPr kumimoji="0" lang="de-DE" sz="2000" b="0" i="0" u="none" strike="noStrike" cap="none" normalizeH="0" baseline="0" dirty="0">
                          <a:ln>
                            <a:noFill/>
                          </a:ln>
                          <a:solidFill>
                            <a:schemeClr val="tx1"/>
                          </a:solidFill>
                          <a:effectLst/>
                          <a:latin typeface="Tahoma" pitchFamily="34" charset="0"/>
                        </a:rPr>
                        <a:t>Feststellen möglicher Lösungsvarianten</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5"/>
                        <a:tabLst/>
                      </a:pPr>
                      <a:r>
                        <a:rPr kumimoji="0" lang="de-DE" sz="2000" b="0" i="0" u="none" strike="noStrike" cap="none" normalizeH="0" baseline="0" dirty="0">
                          <a:ln>
                            <a:noFill/>
                          </a:ln>
                          <a:solidFill>
                            <a:schemeClr val="tx1"/>
                          </a:solidFill>
                          <a:effectLst/>
                          <a:latin typeface="Tahoma" pitchFamily="34" charset="0"/>
                        </a:rPr>
                        <a:t>Entwerfen des Grundprinzips der bevorzugten Lösungsvariante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5"/>
                        <a:tabLst/>
                      </a:pPr>
                      <a:r>
                        <a:rPr kumimoji="0" lang="de-DE" sz="2000" b="0" i="0" u="none" strike="noStrike" cap="none" normalizeH="0" baseline="0" dirty="0">
                          <a:ln>
                            <a:noFill/>
                          </a:ln>
                          <a:solidFill>
                            <a:schemeClr val="tx1"/>
                          </a:solidFill>
                          <a:effectLst/>
                          <a:latin typeface="Tahoma" pitchFamily="34" charset="0"/>
                        </a:rPr>
                        <a:t>Konstruktive Gestaltung des technischen Gebildes</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5"/>
                        <a:tabLst/>
                      </a:pPr>
                      <a:r>
                        <a:rPr kumimoji="0" lang="de-DE" sz="2000" b="0" i="0" u="none" strike="noStrike" cap="none" normalizeH="0" baseline="0" dirty="0">
                          <a:ln>
                            <a:noFill/>
                          </a:ln>
                          <a:solidFill>
                            <a:schemeClr val="tx1"/>
                          </a:solidFill>
                          <a:effectLst/>
                          <a:latin typeface="Tahoma" pitchFamily="34" charset="0"/>
                        </a:rPr>
                        <a:t>Beurteilung der Konstruktion, Optimierung und Vergleich mit anderen Lösungen</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5"/>
                        <a:tabLst/>
                      </a:pPr>
                      <a:r>
                        <a:rPr kumimoji="0" lang="de-DE" sz="2000" b="0" i="0" u="none" strike="noStrike" cap="none" normalizeH="0" baseline="0" dirty="0">
                          <a:ln>
                            <a:noFill/>
                          </a:ln>
                          <a:solidFill>
                            <a:schemeClr val="tx1"/>
                          </a:solidFill>
                          <a:effectLst/>
                          <a:latin typeface="Tahoma" pitchFamily="34" charset="0"/>
                        </a:rPr>
                        <a:t>Auswertung der Vorgehensweise und gegebenenfalls Transfer</a:t>
                      </a:r>
                    </a:p>
                  </a:txBody>
                  <a:tcPr marL="78449" marR="78449" marT="45728" marB="4572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884">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Erstellen von Blumenbänken</a:t>
                      </a:r>
                    </a:p>
                  </a:txBody>
                  <a:tcPr marL="78449" marR="78449" marT="45728" marB="4572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81348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5.2 synthetisch akzentuiert – Instandsetzungsaufgabe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19</a:t>
            </a:fld>
            <a:endParaRPr lang="de-DE"/>
          </a:p>
        </p:txBody>
      </p:sp>
      <p:graphicFrame>
        <p:nvGraphicFramePr>
          <p:cNvPr id="5" name="Group 16"/>
          <p:cNvGraphicFramePr>
            <a:graphicFrameLocks noGrp="1"/>
          </p:cNvGraphicFramePr>
          <p:nvPr>
            <p:ph sz="quarter" idx="1"/>
          </p:nvPr>
        </p:nvGraphicFramePr>
        <p:xfrm>
          <a:off x="704850" y="1600200"/>
          <a:ext cx="7467600" cy="4237038"/>
        </p:xfrm>
        <a:graphic>
          <a:graphicData uri="http://schemas.openxmlformats.org/drawingml/2006/table">
            <a:tbl>
              <a:tblPr/>
              <a:tblGrid>
                <a:gridCol w="7467600">
                  <a:extLst>
                    <a:ext uri="{9D8B030D-6E8A-4147-A177-3AD203B41FA5}">
                      <a16:colId xmlns:a16="http://schemas.microsoft.com/office/drawing/2014/main" val="20000"/>
                    </a:ext>
                  </a:extLst>
                </a:gridCol>
              </a:tblGrid>
              <a:tr h="45723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Instandsetzungsaufgabe</a:t>
                      </a:r>
                    </a:p>
                  </a:txBody>
                  <a:tcPr marL="78449" marR="78449"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0995">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Handlungsabläufe besonders gut überschaubar</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Lernenden in der Lage den jeweils nächsten Handlungsschritt selbst festzulegen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Hoher Grad der Motivation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Entwickeln hohen Grad an Problemlösungsstrategien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Inhalte sind Teil der Methode</a:t>
                      </a:r>
                    </a:p>
                  </a:txBody>
                  <a:tcPr marL="78449" marR="78449"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88809">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Einstieg durch Instandsetzung mit Problemstellung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Intuitive Phase</a:t>
                      </a:r>
                    </a:p>
                  </a:txBody>
                  <a:tcPr marL="78449" marR="78449" marT="45723" marB="4572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74896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5.2 synthetisch akzentuiert – Instandsetzungsaufgabe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20</a:t>
            </a:fld>
            <a:endParaRPr lang="de-DE"/>
          </a:p>
        </p:txBody>
      </p:sp>
      <p:graphicFrame>
        <p:nvGraphicFramePr>
          <p:cNvPr id="5" name="Group 14"/>
          <p:cNvGraphicFramePr>
            <a:graphicFrameLocks noGrp="1"/>
          </p:cNvGraphicFramePr>
          <p:nvPr>
            <p:ph sz="quarter" idx="1"/>
          </p:nvPr>
        </p:nvGraphicFramePr>
        <p:xfrm>
          <a:off x="704850" y="1600200"/>
          <a:ext cx="7467600" cy="3657637"/>
        </p:xfrm>
        <a:graphic>
          <a:graphicData uri="http://schemas.openxmlformats.org/drawingml/2006/table">
            <a:tbl>
              <a:tblPr/>
              <a:tblGrid>
                <a:gridCol w="7467600">
                  <a:extLst>
                    <a:ext uri="{9D8B030D-6E8A-4147-A177-3AD203B41FA5}">
                      <a16:colId xmlns:a16="http://schemas.microsoft.com/office/drawing/2014/main" val="20000"/>
                    </a:ext>
                  </a:extLst>
                </a:gridCol>
              </a:tblGrid>
              <a:tr h="2529877">
                <a:tc>
                  <a:txBody>
                    <a:bodyPr/>
                    <a:lstStyle/>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Klärung der im Auftrag enthaltenen Probleme und Ziele sowie Planung des Problemlösungsweges</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Sammeln von Informationen</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Erstellen eines Arbeits- und Instandsetzungsplanes</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Durchführung der Instandsetzung</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Kontrolle, Funktionsprüfung und Abnahme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dirty="0">
                          <a:ln>
                            <a:noFill/>
                          </a:ln>
                          <a:solidFill>
                            <a:schemeClr val="tx1"/>
                          </a:solidFill>
                          <a:effectLst/>
                          <a:latin typeface="Tahoma" pitchFamily="34" charset="0"/>
                        </a:rPr>
                        <a:t>Auswertung</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27723">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Instandsetzung einer Wand, Herrichten des ursprünglichen Zustandes</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36782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5.3 induktiv akzentuiert – Technisches Experiment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21</a:t>
            </a:fld>
            <a:endParaRPr lang="de-DE"/>
          </a:p>
        </p:txBody>
      </p:sp>
      <p:graphicFrame>
        <p:nvGraphicFramePr>
          <p:cNvPr id="5" name="Group 24"/>
          <p:cNvGraphicFramePr>
            <a:graphicFrameLocks noGrp="1"/>
          </p:cNvGraphicFramePr>
          <p:nvPr>
            <p:ph sz="quarter" idx="1"/>
          </p:nvPr>
        </p:nvGraphicFramePr>
        <p:xfrm>
          <a:off x="704850" y="1600200"/>
          <a:ext cx="7467600" cy="4724400"/>
        </p:xfrm>
        <a:graphic>
          <a:graphicData uri="http://schemas.openxmlformats.org/drawingml/2006/table">
            <a:tbl>
              <a:tblPr/>
              <a:tblGrid>
                <a:gridCol w="7467600">
                  <a:extLst>
                    <a:ext uri="{9D8B030D-6E8A-4147-A177-3AD203B41FA5}">
                      <a16:colId xmlns:a16="http://schemas.microsoft.com/office/drawing/2014/main" val="20000"/>
                    </a:ext>
                  </a:extLst>
                </a:gridCol>
              </a:tblGrid>
              <a:tr h="1809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Technisches Experiment</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00">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Kenntnisse, Fähigkeiten und Fertigkeiten, die für die spätere Facharbeit wichtig sind, können vermittelt und in der Praxis geübt werden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Erarbeitung technologischer Sachverhalte und gleichzeitige Vermittlung der Verfahren zur Informationsbeschaffung und Erkenntnisgewinnung</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Kann Theorie und Praxis zu einem harmonischen Gesamtbild zusammensetzen</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8700">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Problem erfassen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Problem präzisieren (Hypothesenbildung)</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29817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5.3 induktiv akzentuiert – Technisches Experiment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22</a:t>
            </a:fld>
            <a:endParaRPr lang="de-DE"/>
          </a:p>
        </p:txBody>
      </p:sp>
      <p:graphicFrame>
        <p:nvGraphicFramePr>
          <p:cNvPr id="6" name="Group 14"/>
          <p:cNvGraphicFramePr>
            <a:graphicFrameLocks noGrp="1"/>
          </p:cNvGraphicFramePr>
          <p:nvPr>
            <p:ph sz="quarter" idx="1"/>
          </p:nvPr>
        </p:nvGraphicFramePr>
        <p:xfrm>
          <a:off x="704850" y="1600200"/>
          <a:ext cx="7467600" cy="2522538"/>
        </p:xfrm>
        <a:graphic>
          <a:graphicData uri="http://schemas.openxmlformats.org/drawingml/2006/table">
            <a:tbl>
              <a:tblPr/>
              <a:tblGrid>
                <a:gridCol w="7467600">
                  <a:extLst>
                    <a:ext uri="{9D8B030D-6E8A-4147-A177-3AD203B41FA5}">
                      <a16:colId xmlns:a16="http://schemas.microsoft.com/office/drawing/2014/main" val="20000"/>
                    </a:ext>
                  </a:extLst>
                </a:gridCol>
              </a:tblGrid>
              <a:tr h="1493708">
                <a:tc>
                  <a:txBody>
                    <a:bodyPr/>
                    <a:lstStyle/>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a:ln>
                            <a:noFill/>
                          </a:ln>
                          <a:solidFill>
                            <a:schemeClr val="tx1"/>
                          </a:solidFill>
                          <a:effectLst/>
                          <a:latin typeface="Tahoma" pitchFamily="34" charset="0"/>
                        </a:rPr>
                        <a:t>Technisches Experiment planen</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a:ln>
                            <a:noFill/>
                          </a:ln>
                          <a:solidFill>
                            <a:schemeClr val="tx1"/>
                          </a:solidFill>
                          <a:effectLst/>
                          <a:latin typeface="Tahoma" pitchFamily="34" charset="0"/>
                        </a:rPr>
                        <a:t>Technisches Experiment durchführen</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a:ln>
                            <a:noFill/>
                          </a:ln>
                          <a:solidFill>
                            <a:schemeClr val="tx1"/>
                          </a:solidFill>
                          <a:effectLst/>
                          <a:latin typeface="Tahoma" pitchFamily="34" charset="0"/>
                        </a:rPr>
                        <a:t>Versuch auswerten</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startAt="3"/>
                        <a:tabLst/>
                      </a:pPr>
                      <a:r>
                        <a:rPr kumimoji="0" lang="de-DE" sz="2000" b="0" i="0" u="none" strike="noStrike" cap="none" normalizeH="0" baseline="0">
                          <a:ln>
                            <a:noFill/>
                          </a:ln>
                          <a:solidFill>
                            <a:schemeClr val="tx1"/>
                          </a:solidFill>
                          <a:effectLst/>
                          <a:latin typeface="Tahoma" pitchFamily="34" charset="0"/>
                        </a:rPr>
                        <a:t>Zusammenfassung/Transfer/Ausblick</a:t>
                      </a:r>
                    </a:p>
                  </a:txBody>
                  <a:tcPr marL="78449" marR="78449"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830">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Entwurf und Bau einer stabilen Brücke im Modell</a:t>
                      </a:r>
                    </a:p>
                  </a:txBody>
                  <a:tcPr marL="78449" marR="78449"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85640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5.4 deduktiv akzentuiert – Konstruktionsaufgabe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23</a:t>
            </a:fld>
            <a:endParaRPr lang="de-DE"/>
          </a:p>
        </p:txBody>
      </p:sp>
      <p:sp>
        <p:nvSpPr>
          <p:cNvPr id="5" name="Rectangle 15"/>
          <p:cNvSpPr>
            <a:spLocks noGrp="1" noChangeArrowheads="1"/>
          </p:cNvSpPr>
          <p:nvPr>
            <p:ph sz="quarter" idx="1"/>
          </p:nvPr>
        </p:nvSpPr>
        <p:spPr>
          <a:xfrm>
            <a:off x="704850" y="1600200"/>
            <a:ext cx="7467600" cy="4873625"/>
          </a:xfrm>
        </p:spPr>
        <p:txBody>
          <a:bodyPr/>
          <a:lstStyle/>
          <a:p>
            <a:pPr eaLnBrk="1" hangingPunct="1"/>
            <a:r>
              <a:rPr lang="de-DE" dirty="0"/>
              <a:t>Konstruktionsaufgabe unter Vorgabe von Gesetzmäßigkeiten auf deren Grundlage ein technisches System konstruiert werden soll</a:t>
            </a:r>
          </a:p>
          <a:p>
            <a:pPr eaLnBrk="1" hangingPunct="1"/>
            <a:r>
              <a:rPr lang="de-DE" dirty="0"/>
              <a:t>Beispiel: Konstruktion eines Autos mit einem möglichst geringen cw-Wert</a:t>
            </a:r>
          </a:p>
        </p:txBody>
      </p:sp>
    </p:spTree>
    <p:extLst>
      <p:ext uri="{BB962C8B-B14F-4D97-AF65-F5344CB8AC3E}">
        <p14:creationId xmlns:p14="http://schemas.microsoft.com/office/powerpoint/2010/main" val="527884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5.5 historisch akzentuiert – historisch-genetisches Ausbildungs- und Unterrichtsverfahren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24</a:t>
            </a:fld>
            <a:endParaRPr lang="de-DE"/>
          </a:p>
        </p:txBody>
      </p:sp>
      <p:graphicFrame>
        <p:nvGraphicFramePr>
          <p:cNvPr id="5" name="Group 22"/>
          <p:cNvGraphicFramePr>
            <a:graphicFrameLocks noGrp="1"/>
          </p:cNvGraphicFramePr>
          <p:nvPr>
            <p:ph sz="quarter" idx="1"/>
          </p:nvPr>
        </p:nvGraphicFramePr>
        <p:xfrm>
          <a:off x="704850" y="1600200"/>
          <a:ext cx="7467600" cy="4632884"/>
        </p:xfrm>
        <a:graphic>
          <a:graphicData uri="http://schemas.openxmlformats.org/drawingml/2006/table">
            <a:tbl>
              <a:tblPr/>
              <a:tblGrid>
                <a:gridCol w="7467600">
                  <a:extLst>
                    <a:ext uri="{9D8B030D-6E8A-4147-A177-3AD203B41FA5}">
                      <a16:colId xmlns:a16="http://schemas.microsoft.com/office/drawing/2014/main" val="20000"/>
                    </a:ext>
                  </a:extLst>
                </a:gridCol>
              </a:tblGrid>
              <a:tr h="82283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Historisch-genetisches Ausbildungs- und Unterrichtsverfahren</a:t>
                      </a:r>
                    </a:p>
                  </a:txBody>
                  <a:tcPr marL="78449" marR="78449"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09495">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Durch historischen Unterricht lassen sich schnell Bezüge zur Gegenwart und Zukunft herstellen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Hilft umfassend reflektierte Verständnisse des Gegenstandsbereiches „Technik“ zu erhalte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Gegenstandsbereiche werden aufgeschlüsselt und so leichter fassbar</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Da Technologie vergangener Zeiten einfacher war, liegt das Verständnis eher im Horizont des Lerners</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Auf diesem Wissen kann anschließend aufgebaut und so die heutigen Prozesse besser verstanden werden</a:t>
                      </a:r>
                    </a:p>
                  </a:txBody>
                  <a:tcPr marL="78449" marR="78449" marT="45701" marB="4570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95054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5.5 historisch akzentuiert – historisch-genetisches Ausbildungs- und Unterrichtsverfahren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25</a:t>
            </a:fld>
            <a:endParaRPr lang="de-DE"/>
          </a:p>
        </p:txBody>
      </p:sp>
      <p:graphicFrame>
        <p:nvGraphicFramePr>
          <p:cNvPr id="5" name="Group 17"/>
          <p:cNvGraphicFramePr>
            <a:graphicFrameLocks noGrp="1"/>
          </p:cNvGraphicFramePr>
          <p:nvPr>
            <p:ph sz="quarter" idx="1"/>
          </p:nvPr>
        </p:nvGraphicFramePr>
        <p:xfrm>
          <a:off x="704850" y="1600200"/>
          <a:ext cx="7467600" cy="3314700"/>
        </p:xfrm>
        <a:graphic>
          <a:graphicData uri="http://schemas.openxmlformats.org/drawingml/2006/table">
            <a:tbl>
              <a:tblPr/>
              <a:tblGrid>
                <a:gridCol w="7467600">
                  <a:extLst>
                    <a:ext uri="{9D8B030D-6E8A-4147-A177-3AD203B41FA5}">
                      <a16:colId xmlns:a16="http://schemas.microsoft.com/office/drawing/2014/main" val="20000"/>
                    </a:ext>
                  </a:extLst>
                </a:gridCol>
              </a:tblGrid>
              <a:tr h="180975">
                <a:tc>
                  <a:txBody>
                    <a:bodyPr/>
                    <a:lstStyle/>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Aufgabenstellung</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Intuitive Phase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Planungs- und Informationsphase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Durchführungsphase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Bewertungs- und Transferphase</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00">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Überprüfung der Funktionsweise einer Dampflok</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21637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 5.6 reduktiv akzentuiert – Naturstudie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26</a:t>
            </a:fld>
            <a:endParaRPr lang="de-DE"/>
          </a:p>
        </p:txBody>
      </p:sp>
      <p:graphicFrame>
        <p:nvGraphicFramePr>
          <p:cNvPr id="5" name="Group 22"/>
          <p:cNvGraphicFramePr>
            <a:graphicFrameLocks noGrp="1"/>
          </p:cNvGraphicFramePr>
          <p:nvPr>
            <p:ph sz="quarter" idx="1"/>
          </p:nvPr>
        </p:nvGraphicFramePr>
        <p:xfrm>
          <a:off x="704850" y="1600200"/>
          <a:ext cx="7467600" cy="4267200"/>
        </p:xfrm>
        <a:graphic>
          <a:graphicData uri="http://schemas.openxmlformats.org/drawingml/2006/table">
            <a:tbl>
              <a:tblPr/>
              <a:tblGrid>
                <a:gridCol w="7467600">
                  <a:extLst>
                    <a:ext uri="{9D8B030D-6E8A-4147-A177-3AD203B41FA5}">
                      <a16:colId xmlns:a16="http://schemas.microsoft.com/office/drawing/2014/main" val="20000"/>
                    </a:ext>
                  </a:extLst>
                </a:gridCol>
              </a:tblGrid>
              <a:tr h="1809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1" i="0" u="none" strike="noStrike" cap="none" normalizeH="0" baseline="0" dirty="0">
                          <a:ln>
                            <a:noFill/>
                          </a:ln>
                          <a:solidFill>
                            <a:schemeClr val="tx1"/>
                          </a:solidFill>
                          <a:effectLst/>
                          <a:latin typeface="Tahoma" pitchFamily="34" charset="0"/>
                        </a:rPr>
                        <a:t>Naturstudie</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00">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Merkmale:</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Selbstständige Erarbeitung eines technische Problems mit Hilfe von Lösungen, wie sie in der Natur vorkommen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Gefordert und gefördert werden Kreativität, Ideenreichtum, Transfervermögen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Scheinbar nicht lösbare technische Probleme werden mit Hilfe der Natur gelöst</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Präsenz der Natur hilft die Lösungen von Problemen verständlicher zu gestalten</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Verlässlichkeit der Richtigkeit der Lösungen ist sehr hoch, da sie während der Evolution meist Perfektioniert wurden</a:t>
                      </a:r>
                    </a:p>
                  </a:txBody>
                  <a:tcPr marL="78449" marR="7844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38782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 5.6 reduktiv akzentuiert – Naturstudie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27</a:t>
            </a:fld>
            <a:endParaRPr lang="de-DE"/>
          </a:p>
        </p:txBody>
      </p:sp>
      <p:graphicFrame>
        <p:nvGraphicFramePr>
          <p:cNvPr id="5" name="Group 18"/>
          <p:cNvGraphicFramePr>
            <a:graphicFrameLocks noGrp="1"/>
          </p:cNvGraphicFramePr>
          <p:nvPr>
            <p:ph sz="quarter" idx="1"/>
          </p:nvPr>
        </p:nvGraphicFramePr>
        <p:xfrm>
          <a:off x="704850" y="1600200"/>
          <a:ext cx="7467600" cy="4351338"/>
        </p:xfrm>
        <a:graphic>
          <a:graphicData uri="http://schemas.openxmlformats.org/drawingml/2006/table">
            <a:tbl>
              <a:tblPr/>
              <a:tblGrid>
                <a:gridCol w="7467600">
                  <a:extLst>
                    <a:ext uri="{9D8B030D-6E8A-4147-A177-3AD203B41FA5}">
                      <a16:colId xmlns:a16="http://schemas.microsoft.com/office/drawing/2014/main" val="20000"/>
                    </a:ext>
                  </a:extLst>
                </a:gridCol>
              </a:tblGrid>
              <a:tr h="3322503">
                <a:tc>
                  <a:txBody>
                    <a:bodyPr/>
                    <a:lstStyle/>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Typische Schritte: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Problemsituation im technischen Bereich</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Intuitive Phase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Problemanalyse und Zuordnung biologischer Systeme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Analyse eines biologisches Systems</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Übertragung auf ein technisches Problem – technische Problemlösung</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Präsentation der Ergebnisse</a:t>
                      </a:r>
                    </a:p>
                    <a:p>
                      <a:pPr marL="266700" marR="0" lvl="0" indent="-266700" algn="l" defTabSz="914400" rtl="0" eaLnBrk="1" fontAlgn="base" latinLnBrk="0" hangingPunct="1">
                        <a:lnSpc>
                          <a:spcPct val="100000"/>
                        </a:lnSpc>
                        <a:spcBef>
                          <a:spcPct val="20000"/>
                        </a:spcBef>
                        <a:spcAft>
                          <a:spcPct val="0"/>
                        </a:spcAft>
                        <a:buClr>
                          <a:schemeClr val="folHlink"/>
                        </a:buClr>
                        <a:buSzPct val="60000"/>
                        <a:buFont typeface="Wingdings" pitchFamily="2" charset="2"/>
                        <a:buAutoNum type="arabicPeriod"/>
                        <a:tabLst/>
                      </a:pPr>
                      <a:r>
                        <a:rPr kumimoji="0" lang="de-DE" sz="2000" b="0" i="0" u="none" strike="noStrike" cap="none" normalizeH="0" baseline="0" dirty="0">
                          <a:ln>
                            <a:noFill/>
                          </a:ln>
                          <a:solidFill>
                            <a:schemeClr val="tx1"/>
                          </a:solidFill>
                          <a:effectLst/>
                          <a:latin typeface="Tahoma" pitchFamily="34" charset="0"/>
                        </a:rPr>
                        <a:t>Anwendung, Transfer und Auswertung</a:t>
                      </a:r>
                    </a:p>
                  </a:txBody>
                  <a:tcPr marL="78449" marR="78449"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835">
                <a:tc>
                  <a:txBody>
                    <a:bodyPr/>
                    <a:lstStyle/>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Beispiel:</a:t>
                      </a:r>
                    </a:p>
                    <a:p>
                      <a:pPr marL="273050" marR="0" lvl="0" indent="-27305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n"/>
                        <a:tabLst/>
                      </a:pPr>
                      <a:r>
                        <a:rPr kumimoji="0" lang="de-DE" sz="2000" b="0" i="0" u="none" strike="noStrike" cap="none" normalizeH="0" baseline="0" dirty="0">
                          <a:ln>
                            <a:noFill/>
                          </a:ln>
                          <a:solidFill>
                            <a:schemeClr val="tx1"/>
                          </a:solidFill>
                          <a:effectLst/>
                          <a:latin typeface="Tahoma" pitchFamily="34" charset="0"/>
                        </a:rPr>
                        <a:t>Verschmutzungs- und Abnutzungsgrad von Lacken und Farben</a:t>
                      </a:r>
                    </a:p>
                  </a:txBody>
                  <a:tcPr marL="78449" marR="78449"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46256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28</a:t>
            </a:fld>
            <a:endParaRPr lang="de-DE">
              <a:solidFill>
                <a:srgbClr val="FFFFFF"/>
              </a:solidFill>
            </a:endParaRPr>
          </a:p>
        </p:txBody>
      </p:sp>
      <p:sp>
        <p:nvSpPr>
          <p:cNvPr id="16387" name="Textfeld 2"/>
          <p:cNvSpPr txBox="1">
            <a:spLocks noChangeArrowheads="1"/>
          </p:cNvSpPr>
          <p:nvPr/>
        </p:nvSpPr>
        <p:spPr bwMode="auto">
          <a:xfrm>
            <a:off x="755650" y="2852738"/>
            <a:ext cx="74882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Didaktische Reduktion           nach GRÜNER</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6</a:t>
            </a:r>
          </a:p>
        </p:txBody>
      </p:sp>
    </p:spTree>
    <p:extLst>
      <p:ext uri="{BB962C8B-B14F-4D97-AF65-F5344CB8AC3E}">
        <p14:creationId xmlns:p14="http://schemas.microsoft.com/office/powerpoint/2010/main" val="3457967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6.1 Definition Didaktische Reduktion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29</a:t>
            </a:fld>
            <a:endParaRPr lang="de-DE"/>
          </a:p>
        </p:txBody>
      </p:sp>
      <p:sp>
        <p:nvSpPr>
          <p:cNvPr id="5" name="Rectangle 3"/>
          <p:cNvSpPr txBox="1">
            <a:spLocks noChangeArrowheads="1"/>
          </p:cNvSpPr>
          <p:nvPr/>
        </p:nvSpPr>
        <p:spPr>
          <a:xfrm>
            <a:off x="404241" y="1700808"/>
            <a:ext cx="8704263" cy="1981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de-DE" b="0" dirty="0"/>
              <a:t>Widerspruchsfreien Übergang von wissenschaftlicher Aussage zu einer verständlicheren vereinfachten Aussage</a:t>
            </a:r>
          </a:p>
          <a:p>
            <a:r>
              <a:rPr lang="de-DE" b="0" dirty="0"/>
              <a:t>Abgeleitete Aussage muss unter Nennung der Einschränkungen immer korrekt bleiben</a:t>
            </a:r>
          </a:p>
        </p:txBody>
      </p:sp>
      <p:pic>
        <p:nvPicPr>
          <p:cNvPr id="6" name="Content Placeholder 5"/>
          <p:cNvPicPr>
            <a:picLocks noGrp="1" noChangeAspect="1" noChangeArrowheads="1"/>
          </p:cNvPicPr>
          <p:nvPr>
            <p:ph sz="half" idx="4294967295"/>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395536" y="3501008"/>
            <a:ext cx="8172450" cy="2138363"/>
          </a:xfrm>
          <a:prstGeom prst="rect">
            <a:avLst/>
          </a:prstGeom>
          <a:solidFill>
            <a:srgbClr val="FFFFFF"/>
          </a:solidFill>
        </p:spPr>
      </p:pic>
    </p:spTree>
    <p:extLst>
      <p:ext uri="{BB962C8B-B14F-4D97-AF65-F5344CB8AC3E}">
        <p14:creationId xmlns:p14="http://schemas.microsoft.com/office/powerpoint/2010/main" val="20615509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6.2 Reduktionsmethoden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30</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eaLnBrk="1" hangingPunct="1"/>
            <a:r>
              <a:rPr lang="de-DE" dirty="0"/>
              <a:t>Kernproblem ist Fasslichkeit</a:t>
            </a:r>
          </a:p>
          <a:p>
            <a:pPr lvl="1" eaLnBrk="1" hangingPunct="1"/>
            <a:r>
              <a:rPr lang="de-DE" sz="2000" dirty="0"/>
              <a:t>Ausgangsaussage zu abstrakt</a:t>
            </a:r>
          </a:p>
          <a:p>
            <a:pPr lvl="1" eaLnBrk="1" hangingPunct="1"/>
            <a:r>
              <a:rPr lang="de-DE" sz="2000" dirty="0"/>
              <a:t>Ausgangsaussage zu komplex</a:t>
            </a:r>
          </a:p>
          <a:p>
            <a:pPr eaLnBrk="1" hangingPunct="1"/>
            <a:r>
              <a:rPr lang="de-DE" dirty="0"/>
              <a:t>Durch Reduktionsmethoden fasslicher machen</a:t>
            </a:r>
          </a:p>
          <a:p>
            <a:pPr lvl="1" eaLnBrk="1" hangingPunct="1"/>
            <a:r>
              <a:rPr lang="de-DE" sz="2000" dirty="0"/>
              <a:t>Einschränkung auf wichtige Sonderfälle</a:t>
            </a:r>
          </a:p>
          <a:p>
            <a:pPr lvl="1" eaLnBrk="1" hangingPunct="1"/>
            <a:r>
              <a:rPr lang="de-DE" sz="2000" dirty="0"/>
              <a:t>Verdeutlichung durch Beispiele</a:t>
            </a:r>
          </a:p>
          <a:p>
            <a:pPr lvl="1" eaLnBrk="1" hangingPunct="1"/>
            <a:r>
              <a:rPr lang="de-DE" sz="2000" dirty="0"/>
              <a:t>Veranschaulichung durch </a:t>
            </a:r>
            <a:r>
              <a:rPr lang="de-DE" sz="2000" dirty="0" err="1"/>
              <a:t>Prinzipskizzen</a:t>
            </a:r>
            <a:r>
              <a:rPr lang="de-DE" sz="2000" dirty="0"/>
              <a:t>, Kennlinie, Experiment, Computeranimationen, Analogien, …</a:t>
            </a:r>
          </a:p>
          <a:p>
            <a:pPr lvl="1" eaLnBrk="1" hangingPunct="1"/>
            <a:r>
              <a:rPr lang="de-DE" sz="2000" dirty="0"/>
              <a:t>Verbale Erläuterungen oder Merkregeln, statt mathematischer Gleichungen</a:t>
            </a:r>
          </a:p>
          <a:p>
            <a:pPr lvl="1" eaLnBrk="1" hangingPunct="1"/>
            <a:r>
              <a:rPr lang="de-DE" sz="2000" dirty="0"/>
              <a:t>Vernachlässigung von „Randeffekten“</a:t>
            </a:r>
          </a:p>
        </p:txBody>
      </p:sp>
    </p:spTree>
    <p:extLst>
      <p:ext uri="{BB962C8B-B14F-4D97-AF65-F5344CB8AC3E}">
        <p14:creationId xmlns:p14="http://schemas.microsoft.com/office/powerpoint/2010/main" val="3190536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6.3 Arten Didaktischer Reduktion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31</a:t>
            </a:fld>
            <a:endParaRPr lang="de-DE"/>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18183" y="3789040"/>
            <a:ext cx="4562475" cy="2765425"/>
          </a:xfrm>
          <a:prstGeom prst="rect">
            <a:avLst/>
          </a:prstGeom>
          <a:solidFill>
            <a:srgbClr val="FFFFFF"/>
          </a:solidFill>
        </p:spPr>
      </p:pic>
      <p:sp>
        <p:nvSpPr>
          <p:cNvPr id="6" name="Rectangle 7"/>
          <p:cNvSpPr txBox="1">
            <a:spLocks noChangeArrowheads="1"/>
          </p:cNvSpPr>
          <p:nvPr/>
        </p:nvSpPr>
        <p:spPr>
          <a:xfrm>
            <a:off x="682873" y="1628800"/>
            <a:ext cx="3889127" cy="41148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nSpc>
                <a:spcPct val="90000"/>
              </a:lnSpc>
            </a:pPr>
            <a:r>
              <a:rPr lang="de-DE" b="0" dirty="0"/>
              <a:t>Vertikale Reduktion</a:t>
            </a:r>
          </a:p>
          <a:p>
            <a:pPr lvl="1">
              <a:lnSpc>
                <a:spcPct val="90000"/>
              </a:lnSpc>
            </a:pPr>
            <a:r>
              <a:rPr lang="de-DE" sz="2000" b="0" dirty="0"/>
              <a:t>Gültigkeitsumfang wird reduziert</a:t>
            </a:r>
          </a:p>
          <a:p>
            <a:pPr lvl="1">
              <a:lnSpc>
                <a:spcPct val="90000"/>
              </a:lnSpc>
            </a:pPr>
            <a:r>
              <a:rPr lang="de-DE" sz="2000" b="0" dirty="0"/>
              <a:t>Erfolgt </a:t>
            </a:r>
            <a:r>
              <a:rPr lang="de-DE" sz="2000" b="0" dirty="0" err="1"/>
              <a:t>Ausschnittsbildung</a:t>
            </a:r>
            <a:r>
              <a:rPr lang="de-DE" sz="2000" b="0" dirty="0"/>
              <a:t> aus der Ausgangsaussage durch Betrachtung von Sonderfällen</a:t>
            </a:r>
          </a:p>
        </p:txBody>
      </p:sp>
      <p:sp>
        <p:nvSpPr>
          <p:cNvPr id="7" name="Rectangle 7"/>
          <p:cNvSpPr txBox="1">
            <a:spLocks noChangeArrowheads="1"/>
          </p:cNvSpPr>
          <p:nvPr/>
        </p:nvSpPr>
        <p:spPr>
          <a:xfrm>
            <a:off x="4499421" y="1618456"/>
            <a:ext cx="3889003" cy="41148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nSpc>
                <a:spcPct val="90000"/>
              </a:lnSpc>
            </a:pPr>
            <a:r>
              <a:rPr lang="de-DE" b="0" dirty="0"/>
              <a:t>Horizontale Reduktion</a:t>
            </a:r>
          </a:p>
          <a:p>
            <a:pPr lvl="1">
              <a:lnSpc>
                <a:spcPct val="90000"/>
              </a:lnSpc>
            </a:pPr>
            <a:r>
              <a:rPr lang="de-DE" sz="2000" b="0" dirty="0"/>
              <a:t>Gültigkeitsumfang bleibt erhalten</a:t>
            </a:r>
          </a:p>
          <a:p>
            <a:pPr lvl="1">
              <a:lnSpc>
                <a:spcPct val="90000"/>
              </a:lnSpc>
            </a:pPr>
            <a:r>
              <a:rPr lang="de-DE" sz="2000" b="0" dirty="0"/>
              <a:t>Konkretere Aussage ist Ausgangsaussage nebengeordnet</a:t>
            </a:r>
          </a:p>
        </p:txBody>
      </p:sp>
    </p:spTree>
    <p:extLst>
      <p:ext uri="{BB962C8B-B14F-4D97-AF65-F5344CB8AC3E}">
        <p14:creationId xmlns:p14="http://schemas.microsoft.com/office/powerpoint/2010/main" val="1304431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 Didaktische Reduktion nach GRÜNER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32</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01700" indent="-901700" eaLnBrk="1" hangingPunct="1">
              <a:buFont typeface="Wingdings" pitchFamily="2" charset="2"/>
              <a:buNone/>
            </a:pPr>
            <a:r>
              <a:rPr lang="de-DE" dirty="0"/>
              <a:t>6.4	Beispiel für vertikale didaktische Reduktion (Elektrotechnik)</a:t>
            </a:r>
          </a:p>
          <a:p>
            <a:pPr marL="901700" indent="-901700" eaLnBrk="1" hangingPunct="1">
              <a:buFont typeface="Wingdings" pitchFamily="2" charset="2"/>
              <a:buNone/>
            </a:pPr>
            <a:r>
              <a:rPr lang="de-DE" dirty="0"/>
              <a:t>6.5	Beispiel für vertikale didaktische Reduktion (Bautechnik)</a:t>
            </a:r>
          </a:p>
          <a:p>
            <a:pPr marL="901700" indent="-901700" eaLnBrk="1" hangingPunct="1">
              <a:buFont typeface="Wingdings" pitchFamily="2" charset="2"/>
              <a:buNone/>
            </a:pPr>
            <a:r>
              <a:rPr lang="de-DE" dirty="0"/>
              <a:t>6.6	Beispiel für horizontale didaktische Reduktion (Elektrotechnik)</a:t>
            </a:r>
          </a:p>
          <a:p>
            <a:pPr marL="901700" indent="-901700" eaLnBrk="1" hangingPunct="1">
              <a:buFont typeface="Wingdings" pitchFamily="2" charset="2"/>
              <a:buNone/>
            </a:pPr>
            <a:r>
              <a:rPr lang="de-DE" dirty="0"/>
              <a:t>6.7	Beispiel für horizontale didaktische Reduktion (Bautechnik)</a:t>
            </a:r>
          </a:p>
        </p:txBody>
      </p:sp>
    </p:spTree>
    <p:extLst>
      <p:ext uri="{BB962C8B-B14F-4D97-AF65-F5344CB8AC3E}">
        <p14:creationId xmlns:p14="http://schemas.microsoft.com/office/powerpoint/2010/main" val="602384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33</a:t>
            </a:fld>
            <a:endParaRPr lang="de-DE"/>
          </a:p>
        </p:txBody>
      </p:sp>
      <p:sp>
        <p:nvSpPr>
          <p:cNvPr id="10" name="Titel 1">
            <a:extLst>
              <a:ext uri="{FF2B5EF4-FFF2-40B4-BE49-F238E27FC236}">
                <a16:creationId xmlns:a16="http://schemas.microsoft.com/office/drawing/2014/main" id="{94252EA7-C614-4256-9A69-8382BFA4E907}"/>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600" dirty="0"/>
              <a:t>6.4 Beispiel für vertikale didaktische Reduktion Elektrotechnik</a:t>
            </a:r>
          </a:p>
        </p:txBody>
      </p:sp>
      <p:pic>
        <p:nvPicPr>
          <p:cNvPr id="9" name="Grafik 8">
            <a:extLst>
              <a:ext uri="{FF2B5EF4-FFF2-40B4-BE49-F238E27FC236}">
                <a16:creationId xmlns:a16="http://schemas.microsoft.com/office/drawing/2014/main" id="{B145CDE2-370B-40B6-9BFD-8470F2B4C6D9}"/>
              </a:ext>
            </a:extLst>
          </p:cNvPr>
          <p:cNvPicPr>
            <a:picLocks noChangeAspect="1"/>
          </p:cNvPicPr>
          <p:nvPr/>
        </p:nvPicPr>
        <p:blipFill>
          <a:blip r:embed="rId2"/>
          <a:stretch>
            <a:fillRect/>
          </a:stretch>
        </p:blipFill>
        <p:spPr>
          <a:xfrm>
            <a:off x="1581893" y="1124387"/>
            <a:ext cx="5840772" cy="4609663"/>
          </a:xfrm>
          <a:prstGeom prst="rect">
            <a:avLst/>
          </a:prstGeom>
        </p:spPr>
      </p:pic>
      <p:sp>
        <p:nvSpPr>
          <p:cNvPr id="11" name="Rechteck 10">
            <a:extLst>
              <a:ext uri="{FF2B5EF4-FFF2-40B4-BE49-F238E27FC236}">
                <a16:creationId xmlns:a16="http://schemas.microsoft.com/office/drawing/2014/main" id="{1E386644-BC08-45A1-937B-D48C1731F605}"/>
              </a:ext>
            </a:extLst>
          </p:cNvPr>
          <p:cNvSpPr/>
          <p:nvPr/>
        </p:nvSpPr>
        <p:spPr>
          <a:xfrm>
            <a:off x="7454115" y="1155775"/>
            <a:ext cx="1326004" cy="276999"/>
          </a:xfrm>
          <a:prstGeom prst="rect">
            <a:avLst/>
          </a:prstGeom>
        </p:spPr>
        <p:txBody>
          <a:bodyPr wrap="none">
            <a:spAutoFit/>
          </a:bodyPr>
          <a:lstStyle/>
          <a:p>
            <a:pPr algn="just">
              <a:spcAft>
                <a:spcPts val="0"/>
              </a:spcAft>
            </a:pPr>
            <a:r>
              <a:rPr lang="de-DE" sz="1200" b="0" dirty="0">
                <a:solidFill>
                  <a:srgbClr val="000000"/>
                </a:solidFill>
                <a:latin typeface="+mn-lt"/>
                <a:ea typeface="DKJNDH+TimesNewRoman"/>
              </a:rPr>
              <a:t>(</a:t>
            </a:r>
            <a:r>
              <a:rPr lang="de-DE" sz="1200" b="0" cap="small" dirty="0">
                <a:solidFill>
                  <a:srgbClr val="000000"/>
                </a:solidFill>
                <a:latin typeface="+mn-lt"/>
                <a:ea typeface="DKJNDH+TimesNewRoman"/>
              </a:rPr>
              <a:t>Wagner, </a:t>
            </a:r>
            <a:r>
              <a:rPr lang="de-DE" sz="1200" b="0" dirty="0">
                <a:solidFill>
                  <a:srgbClr val="000000"/>
                </a:solidFill>
                <a:latin typeface="+mn-lt"/>
                <a:ea typeface="DKJNDH+TimesNewRoman"/>
              </a:rPr>
              <a:t>2006)</a:t>
            </a:r>
            <a:endParaRPr lang="de-DE" sz="1200" b="0" dirty="0">
              <a:effectLst/>
              <a:latin typeface="+mn-lt"/>
              <a:ea typeface="Times New Roman" panose="02020603050405020304" pitchFamily="18" charset="0"/>
            </a:endParaRPr>
          </a:p>
        </p:txBody>
      </p:sp>
      <p:sp>
        <p:nvSpPr>
          <p:cNvPr id="12" name="Rechteck 11">
            <a:extLst>
              <a:ext uri="{FF2B5EF4-FFF2-40B4-BE49-F238E27FC236}">
                <a16:creationId xmlns:a16="http://schemas.microsoft.com/office/drawing/2014/main" id="{5943F616-4B75-4634-8C48-E24BA17AD5FE}"/>
              </a:ext>
            </a:extLst>
          </p:cNvPr>
          <p:cNvSpPr/>
          <p:nvPr/>
        </p:nvSpPr>
        <p:spPr>
          <a:xfrm>
            <a:off x="208136" y="5796754"/>
            <a:ext cx="6452096" cy="938719"/>
          </a:xfrm>
          <a:prstGeom prst="rect">
            <a:avLst/>
          </a:prstGeom>
        </p:spPr>
        <p:txBody>
          <a:bodyPr wrap="square">
            <a:spAutoFit/>
          </a:bodyPr>
          <a:lstStyle/>
          <a:p>
            <a:pPr algn="just">
              <a:spcAft>
                <a:spcPts val="0"/>
              </a:spcAft>
            </a:pPr>
            <a:r>
              <a:rPr lang="de-DE" sz="1100" b="0" dirty="0">
                <a:solidFill>
                  <a:srgbClr val="000000"/>
                </a:solidFill>
                <a:latin typeface="+mn-lt"/>
                <a:ea typeface="DKJNDH+TimesNewRoman"/>
              </a:rPr>
              <a:t>E	elektrische Feldstärke		H	magnetische Feldstärke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D	Verschiebungsdichte		S	Stromdichte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A	Querschnittsfläche im Raum	B	Flussdichte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Θ	Durchflutung			l	Länge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γ	elektrische Leitfähigkeit </a:t>
            </a:r>
            <a:endParaRPr lang="de-DE" sz="1100" b="0" dirty="0">
              <a:latin typeface="+mn-lt"/>
              <a:ea typeface="Times New Roman" panose="02020603050405020304" pitchFamily="18" charset="0"/>
            </a:endParaRPr>
          </a:p>
        </p:txBody>
      </p:sp>
    </p:spTree>
    <p:extLst>
      <p:ext uri="{BB962C8B-B14F-4D97-AF65-F5344CB8AC3E}">
        <p14:creationId xmlns:p14="http://schemas.microsoft.com/office/powerpoint/2010/main" val="1391624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34</a:t>
            </a:fld>
            <a:endParaRPr lang="de-DE"/>
          </a:p>
        </p:txBody>
      </p:sp>
      <p:sp>
        <p:nvSpPr>
          <p:cNvPr id="10" name="Titel 1">
            <a:extLst>
              <a:ext uri="{FF2B5EF4-FFF2-40B4-BE49-F238E27FC236}">
                <a16:creationId xmlns:a16="http://schemas.microsoft.com/office/drawing/2014/main" id="{94252EA7-C614-4256-9A69-8382BFA4E907}"/>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600" dirty="0"/>
              <a:t>6.4 Beispiel für vertikale didaktische Reduktion Elektrotechnik</a:t>
            </a:r>
          </a:p>
        </p:txBody>
      </p:sp>
      <p:sp>
        <p:nvSpPr>
          <p:cNvPr id="11" name="Rechteck 10">
            <a:extLst>
              <a:ext uri="{FF2B5EF4-FFF2-40B4-BE49-F238E27FC236}">
                <a16:creationId xmlns:a16="http://schemas.microsoft.com/office/drawing/2014/main" id="{1E386644-BC08-45A1-937B-D48C1731F605}"/>
              </a:ext>
            </a:extLst>
          </p:cNvPr>
          <p:cNvSpPr/>
          <p:nvPr/>
        </p:nvSpPr>
        <p:spPr>
          <a:xfrm>
            <a:off x="7454115" y="1155775"/>
            <a:ext cx="1326004" cy="276999"/>
          </a:xfrm>
          <a:prstGeom prst="rect">
            <a:avLst/>
          </a:prstGeom>
        </p:spPr>
        <p:txBody>
          <a:bodyPr wrap="none">
            <a:spAutoFit/>
          </a:bodyPr>
          <a:lstStyle/>
          <a:p>
            <a:pPr algn="just">
              <a:spcAft>
                <a:spcPts val="0"/>
              </a:spcAft>
            </a:pPr>
            <a:r>
              <a:rPr lang="de-DE" sz="1200" b="0" dirty="0">
                <a:solidFill>
                  <a:srgbClr val="000000"/>
                </a:solidFill>
                <a:latin typeface="+mn-lt"/>
                <a:ea typeface="DKJNDH+TimesNewRoman"/>
              </a:rPr>
              <a:t>(</a:t>
            </a:r>
            <a:r>
              <a:rPr lang="de-DE" sz="1200" b="0" cap="small" dirty="0">
                <a:solidFill>
                  <a:srgbClr val="000000"/>
                </a:solidFill>
                <a:latin typeface="+mn-lt"/>
                <a:ea typeface="DKJNDH+TimesNewRoman"/>
              </a:rPr>
              <a:t>Wagner, </a:t>
            </a:r>
            <a:r>
              <a:rPr lang="de-DE" sz="1200" b="0" dirty="0">
                <a:solidFill>
                  <a:srgbClr val="000000"/>
                </a:solidFill>
                <a:latin typeface="+mn-lt"/>
                <a:ea typeface="DKJNDH+TimesNewRoman"/>
              </a:rPr>
              <a:t>2006)</a:t>
            </a:r>
            <a:endParaRPr lang="de-DE" sz="1200" b="0" dirty="0">
              <a:effectLst/>
              <a:latin typeface="+mn-lt"/>
              <a:ea typeface="Times New Roman" panose="02020603050405020304" pitchFamily="18" charset="0"/>
            </a:endParaRPr>
          </a:p>
        </p:txBody>
      </p:sp>
      <p:sp>
        <p:nvSpPr>
          <p:cNvPr id="12" name="Rechteck 11">
            <a:extLst>
              <a:ext uri="{FF2B5EF4-FFF2-40B4-BE49-F238E27FC236}">
                <a16:creationId xmlns:a16="http://schemas.microsoft.com/office/drawing/2014/main" id="{5943F616-4B75-4634-8C48-E24BA17AD5FE}"/>
              </a:ext>
            </a:extLst>
          </p:cNvPr>
          <p:cNvSpPr/>
          <p:nvPr/>
        </p:nvSpPr>
        <p:spPr>
          <a:xfrm>
            <a:off x="208136" y="5796754"/>
            <a:ext cx="6452096" cy="938719"/>
          </a:xfrm>
          <a:prstGeom prst="rect">
            <a:avLst/>
          </a:prstGeom>
        </p:spPr>
        <p:txBody>
          <a:bodyPr wrap="square">
            <a:spAutoFit/>
          </a:bodyPr>
          <a:lstStyle/>
          <a:p>
            <a:pPr algn="just">
              <a:spcAft>
                <a:spcPts val="0"/>
              </a:spcAft>
            </a:pPr>
            <a:r>
              <a:rPr lang="de-DE" sz="1100" b="0" dirty="0">
                <a:solidFill>
                  <a:srgbClr val="000000"/>
                </a:solidFill>
                <a:latin typeface="+mn-lt"/>
                <a:ea typeface="DKJNDH+TimesNewRoman"/>
              </a:rPr>
              <a:t>E	elektrische Feldstärke		H	magnetische Feldstärke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D	Verschiebungsdichte		S	Stromdichte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A	Querschnittsfläche im Raum	B	Flussdichte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Θ	Durchflutung			l	Länge </a:t>
            </a:r>
            <a:endParaRPr lang="de-DE" sz="1100" b="0" dirty="0">
              <a:latin typeface="+mn-lt"/>
              <a:ea typeface="Times New Roman" panose="02020603050405020304" pitchFamily="18" charset="0"/>
            </a:endParaRPr>
          </a:p>
          <a:p>
            <a:pPr algn="just">
              <a:spcAft>
                <a:spcPts val="0"/>
              </a:spcAft>
            </a:pPr>
            <a:r>
              <a:rPr lang="de-DE" sz="1100" b="0" dirty="0">
                <a:solidFill>
                  <a:srgbClr val="000000"/>
                </a:solidFill>
                <a:latin typeface="+mn-lt"/>
                <a:ea typeface="DKJNDH+TimesNewRoman"/>
              </a:rPr>
              <a:t>γ	elektrische Leitfähigkeit </a:t>
            </a:r>
            <a:endParaRPr lang="de-DE" sz="1100" b="0" dirty="0">
              <a:latin typeface="+mn-lt"/>
              <a:ea typeface="Times New Roman" panose="02020603050405020304" pitchFamily="18" charset="0"/>
            </a:endParaRPr>
          </a:p>
        </p:txBody>
      </p:sp>
      <p:pic>
        <p:nvPicPr>
          <p:cNvPr id="2" name="Grafik 1">
            <a:extLst>
              <a:ext uri="{FF2B5EF4-FFF2-40B4-BE49-F238E27FC236}">
                <a16:creationId xmlns:a16="http://schemas.microsoft.com/office/drawing/2014/main" id="{00BCC201-5D78-4C93-81EE-7F13712365B5}"/>
              </a:ext>
            </a:extLst>
          </p:cNvPr>
          <p:cNvPicPr>
            <a:picLocks noChangeAspect="1"/>
          </p:cNvPicPr>
          <p:nvPr/>
        </p:nvPicPr>
        <p:blipFill>
          <a:blip r:embed="rId2"/>
          <a:stretch>
            <a:fillRect/>
          </a:stretch>
        </p:blipFill>
        <p:spPr>
          <a:xfrm>
            <a:off x="2195737" y="1311007"/>
            <a:ext cx="4609428" cy="4477258"/>
          </a:xfrm>
          <a:prstGeom prst="rect">
            <a:avLst/>
          </a:prstGeom>
        </p:spPr>
      </p:pic>
    </p:spTree>
    <p:extLst>
      <p:ext uri="{BB962C8B-B14F-4D97-AF65-F5344CB8AC3E}">
        <p14:creationId xmlns:p14="http://schemas.microsoft.com/office/powerpoint/2010/main" val="1960437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35</a:t>
            </a:fld>
            <a:endParaRPr lang="de-DE"/>
          </a:p>
        </p:txBody>
      </p:sp>
      <p:graphicFrame>
        <p:nvGraphicFramePr>
          <p:cNvPr id="12" name="Tabelle 11">
            <a:extLst>
              <a:ext uri="{FF2B5EF4-FFF2-40B4-BE49-F238E27FC236}">
                <a16:creationId xmlns:a16="http://schemas.microsoft.com/office/drawing/2014/main" id="{93996DDC-C03F-46EE-8736-0323823E83B1}"/>
              </a:ext>
            </a:extLst>
          </p:cNvPr>
          <p:cNvGraphicFramePr>
            <a:graphicFrameLocks noGrp="1"/>
          </p:cNvGraphicFramePr>
          <p:nvPr>
            <p:extLst>
              <p:ext uri="{D42A27DB-BD31-4B8C-83A1-F6EECF244321}">
                <p14:modId xmlns:p14="http://schemas.microsoft.com/office/powerpoint/2010/main" val="3045679799"/>
              </p:ext>
            </p:extLst>
          </p:nvPr>
        </p:nvGraphicFramePr>
        <p:xfrm>
          <a:off x="190128" y="1277648"/>
          <a:ext cx="8496944" cy="5159078"/>
        </p:xfrm>
        <a:graphic>
          <a:graphicData uri="http://schemas.openxmlformats.org/drawingml/2006/table">
            <a:tbl>
              <a:tblPr firstRow="1" bandRow="1">
                <a:tableStyleId>{5940675A-B579-460E-94D1-54222C63F5DA}</a:tableStyleId>
              </a:tblPr>
              <a:tblGrid>
                <a:gridCol w="8496944">
                  <a:extLst>
                    <a:ext uri="{9D8B030D-6E8A-4147-A177-3AD203B41FA5}">
                      <a16:colId xmlns:a16="http://schemas.microsoft.com/office/drawing/2014/main" val="804652359"/>
                    </a:ext>
                  </a:extLst>
                </a:gridCol>
              </a:tblGrid>
              <a:tr h="1619419">
                <a:tc>
                  <a:txBody>
                    <a:bodyPr/>
                    <a:lstStyle/>
                    <a:p>
                      <a:r>
                        <a:rPr lang="de-DE" dirty="0"/>
                        <a:t>1. Streckenlast z.B. Schüttlast</a:t>
                      </a:r>
                    </a:p>
                  </a:txBody>
                  <a:tcPr/>
                </a:tc>
                <a:extLst>
                  <a:ext uri="{0D108BD9-81ED-4DB2-BD59-A6C34878D82A}">
                    <a16:rowId xmlns:a16="http://schemas.microsoft.com/office/drawing/2014/main" val="2492781851"/>
                  </a:ext>
                </a:extLst>
              </a:tr>
              <a:tr h="1619419">
                <a:tc>
                  <a:txBody>
                    <a:bodyPr/>
                    <a:lstStyle/>
                    <a:p>
                      <a:r>
                        <a:rPr lang="de-DE" dirty="0"/>
                        <a:t>2. Flächenlast</a:t>
                      </a:r>
                    </a:p>
                  </a:txBody>
                  <a:tcPr/>
                </a:tc>
                <a:extLst>
                  <a:ext uri="{0D108BD9-81ED-4DB2-BD59-A6C34878D82A}">
                    <a16:rowId xmlns:a16="http://schemas.microsoft.com/office/drawing/2014/main" val="3242146795"/>
                  </a:ext>
                </a:extLst>
              </a:tr>
              <a:tr h="1619419">
                <a:tc>
                  <a:txBody>
                    <a:bodyPr/>
                    <a:lstStyle/>
                    <a:p>
                      <a:r>
                        <a:rPr lang="de-DE" dirty="0"/>
                        <a:t>3. Punktlast</a:t>
                      </a:r>
                    </a:p>
                    <a:p>
                      <a:endParaRPr lang="de-DE" dirty="0"/>
                    </a:p>
                    <a:p>
                      <a:r>
                        <a:rPr kumimoji="0" lang="de-DE" sz="1200" b="1" kern="1200" dirty="0">
                          <a:solidFill>
                            <a:schemeClr val="tx1"/>
                          </a:solidFill>
                          <a:effectLst/>
                          <a:latin typeface="+mn-lt"/>
                          <a:ea typeface="+mn-ea"/>
                          <a:cs typeface="+mn-cs"/>
                        </a:rPr>
                        <a:t>Einschränkung:</a:t>
                      </a:r>
                    </a:p>
                    <a:p>
                      <a:pPr lvl="0"/>
                      <a:r>
                        <a:rPr kumimoji="0" lang="de-DE" sz="1200" kern="1200" dirty="0">
                          <a:solidFill>
                            <a:schemeClr val="tx1"/>
                          </a:solidFill>
                          <a:effectLst/>
                          <a:latin typeface="+mn-lt"/>
                          <a:ea typeface="+mn-ea"/>
                          <a:cs typeface="+mn-cs"/>
                        </a:rPr>
                        <a:t>Richtung der Einzellast stimmt mit der </a:t>
                      </a:r>
                    </a:p>
                    <a:p>
                      <a:pPr lvl="0"/>
                      <a:r>
                        <a:rPr kumimoji="0" lang="de-DE" sz="1200" kern="1200" dirty="0">
                          <a:solidFill>
                            <a:schemeClr val="tx1"/>
                          </a:solidFill>
                          <a:effectLst/>
                          <a:latin typeface="+mn-lt"/>
                          <a:ea typeface="+mn-ea"/>
                          <a:cs typeface="+mn-cs"/>
                        </a:rPr>
                        <a:t>Wirkungsrichtung der Streckenlast überein.</a:t>
                      </a:r>
                    </a:p>
                    <a:p>
                      <a:pPr lvl="0"/>
                      <a:r>
                        <a:rPr kumimoji="0" lang="de-DE" sz="1200" kern="1200" dirty="0">
                          <a:solidFill>
                            <a:schemeClr val="tx1"/>
                          </a:solidFill>
                          <a:effectLst/>
                          <a:latin typeface="+mn-lt"/>
                          <a:ea typeface="+mn-ea"/>
                          <a:cs typeface="+mn-cs"/>
                        </a:rPr>
                        <a:t>Die Größe der Einzellast entspricht der Fläche </a:t>
                      </a:r>
                    </a:p>
                    <a:p>
                      <a:pPr lvl="0"/>
                      <a:r>
                        <a:rPr kumimoji="0" lang="de-DE" sz="1200" kern="1200" dirty="0">
                          <a:solidFill>
                            <a:schemeClr val="tx1"/>
                          </a:solidFill>
                          <a:effectLst/>
                          <a:latin typeface="+mn-lt"/>
                          <a:ea typeface="+mn-ea"/>
                          <a:cs typeface="+mn-cs"/>
                        </a:rPr>
                        <a:t>der Belastungsfigur.</a:t>
                      </a:r>
                    </a:p>
                    <a:p>
                      <a:r>
                        <a:rPr kumimoji="0" lang="de-DE" sz="1200" kern="1200" dirty="0">
                          <a:solidFill>
                            <a:schemeClr val="tx1"/>
                          </a:solidFill>
                          <a:effectLst/>
                          <a:latin typeface="+mn-lt"/>
                          <a:ea typeface="+mn-ea"/>
                          <a:cs typeface="+mn-cs"/>
                        </a:rPr>
                        <a:t>Die Wirkungslinie der Einzellast verläuft</a:t>
                      </a:r>
                    </a:p>
                    <a:p>
                      <a:r>
                        <a:rPr kumimoji="0" lang="de-DE" sz="1200" kern="1200" dirty="0">
                          <a:solidFill>
                            <a:schemeClr val="tx1"/>
                          </a:solidFill>
                          <a:effectLst/>
                          <a:latin typeface="+mn-lt"/>
                          <a:ea typeface="+mn-ea"/>
                          <a:cs typeface="+mn-cs"/>
                        </a:rPr>
                        <a:t> durch den Schwerpunkt der Belastungsfigur.</a:t>
                      </a:r>
                      <a:endParaRPr lang="de-DE" sz="1200" dirty="0"/>
                    </a:p>
                  </a:txBody>
                  <a:tcPr/>
                </a:tc>
                <a:extLst>
                  <a:ext uri="{0D108BD9-81ED-4DB2-BD59-A6C34878D82A}">
                    <a16:rowId xmlns:a16="http://schemas.microsoft.com/office/drawing/2014/main" val="486764914"/>
                  </a:ext>
                </a:extLst>
              </a:tr>
            </a:tbl>
          </a:graphicData>
        </a:graphic>
      </p:graphicFrame>
      <mc:AlternateContent xmlns:mc="http://schemas.openxmlformats.org/markup-compatibility/2006" xmlns:a14="http://schemas.microsoft.com/office/drawing/2010/main">
        <mc:Choice Requires="a14">
          <p:sp>
            <p:nvSpPr>
              <p:cNvPr id="17" name="Rechteck 16">
                <a:extLst>
                  <a:ext uri="{FF2B5EF4-FFF2-40B4-BE49-F238E27FC236}">
                    <a16:creationId xmlns:a16="http://schemas.microsoft.com/office/drawing/2014/main" id="{1FAD5E11-8B04-4A08-8CE0-12C950E34A25}"/>
                  </a:ext>
                </a:extLst>
              </p:cNvPr>
              <p:cNvSpPr/>
              <p:nvPr/>
            </p:nvSpPr>
            <p:spPr>
              <a:xfrm>
                <a:off x="3479220" y="2386376"/>
                <a:ext cx="1875322" cy="379848"/>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𝐹</m:t>
                      </m:r>
                      <m:r>
                        <a:rPr lang="de-DE" i="1">
                          <a:latin typeface="Cambria Math" panose="02040503050406030204" pitchFamily="18" charset="0"/>
                        </a:rPr>
                        <m:t>=∫</m:t>
                      </m:r>
                      <m:r>
                        <a:rPr lang="de-DE" i="1">
                          <a:latin typeface="Cambria Math" panose="02040503050406030204" pitchFamily="18" charset="0"/>
                        </a:rPr>
                        <m:t>𝑔𝑑𝑙</m:t>
                      </m:r>
                      <m:r>
                        <a:rPr lang="de-DE" i="1">
                          <a:latin typeface="Cambria Math" panose="02040503050406030204" pitchFamily="18" charset="0"/>
                        </a:rPr>
                        <m:t>=</m:t>
                      </m:r>
                      <m:d>
                        <m:dPr>
                          <m:begChr m:val="["/>
                          <m:endChr m:val="]"/>
                          <m:ctrlPr>
                            <a:rPr lang="de-DE" i="1">
                              <a:latin typeface="Cambria Math" panose="02040503050406030204" pitchFamily="18" charset="0"/>
                            </a:rPr>
                          </m:ctrlPr>
                        </m:dPr>
                        <m:e>
                          <m:r>
                            <a:rPr lang="de-DE" i="1">
                              <a:latin typeface="Cambria Math" panose="02040503050406030204" pitchFamily="18" charset="0"/>
                            </a:rPr>
                            <m:t>𝑁</m:t>
                          </m:r>
                        </m:e>
                      </m:d>
                    </m:oMath>
                  </m:oMathPara>
                </a14:m>
                <a:endParaRPr lang="de-DE" dirty="0"/>
              </a:p>
            </p:txBody>
          </p:sp>
        </mc:Choice>
        <mc:Fallback xmlns="">
          <p:sp>
            <p:nvSpPr>
              <p:cNvPr id="17" name="Rechteck 16">
                <a:extLst>
                  <a:ext uri="{FF2B5EF4-FFF2-40B4-BE49-F238E27FC236}">
                    <a16:creationId xmlns:a16="http://schemas.microsoft.com/office/drawing/2014/main" id="{1FAD5E11-8B04-4A08-8CE0-12C950E34A25}"/>
                  </a:ext>
                </a:extLst>
              </p:cNvPr>
              <p:cNvSpPr>
                <a:spLocks noRot="1" noChangeAspect="1" noMove="1" noResize="1" noEditPoints="1" noAdjustHandles="1" noChangeArrowheads="1" noChangeShapeType="1" noTextEdit="1"/>
              </p:cNvSpPr>
              <p:nvPr/>
            </p:nvSpPr>
            <p:spPr>
              <a:xfrm>
                <a:off x="3479220" y="2386376"/>
                <a:ext cx="1875322" cy="379848"/>
              </a:xfrm>
              <a:prstGeom prst="rect">
                <a:avLst/>
              </a:prstGeom>
              <a:blipFill>
                <a:blip r:embed="rId3"/>
                <a:stretch>
                  <a:fillRect b="-19048"/>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Rechteck 17">
                <a:extLst>
                  <a:ext uri="{FF2B5EF4-FFF2-40B4-BE49-F238E27FC236}">
                    <a16:creationId xmlns:a16="http://schemas.microsoft.com/office/drawing/2014/main" id="{4960CDAF-9BEC-485D-8458-DE1952F9600C}"/>
                  </a:ext>
                </a:extLst>
              </p:cNvPr>
              <p:cNvSpPr/>
              <p:nvPr/>
            </p:nvSpPr>
            <p:spPr>
              <a:xfrm>
                <a:off x="4031006" y="1687808"/>
                <a:ext cx="981551" cy="618246"/>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𝑔</m:t>
                      </m:r>
                      <m:r>
                        <a:rPr lang="de-DE" i="0">
                          <a:latin typeface="Cambria Math" panose="02040503050406030204" pitchFamily="18" charset="0"/>
                        </a:rPr>
                        <m:t>=</m:t>
                      </m:r>
                      <m:f>
                        <m:fPr>
                          <m:ctrlPr>
                            <a:rPr lang="de-DE" i="1">
                              <a:latin typeface="Cambria Math" panose="02040503050406030204" pitchFamily="18" charset="0"/>
                            </a:rPr>
                          </m:ctrlPr>
                        </m:fPr>
                        <m:num>
                          <m:r>
                            <a:rPr lang="de-DE" i="1">
                              <a:latin typeface="Cambria Math" panose="02040503050406030204" pitchFamily="18" charset="0"/>
                            </a:rPr>
                            <m:t>𝑑𝐹</m:t>
                          </m:r>
                        </m:num>
                        <m:den>
                          <m:r>
                            <a:rPr lang="de-DE" i="1">
                              <a:latin typeface="Cambria Math" panose="02040503050406030204" pitchFamily="18" charset="0"/>
                            </a:rPr>
                            <m:t>𝑑𝑙</m:t>
                          </m:r>
                        </m:den>
                      </m:f>
                    </m:oMath>
                  </m:oMathPara>
                </a14:m>
                <a:endParaRPr lang="de-DE" dirty="0"/>
              </a:p>
            </p:txBody>
          </p:sp>
        </mc:Choice>
        <mc:Fallback xmlns="">
          <p:sp>
            <p:nvSpPr>
              <p:cNvPr id="18" name="Rechteck 17">
                <a:extLst>
                  <a:ext uri="{FF2B5EF4-FFF2-40B4-BE49-F238E27FC236}">
                    <a16:creationId xmlns:a16="http://schemas.microsoft.com/office/drawing/2014/main" id="{4960CDAF-9BEC-485D-8458-DE1952F9600C}"/>
                  </a:ext>
                </a:extLst>
              </p:cNvPr>
              <p:cNvSpPr>
                <a:spLocks noRot="1" noChangeAspect="1" noMove="1" noResize="1" noEditPoints="1" noAdjustHandles="1" noChangeArrowheads="1" noChangeShapeType="1" noTextEdit="1"/>
              </p:cNvSpPr>
              <p:nvPr/>
            </p:nvSpPr>
            <p:spPr>
              <a:xfrm>
                <a:off x="4031006" y="1687808"/>
                <a:ext cx="981551" cy="618246"/>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 name="Rechteck 18">
                <a:extLst>
                  <a:ext uri="{FF2B5EF4-FFF2-40B4-BE49-F238E27FC236}">
                    <a16:creationId xmlns:a16="http://schemas.microsoft.com/office/drawing/2014/main" id="{A0EC9A37-7982-47AA-A527-4F109F4213F4}"/>
                  </a:ext>
                </a:extLst>
              </p:cNvPr>
              <p:cNvSpPr/>
              <p:nvPr/>
            </p:nvSpPr>
            <p:spPr>
              <a:xfrm>
                <a:off x="4034371" y="3160958"/>
                <a:ext cx="989566" cy="612732"/>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𝑔</m:t>
                      </m:r>
                      <m:r>
                        <a:rPr lang="de-DE" i="0">
                          <a:latin typeface="Cambria Math" panose="02040503050406030204" pitchFamily="18" charset="0"/>
                        </a:rPr>
                        <m:t>=</m:t>
                      </m:r>
                      <m:f>
                        <m:fPr>
                          <m:ctrlPr>
                            <a:rPr lang="de-DE" i="1">
                              <a:latin typeface="Cambria Math" panose="02040503050406030204" pitchFamily="18" charset="0"/>
                            </a:rPr>
                          </m:ctrlPr>
                        </m:fPr>
                        <m:num>
                          <m:r>
                            <a:rPr lang="de-DE" i="1">
                              <a:latin typeface="Cambria Math" panose="02040503050406030204" pitchFamily="18" charset="0"/>
                            </a:rPr>
                            <m:t>𝛥</m:t>
                          </m:r>
                          <m:r>
                            <a:rPr lang="de-DE" i="1">
                              <a:latin typeface="Cambria Math" panose="02040503050406030204" pitchFamily="18" charset="0"/>
                            </a:rPr>
                            <m:t>𝐹</m:t>
                          </m:r>
                        </m:num>
                        <m:den>
                          <m:r>
                            <a:rPr lang="de-DE" i="1">
                              <a:latin typeface="Cambria Math" panose="02040503050406030204" pitchFamily="18" charset="0"/>
                            </a:rPr>
                            <m:t>𝛥</m:t>
                          </m:r>
                          <m:r>
                            <a:rPr lang="de-DE" i="1">
                              <a:latin typeface="Cambria Math" panose="02040503050406030204" pitchFamily="18" charset="0"/>
                            </a:rPr>
                            <m:t>𝑙</m:t>
                          </m:r>
                        </m:den>
                      </m:f>
                    </m:oMath>
                  </m:oMathPara>
                </a14:m>
                <a:endParaRPr lang="de-DE" dirty="0"/>
              </a:p>
            </p:txBody>
          </p:sp>
        </mc:Choice>
        <mc:Fallback xmlns="">
          <p:sp>
            <p:nvSpPr>
              <p:cNvPr id="19" name="Rechteck 18">
                <a:extLst>
                  <a:ext uri="{FF2B5EF4-FFF2-40B4-BE49-F238E27FC236}">
                    <a16:creationId xmlns:a16="http://schemas.microsoft.com/office/drawing/2014/main" id="{A0EC9A37-7982-47AA-A527-4F109F4213F4}"/>
                  </a:ext>
                </a:extLst>
              </p:cNvPr>
              <p:cNvSpPr>
                <a:spLocks noRot="1" noChangeAspect="1" noMove="1" noResize="1" noEditPoints="1" noAdjustHandles="1" noChangeArrowheads="1" noChangeShapeType="1" noTextEdit="1"/>
              </p:cNvSpPr>
              <p:nvPr/>
            </p:nvSpPr>
            <p:spPr>
              <a:xfrm>
                <a:off x="4034371" y="3160958"/>
                <a:ext cx="989566" cy="612732"/>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 name="Rechteck 19">
                <a:extLst>
                  <a:ext uri="{FF2B5EF4-FFF2-40B4-BE49-F238E27FC236}">
                    <a16:creationId xmlns:a16="http://schemas.microsoft.com/office/drawing/2014/main" id="{C742AB55-8DD6-4735-9CBE-9596F42EA35F}"/>
                  </a:ext>
                </a:extLst>
              </p:cNvPr>
              <p:cNvSpPr/>
              <p:nvPr/>
            </p:nvSpPr>
            <p:spPr>
              <a:xfrm>
                <a:off x="3926105" y="3873983"/>
                <a:ext cx="1206099" cy="369332"/>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𝛥</m:t>
                      </m:r>
                      <m:r>
                        <a:rPr lang="de-DE" i="1">
                          <a:latin typeface="Cambria Math" panose="02040503050406030204" pitchFamily="18" charset="0"/>
                        </a:rPr>
                        <m:t>𝐹</m:t>
                      </m:r>
                      <m:r>
                        <a:rPr lang="de-DE" i="0">
                          <a:latin typeface="Cambria Math" panose="02040503050406030204" pitchFamily="18" charset="0"/>
                        </a:rPr>
                        <m:t>=</m:t>
                      </m:r>
                      <m:r>
                        <a:rPr lang="de-DE" i="1">
                          <a:latin typeface="Cambria Math" panose="02040503050406030204" pitchFamily="18" charset="0"/>
                        </a:rPr>
                        <m:t>𝑔</m:t>
                      </m:r>
                      <m:r>
                        <a:rPr lang="de-DE" i="1">
                          <a:latin typeface="Cambria Math" panose="02040503050406030204" pitchFamily="18" charset="0"/>
                        </a:rPr>
                        <m:t>𝛥</m:t>
                      </m:r>
                      <m:r>
                        <a:rPr lang="de-DE" i="1">
                          <a:latin typeface="Cambria Math" panose="02040503050406030204" pitchFamily="18" charset="0"/>
                        </a:rPr>
                        <m:t>𝑙</m:t>
                      </m:r>
                    </m:oMath>
                  </m:oMathPara>
                </a14:m>
                <a:endParaRPr lang="de-DE" dirty="0"/>
              </a:p>
            </p:txBody>
          </p:sp>
        </mc:Choice>
        <mc:Fallback xmlns="">
          <p:sp>
            <p:nvSpPr>
              <p:cNvPr id="20" name="Rechteck 19">
                <a:extLst>
                  <a:ext uri="{FF2B5EF4-FFF2-40B4-BE49-F238E27FC236}">
                    <a16:creationId xmlns:a16="http://schemas.microsoft.com/office/drawing/2014/main" id="{C742AB55-8DD6-4735-9CBE-9596F42EA35F}"/>
                  </a:ext>
                </a:extLst>
              </p:cNvPr>
              <p:cNvSpPr>
                <a:spLocks noRot="1" noChangeAspect="1" noMove="1" noResize="1" noEditPoints="1" noAdjustHandles="1" noChangeArrowheads="1" noChangeShapeType="1" noTextEdit="1"/>
              </p:cNvSpPr>
              <p:nvPr/>
            </p:nvSpPr>
            <p:spPr>
              <a:xfrm>
                <a:off x="3926105" y="3873983"/>
                <a:ext cx="1206099" cy="369332"/>
              </a:xfrm>
              <a:prstGeom prst="rect">
                <a:avLst/>
              </a:prstGeom>
              <a:blipFill>
                <a:blip r:embed="rId6"/>
                <a:stretch>
                  <a:fillRect b="-1639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Rechteck 20">
                <a:extLst>
                  <a:ext uri="{FF2B5EF4-FFF2-40B4-BE49-F238E27FC236}">
                    <a16:creationId xmlns:a16="http://schemas.microsoft.com/office/drawing/2014/main" id="{6E4CBDC2-A789-4107-AA99-F115ED5D14D6}"/>
                  </a:ext>
                </a:extLst>
              </p:cNvPr>
              <p:cNvSpPr/>
              <p:nvPr/>
            </p:nvSpPr>
            <p:spPr>
              <a:xfrm>
                <a:off x="4164055" y="4817213"/>
                <a:ext cx="848502" cy="610873"/>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𝑔</m:t>
                      </m:r>
                      <m:r>
                        <a:rPr lang="de-DE" i="0">
                          <a:latin typeface="Cambria Math" panose="02040503050406030204" pitchFamily="18" charset="0"/>
                        </a:rPr>
                        <m:t>=</m:t>
                      </m:r>
                      <m:f>
                        <m:fPr>
                          <m:ctrlPr>
                            <a:rPr lang="de-DE" i="1">
                              <a:latin typeface="Cambria Math" panose="02040503050406030204" pitchFamily="18" charset="0"/>
                            </a:rPr>
                          </m:ctrlPr>
                        </m:fPr>
                        <m:num>
                          <m:r>
                            <a:rPr lang="de-DE" i="1">
                              <a:latin typeface="Cambria Math" panose="02040503050406030204" pitchFamily="18" charset="0"/>
                            </a:rPr>
                            <m:t>𝐹</m:t>
                          </m:r>
                        </m:num>
                        <m:den>
                          <m:r>
                            <a:rPr lang="de-DE" i="1">
                              <a:latin typeface="Cambria Math" panose="02040503050406030204" pitchFamily="18" charset="0"/>
                            </a:rPr>
                            <m:t>𝑙</m:t>
                          </m:r>
                        </m:den>
                      </m:f>
                    </m:oMath>
                  </m:oMathPara>
                </a14:m>
                <a:endParaRPr lang="de-DE" dirty="0"/>
              </a:p>
            </p:txBody>
          </p:sp>
        </mc:Choice>
        <mc:Fallback xmlns="">
          <p:sp>
            <p:nvSpPr>
              <p:cNvPr id="21" name="Rechteck 20">
                <a:extLst>
                  <a:ext uri="{FF2B5EF4-FFF2-40B4-BE49-F238E27FC236}">
                    <a16:creationId xmlns:a16="http://schemas.microsoft.com/office/drawing/2014/main" id="{6E4CBDC2-A789-4107-AA99-F115ED5D14D6}"/>
                  </a:ext>
                </a:extLst>
              </p:cNvPr>
              <p:cNvSpPr>
                <a:spLocks noRot="1" noChangeAspect="1" noMove="1" noResize="1" noEditPoints="1" noAdjustHandles="1" noChangeArrowheads="1" noChangeShapeType="1" noTextEdit="1"/>
              </p:cNvSpPr>
              <p:nvPr/>
            </p:nvSpPr>
            <p:spPr>
              <a:xfrm>
                <a:off x="4164055" y="4817213"/>
                <a:ext cx="848502" cy="610873"/>
              </a:xfrm>
              <a:prstGeom prst="rect">
                <a:avLst/>
              </a:prstGeom>
              <a:blipFill>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2" name="Rechteck 21">
                <a:extLst>
                  <a:ext uri="{FF2B5EF4-FFF2-40B4-BE49-F238E27FC236}">
                    <a16:creationId xmlns:a16="http://schemas.microsoft.com/office/drawing/2014/main" id="{ACB21FED-CD30-4401-BAC6-B280239691E0}"/>
                  </a:ext>
                </a:extLst>
              </p:cNvPr>
              <p:cNvSpPr/>
              <p:nvPr/>
            </p:nvSpPr>
            <p:spPr>
              <a:xfrm>
                <a:off x="4126320" y="5479090"/>
                <a:ext cx="923971" cy="369332"/>
              </a:xfrm>
              <a:prstGeom prst="rect">
                <a:avLst/>
              </a:prstGeom>
            </p:spPr>
            <p:txBody>
              <a:bodyPr wrap="none">
                <a:spAutoFit/>
              </a:bodyPr>
              <a:lstStyle/>
              <a:p>
                <a:pPr/>
                <a14:m>
                  <m:oMathPara xmlns:m="http://schemas.openxmlformats.org/officeDocument/2006/math">
                    <m:oMath>
                      <m:r>
                        <a:rPr lang="de-DE" i="1">
                          <a:latin typeface="Cambria Math" panose="02040503050406030204" pitchFamily="18" charset="0"/>
                        </a:rPr>
                        <m:t>𝐹</m:t>
                      </m:r>
                      <m:r>
                        <a:rPr lang="de-DE" i="0">
                          <a:latin typeface="Cambria Math" panose="02040503050406030204" pitchFamily="18" charset="0"/>
                        </a:rPr>
                        <m:t>=</m:t>
                      </m:r>
                      <m:r>
                        <a:rPr lang="de-DE" i="1">
                          <a:latin typeface="Cambria Math" panose="02040503050406030204" pitchFamily="18" charset="0"/>
                        </a:rPr>
                        <m:t>𝑔𝑙</m:t>
                      </m:r>
                    </m:oMath>
                  </m:oMathPara>
                </a14:m>
                <a:endParaRPr lang="de-DE" dirty="0"/>
              </a:p>
            </p:txBody>
          </p:sp>
        </mc:Choice>
        <mc:Fallback xmlns="">
          <p:sp>
            <p:nvSpPr>
              <p:cNvPr id="22" name="Rechteck 21">
                <a:extLst>
                  <a:ext uri="{FF2B5EF4-FFF2-40B4-BE49-F238E27FC236}">
                    <a16:creationId xmlns:a16="http://schemas.microsoft.com/office/drawing/2014/main" id="{ACB21FED-CD30-4401-BAC6-B280239691E0}"/>
                  </a:ext>
                </a:extLst>
              </p:cNvPr>
              <p:cNvSpPr>
                <a:spLocks noRot="1" noChangeAspect="1" noMove="1" noResize="1" noEditPoints="1" noAdjustHandles="1" noChangeArrowheads="1" noChangeShapeType="1" noTextEdit="1"/>
              </p:cNvSpPr>
              <p:nvPr/>
            </p:nvSpPr>
            <p:spPr>
              <a:xfrm>
                <a:off x="4126320" y="5479090"/>
                <a:ext cx="923971" cy="369332"/>
              </a:xfrm>
              <a:prstGeom prst="rect">
                <a:avLst/>
              </a:prstGeom>
              <a:blipFill>
                <a:blip r:embed="rId8"/>
                <a:stretch>
                  <a:fillRect b="-16667"/>
                </a:stretch>
              </a:blipFill>
            </p:spPr>
            <p:txBody>
              <a:bodyPr/>
              <a:lstStyle/>
              <a:p>
                <a:r>
                  <a:rPr lang="de-DE">
                    <a:noFill/>
                  </a:rPr>
                  <a:t> </a:t>
                </a:r>
              </a:p>
            </p:txBody>
          </p:sp>
        </mc:Fallback>
      </mc:AlternateContent>
      <p:grpSp>
        <p:nvGrpSpPr>
          <p:cNvPr id="23" name="Gruppieren 22">
            <a:extLst>
              <a:ext uri="{FF2B5EF4-FFF2-40B4-BE49-F238E27FC236}">
                <a16:creationId xmlns:a16="http://schemas.microsoft.com/office/drawing/2014/main" id="{B5752FF7-02B6-41AA-80D8-E2022FCE651C}"/>
              </a:ext>
            </a:extLst>
          </p:cNvPr>
          <p:cNvGrpSpPr/>
          <p:nvPr/>
        </p:nvGrpSpPr>
        <p:grpSpPr>
          <a:xfrm>
            <a:off x="5696770" y="1474234"/>
            <a:ext cx="2952325" cy="4781023"/>
            <a:chOff x="5652122" y="1806526"/>
            <a:chExt cx="2952325" cy="4598910"/>
          </a:xfrm>
        </p:grpSpPr>
        <p:pic>
          <p:nvPicPr>
            <p:cNvPr id="4117" name="Picture 21" descr="b1">
              <a:extLst>
                <a:ext uri="{FF2B5EF4-FFF2-40B4-BE49-F238E27FC236}">
                  <a16:creationId xmlns:a16="http://schemas.microsoft.com/office/drawing/2014/main" id="{508B03E5-516C-4A47-ABDC-1015E28342D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5958" b="21653"/>
            <a:stretch/>
          </p:blipFill>
          <p:spPr bwMode="auto">
            <a:xfrm>
              <a:off x="5652122" y="1806526"/>
              <a:ext cx="2808310" cy="117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8" name="Picture 22" descr="b2">
              <a:extLst>
                <a:ext uri="{FF2B5EF4-FFF2-40B4-BE49-F238E27FC236}">
                  <a16:creationId xmlns:a16="http://schemas.microsoft.com/office/drawing/2014/main" id="{BF80D3BD-8FC6-4CDE-B8A0-CE5457480B7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r="5958" b="18774"/>
            <a:stretch/>
          </p:blipFill>
          <p:spPr bwMode="auto">
            <a:xfrm>
              <a:off x="5685324" y="3406427"/>
              <a:ext cx="2808310" cy="1174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9" name="Picture 23" descr="b3">
              <a:extLst>
                <a:ext uri="{FF2B5EF4-FFF2-40B4-BE49-F238E27FC236}">
                  <a16:creationId xmlns:a16="http://schemas.microsoft.com/office/drawing/2014/main" id="{49E2E1AF-D2FB-407C-A9A2-4375B3BA91F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6105"/>
            <a:stretch/>
          </p:blipFill>
          <p:spPr bwMode="auto">
            <a:xfrm>
              <a:off x="5724128" y="4959344"/>
              <a:ext cx="2880319" cy="1446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7" name="Titel 1">
            <a:extLst>
              <a:ext uri="{FF2B5EF4-FFF2-40B4-BE49-F238E27FC236}">
                <a16:creationId xmlns:a16="http://schemas.microsoft.com/office/drawing/2014/main" id="{809088D4-8B88-46C3-8148-DE1DFA164352}"/>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600" dirty="0"/>
              <a:t>6.5 Beispiel für vertikale didaktische Reduktion Bautechnik</a:t>
            </a:r>
          </a:p>
        </p:txBody>
      </p:sp>
    </p:spTree>
    <p:extLst>
      <p:ext uri="{BB962C8B-B14F-4D97-AF65-F5344CB8AC3E}">
        <p14:creationId xmlns:p14="http://schemas.microsoft.com/office/powerpoint/2010/main" val="1289272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36</a:t>
            </a:fld>
            <a:endParaRPr lang="de-DE"/>
          </a:p>
        </p:txBody>
      </p:sp>
      <p:pic>
        <p:nvPicPr>
          <p:cNvPr id="3073" name="Picture 1">
            <a:extLst>
              <a:ext uri="{FF2B5EF4-FFF2-40B4-BE49-F238E27FC236}">
                <a16:creationId xmlns:a16="http://schemas.microsoft.com/office/drawing/2014/main" id="{6393989E-2F86-47BD-B76B-11D98723B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9837" y="1160194"/>
            <a:ext cx="6184326" cy="18722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74" name="Picture 2">
            <a:extLst>
              <a:ext uri="{FF2B5EF4-FFF2-40B4-BE49-F238E27FC236}">
                <a16:creationId xmlns:a16="http://schemas.microsoft.com/office/drawing/2014/main" id="{013264E5-BEDB-4247-98EB-B316DF657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039" y="3781954"/>
            <a:ext cx="5398140" cy="20148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Rechteck 2">
            <a:extLst>
              <a:ext uri="{FF2B5EF4-FFF2-40B4-BE49-F238E27FC236}">
                <a16:creationId xmlns:a16="http://schemas.microsoft.com/office/drawing/2014/main" id="{E7E08E0D-BCB5-468C-A699-8CE01ABA0C6C}"/>
              </a:ext>
            </a:extLst>
          </p:cNvPr>
          <p:cNvSpPr/>
          <p:nvPr/>
        </p:nvSpPr>
        <p:spPr>
          <a:xfrm>
            <a:off x="7372111" y="1190044"/>
            <a:ext cx="1513810" cy="276999"/>
          </a:xfrm>
          <a:prstGeom prst="rect">
            <a:avLst/>
          </a:prstGeom>
        </p:spPr>
        <p:txBody>
          <a:bodyPr wrap="square">
            <a:spAutoFit/>
          </a:bodyPr>
          <a:lstStyle/>
          <a:p>
            <a:pPr algn="just">
              <a:spcAft>
                <a:spcPts val="0"/>
              </a:spcAft>
              <a:tabLst>
                <a:tab pos="457200" algn="l"/>
              </a:tabLst>
            </a:pPr>
            <a:r>
              <a:rPr lang="de-DE" sz="1200" b="0" cap="small" dirty="0">
                <a:solidFill>
                  <a:srgbClr val="000000"/>
                </a:solidFill>
                <a:latin typeface="+mn-lt"/>
                <a:ea typeface="Arial" panose="020B0604020202020204" pitchFamily="34" charset="0"/>
              </a:rPr>
              <a:t>(</a:t>
            </a:r>
            <a:r>
              <a:rPr lang="de-DE" sz="1200" b="0" cap="small" dirty="0">
                <a:solidFill>
                  <a:srgbClr val="000000"/>
                </a:solidFill>
                <a:latin typeface="+mn-lt"/>
                <a:ea typeface="DKJNDH+TimesNewRoman"/>
              </a:rPr>
              <a:t>Arnold,</a:t>
            </a:r>
            <a:r>
              <a:rPr lang="de-DE" sz="1200" b="0" dirty="0">
                <a:solidFill>
                  <a:srgbClr val="000000"/>
                </a:solidFill>
                <a:latin typeface="+mn-lt"/>
                <a:ea typeface="DKJNDH+TimesNewRoman"/>
              </a:rPr>
              <a:t> 1990)</a:t>
            </a:r>
            <a:endParaRPr lang="de-DE" sz="1200" b="0" dirty="0">
              <a:effectLst/>
              <a:latin typeface="+mn-lt"/>
              <a:ea typeface="Times New Roman" panose="02020603050405020304" pitchFamily="18" charset="0"/>
            </a:endParaRPr>
          </a:p>
        </p:txBody>
      </p:sp>
      <p:sp>
        <p:nvSpPr>
          <p:cNvPr id="8" name="Rechteck 7">
            <a:extLst>
              <a:ext uri="{FF2B5EF4-FFF2-40B4-BE49-F238E27FC236}">
                <a16:creationId xmlns:a16="http://schemas.microsoft.com/office/drawing/2014/main" id="{6EA85BD7-66F9-41F1-AAC3-29C7303980CB}"/>
              </a:ext>
            </a:extLst>
          </p:cNvPr>
          <p:cNvSpPr/>
          <p:nvPr/>
        </p:nvSpPr>
        <p:spPr>
          <a:xfrm>
            <a:off x="7255006" y="3802169"/>
            <a:ext cx="1287532" cy="276999"/>
          </a:xfrm>
          <a:prstGeom prst="rect">
            <a:avLst/>
          </a:prstGeom>
        </p:spPr>
        <p:txBody>
          <a:bodyPr wrap="none">
            <a:spAutoFit/>
          </a:bodyPr>
          <a:lstStyle/>
          <a:p>
            <a:pPr algn="just">
              <a:spcAft>
                <a:spcPts val="0"/>
              </a:spcAft>
              <a:tabLst>
                <a:tab pos="457200" algn="l"/>
              </a:tabLst>
            </a:pPr>
            <a:r>
              <a:rPr lang="de-DE" sz="1200" b="0" cap="small" dirty="0">
                <a:solidFill>
                  <a:srgbClr val="000000"/>
                </a:solidFill>
                <a:latin typeface="+mn-lt"/>
                <a:ea typeface="Arial" panose="020B0604020202020204" pitchFamily="34" charset="0"/>
              </a:rPr>
              <a:t>(</a:t>
            </a:r>
            <a:r>
              <a:rPr lang="de-DE" sz="1200" b="0" cap="small" dirty="0">
                <a:solidFill>
                  <a:srgbClr val="000000"/>
                </a:solidFill>
                <a:latin typeface="+mn-lt"/>
                <a:ea typeface="DKJNDH+TimesNewRoman"/>
              </a:rPr>
              <a:t>Arnold,</a:t>
            </a:r>
            <a:r>
              <a:rPr lang="de-DE" sz="1200" b="0" dirty="0">
                <a:solidFill>
                  <a:srgbClr val="000000"/>
                </a:solidFill>
                <a:latin typeface="+mn-lt"/>
                <a:ea typeface="DKJNDH+TimesNewRoman"/>
              </a:rPr>
              <a:t> 1990)</a:t>
            </a:r>
            <a:endParaRPr lang="de-DE" sz="1400" b="0" dirty="0">
              <a:effectLst/>
              <a:latin typeface="+mn-lt"/>
              <a:ea typeface="Times New Roman" panose="02020603050405020304" pitchFamily="18" charset="0"/>
            </a:endParaRPr>
          </a:p>
        </p:txBody>
      </p:sp>
      <p:sp>
        <p:nvSpPr>
          <p:cNvPr id="5" name="Rechteck 4">
            <a:extLst>
              <a:ext uri="{FF2B5EF4-FFF2-40B4-BE49-F238E27FC236}">
                <a16:creationId xmlns:a16="http://schemas.microsoft.com/office/drawing/2014/main" id="{700B77C3-FA3D-43C8-8ADD-147D466BEC06}"/>
              </a:ext>
            </a:extLst>
          </p:cNvPr>
          <p:cNvSpPr/>
          <p:nvPr/>
        </p:nvSpPr>
        <p:spPr>
          <a:xfrm>
            <a:off x="166998" y="2967335"/>
            <a:ext cx="6534472" cy="584775"/>
          </a:xfrm>
          <a:prstGeom prst="rect">
            <a:avLst/>
          </a:prstGeom>
        </p:spPr>
        <p:txBody>
          <a:bodyPr wrap="square">
            <a:spAutoFit/>
          </a:bodyPr>
          <a:lstStyle/>
          <a:p>
            <a:r>
              <a:rPr lang="de-DE" sz="1600" b="0" dirty="0">
                <a:solidFill>
                  <a:srgbClr val="000000"/>
                </a:solidFill>
                <a:latin typeface="+mn-lt"/>
                <a:ea typeface="Arial" panose="020B0604020202020204" pitchFamily="34" charset="0"/>
              </a:rPr>
              <a:t>Der Gültigkeitsumfang bleibt erhalten, die konkretere Aussage ist der Ausgangsaussage nur nebengeordnet.</a:t>
            </a:r>
            <a:endParaRPr lang="de-DE" sz="1600" b="0" dirty="0">
              <a:latin typeface="+mn-lt"/>
            </a:endParaRPr>
          </a:p>
        </p:txBody>
      </p:sp>
      <p:sp>
        <p:nvSpPr>
          <p:cNvPr id="12" name="Titel 1">
            <a:extLst>
              <a:ext uri="{FF2B5EF4-FFF2-40B4-BE49-F238E27FC236}">
                <a16:creationId xmlns:a16="http://schemas.microsoft.com/office/drawing/2014/main" id="{A6E0680D-CBCC-448F-91E6-FF9F603EFEA1}"/>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500" dirty="0"/>
              <a:t>6.6 Beispiel für Horizontal didaktische Reduktion Elektrotechnik</a:t>
            </a:r>
          </a:p>
        </p:txBody>
      </p:sp>
      <p:sp>
        <p:nvSpPr>
          <p:cNvPr id="13" name="Rechteck 12">
            <a:extLst>
              <a:ext uri="{FF2B5EF4-FFF2-40B4-BE49-F238E27FC236}">
                <a16:creationId xmlns:a16="http://schemas.microsoft.com/office/drawing/2014/main" id="{BEC9B5F5-BFDD-4D3D-9B78-4A62B062E1BA}"/>
              </a:ext>
            </a:extLst>
          </p:cNvPr>
          <p:cNvSpPr/>
          <p:nvPr/>
        </p:nvSpPr>
        <p:spPr>
          <a:xfrm>
            <a:off x="179512" y="5821088"/>
            <a:ext cx="7877496" cy="584775"/>
          </a:xfrm>
          <a:prstGeom prst="rect">
            <a:avLst/>
          </a:prstGeom>
        </p:spPr>
        <p:txBody>
          <a:bodyPr wrap="square">
            <a:spAutoFit/>
          </a:bodyPr>
          <a:lstStyle/>
          <a:p>
            <a:pPr algn="just">
              <a:spcAft>
                <a:spcPts val="0"/>
              </a:spcAft>
            </a:pPr>
            <a:r>
              <a:rPr lang="de-DE" sz="1600" b="0" dirty="0">
                <a:solidFill>
                  <a:srgbClr val="000000"/>
                </a:solidFill>
                <a:latin typeface="+mn-lt"/>
                <a:ea typeface="Arial" panose="020B0604020202020204" pitchFamily="34" charset="0"/>
              </a:rPr>
              <a:t>Elektrostatisches Feld zwischen zwei Kugeln gleicher Ladung unterschiedlicher Vorzeichen</a:t>
            </a:r>
            <a:endParaRPr lang="de-DE" sz="1600" b="0" dirty="0">
              <a:effectLst/>
              <a:latin typeface="+mn-lt"/>
              <a:ea typeface="Times New Roman" panose="02020603050405020304" pitchFamily="18" charset="0"/>
            </a:endParaRPr>
          </a:p>
        </p:txBody>
      </p:sp>
    </p:spTree>
    <p:extLst>
      <p:ext uri="{BB962C8B-B14F-4D97-AF65-F5344CB8AC3E}">
        <p14:creationId xmlns:p14="http://schemas.microsoft.com/office/powerpoint/2010/main" val="2981443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37</a:t>
            </a:fld>
            <a:endParaRPr lang="de-DE"/>
          </a:p>
        </p:txBody>
      </p:sp>
      <p:pic>
        <p:nvPicPr>
          <p:cNvPr id="3075" name="Picture 3">
            <a:extLst>
              <a:ext uri="{FF2B5EF4-FFF2-40B4-BE49-F238E27FC236}">
                <a16:creationId xmlns:a16="http://schemas.microsoft.com/office/drawing/2014/main" id="{156C9A60-8A79-4B17-802F-865255419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597951"/>
            <a:ext cx="5335105" cy="27363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Rechteck 7">
            <a:extLst>
              <a:ext uri="{FF2B5EF4-FFF2-40B4-BE49-F238E27FC236}">
                <a16:creationId xmlns:a16="http://schemas.microsoft.com/office/drawing/2014/main" id="{23FF765C-D6D1-40CB-9EC4-C6E07993755C}"/>
              </a:ext>
            </a:extLst>
          </p:cNvPr>
          <p:cNvSpPr/>
          <p:nvPr/>
        </p:nvSpPr>
        <p:spPr>
          <a:xfrm>
            <a:off x="7080790" y="1597951"/>
            <a:ext cx="1657826" cy="338554"/>
          </a:xfrm>
          <a:prstGeom prst="rect">
            <a:avLst/>
          </a:prstGeom>
        </p:spPr>
        <p:txBody>
          <a:bodyPr wrap="none">
            <a:spAutoFit/>
          </a:bodyPr>
          <a:lstStyle/>
          <a:p>
            <a:pPr algn="just">
              <a:spcAft>
                <a:spcPts val="0"/>
              </a:spcAft>
              <a:tabLst>
                <a:tab pos="457200" algn="l"/>
              </a:tabLst>
            </a:pPr>
            <a:r>
              <a:rPr lang="de-DE" sz="1600" b="0" cap="small" dirty="0">
                <a:solidFill>
                  <a:srgbClr val="000000"/>
                </a:solidFill>
                <a:latin typeface="+mn-lt"/>
                <a:ea typeface="Arial" panose="020B0604020202020204" pitchFamily="34" charset="0"/>
              </a:rPr>
              <a:t>(</a:t>
            </a:r>
            <a:r>
              <a:rPr lang="de-DE" sz="1600" b="0" cap="small" dirty="0">
                <a:solidFill>
                  <a:srgbClr val="000000"/>
                </a:solidFill>
                <a:latin typeface="+mn-lt"/>
                <a:ea typeface="DKJNDH+TimesNewRoman"/>
              </a:rPr>
              <a:t>Arnold,</a:t>
            </a:r>
            <a:r>
              <a:rPr lang="de-DE" sz="1600" b="0" dirty="0">
                <a:solidFill>
                  <a:srgbClr val="000000"/>
                </a:solidFill>
                <a:latin typeface="+mn-lt"/>
                <a:ea typeface="DKJNDH+TimesNewRoman"/>
              </a:rPr>
              <a:t> 1990)</a:t>
            </a:r>
            <a:endParaRPr lang="de-DE" sz="1600" b="0" dirty="0">
              <a:effectLst/>
              <a:latin typeface="+mn-lt"/>
              <a:ea typeface="Times New Roman" panose="02020603050405020304" pitchFamily="18" charset="0"/>
            </a:endParaRPr>
          </a:p>
        </p:txBody>
      </p:sp>
      <p:sp>
        <p:nvSpPr>
          <p:cNvPr id="11" name="Titel 1">
            <a:extLst>
              <a:ext uri="{FF2B5EF4-FFF2-40B4-BE49-F238E27FC236}">
                <a16:creationId xmlns:a16="http://schemas.microsoft.com/office/drawing/2014/main" id="{FEF04873-94A1-4487-8A3B-4E745EF23F71}"/>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500" dirty="0"/>
              <a:t>6.6 Beispiel für Horizontal didaktische Reduktion Elektrotechnik</a:t>
            </a:r>
          </a:p>
        </p:txBody>
      </p:sp>
    </p:spTree>
    <p:extLst>
      <p:ext uri="{BB962C8B-B14F-4D97-AF65-F5344CB8AC3E}">
        <p14:creationId xmlns:p14="http://schemas.microsoft.com/office/powerpoint/2010/main" val="3556546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5"/>
          </p:nvPr>
        </p:nvSpPr>
        <p:spPr/>
        <p:txBody>
          <a:bodyPr/>
          <a:lstStyle/>
          <a:p>
            <a:fld id="{33548601-C4B6-4D19-A7D5-04150560F062}" type="slidenum">
              <a:rPr lang="de-DE" smtClean="0"/>
              <a:pPr/>
              <a:t>38</a:t>
            </a:fld>
            <a:endParaRPr lang="de-DE"/>
          </a:p>
        </p:txBody>
      </p:sp>
      <mc:AlternateContent xmlns:mc="http://schemas.openxmlformats.org/markup-compatibility/2006" xmlns:a14="http://schemas.microsoft.com/office/drawing/2010/main">
        <mc:Choice Requires="a14">
          <p:graphicFrame>
            <p:nvGraphicFramePr>
              <p:cNvPr id="8" name="Tabelle 7">
                <a:extLst>
                  <a:ext uri="{FF2B5EF4-FFF2-40B4-BE49-F238E27FC236}">
                    <a16:creationId xmlns:a16="http://schemas.microsoft.com/office/drawing/2014/main" id="{DC6BF008-D88E-4089-8BED-AC520372E28E}"/>
                  </a:ext>
                </a:extLst>
              </p:cNvPr>
              <p:cNvGraphicFramePr>
                <a:graphicFrameLocks noGrp="1"/>
              </p:cNvGraphicFramePr>
              <p:nvPr>
                <p:extLst>
                  <p:ext uri="{D42A27DB-BD31-4B8C-83A1-F6EECF244321}">
                    <p14:modId xmlns:p14="http://schemas.microsoft.com/office/powerpoint/2010/main" val="4234019997"/>
                  </p:ext>
                </p:extLst>
              </p:nvPr>
            </p:nvGraphicFramePr>
            <p:xfrm>
              <a:off x="188424" y="1458941"/>
              <a:ext cx="8424936" cy="5154491"/>
            </p:xfrm>
            <a:graphic>
              <a:graphicData uri="http://schemas.openxmlformats.org/drawingml/2006/table">
                <a:tbl>
                  <a:tblPr firstRow="1" bandRow="1">
                    <a:tableStyleId>{5940675A-B579-460E-94D1-54222C63F5DA}</a:tableStyleId>
                  </a:tblPr>
                  <a:tblGrid>
                    <a:gridCol w="1800200">
                      <a:extLst>
                        <a:ext uri="{9D8B030D-6E8A-4147-A177-3AD203B41FA5}">
                          <a16:colId xmlns:a16="http://schemas.microsoft.com/office/drawing/2014/main" val="3646398856"/>
                        </a:ext>
                      </a:extLst>
                    </a:gridCol>
                    <a:gridCol w="2232248">
                      <a:extLst>
                        <a:ext uri="{9D8B030D-6E8A-4147-A177-3AD203B41FA5}">
                          <a16:colId xmlns:a16="http://schemas.microsoft.com/office/drawing/2014/main" val="4044950682"/>
                        </a:ext>
                      </a:extLst>
                    </a:gridCol>
                    <a:gridCol w="2304256">
                      <a:extLst>
                        <a:ext uri="{9D8B030D-6E8A-4147-A177-3AD203B41FA5}">
                          <a16:colId xmlns:a16="http://schemas.microsoft.com/office/drawing/2014/main" val="1856672583"/>
                        </a:ext>
                      </a:extLst>
                    </a:gridCol>
                    <a:gridCol w="2088232">
                      <a:extLst>
                        <a:ext uri="{9D8B030D-6E8A-4147-A177-3AD203B41FA5}">
                          <a16:colId xmlns:a16="http://schemas.microsoft.com/office/drawing/2014/main" val="219504422"/>
                        </a:ext>
                      </a:extLst>
                    </a:gridCol>
                  </a:tblGrid>
                  <a:tr h="288032">
                    <a:tc>
                      <a:txBody>
                        <a:bodyPr/>
                        <a:lstStyle/>
                        <a:p>
                          <a:endParaRPr lang="de-DE" sz="1600" dirty="0"/>
                        </a:p>
                      </a:txBody>
                      <a:tcPr>
                        <a:solidFill>
                          <a:schemeClr val="bg1"/>
                        </a:solidFill>
                      </a:tcPr>
                    </a:tc>
                    <a:tc>
                      <a:txBody>
                        <a:bodyPr/>
                        <a:lstStyle/>
                        <a:p>
                          <a:r>
                            <a:rPr lang="de-DE" sz="1600" dirty="0"/>
                            <a:t>Skizze</a:t>
                          </a:r>
                        </a:p>
                      </a:txBody>
                      <a:tcPr>
                        <a:solidFill>
                          <a:schemeClr val="bg1"/>
                        </a:solidFill>
                      </a:tcPr>
                    </a:tc>
                    <a:tc>
                      <a:txBody>
                        <a:bodyPr/>
                        <a:lstStyle/>
                        <a:p>
                          <a:r>
                            <a:rPr lang="de-DE" sz="1600" dirty="0"/>
                            <a:t>Verbalformulierung</a:t>
                          </a:r>
                        </a:p>
                      </a:txBody>
                      <a:tcPr>
                        <a:solidFill>
                          <a:schemeClr val="bg1"/>
                        </a:solidFill>
                      </a:tcPr>
                    </a:tc>
                    <a:tc>
                      <a:txBody>
                        <a:bodyPr/>
                        <a:lstStyle/>
                        <a:p>
                          <a:r>
                            <a:rPr lang="de-DE" sz="1600" dirty="0"/>
                            <a:t>Einschränkungen</a:t>
                          </a:r>
                        </a:p>
                      </a:txBody>
                      <a:tcPr>
                        <a:solidFill>
                          <a:schemeClr val="bg1"/>
                        </a:solidFill>
                      </a:tcPr>
                    </a:tc>
                    <a:extLst>
                      <a:ext uri="{0D108BD9-81ED-4DB2-BD59-A6C34878D82A}">
                        <a16:rowId xmlns:a16="http://schemas.microsoft.com/office/drawing/2014/main" val="3562000493"/>
                      </a:ext>
                    </a:extLst>
                  </a:tr>
                  <a:tr h="1636609">
                    <a:tc>
                      <a:txBody>
                        <a:bodyPr/>
                        <a:lstStyle/>
                        <a:p>
                          <a:pPr/>
                          <a14:m>
                            <m:oMathPara xmlns:m="http://schemas.openxmlformats.org/officeDocument/2006/math">
                              <m:oMath>
                                <m:r>
                                  <a:rPr kumimoji="0" lang="de-DE" sz="1800" i="1" kern="1200" smtClean="0">
                                    <a:solidFill>
                                      <a:schemeClr val="tx1"/>
                                    </a:solidFill>
                                    <a:effectLst/>
                                    <a:latin typeface="Cambria Math" panose="02040503050406030204" pitchFamily="18" charset="0"/>
                                    <a:ea typeface="+mn-ea"/>
                                    <a:cs typeface="+mn-cs"/>
                                  </a:rPr>
                                  <m:t>𝐹</m:t>
                                </m:r>
                                <m:r>
                                  <a:rPr kumimoji="0" lang="de-DE" sz="1800" i="1" kern="1200" smtClean="0">
                                    <a:solidFill>
                                      <a:schemeClr val="tx1"/>
                                    </a:solidFill>
                                    <a:effectLst/>
                                    <a:latin typeface="Cambria Math" panose="02040503050406030204" pitchFamily="18" charset="0"/>
                                    <a:ea typeface="+mn-ea"/>
                                    <a:cs typeface="+mn-cs"/>
                                  </a:rPr>
                                  <m:t>=∫</m:t>
                                </m:r>
                                <m:r>
                                  <a:rPr kumimoji="0" lang="de-DE" sz="1800" i="1" kern="1200">
                                    <a:solidFill>
                                      <a:schemeClr val="tx1"/>
                                    </a:solidFill>
                                    <a:effectLst/>
                                    <a:latin typeface="Cambria Math" panose="02040503050406030204" pitchFamily="18" charset="0"/>
                                    <a:ea typeface="+mn-ea"/>
                                    <a:cs typeface="+mn-cs"/>
                                  </a:rPr>
                                  <m:t>𝑔𝑑𝑙</m:t>
                                </m:r>
                                <m:r>
                                  <a:rPr kumimoji="0" lang="de-DE" sz="1800" i="1" kern="1200">
                                    <a:solidFill>
                                      <a:schemeClr val="tx1"/>
                                    </a:solidFill>
                                    <a:effectLst/>
                                    <a:latin typeface="Cambria Math" panose="02040503050406030204" pitchFamily="18" charset="0"/>
                                    <a:ea typeface="+mn-ea"/>
                                    <a:cs typeface="+mn-cs"/>
                                  </a:rPr>
                                  <m:t>=</m:t>
                                </m:r>
                                <m:d>
                                  <m:dPr>
                                    <m:begChr m:val="["/>
                                    <m:endChr m:val="]"/>
                                    <m:ctrlPr>
                                      <a:rPr kumimoji="0" lang="de-DE" sz="1800" i="1" kern="1200">
                                        <a:solidFill>
                                          <a:schemeClr val="tx1"/>
                                        </a:solidFill>
                                        <a:effectLst/>
                                        <a:latin typeface="Cambria Math" panose="02040503050406030204" pitchFamily="18" charset="0"/>
                                        <a:ea typeface="+mn-ea"/>
                                        <a:cs typeface="+mn-cs"/>
                                      </a:rPr>
                                    </m:ctrlPr>
                                  </m:dPr>
                                  <m:e>
                                    <m:r>
                                      <a:rPr kumimoji="0" lang="de-DE" sz="1800" i="1" kern="1200">
                                        <a:solidFill>
                                          <a:schemeClr val="tx1"/>
                                        </a:solidFill>
                                        <a:effectLst/>
                                        <a:latin typeface="Cambria Math" panose="02040503050406030204" pitchFamily="18" charset="0"/>
                                        <a:ea typeface="+mn-ea"/>
                                        <a:cs typeface="+mn-cs"/>
                                      </a:rPr>
                                      <m:t>𝑁</m:t>
                                    </m:r>
                                  </m:e>
                                </m:d>
                              </m:oMath>
                            </m:oMathPara>
                          </a14:m>
                          <a:endParaRPr lang="de-DE" dirty="0"/>
                        </a:p>
                      </a:txBody>
                      <a:tcPr>
                        <a:solidFill>
                          <a:schemeClr val="bg1"/>
                        </a:solid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Berechnung der Fläche unter der Funktion, die die Streckenlast beschreibt.</a:t>
                          </a:r>
                          <a:endParaRPr lang="de-DE" sz="1400" dirty="0"/>
                        </a:p>
                      </a:txBody>
                      <a:tcPr>
                        <a:solidFill>
                          <a:schemeClr val="bg1"/>
                        </a:solidFill>
                      </a:tcPr>
                    </a:tc>
                    <a:tc>
                      <a:txBody>
                        <a:bodyPr/>
                        <a:lstStyle/>
                        <a:p>
                          <a:r>
                            <a:rPr lang="de-DE" sz="1400" dirty="0"/>
                            <a:t>gilt immer</a:t>
                          </a:r>
                        </a:p>
                      </a:txBody>
                      <a:tcPr>
                        <a:solidFill>
                          <a:schemeClr val="bg1"/>
                        </a:solidFill>
                      </a:tcPr>
                    </a:tc>
                    <a:extLst>
                      <a:ext uri="{0D108BD9-81ED-4DB2-BD59-A6C34878D82A}">
                        <a16:rowId xmlns:a16="http://schemas.microsoft.com/office/drawing/2014/main" val="64451563"/>
                      </a:ext>
                    </a:extLst>
                  </a:tr>
                  <a:tr h="1591301">
                    <a:tc>
                      <a:txBody>
                        <a:bodyPr/>
                        <a:lstStyle/>
                        <a:p>
                          <a:pPr/>
                          <a14:m>
                            <m:oMathPara xmlns:m="http://schemas.openxmlformats.org/officeDocument/2006/math">
                              <m:oMath>
                                <m:r>
                                  <a:rPr kumimoji="0" lang="de-DE" sz="1800" i="1" kern="1200" smtClean="0">
                                    <a:solidFill>
                                      <a:schemeClr val="tx1"/>
                                    </a:solidFill>
                                    <a:effectLst/>
                                    <a:latin typeface="Cambria Math" panose="02040503050406030204" pitchFamily="18" charset="0"/>
                                    <a:ea typeface="+mn-ea"/>
                                    <a:cs typeface="+mn-cs"/>
                                  </a:rPr>
                                  <m:t>𝛥</m:t>
                                </m:r>
                                <m:r>
                                  <a:rPr kumimoji="0" lang="de-DE" sz="1800" i="1" kern="1200">
                                    <a:solidFill>
                                      <a:schemeClr val="tx1"/>
                                    </a:solidFill>
                                    <a:effectLst/>
                                    <a:latin typeface="Cambria Math" panose="02040503050406030204" pitchFamily="18" charset="0"/>
                                    <a:ea typeface="+mn-ea"/>
                                    <a:cs typeface="+mn-cs"/>
                                  </a:rPr>
                                  <m:t>𝐹</m:t>
                                </m:r>
                                <m:r>
                                  <a:rPr kumimoji="0" lang="de-DE" sz="1800" i="1" kern="1200">
                                    <a:solidFill>
                                      <a:schemeClr val="tx1"/>
                                    </a:solidFill>
                                    <a:effectLst/>
                                    <a:latin typeface="Cambria Math" panose="02040503050406030204" pitchFamily="18" charset="0"/>
                                    <a:ea typeface="+mn-ea"/>
                                    <a:cs typeface="+mn-cs"/>
                                  </a:rPr>
                                  <m:t>=</m:t>
                                </m:r>
                                <m:r>
                                  <a:rPr kumimoji="0" lang="de-DE" sz="1800" i="1" kern="1200">
                                    <a:solidFill>
                                      <a:schemeClr val="tx1"/>
                                    </a:solidFill>
                                    <a:effectLst/>
                                    <a:latin typeface="Cambria Math" panose="02040503050406030204" pitchFamily="18" charset="0"/>
                                    <a:ea typeface="+mn-ea"/>
                                    <a:cs typeface="+mn-cs"/>
                                  </a:rPr>
                                  <m:t>𝑔</m:t>
                                </m:r>
                                <m:r>
                                  <a:rPr kumimoji="0" lang="de-DE" sz="1800" i="1" kern="1200">
                                    <a:solidFill>
                                      <a:schemeClr val="tx1"/>
                                    </a:solidFill>
                                    <a:effectLst/>
                                    <a:latin typeface="Cambria Math" panose="02040503050406030204" pitchFamily="18" charset="0"/>
                                    <a:ea typeface="+mn-ea"/>
                                    <a:cs typeface="+mn-cs"/>
                                  </a:rPr>
                                  <m:t>𝛥</m:t>
                                </m:r>
                                <m:r>
                                  <a:rPr kumimoji="0" lang="de-DE" sz="1800" i="1" kern="1200">
                                    <a:solidFill>
                                      <a:schemeClr val="tx1"/>
                                    </a:solidFill>
                                    <a:effectLst/>
                                    <a:latin typeface="Cambria Math" panose="02040503050406030204" pitchFamily="18" charset="0"/>
                                    <a:ea typeface="+mn-ea"/>
                                    <a:cs typeface="+mn-cs"/>
                                  </a:rPr>
                                  <m:t>𝑙</m:t>
                                </m:r>
                              </m:oMath>
                            </m:oMathPara>
                          </a14:m>
                          <a:endParaRPr lang="de-DE" dirty="0"/>
                        </a:p>
                      </a:txBody>
                      <a:tcPr>
                        <a:solidFill>
                          <a:schemeClr val="bg1"/>
                        </a:solid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Streckenlast multipliziert mit dem Abstand der Auflage (l).</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wenn angenommen werden kann, dass die Kraftverteilung über das Bauteil nahezu symmetrisch ist.</a:t>
                          </a:r>
                          <a:endParaRPr lang="de-DE" sz="1400" dirty="0"/>
                        </a:p>
                      </a:txBody>
                      <a:tcPr>
                        <a:solidFill>
                          <a:schemeClr val="bg1"/>
                        </a:solidFill>
                      </a:tcPr>
                    </a:tc>
                    <a:extLst>
                      <a:ext uri="{0D108BD9-81ED-4DB2-BD59-A6C34878D82A}">
                        <a16:rowId xmlns:a16="http://schemas.microsoft.com/office/drawing/2014/main" val="3668860012"/>
                      </a:ext>
                    </a:extLst>
                  </a:tr>
                  <a:tr h="1591301">
                    <a:tc>
                      <a:txBody>
                        <a:bodyPr/>
                        <a:lstStyle/>
                        <a:p>
                          <a:pPr/>
                          <a14:m>
                            <m:oMathPara xmlns:m="http://schemas.openxmlformats.org/officeDocument/2006/math">
                              <m:oMath>
                                <m:r>
                                  <a:rPr kumimoji="0" lang="de-DE" sz="1800" i="1" kern="1200" smtClean="0">
                                    <a:solidFill>
                                      <a:schemeClr val="tx1"/>
                                    </a:solidFill>
                                    <a:effectLst/>
                                    <a:latin typeface="Cambria Math" panose="02040503050406030204" pitchFamily="18" charset="0"/>
                                    <a:ea typeface="+mn-ea"/>
                                    <a:cs typeface="+mn-cs"/>
                                  </a:rPr>
                                  <m:t>𝐹</m:t>
                                </m:r>
                                <m:r>
                                  <a:rPr kumimoji="0" lang="de-DE" sz="1800" i="1" kern="1200" smtClean="0">
                                    <a:solidFill>
                                      <a:schemeClr val="tx1"/>
                                    </a:solidFill>
                                    <a:effectLst/>
                                    <a:latin typeface="Cambria Math" panose="02040503050406030204" pitchFamily="18" charset="0"/>
                                    <a:ea typeface="+mn-ea"/>
                                    <a:cs typeface="+mn-cs"/>
                                  </a:rPr>
                                  <m:t>=</m:t>
                                </m:r>
                                <m:r>
                                  <a:rPr kumimoji="0" lang="de-DE" sz="1800" i="1" kern="1200" smtClean="0">
                                    <a:solidFill>
                                      <a:schemeClr val="tx1"/>
                                    </a:solidFill>
                                    <a:effectLst/>
                                    <a:latin typeface="Cambria Math" panose="02040503050406030204" pitchFamily="18" charset="0"/>
                                    <a:ea typeface="+mn-ea"/>
                                    <a:cs typeface="+mn-cs"/>
                                  </a:rPr>
                                  <m:t>𝑔𝑙</m:t>
                                </m:r>
                              </m:oMath>
                            </m:oMathPara>
                          </a14:m>
                          <a:endParaRPr lang="de-DE" dirty="0"/>
                        </a:p>
                      </a:txBody>
                      <a:tcPr>
                        <a:solidFill>
                          <a:schemeClr val="bg1"/>
                        </a:solid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aus einer Streckenlast wirkt im Mittelpunkt des Bauteils. Sie ergibt sich aus der Länge multipliziert mit der Streckenlast.</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für denn Fall, dass sie Annahme der wirkenden Kraft als Punktlast für das Berechnungsverfahren hinreichen ist.</a:t>
                          </a:r>
                          <a:endParaRPr lang="de-DE" sz="1400" dirty="0"/>
                        </a:p>
                      </a:txBody>
                      <a:tcPr>
                        <a:solidFill>
                          <a:schemeClr val="bg1"/>
                        </a:solidFill>
                      </a:tcPr>
                    </a:tc>
                    <a:extLst>
                      <a:ext uri="{0D108BD9-81ED-4DB2-BD59-A6C34878D82A}">
                        <a16:rowId xmlns:a16="http://schemas.microsoft.com/office/drawing/2014/main" val="556854566"/>
                      </a:ext>
                    </a:extLst>
                  </a:tr>
                </a:tbl>
              </a:graphicData>
            </a:graphic>
          </p:graphicFrame>
        </mc:Choice>
        <mc:Fallback xmlns="">
          <p:graphicFrame>
            <p:nvGraphicFramePr>
              <p:cNvPr id="8" name="Tabelle 7">
                <a:extLst>
                  <a:ext uri="{FF2B5EF4-FFF2-40B4-BE49-F238E27FC236}">
                    <a16:creationId xmlns:a16="http://schemas.microsoft.com/office/drawing/2014/main" id="{DC6BF008-D88E-4089-8BED-AC520372E28E}"/>
                  </a:ext>
                </a:extLst>
              </p:cNvPr>
              <p:cNvGraphicFramePr>
                <a:graphicFrameLocks noGrp="1"/>
              </p:cNvGraphicFramePr>
              <p:nvPr>
                <p:extLst>
                  <p:ext uri="{D42A27DB-BD31-4B8C-83A1-F6EECF244321}">
                    <p14:modId xmlns:p14="http://schemas.microsoft.com/office/powerpoint/2010/main" val="4234019997"/>
                  </p:ext>
                </p:extLst>
              </p:nvPr>
            </p:nvGraphicFramePr>
            <p:xfrm>
              <a:off x="188424" y="1458941"/>
              <a:ext cx="8424936" cy="5154491"/>
            </p:xfrm>
            <a:graphic>
              <a:graphicData uri="http://schemas.openxmlformats.org/drawingml/2006/table">
                <a:tbl>
                  <a:tblPr firstRow="1" bandRow="1">
                    <a:tableStyleId>{5940675A-B579-460E-94D1-54222C63F5DA}</a:tableStyleId>
                  </a:tblPr>
                  <a:tblGrid>
                    <a:gridCol w="1800200">
                      <a:extLst>
                        <a:ext uri="{9D8B030D-6E8A-4147-A177-3AD203B41FA5}">
                          <a16:colId xmlns:a16="http://schemas.microsoft.com/office/drawing/2014/main" val="3646398856"/>
                        </a:ext>
                      </a:extLst>
                    </a:gridCol>
                    <a:gridCol w="2232248">
                      <a:extLst>
                        <a:ext uri="{9D8B030D-6E8A-4147-A177-3AD203B41FA5}">
                          <a16:colId xmlns:a16="http://schemas.microsoft.com/office/drawing/2014/main" val="4044950682"/>
                        </a:ext>
                      </a:extLst>
                    </a:gridCol>
                    <a:gridCol w="2304256">
                      <a:extLst>
                        <a:ext uri="{9D8B030D-6E8A-4147-A177-3AD203B41FA5}">
                          <a16:colId xmlns:a16="http://schemas.microsoft.com/office/drawing/2014/main" val="1856672583"/>
                        </a:ext>
                      </a:extLst>
                    </a:gridCol>
                    <a:gridCol w="2088232">
                      <a:extLst>
                        <a:ext uri="{9D8B030D-6E8A-4147-A177-3AD203B41FA5}">
                          <a16:colId xmlns:a16="http://schemas.microsoft.com/office/drawing/2014/main" val="219504422"/>
                        </a:ext>
                      </a:extLst>
                    </a:gridCol>
                  </a:tblGrid>
                  <a:tr h="335280">
                    <a:tc>
                      <a:txBody>
                        <a:bodyPr/>
                        <a:lstStyle/>
                        <a:p>
                          <a:endParaRPr lang="de-DE" sz="1600" dirty="0"/>
                        </a:p>
                      </a:txBody>
                      <a:tcPr>
                        <a:solidFill>
                          <a:schemeClr val="bg1"/>
                        </a:solidFill>
                      </a:tcPr>
                    </a:tc>
                    <a:tc>
                      <a:txBody>
                        <a:bodyPr/>
                        <a:lstStyle/>
                        <a:p>
                          <a:r>
                            <a:rPr lang="de-DE" sz="1600" dirty="0"/>
                            <a:t>Skizze</a:t>
                          </a:r>
                        </a:p>
                      </a:txBody>
                      <a:tcPr>
                        <a:solidFill>
                          <a:schemeClr val="bg1"/>
                        </a:solidFill>
                      </a:tcPr>
                    </a:tc>
                    <a:tc>
                      <a:txBody>
                        <a:bodyPr/>
                        <a:lstStyle/>
                        <a:p>
                          <a:r>
                            <a:rPr lang="de-DE" sz="1600" dirty="0"/>
                            <a:t>Verbalformulierung</a:t>
                          </a:r>
                        </a:p>
                      </a:txBody>
                      <a:tcPr>
                        <a:solidFill>
                          <a:schemeClr val="bg1"/>
                        </a:solidFill>
                      </a:tcPr>
                    </a:tc>
                    <a:tc>
                      <a:txBody>
                        <a:bodyPr/>
                        <a:lstStyle/>
                        <a:p>
                          <a:r>
                            <a:rPr lang="de-DE" sz="1600" dirty="0"/>
                            <a:t>Einschränkungen</a:t>
                          </a:r>
                        </a:p>
                      </a:txBody>
                      <a:tcPr>
                        <a:solidFill>
                          <a:schemeClr val="bg1"/>
                        </a:solidFill>
                      </a:tcPr>
                    </a:tc>
                    <a:extLst>
                      <a:ext uri="{0D108BD9-81ED-4DB2-BD59-A6C34878D82A}">
                        <a16:rowId xmlns:a16="http://schemas.microsoft.com/office/drawing/2014/main" val="3562000493"/>
                      </a:ext>
                    </a:extLst>
                  </a:tr>
                  <a:tr h="1636609">
                    <a:tc>
                      <a:txBody>
                        <a:bodyPr/>
                        <a:lstStyle/>
                        <a:p>
                          <a:endParaRPr lang="de-DE"/>
                        </a:p>
                      </a:txBody>
                      <a:tcPr>
                        <a:blipFill>
                          <a:blip r:embed="rId2"/>
                          <a:stretch>
                            <a:fillRect l="-338" t="-21561" r="-368243" b="-197398"/>
                          </a:stretch>
                        </a:blip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Berechnung der Fläche unter der Funktion, die die Streckenlast beschreibt.</a:t>
                          </a:r>
                          <a:endParaRPr lang="de-DE" sz="1400" dirty="0"/>
                        </a:p>
                      </a:txBody>
                      <a:tcPr>
                        <a:solidFill>
                          <a:schemeClr val="bg1"/>
                        </a:solidFill>
                      </a:tcPr>
                    </a:tc>
                    <a:tc>
                      <a:txBody>
                        <a:bodyPr/>
                        <a:lstStyle/>
                        <a:p>
                          <a:r>
                            <a:rPr lang="de-DE" sz="1400" dirty="0"/>
                            <a:t>gilt immer</a:t>
                          </a:r>
                        </a:p>
                      </a:txBody>
                      <a:tcPr>
                        <a:solidFill>
                          <a:schemeClr val="bg1"/>
                        </a:solidFill>
                      </a:tcPr>
                    </a:tc>
                    <a:extLst>
                      <a:ext uri="{0D108BD9-81ED-4DB2-BD59-A6C34878D82A}">
                        <a16:rowId xmlns:a16="http://schemas.microsoft.com/office/drawing/2014/main" val="64451563"/>
                      </a:ext>
                    </a:extLst>
                  </a:tr>
                  <a:tr h="1591301">
                    <a:tc>
                      <a:txBody>
                        <a:bodyPr/>
                        <a:lstStyle/>
                        <a:p>
                          <a:endParaRPr lang="de-DE"/>
                        </a:p>
                      </a:txBody>
                      <a:tcPr>
                        <a:blipFill>
                          <a:blip r:embed="rId2"/>
                          <a:stretch>
                            <a:fillRect l="-338" t="-125287" r="-368243" b="-103448"/>
                          </a:stretch>
                        </a:blip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ergibt sich aus der Streckenlast multipliziert mit dem Abstand der Auflage (l).</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wenn angenommen werden kann, dass die Kraftverteilung über das Bauteil nahezu symmetrisch ist.</a:t>
                          </a:r>
                          <a:endParaRPr lang="de-DE" sz="1400" dirty="0"/>
                        </a:p>
                      </a:txBody>
                      <a:tcPr>
                        <a:solidFill>
                          <a:schemeClr val="bg1"/>
                        </a:solidFill>
                      </a:tcPr>
                    </a:tc>
                    <a:extLst>
                      <a:ext uri="{0D108BD9-81ED-4DB2-BD59-A6C34878D82A}">
                        <a16:rowId xmlns:a16="http://schemas.microsoft.com/office/drawing/2014/main" val="3668860012"/>
                      </a:ext>
                    </a:extLst>
                  </a:tr>
                  <a:tr h="1591301">
                    <a:tc>
                      <a:txBody>
                        <a:bodyPr/>
                        <a:lstStyle/>
                        <a:p>
                          <a:endParaRPr lang="de-DE"/>
                        </a:p>
                      </a:txBody>
                      <a:tcPr>
                        <a:blipFill>
                          <a:blip r:embed="rId2"/>
                          <a:stretch>
                            <a:fillRect l="-338" t="-225287" r="-368243" b="-3448"/>
                          </a:stretch>
                        </a:blipFill>
                      </a:tcPr>
                    </a:tc>
                    <a:tc>
                      <a:txBody>
                        <a:bodyPr/>
                        <a:lstStyle/>
                        <a:p>
                          <a:endParaRPr lang="de-DE" dirty="0"/>
                        </a:p>
                      </a:txBody>
                      <a:tcPr>
                        <a:solidFill>
                          <a:schemeClr val="bg1"/>
                        </a:solidFill>
                      </a:tcPr>
                    </a:tc>
                    <a:tc>
                      <a:txBody>
                        <a:bodyPr/>
                        <a:lstStyle/>
                        <a:p>
                          <a:r>
                            <a:rPr kumimoji="0" lang="de-DE" sz="1400" kern="1200" dirty="0">
                              <a:solidFill>
                                <a:schemeClr val="tx1"/>
                              </a:solidFill>
                              <a:effectLst/>
                              <a:latin typeface="+mn-lt"/>
                              <a:ea typeface="+mn-ea"/>
                              <a:cs typeface="+mn-cs"/>
                            </a:rPr>
                            <a:t>Die auftretende Kraft aus einer Streckenlast wirkt im Mittelpunkt des Bauteils. Sie ergibt sich aus der Länge multipliziert mit der Streckenlast.</a:t>
                          </a:r>
                          <a:endParaRPr lang="de-DE" sz="1400" dirty="0"/>
                        </a:p>
                      </a:txBody>
                      <a:tcPr>
                        <a:solidFill>
                          <a:schemeClr val="bg1"/>
                        </a:solidFill>
                      </a:tcPr>
                    </a:tc>
                    <a:tc>
                      <a:txBody>
                        <a:bodyPr/>
                        <a:lstStyle/>
                        <a:p>
                          <a:r>
                            <a:rPr kumimoji="0" lang="de-DE" sz="1400" kern="1200" dirty="0">
                              <a:solidFill>
                                <a:schemeClr val="tx1"/>
                              </a:solidFill>
                              <a:effectLst/>
                              <a:latin typeface="+mn-lt"/>
                              <a:ea typeface="+mn-ea"/>
                              <a:cs typeface="+mn-cs"/>
                            </a:rPr>
                            <a:t>Gilt nur für denn Fall, dass sie Annahme der wirkenden Kraft als Punktlast für das Berechnungsverfahren hinreichen ist.</a:t>
                          </a:r>
                          <a:endParaRPr lang="de-DE" sz="1400" dirty="0"/>
                        </a:p>
                      </a:txBody>
                      <a:tcPr>
                        <a:solidFill>
                          <a:schemeClr val="bg1"/>
                        </a:solidFill>
                      </a:tcPr>
                    </a:tc>
                    <a:extLst>
                      <a:ext uri="{0D108BD9-81ED-4DB2-BD59-A6C34878D82A}">
                        <a16:rowId xmlns:a16="http://schemas.microsoft.com/office/drawing/2014/main" val="556854566"/>
                      </a:ext>
                    </a:extLst>
                  </a:tr>
                </a:tbl>
              </a:graphicData>
            </a:graphic>
          </p:graphicFrame>
        </mc:Fallback>
      </mc:AlternateContent>
      <p:grpSp>
        <p:nvGrpSpPr>
          <p:cNvPr id="9" name="Gruppieren 8">
            <a:extLst>
              <a:ext uri="{FF2B5EF4-FFF2-40B4-BE49-F238E27FC236}">
                <a16:creationId xmlns:a16="http://schemas.microsoft.com/office/drawing/2014/main" id="{752A3A30-1BED-4CC8-966F-D405E7ABAA96}"/>
              </a:ext>
            </a:extLst>
          </p:cNvPr>
          <p:cNvGrpSpPr/>
          <p:nvPr/>
        </p:nvGrpSpPr>
        <p:grpSpPr>
          <a:xfrm>
            <a:off x="1995395" y="2316376"/>
            <a:ext cx="2200245" cy="4269547"/>
            <a:chOff x="1995395" y="2316376"/>
            <a:chExt cx="2200245" cy="4269547"/>
          </a:xfrm>
        </p:grpSpPr>
        <p:pic>
          <p:nvPicPr>
            <p:cNvPr id="2055" name="Picture 7" descr="b1">
              <a:extLst>
                <a:ext uri="{FF2B5EF4-FFF2-40B4-BE49-F238E27FC236}">
                  <a16:creationId xmlns:a16="http://schemas.microsoft.com/office/drawing/2014/main" id="{7DD4153C-33B3-4718-B222-D11E22157D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806" b="23551"/>
            <a:stretch/>
          </p:blipFill>
          <p:spPr bwMode="auto">
            <a:xfrm>
              <a:off x="1995395" y="2316376"/>
              <a:ext cx="2200245" cy="87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8" descr="b2">
              <a:extLst>
                <a:ext uri="{FF2B5EF4-FFF2-40B4-BE49-F238E27FC236}">
                  <a16:creationId xmlns:a16="http://schemas.microsoft.com/office/drawing/2014/main" id="{86D0F381-92AC-43BC-84B3-5A9BD469C6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63" r="7471" b="21428"/>
            <a:stretch/>
          </p:blipFill>
          <p:spPr bwMode="auto">
            <a:xfrm>
              <a:off x="2039256" y="3861048"/>
              <a:ext cx="2121568"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7" name="Picture 9" descr="b3">
              <a:extLst>
                <a:ext uri="{FF2B5EF4-FFF2-40B4-BE49-F238E27FC236}">
                  <a16:creationId xmlns:a16="http://schemas.microsoft.com/office/drawing/2014/main" id="{7C224AE4-5D04-496F-9476-C913A07738E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678" r="5066" b="3474"/>
            <a:stretch/>
          </p:blipFill>
          <p:spPr bwMode="auto">
            <a:xfrm>
              <a:off x="2030739" y="5361786"/>
              <a:ext cx="2132005" cy="122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Titel 1">
            <a:extLst>
              <a:ext uri="{FF2B5EF4-FFF2-40B4-BE49-F238E27FC236}">
                <a16:creationId xmlns:a16="http://schemas.microsoft.com/office/drawing/2014/main" id="{2EE19000-985A-4872-950C-499146051531}"/>
              </a:ext>
            </a:extLst>
          </p:cNvPr>
          <p:cNvSpPr txBox="1">
            <a:spLocks/>
          </p:cNvSpPr>
          <p:nvPr/>
        </p:nvSpPr>
        <p:spPr>
          <a:xfrm>
            <a:off x="179512" y="141685"/>
            <a:ext cx="8496944" cy="922114"/>
          </a:xfrm>
          <a:prstGeom prst="rect">
            <a:avLst/>
          </a:prstGeom>
          <a:solidFill>
            <a:schemeClr val="accent1">
              <a:lumMod val="60000"/>
              <a:lumOff val="40000"/>
            </a:schemeClr>
          </a:solidFill>
        </p:spPr>
        <p:txBody>
          <a:bodyPr vert="horz" anchor="ctr">
            <a:normAutofit/>
          </a:bodyPr>
          <a:lstStyle>
            <a:lvl1pPr algn="l" rtl="0" eaLnBrk="1" latinLnBrk="0" hangingPunct="1">
              <a:spcBef>
                <a:spcPct val="0"/>
              </a:spcBef>
              <a:buNone/>
              <a:defRPr kumimoji="0" sz="3000" b="0" kern="1200" cap="small" baseline="0">
                <a:solidFill>
                  <a:schemeClr val="tx2"/>
                </a:solidFill>
                <a:latin typeface="Calibri" pitchFamily="34" charset="0"/>
                <a:ea typeface="+mj-ea"/>
                <a:cs typeface="+mj-cs"/>
              </a:defRPr>
            </a:lvl1pPr>
          </a:lstStyle>
          <a:p>
            <a:pPr fontAlgn="auto">
              <a:spcAft>
                <a:spcPts val="0"/>
              </a:spcAft>
            </a:pPr>
            <a:r>
              <a:rPr lang="de-DE" sz="2500" dirty="0"/>
              <a:t>6.7 Beispiel für Horizontal didaktische Reduktion </a:t>
            </a:r>
            <a:r>
              <a:rPr lang="de-DE" sz="2500" dirty="0" err="1"/>
              <a:t>bautechnik</a:t>
            </a:r>
            <a:endParaRPr lang="de-DE" sz="2500" dirty="0"/>
          </a:p>
        </p:txBody>
      </p:sp>
    </p:spTree>
    <p:extLst>
      <p:ext uri="{BB962C8B-B14F-4D97-AF65-F5344CB8AC3E}">
        <p14:creationId xmlns:p14="http://schemas.microsoft.com/office/powerpoint/2010/main" val="1549414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6.8 Didaktisches Reduktionsfeld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39</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dirty="0"/>
              <a:t>Entscheidungsschritte zur didaktische Reduktion nach ARNOLD</a:t>
            </a:r>
          </a:p>
          <a:p>
            <a:pPr marL="990600" lvl="1" indent="-366713" eaLnBrk="1" hangingPunct="1">
              <a:buFont typeface="Wingdings" pitchFamily="2" charset="2"/>
              <a:buAutoNum type="arabicPeriod"/>
            </a:pPr>
            <a:r>
              <a:rPr lang="de-DE" sz="2000" dirty="0"/>
              <a:t>Sachanalyse</a:t>
            </a:r>
          </a:p>
          <a:p>
            <a:pPr marL="1524000" lvl="2" indent="-354013" eaLnBrk="1" hangingPunct="1"/>
            <a:r>
              <a:rPr lang="de-DE" dirty="0"/>
              <a:t>Durch welche Begriffe, Elemente ist die Komplexität des Unterrichts bestimmt</a:t>
            </a:r>
          </a:p>
          <a:p>
            <a:pPr marL="990600" lvl="1" indent="-366713" eaLnBrk="1" hangingPunct="1">
              <a:buFont typeface="Wingdings" pitchFamily="2" charset="2"/>
              <a:buAutoNum type="arabicPeriod"/>
            </a:pPr>
            <a:r>
              <a:rPr lang="de-DE" sz="2000" dirty="0"/>
              <a:t>Didaktische Strukturierung</a:t>
            </a:r>
          </a:p>
          <a:p>
            <a:pPr marL="1524000" lvl="2" indent="-354013" eaLnBrk="1" hangingPunct="1"/>
            <a:r>
              <a:rPr lang="de-DE" dirty="0"/>
              <a:t>Welche Bestandteile sind von zentraler Bedeutung, um den Gegenstand zu verstehen</a:t>
            </a:r>
          </a:p>
          <a:p>
            <a:pPr marL="990600" lvl="1" indent="-366713" eaLnBrk="1" hangingPunct="1">
              <a:buFont typeface="Wingdings" pitchFamily="2" charset="2"/>
              <a:buAutoNum type="arabicPeriod"/>
            </a:pPr>
            <a:r>
              <a:rPr lang="de-DE" sz="2000" dirty="0"/>
              <a:t>Restriktionsanalyse</a:t>
            </a:r>
          </a:p>
          <a:p>
            <a:pPr marL="1524000" lvl="2" indent="-354013" eaLnBrk="1" hangingPunct="1"/>
            <a:r>
              <a:rPr lang="de-DE" dirty="0"/>
              <a:t>Erwartete Lernschwierigkeiten der Adressaten in die Planung einbeziehen</a:t>
            </a:r>
          </a:p>
        </p:txBody>
      </p:sp>
    </p:spTree>
    <p:extLst>
      <p:ext uri="{BB962C8B-B14F-4D97-AF65-F5344CB8AC3E}">
        <p14:creationId xmlns:p14="http://schemas.microsoft.com/office/powerpoint/2010/main" val="14064172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6.8 Didaktisches Reduktionsfeld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40</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dirty="0"/>
              <a:t>Entscheidungsschritte zur didaktische Reduktion nach ARNOLD</a:t>
            </a:r>
          </a:p>
          <a:p>
            <a:pPr marL="990600" lvl="1" indent="-366713" eaLnBrk="1" hangingPunct="1">
              <a:buFont typeface="Wingdings" pitchFamily="2" charset="2"/>
              <a:buAutoNum type="arabicPeriod" startAt="4"/>
            </a:pPr>
            <a:r>
              <a:rPr lang="de-DE" sz="2000" dirty="0"/>
              <a:t>Horizontale didaktische Reduktion</a:t>
            </a:r>
          </a:p>
          <a:p>
            <a:pPr marL="1524000" lvl="2" indent="-354013" eaLnBrk="1" hangingPunct="1"/>
            <a:r>
              <a:rPr lang="de-DE" dirty="0"/>
              <a:t>Förderung des Verständnisses durch Beispiele, Analogien, usw.</a:t>
            </a:r>
          </a:p>
          <a:p>
            <a:pPr marL="990600" lvl="1" indent="-366713" eaLnBrk="1" hangingPunct="1">
              <a:buFont typeface="Wingdings" pitchFamily="2" charset="2"/>
              <a:buAutoNum type="arabicPeriod" startAt="4"/>
            </a:pPr>
            <a:r>
              <a:rPr lang="de-DE" sz="2000" dirty="0"/>
              <a:t>Vertikale didaktische Reduktion I</a:t>
            </a:r>
          </a:p>
          <a:p>
            <a:pPr marL="1524000" lvl="2" indent="-354013" eaLnBrk="1" hangingPunct="1"/>
            <a:r>
              <a:rPr lang="de-DE" dirty="0"/>
              <a:t>Auf welche Bestandteile kann verzichtet werden, ohne die Gültigkeit einzuschränken</a:t>
            </a:r>
          </a:p>
          <a:p>
            <a:pPr marL="990600" lvl="1" indent="-366713" eaLnBrk="1" hangingPunct="1">
              <a:buFont typeface="Wingdings" pitchFamily="2" charset="2"/>
              <a:buAutoNum type="arabicPeriod" startAt="4"/>
            </a:pPr>
            <a:r>
              <a:rPr lang="de-DE" sz="2000" dirty="0"/>
              <a:t>Vertikale didaktische Reduktion II</a:t>
            </a:r>
          </a:p>
          <a:p>
            <a:pPr marL="1524000" lvl="2" indent="-354013" eaLnBrk="1" hangingPunct="1"/>
            <a:r>
              <a:rPr lang="de-DE" dirty="0"/>
              <a:t>Welche Einschränkungen des Gültigkeitsumfanges können verantwortet werden, um das Verständnis zu fördern</a:t>
            </a:r>
          </a:p>
        </p:txBody>
      </p:sp>
    </p:spTree>
    <p:extLst>
      <p:ext uri="{BB962C8B-B14F-4D97-AF65-F5344CB8AC3E}">
        <p14:creationId xmlns:p14="http://schemas.microsoft.com/office/powerpoint/2010/main" val="24804488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Hauptsatz der didaktischen Vereinfachung</a:t>
            </a:r>
            <a:br>
              <a:rPr lang="de-DE" altLang="de-DE" sz="2800">
                <a:latin typeface="Arial Narrow" panose="020B0606020202030204" pitchFamily="34" charset="0"/>
              </a:rPr>
            </a:br>
            <a:r>
              <a:rPr lang="de-DE" altLang="de-DE" sz="2800">
                <a:latin typeface="Arial Narrow" panose="020B0606020202030204" pitchFamily="34" charset="0"/>
              </a:rPr>
              <a:t>nach HERING</a:t>
            </a:r>
          </a:p>
        </p:txBody>
      </p:sp>
      <p:sp>
        <p:nvSpPr>
          <p:cNvPr id="3075" name="Rectangle 3"/>
          <p:cNvSpPr>
            <a:spLocks noGrp="1" noChangeArrowheads="1"/>
          </p:cNvSpPr>
          <p:nvPr>
            <p:ph type="body" idx="1"/>
          </p:nvPr>
        </p:nvSpPr>
        <p:spPr>
          <a:xfrm>
            <a:off x="762000" y="1143000"/>
            <a:ext cx="7772400" cy="5257800"/>
          </a:xfrm>
        </p:spPr>
        <p:txBody>
          <a:bodyPr>
            <a:normAutofit lnSpcReduction="10000"/>
          </a:bodyPr>
          <a:lstStyle/>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r>
              <a:rPr lang="de-DE" altLang="de-DE" sz="2000" dirty="0">
                <a:latin typeface="Arial Narrow" panose="020B0606020202030204" pitchFamily="34" charset="0"/>
              </a:rPr>
              <a:t>„Didaktische Vereinfachung einer wissenschaftlichen Aussage ist der Übergang von einer (in die besonderen Merkmale des Gegenstandes) </a:t>
            </a:r>
            <a:r>
              <a:rPr lang="de-DE" altLang="de-DE" sz="2000" i="1" dirty="0">
                <a:latin typeface="Arial Narrow" panose="020B0606020202030204" pitchFamily="34" charset="0"/>
              </a:rPr>
              <a:t>differenzierten</a:t>
            </a:r>
            <a:r>
              <a:rPr lang="de-DE" altLang="de-DE" sz="2000" dirty="0">
                <a:latin typeface="Arial Narrow" panose="020B0606020202030204" pitchFamily="34" charset="0"/>
              </a:rPr>
              <a:t> Aussage zu einer </a:t>
            </a:r>
            <a:r>
              <a:rPr lang="de-DE" altLang="de-DE" sz="2000" i="1" dirty="0">
                <a:latin typeface="Arial Narrow" panose="020B0606020202030204" pitchFamily="34" charset="0"/>
              </a:rPr>
              <a:t>allgemeinen</a:t>
            </a:r>
            <a:r>
              <a:rPr lang="de-DE" altLang="de-DE" sz="2000" dirty="0">
                <a:latin typeface="Arial Narrow" panose="020B0606020202030204" pitchFamily="34" charset="0"/>
              </a:rPr>
              <a:t> Aussage (gleichen Gültigkeitsumfangs über den gleichen Gegenstand unter gleichem Aspekt)“.</a:t>
            </a: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endParaRPr lang="de-DE" altLang="de-DE" sz="2000" dirty="0">
              <a:latin typeface="Arial Narrow" panose="020B0606020202030204" pitchFamily="34" charset="0"/>
            </a:endParaRPr>
          </a:p>
          <a:p>
            <a:pPr marL="0" indent="0" eaLnBrk="1" hangingPunct="1">
              <a:lnSpc>
                <a:spcPct val="90000"/>
              </a:lnSpc>
              <a:buFontTx/>
              <a:buNone/>
              <a:tabLst>
                <a:tab pos="1809750" algn="l"/>
              </a:tabLst>
            </a:pPr>
            <a:r>
              <a:rPr lang="de-DE" altLang="de-DE" sz="2000" dirty="0">
                <a:latin typeface="Arial Narrow" panose="020B0606020202030204" pitchFamily="34" charset="0"/>
              </a:rPr>
              <a:t>Hering: Zur </a:t>
            </a:r>
            <a:r>
              <a:rPr lang="de-DE" altLang="de-DE" sz="2000" dirty="0" err="1">
                <a:latin typeface="Arial Narrow" panose="020B0606020202030204" pitchFamily="34" charset="0"/>
              </a:rPr>
              <a:t>Faßlichkeit</a:t>
            </a:r>
            <a:r>
              <a:rPr lang="de-DE" altLang="de-DE" sz="2000" dirty="0">
                <a:latin typeface="Arial Narrow" panose="020B0606020202030204" pitchFamily="34" charset="0"/>
              </a:rPr>
              <a:t> naturwissenschaftlicher und technischer Aussagen. – Berlin, 1959, S.92</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6970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Bsp.: Bilanzgleichung der Photosynthese</a:t>
            </a:r>
          </a:p>
        </p:txBody>
      </p:sp>
      <p:sp>
        <p:nvSpPr>
          <p:cNvPr id="4099" name="Rectangle 3"/>
          <p:cNvSpPr>
            <a:spLocks noGrp="1" noChangeArrowheads="1"/>
          </p:cNvSpPr>
          <p:nvPr>
            <p:ph type="body" idx="1"/>
          </p:nvPr>
        </p:nvSpPr>
        <p:spPr>
          <a:xfrm>
            <a:off x="762000" y="1143000"/>
            <a:ext cx="7772400" cy="5257800"/>
          </a:xfrm>
        </p:spPr>
        <p:txBody>
          <a:bodyPr/>
          <a:lstStyle/>
          <a:p>
            <a:pPr marL="0" indent="0" defTabSz="800100" eaLnBrk="1" hangingPunct="1">
              <a:buFontTx/>
              <a:buNone/>
            </a:pPr>
            <a:r>
              <a:rPr lang="de-DE" altLang="de-DE" sz="1800" dirty="0">
                <a:latin typeface="Arial Narrow" panose="020B0606020202030204" pitchFamily="34" charset="0"/>
              </a:rPr>
              <a:t>				Lichtenergie,</a:t>
            </a:r>
          </a:p>
          <a:p>
            <a:pPr marL="0" indent="0" defTabSz="800100" eaLnBrk="1" hangingPunct="1">
              <a:buFontTx/>
              <a:buNone/>
            </a:pPr>
            <a:r>
              <a:rPr lang="de-DE" altLang="de-DE" sz="1800" dirty="0">
                <a:latin typeface="Arial Narrow" panose="020B0606020202030204" pitchFamily="34" charset="0"/>
              </a:rPr>
              <a:t>				Chlorophyll</a:t>
            </a:r>
          </a:p>
          <a:p>
            <a:pPr marL="0" indent="0" defTabSz="800100" eaLnBrk="1" hangingPunct="1">
              <a:buFontTx/>
              <a:buNone/>
            </a:pPr>
            <a:endParaRPr lang="de-DE" altLang="de-DE" sz="1800" dirty="0">
              <a:latin typeface="Arial Narrow" panose="020B0606020202030204" pitchFamily="34" charset="0"/>
            </a:endParaRPr>
          </a:p>
          <a:p>
            <a:pPr marL="0" indent="0" defTabSz="800100" eaLnBrk="1" hangingPunct="1">
              <a:buFontTx/>
              <a:buNone/>
            </a:pPr>
            <a:r>
              <a:rPr lang="de-DE" altLang="de-DE" sz="1800" dirty="0">
                <a:latin typeface="Arial Narrow" panose="020B0606020202030204" pitchFamily="34" charset="0"/>
              </a:rPr>
              <a:t>6 CO</a:t>
            </a:r>
            <a:r>
              <a:rPr lang="de-DE" altLang="de-DE" sz="1800" baseline="-25000" dirty="0">
                <a:latin typeface="Arial Narrow" panose="020B0606020202030204" pitchFamily="34" charset="0"/>
              </a:rPr>
              <a:t>2</a:t>
            </a:r>
            <a:r>
              <a:rPr lang="de-DE" altLang="de-DE" sz="1800" dirty="0">
                <a:latin typeface="Arial Narrow" panose="020B0606020202030204" pitchFamily="34" charset="0"/>
              </a:rPr>
              <a:t>		+          6	H</a:t>
            </a:r>
            <a:r>
              <a:rPr lang="de-DE" altLang="de-DE" sz="1800" baseline="-25000" dirty="0">
                <a:latin typeface="Arial Narrow" panose="020B0606020202030204" pitchFamily="34" charset="0"/>
              </a:rPr>
              <a:t>2</a:t>
            </a:r>
            <a:r>
              <a:rPr lang="de-DE" altLang="de-DE" sz="1800" dirty="0">
                <a:latin typeface="Arial Narrow" panose="020B0606020202030204" pitchFamily="34" charset="0"/>
              </a:rPr>
              <a:t>O 			C</a:t>
            </a:r>
            <a:r>
              <a:rPr lang="de-DE" altLang="de-DE" sz="1800" baseline="-25000" dirty="0">
                <a:latin typeface="Arial Narrow" panose="020B0606020202030204" pitchFamily="34" charset="0"/>
              </a:rPr>
              <a:t>6</a:t>
            </a:r>
            <a:r>
              <a:rPr lang="de-DE" altLang="de-DE" sz="1800" dirty="0">
                <a:latin typeface="Arial Narrow" panose="020B0606020202030204" pitchFamily="34" charset="0"/>
              </a:rPr>
              <a:t>H</a:t>
            </a:r>
            <a:r>
              <a:rPr lang="de-DE" altLang="de-DE" sz="1800" baseline="-25000" dirty="0">
                <a:latin typeface="Arial Narrow" panose="020B0606020202030204" pitchFamily="34" charset="0"/>
              </a:rPr>
              <a:t>12</a:t>
            </a:r>
            <a:r>
              <a:rPr lang="de-DE" altLang="de-DE" sz="1800" dirty="0">
                <a:latin typeface="Arial Narrow" panose="020B0606020202030204" pitchFamily="34" charset="0"/>
              </a:rPr>
              <a:t>O</a:t>
            </a:r>
            <a:r>
              <a:rPr lang="de-DE" altLang="de-DE" sz="1800" baseline="-25000" dirty="0">
                <a:latin typeface="Arial Narrow" panose="020B0606020202030204" pitchFamily="34" charset="0"/>
              </a:rPr>
              <a:t>6</a:t>
            </a:r>
            <a:r>
              <a:rPr lang="de-DE" altLang="de-DE" sz="1800" dirty="0">
                <a:latin typeface="Arial Narrow" panose="020B0606020202030204" pitchFamily="34" charset="0"/>
              </a:rPr>
              <a:t>       +	6O</a:t>
            </a:r>
            <a:r>
              <a:rPr lang="de-DE" altLang="de-DE" sz="1800" baseline="-25000" dirty="0">
                <a:latin typeface="Arial Narrow" panose="020B0606020202030204" pitchFamily="34" charset="0"/>
              </a:rPr>
              <a:t>2</a:t>
            </a:r>
            <a:r>
              <a:rPr lang="de-DE" altLang="de-DE" sz="1800" dirty="0">
                <a:latin typeface="Arial Narrow" panose="020B0606020202030204" pitchFamily="34" charset="0"/>
              </a:rPr>
              <a:t>					2827 kJ</a:t>
            </a:r>
          </a:p>
          <a:p>
            <a:pPr marL="0" indent="0" defTabSz="800100" eaLnBrk="1" hangingPunct="1">
              <a:buFontTx/>
              <a:buNone/>
            </a:pPr>
            <a:endParaRPr lang="de-DE" altLang="de-DE" sz="1800" dirty="0">
              <a:latin typeface="Arial Narrow" panose="020B0606020202030204" pitchFamily="34" charset="0"/>
            </a:endParaRPr>
          </a:p>
          <a:p>
            <a:pPr marL="0" indent="0" defTabSz="800100" eaLnBrk="1" hangingPunct="1">
              <a:buFontTx/>
              <a:buNone/>
            </a:pPr>
            <a:r>
              <a:rPr lang="de-DE" altLang="de-DE" sz="1600" dirty="0">
                <a:latin typeface="Arial Narrow" panose="020B0606020202030204" pitchFamily="34" charset="0"/>
              </a:rPr>
              <a:t>Kohlenstoff-		Wasser			Glucose		Sauerstoff</a:t>
            </a:r>
          </a:p>
          <a:p>
            <a:pPr marL="0" indent="0" defTabSz="800100" eaLnBrk="1" hangingPunct="1">
              <a:buFontTx/>
              <a:buNone/>
            </a:pPr>
            <a:r>
              <a:rPr lang="de-DE" altLang="de-DE" sz="1600" dirty="0" err="1">
                <a:latin typeface="Arial Narrow" panose="020B0606020202030204" pitchFamily="34" charset="0"/>
              </a:rPr>
              <a:t>dioxid</a:t>
            </a:r>
            <a:endParaRPr lang="de-DE" altLang="de-DE" sz="1600" dirty="0">
              <a:latin typeface="Arial Narrow" panose="020B0606020202030204"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Line 5"/>
          <p:cNvSpPr>
            <a:spLocks noChangeShapeType="1"/>
          </p:cNvSpPr>
          <p:nvPr/>
        </p:nvSpPr>
        <p:spPr bwMode="auto">
          <a:xfrm>
            <a:off x="3733800" y="1981200"/>
            <a:ext cx="1752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Tree>
    <p:extLst>
      <p:ext uri="{BB962C8B-B14F-4D97-AF65-F5344CB8AC3E}">
        <p14:creationId xmlns:p14="http://schemas.microsoft.com/office/powerpoint/2010/main" val="864882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Didaktische Vereinfachung nach HERING</a:t>
            </a:r>
          </a:p>
        </p:txBody>
      </p:sp>
      <p:sp>
        <p:nvSpPr>
          <p:cNvPr id="5123" name="Rectangle 3"/>
          <p:cNvSpPr>
            <a:spLocks noGrp="1" noChangeArrowheads="1"/>
          </p:cNvSpPr>
          <p:nvPr>
            <p:ph type="body" idx="1"/>
          </p:nvPr>
        </p:nvSpPr>
        <p:spPr>
          <a:xfrm>
            <a:off x="762000" y="1143000"/>
            <a:ext cx="7772400" cy="5257800"/>
          </a:xfrm>
        </p:spPr>
        <p:txBody>
          <a:bodyPr/>
          <a:lstStyle/>
          <a:p>
            <a:pPr marL="0" indent="0" eaLnBrk="1" hangingPunct="1">
              <a:buFontTx/>
              <a:buAutoNum type="arabicParenR"/>
              <a:tabLst>
                <a:tab pos="1809750" algn="l"/>
              </a:tabLst>
            </a:pPr>
            <a:r>
              <a:rPr lang="de-DE" altLang="de-DE" sz="1800" b="1">
                <a:solidFill>
                  <a:srgbClr val="FF0000"/>
                </a:solidFill>
                <a:latin typeface="Arial Narrow" panose="020B0606020202030204" pitchFamily="34" charset="0"/>
              </a:rPr>
              <a:t>   Tilgung untergeordneter Aussagen</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Es wird ein Oberbegriff gebildet, der die Teilaussagen mit einschließt.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Beispiel:</a:t>
            </a:r>
          </a:p>
          <a:p>
            <a:pPr marL="0" indent="0" eaLnBrk="1" hangingPunct="1">
              <a:buFontTx/>
              <a:buNone/>
              <a:tabLst>
                <a:tab pos="1809750" algn="l"/>
              </a:tabLst>
            </a:pPr>
            <a:r>
              <a:rPr lang="de-DE" altLang="de-DE" sz="1800">
                <a:latin typeface="Arial Narrow" panose="020B0606020202030204" pitchFamily="34" charset="0"/>
              </a:rPr>
              <a:t>Die elektrische Leitfähigkeit in Werkstoffen wird durch Elektronen, Defektelektronen und/oder Ionen ermöglicht.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u="sng">
                <a:latin typeface="Arial Narrow" panose="020B0606020202030204" pitchFamily="34" charset="0"/>
              </a:rPr>
              <a:t>Vereinfacht:</a:t>
            </a:r>
          </a:p>
          <a:p>
            <a:pPr marL="0" indent="0" eaLnBrk="1" hangingPunct="1">
              <a:buFontTx/>
              <a:buNone/>
              <a:tabLst>
                <a:tab pos="1809750" algn="l"/>
              </a:tabLst>
            </a:pPr>
            <a:r>
              <a:rPr lang="de-DE" altLang="de-DE" sz="1800">
                <a:latin typeface="Arial Narrow" panose="020B0606020202030204" pitchFamily="34" charset="0"/>
              </a:rPr>
              <a:t>Die elektrische Leitfähigkeit in Werkstoffen wird durch frei bewegliche Ladungsträger ermöglicht.</a:t>
            </a:r>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6172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Didaktische Vereinfachung nach HERING</a:t>
            </a:r>
          </a:p>
        </p:txBody>
      </p:sp>
      <p:sp>
        <p:nvSpPr>
          <p:cNvPr id="6147" name="Rectangle 3"/>
          <p:cNvSpPr>
            <a:spLocks noGrp="1" noChangeArrowheads="1"/>
          </p:cNvSpPr>
          <p:nvPr>
            <p:ph type="body" idx="1"/>
          </p:nvPr>
        </p:nvSpPr>
        <p:spPr>
          <a:xfrm>
            <a:off x="762000" y="1143000"/>
            <a:ext cx="7772400" cy="5257800"/>
          </a:xfrm>
        </p:spPr>
        <p:txBody>
          <a:bodyPr/>
          <a:lstStyle/>
          <a:p>
            <a:pPr marL="0" indent="0" eaLnBrk="1" hangingPunct="1">
              <a:buFontTx/>
              <a:buAutoNum type="arabicParenR" startAt="2"/>
              <a:tabLst>
                <a:tab pos="1809750" algn="l"/>
              </a:tabLst>
            </a:pPr>
            <a:r>
              <a:rPr lang="de-DE" altLang="de-DE" sz="1800" b="1">
                <a:solidFill>
                  <a:srgbClr val="FF0000"/>
                </a:solidFill>
                <a:latin typeface="Arial Narrow" panose="020B0606020202030204" pitchFamily="34" charset="0"/>
              </a:rPr>
              <a:t>   Indizierte Tilgung nebengeordneter Aussagen</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Ausgewählte Tilgung von Aussagen – es werden diejenigen Teilaussagen getilgt, die zunächst unwesentlich für die Zielstellung erscheinen.</a:t>
            </a:r>
          </a:p>
          <a:p>
            <a:pPr marL="0" indent="0" eaLnBrk="1" hangingPunct="1">
              <a:buFontTx/>
              <a:buNone/>
              <a:tabLst>
                <a:tab pos="1809750" algn="l"/>
              </a:tabLst>
            </a:pPr>
            <a:r>
              <a:rPr lang="de-DE" altLang="de-DE" sz="1800">
                <a:latin typeface="Arial Narrow" panose="020B0606020202030204" pitchFamily="34" charset="0"/>
              </a:rPr>
              <a:t>Anwendung erfolgt vorrangig, wenn kein Oberbegriff gefunden werden kann, der die Merkmale aller Teilaussagen vereint.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Beispiel:</a:t>
            </a:r>
          </a:p>
          <a:p>
            <a:pPr marL="0" indent="0" eaLnBrk="1" hangingPunct="1">
              <a:buFontTx/>
              <a:buNone/>
              <a:tabLst>
                <a:tab pos="1809750" algn="l"/>
              </a:tabLst>
            </a:pPr>
            <a:r>
              <a:rPr lang="de-DE" altLang="de-DE" sz="1800">
                <a:latin typeface="Arial Narrow" panose="020B0606020202030204" pitchFamily="34" charset="0"/>
              </a:rPr>
              <a:t>Als Zuschläge im Hochofenprozess kommen Quarz, Feldspat, Schiefer, Kalkstein und Dolomit in Betracht.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u="sng">
                <a:latin typeface="Arial Narrow" panose="020B0606020202030204" pitchFamily="34" charset="0"/>
              </a:rPr>
              <a:t>Vereinfacht:</a:t>
            </a:r>
          </a:p>
          <a:p>
            <a:pPr marL="0" indent="0" eaLnBrk="1" hangingPunct="1">
              <a:buFontTx/>
              <a:buNone/>
              <a:tabLst>
                <a:tab pos="1809750" algn="l"/>
              </a:tabLst>
            </a:pPr>
            <a:r>
              <a:rPr lang="de-DE" altLang="de-DE" sz="1800">
                <a:latin typeface="Arial Narrow" panose="020B0606020202030204" pitchFamily="34" charset="0"/>
              </a:rPr>
              <a:t>Als Zuschlag im Hochofenprozess kommt vorwiegend Kalkstein in Betracht. Bestimmte andere Zuschläge sind möglich.</a:t>
            </a: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41575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62000" y="0"/>
            <a:ext cx="7772400" cy="1143000"/>
          </a:xfrm>
        </p:spPr>
        <p:txBody>
          <a:bodyPr/>
          <a:lstStyle/>
          <a:p>
            <a:pPr eaLnBrk="1" hangingPunct="1"/>
            <a:r>
              <a:rPr lang="de-DE" altLang="de-DE" sz="2800">
                <a:latin typeface="Arial Narrow" panose="020B0606020202030204" pitchFamily="34" charset="0"/>
              </a:rPr>
              <a:t>Didaktische Vereinfachung nach HERING</a:t>
            </a:r>
          </a:p>
        </p:txBody>
      </p:sp>
      <p:sp>
        <p:nvSpPr>
          <p:cNvPr id="7171" name="Rectangle 3"/>
          <p:cNvSpPr>
            <a:spLocks noGrp="1" noChangeArrowheads="1"/>
          </p:cNvSpPr>
          <p:nvPr>
            <p:ph type="body" idx="1"/>
          </p:nvPr>
        </p:nvSpPr>
        <p:spPr>
          <a:xfrm>
            <a:off x="762000" y="1143000"/>
            <a:ext cx="7772400" cy="5257800"/>
          </a:xfrm>
        </p:spPr>
        <p:txBody>
          <a:bodyPr/>
          <a:lstStyle/>
          <a:p>
            <a:pPr marL="0" indent="0" eaLnBrk="1" hangingPunct="1">
              <a:buFontTx/>
              <a:buAutoNum type="arabicParenR" startAt="3"/>
              <a:tabLst>
                <a:tab pos="1809750" algn="l"/>
              </a:tabLst>
            </a:pPr>
            <a:r>
              <a:rPr lang="de-DE" altLang="de-DE" sz="1800" b="1">
                <a:solidFill>
                  <a:srgbClr val="FF0000"/>
                </a:solidFill>
                <a:latin typeface="Arial Narrow" panose="020B0606020202030204" pitchFamily="34" charset="0"/>
              </a:rPr>
              <a:t>   Indizierte Verallgemeinerung</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Es wird eine allgemeinere Aussage getroffen und Einschränkungen zum Gültigkeitsumfang werden genannt.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a:latin typeface="Arial Narrow" panose="020B0606020202030204" pitchFamily="34" charset="0"/>
              </a:rPr>
              <a:t>Beispiel:</a:t>
            </a:r>
          </a:p>
          <a:p>
            <a:pPr marL="0" indent="0" eaLnBrk="1" hangingPunct="1">
              <a:buFontTx/>
              <a:buNone/>
              <a:tabLst>
                <a:tab pos="1809750" algn="l"/>
              </a:tabLst>
            </a:pPr>
            <a:r>
              <a:rPr lang="de-DE" altLang="de-DE" sz="1800">
                <a:latin typeface="Arial Narrow" panose="020B0606020202030204" pitchFamily="34" charset="0"/>
              </a:rPr>
              <a:t>Als Zuschläge im Hochofenprozess kommen Quarz, Feldspat, Schiefer, Kalkstein und Dolomit in Betracht.</a:t>
            </a:r>
          </a:p>
          <a:p>
            <a:pPr marL="0" indent="0" eaLnBrk="1" hangingPunct="1">
              <a:buFontTx/>
              <a:buNone/>
              <a:tabLst>
                <a:tab pos="1809750" algn="l"/>
              </a:tabLst>
            </a:pPr>
            <a:endParaRPr lang="de-DE" altLang="de-DE" sz="1800">
              <a:latin typeface="Arial Narrow" panose="020B0606020202030204" pitchFamily="34" charset="0"/>
            </a:endParaRPr>
          </a:p>
          <a:p>
            <a:pPr marL="0" indent="0" eaLnBrk="1" hangingPunct="1">
              <a:buFontTx/>
              <a:buNone/>
              <a:tabLst>
                <a:tab pos="1809750" algn="l"/>
              </a:tabLst>
            </a:pPr>
            <a:r>
              <a:rPr lang="de-DE" altLang="de-DE" sz="1800" u="sng">
                <a:latin typeface="Arial Narrow" panose="020B0606020202030204" pitchFamily="34" charset="0"/>
              </a:rPr>
              <a:t>Vereinfacht:</a:t>
            </a:r>
          </a:p>
          <a:p>
            <a:pPr marL="0" indent="0" eaLnBrk="1" hangingPunct="1">
              <a:buFontTx/>
              <a:buNone/>
              <a:tabLst>
                <a:tab pos="1809750" algn="l"/>
              </a:tabLst>
            </a:pPr>
            <a:r>
              <a:rPr lang="de-DE" altLang="de-DE" sz="1800">
                <a:latin typeface="Arial Narrow" panose="020B0606020202030204" pitchFamily="34" charset="0"/>
              </a:rPr>
              <a:t>Als Zuschlag im Hochofenprozess werden bestimmte Stoffe benutzt, meist Kalk.</a:t>
            </a:r>
          </a:p>
        </p:txBody>
      </p:sp>
      <p:pic>
        <p:nvPicPr>
          <p:cNvPr id="7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0"/>
            <a:ext cx="83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579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46</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Sozialformen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7</a:t>
            </a:r>
          </a:p>
        </p:txBody>
      </p:sp>
    </p:spTree>
    <p:extLst>
      <p:ext uri="{BB962C8B-B14F-4D97-AF65-F5344CB8AC3E}">
        <p14:creationId xmlns:p14="http://schemas.microsoft.com/office/powerpoint/2010/main" val="29825450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 Sozialformen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47</a:t>
            </a:fld>
            <a:endParaRPr lang="de-DE"/>
          </a:p>
        </p:txBody>
      </p:sp>
      <p:sp>
        <p:nvSpPr>
          <p:cNvPr id="5" name="Rectangle 3"/>
          <p:cNvSpPr txBox="1">
            <a:spLocks noChangeArrowheads="1"/>
          </p:cNvSpPr>
          <p:nvPr/>
        </p:nvSpPr>
        <p:spPr>
          <a:xfrm>
            <a:off x="620265" y="1591816"/>
            <a:ext cx="8704263" cy="1981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itchFamily="2" charset="2"/>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de-DE" b="0" dirty="0"/>
              <a:t>Sind Organisationsformen, durch unterschiedliche Möglichkeiten der Lehrer-Schüler-Interaktion definiert</a:t>
            </a:r>
          </a:p>
          <a:p>
            <a:r>
              <a:rPr lang="de-DE" b="0" dirty="0"/>
              <a:t>Bestimmen die organisatorische Seite der Interaktionsmöglichkeiten im Unterricht</a:t>
            </a:r>
          </a:p>
        </p:txBody>
      </p:sp>
      <p:graphicFrame>
        <p:nvGraphicFramePr>
          <p:cNvPr id="6" name="Group 23"/>
          <p:cNvGraphicFramePr>
            <a:graphicFrameLocks noGrp="1"/>
          </p:cNvGraphicFramePr>
          <p:nvPr>
            <p:ph sz="half" idx="4294967295"/>
            <p:extLst>
              <p:ext uri="{D42A27DB-BD31-4B8C-83A1-F6EECF244321}">
                <p14:modId xmlns:p14="http://schemas.microsoft.com/office/powerpoint/2010/main" val="2910517166"/>
              </p:ext>
            </p:extLst>
          </p:nvPr>
        </p:nvGraphicFramePr>
        <p:xfrm>
          <a:off x="684213" y="3356992"/>
          <a:ext cx="7920037" cy="2316412"/>
        </p:xfrm>
        <a:graphic>
          <a:graphicData uri="http://schemas.openxmlformats.org/drawingml/2006/table">
            <a:tbl>
              <a:tblPr/>
              <a:tblGrid>
                <a:gridCol w="3752850">
                  <a:extLst>
                    <a:ext uri="{9D8B030D-6E8A-4147-A177-3AD203B41FA5}">
                      <a16:colId xmlns:a16="http://schemas.microsoft.com/office/drawing/2014/main" val="20000"/>
                    </a:ext>
                  </a:extLst>
                </a:gridCol>
                <a:gridCol w="4167187">
                  <a:extLst>
                    <a:ext uri="{9D8B030D-6E8A-4147-A177-3AD203B41FA5}">
                      <a16:colId xmlns:a16="http://schemas.microsoft.com/office/drawing/2014/main" val="20001"/>
                    </a:ext>
                  </a:extLst>
                </a:gridCol>
              </a:tblGrid>
              <a:tr h="45712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Sozialformen</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Häufigkeit (nach MEYER)</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590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Gruppenunterricht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Klassenkooperation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Frontalunterricht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Partnerarbeit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Einzelarbeit</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7,4 %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2,6 %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76,86 %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2,88 %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10,24 %</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26513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7.1 Frontalunterricht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48</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Gemeinsames Vorgehen unter unmittelbarer Führung des Lehrers</a:t>
            </a:r>
          </a:p>
          <a:p>
            <a:pPr marL="444500" indent="-444500" eaLnBrk="1" hangingPunct="1"/>
            <a:r>
              <a:rPr lang="de-DE" sz="2000" dirty="0"/>
              <a:t>Lehrer richtet seine Impulse an die gesamte Klasse und vereinigt alle Reaktionen der Schüler wieder auf sich</a:t>
            </a:r>
          </a:p>
          <a:p>
            <a:pPr marL="444500" indent="-444500" eaLnBrk="1" hangingPunct="1"/>
            <a:r>
              <a:rPr lang="de-DE" sz="2000" dirty="0"/>
              <a:t>Typisch dafür sind: Lehrervortrag, Demonstration, Unterrichtsgespräch</a:t>
            </a:r>
          </a:p>
          <a:p>
            <a:pPr marL="444500" indent="-444500" eaLnBrk="1" hangingPunct="1"/>
            <a:r>
              <a:rPr lang="de-DE" sz="2000" dirty="0"/>
              <a:t>Eine rationelle Organisationsform</a:t>
            </a:r>
          </a:p>
          <a:p>
            <a:pPr marL="444500" indent="-444500" eaLnBrk="1" hangingPunct="1"/>
            <a:r>
              <a:rPr lang="de-DE" sz="2000" dirty="0"/>
              <a:t>Nicht immer rationellste, da die Selbstständigkeit der Schüler missachtet wird</a:t>
            </a:r>
          </a:p>
          <a:p>
            <a:pPr marL="444500" indent="-444500" eaLnBrk="1" hangingPunct="1"/>
            <a:r>
              <a:rPr lang="de-DE" sz="2000" dirty="0"/>
              <a:t>Schnell auf den direkten Weg der Erkenntnis geführt</a:t>
            </a:r>
          </a:p>
          <a:p>
            <a:pPr marL="444500" indent="-444500" eaLnBrk="1" hangingPunct="1"/>
            <a:r>
              <a:rPr lang="de-DE" sz="2000" dirty="0"/>
              <a:t>Individualität wird für die Klasse aufgegeben</a:t>
            </a:r>
          </a:p>
          <a:p>
            <a:pPr marL="444500" indent="-444500" eaLnBrk="1" hangingPunct="1"/>
            <a:r>
              <a:rPr lang="de-DE" sz="2000" dirty="0"/>
              <a:t>Überprüfung der Lernergebnisse ist unbedingt erforderlich, besonders bei den schwächeren Schülern</a:t>
            </a:r>
          </a:p>
        </p:txBody>
      </p:sp>
    </p:spTree>
    <p:extLst>
      <p:ext uri="{BB962C8B-B14F-4D97-AF65-F5344CB8AC3E}">
        <p14:creationId xmlns:p14="http://schemas.microsoft.com/office/powerpoint/2010/main" val="29183593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7.2 Einzelarbeit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49</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lnSpcReduction="10000"/>
          </a:bodyPr>
          <a:lstStyle/>
          <a:p>
            <a:pPr marL="444500" indent="-444500" eaLnBrk="1" hangingPunct="1"/>
            <a:r>
              <a:rPr lang="de-DE" sz="2000" dirty="0"/>
              <a:t>Selbstständiges individuelles Lösen von Aufgaben ohne Informationsaustausch zwischen Schülern</a:t>
            </a:r>
          </a:p>
          <a:p>
            <a:pPr marL="444500" indent="-444500" eaLnBrk="1" hangingPunct="1"/>
            <a:r>
              <a:rPr lang="de-DE" sz="2000" dirty="0"/>
              <a:t>Während des Arbeitsaktes mittelbare Führung durch den Lehrer</a:t>
            </a:r>
          </a:p>
          <a:p>
            <a:pPr marL="444500" indent="-444500" eaLnBrk="1" hangingPunct="1"/>
            <a:r>
              <a:rPr lang="de-DE" sz="2000" dirty="0"/>
              <a:t>Jeder Schüler muss die vom Lehrer gestellte Aufgabe lösen</a:t>
            </a:r>
          </a:p>
          <a:p>
            <a:pPr marL="444500" indent="-444500" eaLnBrk="1" hangingPunct="1"/>
            <a:r>
              <a:rPr lang="de-DE" sz="2000" dirty="0"/>
              <a:t>Kann während einer Durchführung einer Übung oder zur Erarbeitung, Erweiterung und Vertiefung des Wissens eingesetzt werden</a:t>
            </a:r>
          </a:p>
          <a:p>
            <a:pPr marL="444500" indent="-444500" eaLnBrk="1" hangingPunct="1"/>
            <a:r>
              <a:rPr lang="de-DE" sz="2000" dirty="0"/>
              <a:t>Vom Schüler wir Selbstständigkeit, Energie, Beharrlichkeit verlangt und Selbstvertrauen gestärkt</a:t>
            </a:r>
          </a:p>
          <a:p>
            <a:pPr marL="444500" indent="-444500" eaLnBrk="1" hangingPunct="1"/>
            <a:r>
              <a:rPr lang="de-DE" sz="2000" dirty="0"/>
              <a:t>Tatsächliche Leistung des Schülers kann besser eingeschätzt werden</a:t>
            </a:r>
          </a:p>
          <a:p>
            <a:pPr marL="444500" indent="-444500" eaLnBrk="1" hangingPunct="1"/>
            <a:r>
              <a:rPr lang="de-DE" sz="2000" dirty="0"/>
              <a:t>Gibt Anleitung, Hilfe und Unterstützung durch den Lehrer und die Mitschüler</a:t>
            </a:r>
          </a:p>
          <a:p>
            <a:pPr marL="444500" indent="-444500" eaLnBrk="1" hangingPunct="1"/>
            <a:r>
              <a:rPr lang="de-DE" sz="2000" dirty="0"/>
              <a:t>Um Schüler zum selbstständigen Lösen zu befähigen</a:t>
            </a:r>
          </a:p>
        </p:txBody>
      </p:sp>
    </p:spTree>
    <p:extLst>
      <p:ext uri="{BB962C8B-B14F-4D97-AF65-F5344CB8AC3E}">
        <p14:creationId xmlns:p14="http://schemas.microsoft.com/office/powerpoint/2010/main" val="32428162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7.3 Gruppenarbeit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50</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Selbstständiges Arbeiten in der Gruppe</a:t>
            </a:r>
          </a:p>
          <a:p>
            <a:pPr marL="444500" indent="-444500" eaLnBrk="1" hangingPunct="1"/>
            <a:r>
              <a:rPr lang="de-DE" sz="2000" dirty="0"/>
              <a:t>Arbeitsphasen durch Zusammenspiel von kooperativem und individuellen Lernen gekennzeichnet</a:t>
            </a:r>
          </a:p>
          <a:p>
            <a:pPr marL="444500" indent="-444500" eaLnBrk="1" hangingPunct="1"/>
            <a:r>
              <a:rPr lang="de-DE" sz="2000" dirty="0"/>
              <a:t>Zwischen den Schülern erfolgt ein Informationsaustausch</a:t>
            </a:r>
          </a:p>
          <a:p>
            <a:pPr marL="444500" indent="-444500" eaLnBrk="1" hangingPunct="1"/>
            <a:r>
              <a:rPr lang="de-DE" sz="2000" dirty="0"/>
              <a:t>Unmittelbare Führung des Lehrers tritt nach der Aufgabenstellung bis zur Kontrolle des Ergebnisses zurück</a:t>
            </a:r>
          </a:p>
          <a:p>
            <a:pPr marL="444500" indent="-444500" eaLnBrk="1" hangingPunct="1"/>
            <a:r>
              <a:rPr lang="de-DE" sz="2000" dirty="0"/>
              <a:t>Sozialfähigkeit wird geübt</a:t>
            </a:r>
          </a:p>
          <a:p>
            <a:pPr marL="444500" indent="-444500" eaLnBrk="1" hangingPunct="1"/>
            <a:r>
              <a:rPr lang="de-DE" sz="2000" dirty="0"/>
              <a:t>Spaltung von Klassen in aktive und passive Schüler kann vermindert werden</a:t>
            </a:r>
          </a:p>
          <a:p>
            <a:pPr marL="444500" indent="-444500" eaLnBrk="1" hangingPunct="1"/>
            <a:r>
              <a:rPr lang="de-DE" sz="2000" dirty="0"/>
              <a:t>Es gibt mehrere Varianten der Gruppenarbeit</a:t>
            </a:r>
          </a:p>
        </p:txBody>
      </p:sp>
    </p:spTree>
    <p:extLst>
      <p:ext uri="{BB962C8B-B14F-4D97-AF65-F5344CB8AC3E}">
        <p14:creationId xmlns:p14="http://schemas.microsoft.com/office/powerpoint/2010/main" val="26529652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7.3 Gruppenarbeit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51</a:t>
            </a:fld>
            <a:endParaRPr lang="de-DE"/>
          </a:p>
        </p:txBody>
      </p:sp>
      <p:graphicFrame>
        <p:nvGraphicFramePr>
          <p:cNvPr id="6" name="Group 429"/>
          <p:cNvGraphicFramePr>
            <a:graphicFrameLocks/>
          </p:cNvGraphicFramePr>
          <p:nvPr>
            <p:extLst>
              <p:ext uri="{D42A27DB-BD31-4B8C-83A1-F6EECF244321}">
                <p14:modId xmlns:p14="http://schemas.microsoft.com/office/powerpoint/2010/main" val="2393603461"/>
              </p:ext>
            </p:extLst>
          </p:nvPr>
        </p:nvGraphicFramePr>
        <p:xfrm>
          <a:off x="323528" y="1484784"/>
          <a:ext cx="7920880" cy="4178300"/>
        </p:xfrm>
        <a:graphic>
          <a:graphicData uri="http://schemas.openxmlformats.org/drawingml/2006/table">
            <a:tbl>
              <a:tblPr/>
              <a:tblGrid>
                <a:gridCol w="1790700">
                  <a:extLst>
                    <a:ext uri="{9D8B030D-6E8A-4147-A177-3AD203B41FA5}">
                      <a16:colId xmlns:a16="http://schemas.microsoft.com/office/drawing/2014/main" val="20000"/>
                    </a:ext>
                  </a:extLst>
                </a:gridCol>
                <a:gridCol w="2890515">
                  <a:extLst>
                    <a:ext uri="{9D8B030D-6E8A-4147-A177-3AD203B41FA5}">
                      <a16:colId xmlns:a16="http://schemas.microsoft.com/office/drawing/2014/main" val="20001"/>
                    </a:ext>
                  </a:extLst>
                </a:gridCol>
                <a:gridCol w="3239665">
                  <a:extLst>
                    <a:ext uri="{9D8B030D-6E8A-4147-A177-3AD203B41FA5}">
                      <a16:colId xmlns:a16="http://schemas.microsoft.com/office/drawing/2014/main" val="20002"/>
                    </a:ext>
                  </a:extLst>
                </a:gridCol>
              </a:tblGrid>
              <a:tr h="5508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aufgabengleich</a:t>
                      </a:r>
                      <a:endParaRPr kumimoji="0" lang="de-DE" sz="18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(Gruppen gleiche Aufgaben) </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aufgabenverschieden</a:t>
                      </a:r>
                      <a:endParaRPr kumimoji="0" lang="de-DE" sz="18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(Gruppen unterschiedliche Aufgaben)</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319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arbeitsgleich</a:t>
                      </a:r>
                      <a:endParaRPr kumimoji="0" lang="de-DE" sz="1800" b="0" i="0" u="none" strike="noStrike" cap="none" normalizeH="0" baseline="0">
                        <a:ln>
                          <a:noFill/>
                        </a:ln>
                        <a:solidFill>
                          <a:schemeClr val="tx1"/>
                        </a:solidFill>
                        <a:effectLst/>
                        <a:latin typeface="Arial" charset="0"/>
                        <a:ea typeface="Times New Roman" pitchFamily="18" charset="0"/>
                        <a:cs typeface="Arial"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3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de-DE" sz="1000" b="0" i="0" u="none" strike="noStrike" cap="none" normalizeH="0" baseline="0">
                          <a:ln>
                            <a:noFill/>
                          </a:ln>
                          <a:solidFill>
                            <a:schemeClr val="tx1"/>
                          </a:solidFill>
                          <a:effectLst/>
                          <a:latin typeface="Times New Roman" pitchFamily="18" charset="0"/>
                          <a:cs typeface="Times New Roman" pitchFamily="18" charset="0"/>
                        </a:rPr>
                      </a:br>
                      <a:endParaRPr kumimoji="0" lang="de-DE"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sz="1800" b="0" i="1" u="none" strike="noStrike" cap="none" normalizeH="0" baseline="0">
                          <a:ln>
                            <a:noFill/>
                          </a:ln>
                          <a:solidFill>
                            <a:schemeClr val="tx1"/>
                          </a:solidFill>
                          <a:effectLst/>
                          <a:latin typeface="Arial" charset="0"/>
                          <a:ea typeface="Times New Roman" pitchFamily="18" charset="0"/>
                          <a:cs typeface="Arial" charset="0"/>
                        </a:rPr>
                        <a:t>arbeitsteilig</a:t>
                      </a:r>
                      <a:endParaRPr kumimoji="0" lang="de-DE" sz="18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800" b="0" i="0" u="none" strike="noStrike" cap="none" normalizeH="0" baseline="0" dirty="0">
                        <a:ln>
                          <a:noFill/>
                        </a:ln>
                        <a:solidFill>
                          <a:schemeClr val="tx1"/>
                        </a:solidFill>
                        <a:effectLst/>
                        <a:latin typeface="Tahoma" pitchFamily="34" charset="0"/>
                      </a:endParaRPr>
                    </a:p>
                  </a:txBody>
                  <a:tcP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Oval 202"/>
          <p:cNvSpPr>
            <a:spLocks noChangeArrowheads="1"/>
          </p:cNvSpPr>
          <p:nvPr/>
        </p:nvSpPr>
        <p:spPr bwMode="auto">
          <a:xfrm>
            <a:off x="2406799"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8" name="Oval 191"/>
          <p:cNvSpPr>
            <a:spLocks noChangeArrowheads="1"/>
          </p:cNvSpPr>
          <p:nvPr/>
        </p:nvSpPr>
        <p:spPr bwMode="auto">
          <a:xfrm>
            <a:off x="2184301"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10" name="Oval 199"/>
          <p:cNvSpPr>
            <a:spLocks noChangeArrowheads="1"/>
          </p:cNvSpPr>
          <p:nvPr/>
        </p:nvSpPr>
        <p:spPr bwMode="auto">
          <a:xfrm>
            <a:off x="2771800" y="3356992"/>
            <a:ext cx="3841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11" name="Line 195"/>
          <p:cNvSpPr>
            <a:spLocks noChangeShapeType="1"/>
          </p:cNvSpPr>
          <p:nvPr/>
        </p:nvSpPr>
        <p:spPr bwMode="auto">
          <a:xfrm flipH="1">
            <a:off x="2358926"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 name="Line 194"/>
          <p:cNvSpPr>
            <a:spLocks noChangeShapeType="1"/>
          </p:cNvSpPr>
          <p:nvPr/>
        </p:nvSpPr>
        <p:spPr bwMode="auto">
          <a:xfrm>
            <a:off x="2771800" y="3022030"/>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Text Box 198"/>
          <p:cNvSpPr txBox="1">
            <a:spLocks noChangeArrowheads="1"/>
          </p:cNvSpPr>
          <p:nvPr/>
        </p:nvSpPr>
        <p:spPr bwMode="auto">
          <a:xfrm>
            <a:off x="2889523" y="3423344"/>
            <a:ext cx="31432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a:t>
            </a:r>
            <a:endParaRPr lang="de-DE" dirty="0">
              <a:latin typeface="Arial" pitchFamily="34" charset="0"/>
            </a:endParaRPr>
          </a:p>
        </p:txBody>
      </p:sp>
      <p:sp>
        <p:nvSpPr>
          <p:cNvPr id="13" name="Oval 202"/>
          <p:cNvSpPr>
            <a:spLocks noChangeArrowheads="1"/>
          </p:cNvSpPr>
          <p:nvPr/>
        </p:nvSpPr>
        <p:spPr bwMode="auto">
          <a:xfrm>
            <a:off x="3774951"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4" name="Oval 202"/>
          <p:cNvSpPr>
            <a:spLocks noChangeArrowheads="1"/>
          </p:cNvSpPr>
          <p:nvPr/>
        </p:nvSpPr>
        <p:spPr bwMode="auto">
          <a:xfrm>
            <a:off x="5508104"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5" name="Oval 202"/>
          <p:cNvSpPr>
            <a:spLocks noChangeArrowheads="1"/>
          </p:cNvSpPr>
          <p:nvPr/>
        </p:nvSpPr>
        <p:spPr bwMode="auto">
          <a:xfrm>
            <a:off x="7092280" y="2492896"/>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6" name="Oval 202"/>
          <p:cNvSpPr>
            <a:spLocks noChangeArrowheads="1"/>
          </p:cNvSpPr>
          <p:nvPr/>
        </p:nvSpPr>
        <p:spPr bwMode="auto">
          <a:xfrm>
            <a:off x="2406799" y="4149080"/>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7" name="Oval 202"/>
          <p:cNvSpPr>
            <a:spLocks noChangeArrowheads="1"/>
          </p:cNvSpPr>
          <p:nvPr/>
        </p:nvSpPr>
        <p:spPr bwMode="auto">
          <a:xfrm>
            <a:off x="3851920" y="4149080"/>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8" name="Oval 202"/>
          <p:cNvSpPr>
            <a:spLocks noChangeArrowheads="1"/>
          </p:cNvSpPr>
          <p:nvPr/>
        </p:nvSpPr>
        <p:spPr bwMode="auto">
          <a:xfrm>
            <a:off x="5575151" y="4114974"/>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19" name="Oval 202"/>
          <p:cNvSpPr>
            <a:spLocks noChangeArrowheads="1"/>
          </p:cNvSpPr>
          <p:nvPr/>
        </p:nvSpPr>
        <p:spPr bwMode="auto">
          <a:xfrm>
            <a:off x="7164288" y="4186982"/>
            <a:ext cx="581025" cy="538162"/>
          </a:xfrm>
          <a:prstGeom prst="ellipse">
            <a:avLst/>
          </a:prstGeom>
          <a:solidFill>
            <a:srgbClr val="99CCFF"/>
          </a:solidFill>
          <a:ln w="9360">
            <a:solidFill>
              <a:srgbClr val="000000"/>
            </a:solidFill>
            <a:round/>
            <a:headEnd/>
            <a:tailEnd/>
          </a:ln>
        </p:spPr>
        <p:txBody>
          <a:bodyPr anchor="ctr"/>
          <a:lstStyle/>
          <a:p>
            <a:endParaRPr lang="de-DE"/>
          </a:p>
        </p:txBody>
      </p:sp>
      <p:sp>
        <p:nvSpPr>
          <p:cNvPr id="20" name="Oval 191"/>
          <p:cNvSpPr>
            <a:spLocks noChangeArrowheads="1"/>
          </p:cNvSpPr>
          <p:nvPr/>
        </p:nvSpPr>
        <p:spPr bwMode="auto">
          <a:xfrm>
            <a:off x="3563888"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1" name="Oval 191"/>
          <p:cNvSpPr>
            <a:spLocks noChangeArrowheads="1"/>
          </p:cNvSpPr>
          <p:nvPr/>
        </p:nvSpPr>
        <p:spPr bwMode="auto">
          <a:xfrm>
            <a:off x="4200525"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2" name="Oval 191"/>
          <p:cNvSpPr>
            <a:spLocks noChangeArrowheads="1"/>
          </p:cNvSpPr>
          <p:nvPr/>
        </p:nvSpPr>
        <p:spPr bwMode="auto">
          <a:xfrm>
            <a:off x="2184301"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3" name="Oval 191"/>
          <p:cNvSpPr>
            <a:spLocks noChangeArrowheads="1"/>
          </p:cNvSpPr>
          <p:nvPr/>
        </p:nvSpPr>
        <p:spPr bwMode="auto">
          <a:xfrm>
            <a:off x="2843808"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4" name="Oval 191"/>
          <p:cNvSpPr>
            <a:spLocks noChangeArrowheads="1"/>
          </p:cNvSpPr>
          <p:nvPr/>
        </p:nvSpPr>
        <p:spPr bwMode="auto">
          <a:xfrm>
            <a:off x="3563888" y="4941168"/>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5" name="Oval 191"/>
          <p:cNvSpPr>
            <a:spLocks noChangeArrowheads="1"/>
          </p:cNvSpPr>
          <p:nvPr/>
        </p:nvSpPr>
        <p:spPr bwMode="auto">
          <a:xfrm>
            <a:off x="4355976"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6" name="Oval 191"/>
          <p:cNvSpPr>
            <a:spLocks noChangeArrowheads="1"/>
          </p:cNvSpPr>
          <p:nvPr/>
        </p:nvSpPr>
        <p:spPr bwMode="auto">
          <a:xfrm>
            <a:off x="5280645"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7" name="Oval 191"/>
          <p:cNvSpPr>
            <a:spLocks noChangeArrowheads="1"/>
          </p:cNvSpPr>
          <p:nvPr/>
        </p:nvSpPr>
        <p:spPr bwMode="auto">
          <a:xfrm>
            <a:off x="5940152"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8" name="Oval 191"/>
          <p:cNvSpPr>
            <a:spLocks noChangeArrowheads="1"/>
          </p:cNvSpPr>
          <p:nvPr/>
        </p:nvSpPr>
        <p:spPr bwMode="auto">
          <a:xfrm>
            <a:off x="6876256" y="3284984"/>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29" name="Oval 191"/>
          <p:cNvSpPr>
            <a:spLocks noChangeArrowheads="1"/>
          </p:cNvSpPr>
          <p:nvPr/>
        </p:nvSpPr>
        <p:spPr bwMode="auto">
          <a:xfrm>
            <a:off x="5940152"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0" name="Oval 191"/>
          <p:cNvSpPr>
            <a:spLocks noChangeArrowheads="1"/>
          </p:cNvSpPr>
          <p:nvPr/>
        </p:nvSpPr>
        <p:spPr bwMode="auto">
          <a:xfrm>
            <a:off x="5292080" y="486916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1" name="Oval 191"/>
          <p:cNvSpPr>
            <a:spLocks noChangeArrowheads="1"/>
          </p:cNvSpPr>
          <p:nvPr/>
        </p:nvSpPr>
        <p:spPr bwMode="auto">
          <a:xfrm>
            <a:off x="7452320" y="3351336"/>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2" name="Oval 191"/>
          <p:cNvSpPr>
            <a:spLocks noChangeArrowheads="1"/>
          </p:cNvSpPr>
          <p:nvPr/>
        </p:nvSpPr>
        <p:spPr bwMode="auto">
          <a:xfrm>
            <a:off x="6936829" y="500752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3" name="Oval 191"/>
          <p:cNvSpPr>
            <a:spLocks noChangeArrowheads="1"/>
          </p:cNvSpPr>
          <p:nvPr/>
        </p:nvSpPr>
        <p:spPr bwMode="auto">
          <a:xfrm>
            <a:off x="7524328" y="5007520"/>
            <a:ext cx="371475" cy="293688"/>
          </a:xfrm>
          <a:prstGeom prst="ellipse">
            <a:avLst/>
          </a:prstGeom>
          <a:solidFill>
            <a:srgbClr val="99CCFF"/>
          </a:solidFill>
          <a:ln w="9360">
            <a:solidFill>
              <a:srgbClr val="000000"/>
            </a:solidFill>
            <a:round/>
            <a:headEnd/>
            <a:tailEnd/>
          </a:ln>
        </p:spPr>
        <p:txBody>
          <a:bodyPr anchor="ctr"/>
          <a:lstStyle/>
          <a:p>
            <a:endParaRPr lang="de-DE"/>
          </a:p>
        </p:txBody>
      </p:sp>
      <p:sp>
        <p:nvSpPr>
          <p:cNvPr id="34" name="Line 195"/>
          <p:cNvSpPr>
            <a:spLocks noChangeShapeType="1"/>
          </p:cNvSpPr>
          <p:nvPr/>
        </p:nvSpPr>
        <p:spPr bwMode="auto">
          <a:xfrm flipH="1">
            <a:off x="3727078"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5" name="Line 195"/>
          <p:cNvSpPr>
            <a:spLocks noChangeShapeType="1"/>
          </p:cNvSpPr>
          <p:nvPr/>
        </p:nvSpPr>
        <p:spPr bwMode="auto">
          <a:xfrm flipH="1">
            <a:off x="5508104"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6" name="Line 195"/>
          <p:cNvSpPr>
            <a:spLocks noChangeShapeType="1"/>
          </p:cNvSpPr>
          <p:nvPr/>
        </p:nvSpPr>
        <p:spPr bwMode="auto">
          <a:xfrm flipH="1">
            <a:off x="7020272" y="2996952"/>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 name="Line 195"/>
          <p:cNvSpPr>
            <a:spLocks noChangeShapeType="1"/>
          </p:cNvSpPr>
          <p:nvPr/>
        </p:nvSpPr>
        <p:spPr bwMode="auto">
          <a:xfrm flipH="1">
            <a:off x="2358926" y="4653136"/>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8" name="Line 195"/>
          <p:cNvSpPr>
            <a:spLocks noChangeShapeType="1"/>
          </p:cNvSpPr>
          <p:nvPr/>
        </p:nvSpPr>
        <p:spPr bwMode="auto">
          <a:xfrm flipH="1">
            <a:off x="3779912" y="4626843"/>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9" name="Line 195"/>
          <p:cNvSpPr>
            <a:spLocks noChangeShapeType="1"/>
          </p:cNvSpPr>
          <p:nvPr/>
        </p:nvSpPr>
        <p:spPr bwMode="auto">
          <a:xfrm flipH="1">
            <a:off x="5508104" y="4581128"/>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0" name="Line 195"/>
          <p:cNvSpPr>
            <a:spLocks noChangeShapeType="1"/>
          </p:cNvSpPr>
          <p:nvPr/>
        </p:nvSpPr>
        <p:spPr bwMode="auto">
          <a:xfrm flipH="1">
            <a:off x="7092280" y="4698851"/>
            <a:ext cx="196850" cy="314325"/>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1" name="Line 194"/>
          <p:cNvSpPr>
            <a:spLocks noChangeShapeType="1"/>
          </p:cNvSpPr>
          <p:nvPr/>
        </p:nvSpPr>
        <p:spPr bwMode="auto">
          <a:xfrm>
            <a:off x="4235351" y="2996952"/>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 name="Line 194"/>
          <p:cNvSpPr>
            <a:spLocks noChangeShapeType="1"/>
          </p:cNvSpPr>
          <p:nvPr/>
        </p:nvSpPr>
        <p:spPr bwMode="auto">
          <a:xfrm>
            <a:off x="5940152" y="2996952"/>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 name="Line 194"/>
          <p:cNvSpPr>
            <a:spLocks noChangeShapeType="1"/>
          </p:cNvSpPr>
          <p:nvPr/>
        </p:nvSpPr>
        <p:spPr bwMode="auto">
          <a:xfrm>
            <a:off x="7524328" y="3022030"/>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4" name="Line 194"/>
          <p:cNvSpPr>
            <a:spLocks noChangeShapeType="1"/>
          </p:cNvSpPr>
          <p:nvPr/>
        </p:nvSpPr>
        <p:spPr bwMode="auto">
          <a:xfrm>
            <a:off x="2843808" y="4653136"/>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5" name="Line 194"/>
          <p:cNvSpPr>
            <a:spLocks noChangeShapeType="1"/>
          </p:cNvSpPr>
          <p:nvPr/>
        </p:nvSpPr>
        <p:spPr bwMode="auto">
          <a:xfrm>
            <a:off x="4355976" y="4581128"/>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6" name="Line 194"/>
          <p:cNvSpPr>
            <a:spLocks noChangeShapeType="1"/>
          </p:cNvSpPr>
          <p:nvPr/>
        </p:nvSpPr>
        <p:spPr bwMode="auto">
          <a:xfrm>
            <a:off x="6012160" y="4581128"/>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 name="Line 194"/>
          <p:cNvSpPr>
            <a:spLocks noChangeShapeType="1"/>
          </p:cNvSpPr>
          <p:nvPr/>
        </p:nvSpPr>
        <p:spPr bwMode="auto">
          <a:xfrm>
            <a:off x="7596336" y="4678214"/>
            <a:ext cx="120625" cy="334962"/>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8" name="Text Box 190"/>
          <p:cNvSpPr txBox="1">
            <a:spLocks noChangeArrowheads="1"/>
          </p:cNvSpPr>
          <p:nvPr/>
        </p:nvSpPr>
        <p:spPr bwMode="auto">
          <a:xfrm>
            <a:off x="2267744" y="3356992"/>
            <a:ext cx="277813"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a:t>
            </a:r>
            <a:endParaRPr lang="de-DE" dirty="0">
              <a:latin typeface="Arial" pitchFamily="34" charset="0"/>
            </a:endParaRPr>
          </a:p>
        </p:txBody>
      </p:sp>
      <p:sp>
        <p:nvSpPr>
          <p:cNvPr id="49" name="Text Box 201"/>
          <p:cNvSpPr txBox="1">
            <a:spLocks noChangeArrowheads="1"/>
          </p:cNvSpPr>
          <p:nvPr/>
        </p:nvSpPr>
        <p:spPr bwMode="auto">
          <a:xfrm>
            <a:off x="2614191" y="2665611"/>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sz="1000" dirty="0">
              <a:latin typeface="Times New Roman" pitchFamily="18" charset="0"/>
              <a:cs typeface="Times New Roman" pitchFamily="18" charset="0"/>
            </a:endParaRPr>
          </a:p>
          <a:p>
            <a:endParaRPr lang="de-DE" dirty="0">
              <a:latin typeface="Arial" pitchFamily="34" charset="0"/>
            </a:endParaRPr>
          </a:p>
        </p:txBody>
      </p:sp>
      <p:sp>
        <p:nvSpPr>
          <p:cNvPr id="50" name="Text Box 200"/>
          <p:cNvSpPr txBox="1">
            <a:spLocks noChangeArrowheads="1"/>
          </p:cNvSpPr>
          <p:nvPr/>
        </p:nvSpPr>
        <p:spPr bwMode="auto">
          <a:xfrm>
            <a:off x="3969643" y="2665611"/>
            <a:ext cx="314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B1</a:t>
            </a:r>
            <a:endParaRPr lang="de-DE" dirty="0">
              <a:latin typeface="Arial" pitchFamily="34" charset="0"/>
            </a:endParaRPr>
          </a:p>
        </p:txBody>
      </p:sp>
      <p:sp>
        <p:nvSpPr>
          <p:cNvPr id="51" name="Text Box 193"/>
          <p:cNvSpPr txBox="1">
            <a:spLocks noChangeArrowheads="1"/>
          </p:cNvSpPr>
          <p:nvPr/>
        </p:nvSpPr>
        <p:spPr bwMode="auto">
          <a:xfrm>
            <a:off x="3659386" y="3356992"/>
            <a:ext cx="33655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c1</a:t>
            </a:r>
            <a:endParaRPr lang="de-DE" dirty="0">
              <a:latin typeface="Arial" pitchFamily="34" charset="0"/>
            </a:endParaRPr>
          </a:p>
        </p:txBody>
      </p:sp>
      <p:sp>
        <p:nvSpPr>
          <p:cNvPr id="52" name="Text Box 192"/>
          <p:cNvSpPr txBox="1">
            <a:spLocks noChangeArrowheads="1"/>
          </p:cNvSpPr>
          <p:nvPr/>
        </p:nvSpPr>
        <p:spPr bwMode="auto">
          <a:xfrm>
            <a:off x="4320729" y="3356992"/>
            <a:ext cx="395287"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d1</a:t>
            </a:r>
            <a:endParaRPr lang="de-DE" dirty="0">
              <a:latin typeface="Arial" pitchFamily="34" charset="0"/>
            </a:endParaRPr>
          </a:p>
        </p:txBody>
      </p:sp>
      <p:sp>
        <p:nvSpPr>
          <p:cNvPr id="53" name="Text Box 168"/>
          <p:cNvSpPr txBox="1">
            <a:spLocks noChangeArrowheads="1"/>
          </p:cNvSpPr>
          <p:nvPr/>
        </p:nvSpPr>
        <p:spPr bwMode="auto">
          <a:xfrm>
            <a:off x="2555776" y="4321795"/>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4" name="Text Box 168"/>
          <p:cNvSpPr txBox="1">
            <a:spLocks noChangeArrowheads="1"/>
          </p:cNvSpPr>
          <p:nvPr/>
        </p:nvSpPr>
        <p:spPr bwMode="auto">
          <a:xfrm>
            <a:off x="5782543" y="4293096"/>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5" name="Text Box 168"/>
          <p:cNvSpPr txBox="1">
            <a:spLocks noChangeArrowheads="1"/>
          </p:cNvSpPr>
          <p:nvPr/>
        </p:nvSpPr>
        <p:spPr bwMode="auto">
          <a:xfrm>
            <a:off x="5710535" y="2665611"/>
            <a:ext cx="3016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A1</a:t>
            </a:r>
            <a:endParaRPr lang="de-DE" dirty="0">
              <a:latin typeface="Arial" pitchFamily="34" charset="0"/>
            </a:endParaRPr>
          </a:p>
        </p:txBody>
      </p:sp>
      <p:sp>
        <p:nvSpPr>
          <p:cNvPr id="56" name="Text Box 167"/>
          <p:cNvSpPr txBox="1">
            <a:spLocks noChangeArrowheads="1"/>
          </p:cNvSpPr>
          <p:nvPr/>
        </p:nvSpPr>
        <p:spPr bwMode="auto">
          <a:xfrm>
            <a:off x="4017268" y="4293096"/>
            <a:ext cx="266700"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B1</a:t>
            </a:r>
            <a:endParaRPr lang="de-DE" dirty="0">
              <a:latin typeface="Arial" pitchFamily="34" charset="0"/>
            </a:endParaRPr>
          </a:p>
        </p:txBody>
      </p:sp>
      <p:sp>
        <p:nvSpPr>
          <p:cNvPr id="57" name="Text Box 181"/>
          <p:cNvSpPr txBox="1">
            <a:spLocks noChangeArrowheads="1"/>
          </p:cNvSpPr>
          <p:nvPr/>
        </p:nvSpPr>
        <p:spPr bwMode="auto">
          <a:xfrm>
            <a:off x="7279531" y="2636912"/>
            <a:ext cx="6048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B2</a:t>
            </a:r>
            <a:endParaRPr lang="de-DE" dirty="0">
              <a:latin typeface="Arial" pitchFamily="34" charset="0"/>
            </a:endParaRPr>
          </a:p>
        </p:txBody>
      </p:sp>
      <p:sp>
        <p:nvSpPr>
          <p:cNvPr id="58" name="Text Box 181"/>
          <p:cNvSpPr txBox="1">
            <a:spLocks noChangeArrowheads="1"/>
          </p:cNvSpPr>
          <p:nvPr/>
        </p:nvSpPr>
        <p:spPr bwMode="auto">
          <a:xfrm>
            <a:off x="7351539" y="4368973"/>
            <a:ext cx="6048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Times New Roman" pitchFamily="18" charset="0"/>
                <a:cs typeface="Times New Roman" pitchFamily="18" charset="0"/>
              </a:rPr>
              <a:t>B2</a:t>
            </a:r>
            <a:endParaRPr lang="de-DE" dirty="0">
              <a:latin typeface="Arial" pitchFamily="34" charset="0"/>
            </a:endParaRPr>
          </a:p>
        </p:txBody>
      </p:sp>
      <p:sp>
        <p:nvSpPr>
          <p:cNvPr id="59" name="Text Box 157"/>
          <p:cNvSpPr txBox="1">
            <a:spLocks noChangeArrowheads="1"/>
          </p:cNvSpPr>
          <p:nvPr/>
        </p:nvSpPr>
        <p:spPr bwMode="auto">
          <a:xfrm>
            <a:off x="2256309" y="5013176"/>
            <a:ext cx="371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a1,1</a:t>
            </a:r>
            <a:endParaRPr lang="de-DE" dirty="0">
              <a:latin typeface="Arial" pitchFamily="34" charset="0"/>
            </a:endParaRPr>
          </a:p>
        </p:txBody>
      </p:sp>
      <p:sp>
        <p:nvSpPr>
          <p:cNvPr id="60" name="Text Box 165"/>
          <p:cNvSpPr txBox="1">
            <a:spLocks noChangeArrowheads="1"/>
          </p:cNvSpPr>
          <p:nvPr/>
        </p:nvSpPr>
        <p:spPr bwMode="auto">
          <a:xfrm>
            <a:off x="2867298" y="5013176"/>
            <a:ext cx="3365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b1,2</a:t>
            </a:r>
            <a:endParaRPr lang="de-DE" dirty="0">
              <a:latin typeface="Arial" pitchFamily="34" charset="0"/>
            </a:endParaRPr>
          </a:p>
        </p:txBody>
      </p:sp>
      <p:sp>
        <p:nvSpPr>
          <p:cNvPr id="61" name="Text Box 159"/>
          <p:cNvSpPr txBox="1">
            <a:spLocks noChangeArrowheads="1"/>
          </p:cNvSpPr>
          <p:nvPr/>
        </p:nvSpPr>
        <p:spPr bwMode="auto">
          <a:xfrm>
            <a:off x="3633986" y="5013176"/>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c1,1</a:t>
            </a:r>
            <a:endParaRPr lang="de-DE" dirty="0">
              <a:latin typeface="Arial" pitchFamily="34" charset="0"/>
            </a:endParaRPr>
          </a:p>
        </p:txBody>
      </p:sp>
      <p:sp>
        <p:nvSpPr>
          <p:cNvPr id="62" name="Text Box 163"/>
          <p:cNvSpPr txBox="1">
            <a:spLocks noChangeArrowheads="1"/>
          </p:cNvSpPr>
          <p:nvPr/>
        </p:nvSpPr>
        <p:spPr bwMode="auto">
          <a:xfrm>
            <a:off x="4370511" y="4941168"/>
            <a:ext cx="417513"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d1,2</a:t>
            </a:r>
            <a:endParaRPr lang="de-DE" dirty="0">
              <a:latin typeface="Arial" pitchFamily="34" charset="0"/>
            </a:endParaRPr>
          </a:p>
        </p:txBody>
      </p:sp>
      <p:sp>
        <p:nvSpPr>
          <p:cNvPr id="63" name="Text Box 182"/>
          <p:cNvSpPr txBox="1">
            <a:spLocks noChangeArrowheads="1"/>
          </p:cNvSpPr>
          <p:nvPr/>
        </p:nvSpPr>
        <p:spPr bwMode="auto">
          <a:xfrm>
            <a:off x="5364088" y="3356992"/>
            <a:ext cx="277813"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cs typeface="Times New Roman" pitchFamily="18" charset="0"/>
              </a:rPr>
              <a:t>a1</a:t>
            </a:r>
            <a:endParaRPr lang="de-DE" dirty="0">
              <a:latin typeface="Arial" pitchFamily="34" charset="0"/>
            </a:endParaRPr>
          </a:p>
        </p:txBody>
      </p:sp>
      <p:sp>
        <p:nvSpPr>
          <p:cNvPr id="64" name="Text Box 173"/>
          <p:cNvSpPr txBox="1">
            <a:spLocks noChangeArrowheads="1"/>
          </p:cNvSpPr>
          <p:nvPr/>
        </p:nvSpPr>
        <p:spPr bwMode="auto">
          <a:xfrm>
            <a:off x="6012160" y="3356992"/>
            <a:ext cx="3143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b1</a:t>
            </a:r>
            <a:endParaRPr lang="de-DE" dirty="0">
              <a:latin typeface="Arial" pitchFamily="34" charset="0"/>
            </a:endParaRPr>
          </a:p>
        </p:txBody>
      </p:sp>
      <p:sp>
        <p:nvSpPr>
          <p:cNvPr id="65" name="Text Box 175"/>
          <p:cNvSpPr txBox="1">
            <a:spLocks noChangeArrowheads="1"/>
          </p:cNvSpPr>
          <p:nvPr/>
        </p:nvSpPr>
        <p:spPr bwMode="auto">
          <a:xfrm>
            <a:off x="6948264" y="3330129"/>
            <a:ext cx="32385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c2</a:t>
            </a:r>
            <a:endParaRPr lang="de-DE" dirty="0">
              <a:latin typeface="Arial" pitchFamily="34" charset="0"/>
            </a:endParaRPr>
          </a:p>
        </p:txBody>
      </p:sp>
      <p:sp>
        <p:nvSpPr>
          <p:cNvPr id="66" name="Text Box 179"/>
          <p:cNvSpPr txBox="1">
            <a:spLocks noChangeArrowheads="1"/>
          </p:cNvSpPr>
          <p:nvPr/>
        </p:nvSpPr>
        <p:spPr bwMode="auto">
          <a:xfrm>
            <a:off x="7524328" y="3429000"/>
            <a:ext cx="2444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d2</a:t>
            </a:r>
            <a:endParaRPr lang="de-DE" dirty="0">
              <a:latin typeface="Arial" pitchFamily="34" charset="0"/>
            </a:endParaRPr>
          </a:p>
        </p:txBody>
      </p:sp>
      <p:sp>
        <p:nvSpPr>
          <p:cNvPr id="67" name="Text Box 141"/>
          <p:cNvSpPr txBox="1">
            <a:spLocks noChangeArrowheads="1"/>
          </p:cNvSpPr>
          <p:nvPr/>
        </p:nvSpPr>
        <p:spPr bwMode="auto">
          <a:xfrm>
            <a:off x="5337795" y="4941168"/>
            <a:ext cx="314325"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a1,1</a:t>
            </a:r>
            <a:endParaRPr lang="de-DE" dirty="0">
              <a:latin typeface="Arial" pitchFamily="34" charset="0"/>
            </a:endParaRPr>
          </a:p>
        </p:txBody>
      </p:sp>
      <p:sp>
        <p:nvSpPr>
          <p:cNvPr id="68" name="Text Box 149"/>
          <p:cNvSpPr txBox="1">
            <a:spLocks noChangeArrowheads="1"/>
          </p:cNvSpPr>
          <p:nvPr/>
        </p:nvSpPr>
        <p:spPr bwMode="auto">
          <a:xfrm>
            <a:off x="5940152" y="4941168"/>
            <a:ext cx="433387"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cs typeface="Times New Roman" pitchFamily="18" charset="0"/>
              </a:rPr>
              <a:t>b1,2</a:t>
            </a:r>
            <a:endParaRPr lang="de-DE" dirty="0">
              <a:latin typeface="Arial" pitchFamily="34" charset="0"/>
            </a:endParaRPr>
          </a:p>
        </p:txBody>
      </p:sp>
      <p:sp>
        <p:nvSpPr>
          <p:cNvPr id="69" name="Text Box 143"/>
          <p:cNvSpPr txBox="1">
            <a:spLocks noChangeArrowheads="1"/>
          </p:cNvSpPr>
          <p:nvPr/>
        </p:nvSpPr>
        <p:spPr bwMode="auto">
          <a:xfrm>
            <a:off x="6948264" y="5057304"/>
            <a:ext cx="4318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c2,1</a:t>
            </a:r>
            <a:endParaRPr lang="de-DE" dirty="0">
              <a:latin typeface="Arial" pitchFamily="34" charset="0"/>
            </a:endParaRPr>
          </a:p>
        </p:txBody>
      </p:sp>
      <p:sp>
        <p:nvSpPr>
          <p:cNvPr id="70" name="Text Box 147"/>
          <p:cNvSpPr txBox="1">
            <a:spLocks noChangeArrowheads="1"/>
          </p:cNvSpPr>
          <p:nvPr/>
        </p:nvSpPr>
        <p:spPr bwMode="auto">
          <a:xfrm>
            <a:off x="7579568" y="5028158"/>
            <a:ext cx="3048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r>
              <a:rPr lang="de-DE" sz="1200" dirty="0">
                <a:latin typeface="Arial" pitchFamily="34" charset="0"/>
                <a:cs typeface="Times New Roman" pitchFamily="18" charset="0"/>
              </a:rPr>
              <a:t>d2,2</a:t>
            </a:r>
            <a:endParaRPr lang="de-DE" dirty="0">
              <a:latin typeface="Arial" pitchFamily="34" charset="0"/>
            </a:endParaRPr>
          </a:p>
        </p:txBody>
      </p:sp>
    </p:spTree>
    <p:extLst>
      <p:ext uri="{BB962C8B-B14F-4D97-AF65-F5344CB8AC3E}">
        <p14:creationId xmlns:p14="http://schemas.microsoft.com/office/powerpoint/2010/main" val="4527046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52</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Aktionsformen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8</a:t>
            </a:r>
          </a:p>
        </p:txBody>
      </p:sp>
    </p:spTree>
    <p:extLst>
      <p:ext uri="{BB962C8B-B14F-4D97-AF65-F5344CB8AC3E}">
        <p14:creationId xmlns:p14="http://schemas.microsoft.com/office/powerpoint/2010/main" val="13875638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 Aktionsformen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53</a:t>
            </a:fld>
            <a:endParaRPr lang="de-DE"/>
          </a:p>
        </p:txBody>
      </p:sp>
      <p:graphicFrame>
        <p:nvGraphicFramePr>
          <p:cNvPr id="5" name="Group 138"/>
          <p:cNvGraphicFramePr>
            <a:graphicFrameLocks noGrp="1"/>
          </p:cNvGraphicFramePr>
          <p:nvPr>
            <p:ph sz="quarter" idx="1"/>
          </p:nvPr>
        </p:nvGraphicFramePr>
        <p:xfrm>
          <a:off x="704850" y="1600200"/>
          <a:ext cx="7467600" cy="4267200"/>
        </p:xfrm>
        <a:graphic>
          <a:graphicData uri="http://schemas.openxmlformats.org/drawingml/2006/table">
            <a:tbl>
              <a:tblPr/>
              <a:tblGrid>
                <a:gridCol w="2162785">
                  <a:extLst>
                    <a:ext uri="{9D8B030D-6E8A-4147-A177-3AD203B41FA5}">
                      <a16:colId xmlns:a16="http://schemas.microsoft.com/office/drawing/2014/main" val="20000"/>
                    </a:ext>
                  </a:extLst>
                </a:gridCol>
                <a:gridCol w="3212852">
                  <a:extLst>
                    <a:ext uri="{9D8B030D-6E8A-4147-A177-3AD203B41FA5}">
                      <a16:colId xmlns:a16="http://schemas.microsoft.com/office/drawing/2014/main" val="20001"/>
                    </a:ext>
                  </a:extLst>
                </a:gridCol>
                <a:gridCol w="2091963">
                  <a:extLst>
                    <a:ext uri="{9D8B030D-6E8A-4147-A177-3AD203B41FA5}">
                      <a16:colId xmlns:a16="http://schemas.microsoft.com/office/drawing/2014/main" val="20002"/>
                    </a:ext>
                  </a:extLst>
                </a:gridCol>
              </a:tblGrid>
              <a:tr h="1809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dirty="0">
                          <a:ln>
                            <a:noFill/>
                          </a:ln>
                          <a:solidFill>
                            <a:schemeClr val="tx1"/>
                          </a:solidFill>
                          <a:effectLst/>
                          <a:latin typeface="Tahoma" pitchFamily="34" charset="0"/>
                        </a:rPr>
                        <a:t>Darbietend</a:t>
                      </a:r>
                    </a:p>
                  </a:txBody>
                  <a:tcPr marL="78449" marR="784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Selbstständig</a:t>
                      </a:r>
                    </a:p>
                  </a:txBody>
                  <a:tcPr marL="78449" marR="78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400" b="0" i="0" u="none" strike="noStrike" cap="none" normalizeH="0" baseline="0">
                          <a:ln>
                            <a:noFill/>
                          </a:ln>
                          <a:solidFill>
                            <a:schemeClr val="tx1"/>
                          </a:solidFill>
                          <a:effectLst/>
                          <a:latin typeface="Tahoma" pitchFamily="34" charset="0"/>
                        </a:rPr>
                        <a:t>Erarbeitend</a:t>
                      </a:r>
                    </a:p>
                  </a:txBody>
                  <a:tcPr marL="78449" marR="784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3463">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Aktivitätsakzent liegt bei Lehrer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Er zeigt, demonstriert, berichtet, erzählt,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Es überwiegt das rezeptive Lernen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a:ln>
                            <a:noFill/>
                          </a:ln>
                          <a:solidFill>
                            <a:schemeClr val="tx1"/>
                          </a:solidFill>
                          <a:effectLst/>
                          <a:latin typeface="Tahoma" pitchFamily="34" charset="0"/>
                        </a:rPr>
                        <a:t>Der Lehrer führt unmittelbar</a:t>
                      </a:r>
                    </a:p>
                  </a:txBody>
                  <a:tcPr marL="78449" marR="784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Lehrer tritt in den Hintergrund</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Schüler treten stärker in Erscheinung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Schüler lösen relativ selbstständig eine vom Lehrer gestellte Aufgabe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Es überwiegt das produktive Lernen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Lehrer führt nur mittelbar</a:t>
                      </a:r>
                    </a:p>
                  </a:txBody>
                  <a:tcPr marL="78449" marR="78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Meist in Form des Unterrichts-gesprächs</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Die Lernsituation ist durch rezeptive, reproduktive und produktive Leistungen charakterisiert</a:t>
                      </a:r>
                    </a:p>
                  </a:txBody>
                  <a:tcPr marL="78449" marR="784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290975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8.1 Darbietend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54</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Bietet rationelle Stoffvermittlung, hat erziehende Wirkung durch den Lehrervortrag, bietet Möglichkeit zur Ausbildung der Fähigkeit zur rationellen Aneignung von Wissen</a:t>
            </a:r>
          </a:p>
          <a:p>
            <a:pPr marL="444500" indent="-444500" eaLnBrk="1" hangingPunct="1"/>
            <a:r>
              <a:rPr lang="de-DE" sz="2000" dirty="0"/>
              <a:t>Verfahren:</a:t>
            </a:r>
          </a:p>
          <a:p>
            <a:pPr marL="990600" lvl="1" indent="-366713" eaLnBrk="1" hangingPunct="1"/>
            <a:r>
              <a:rPr lang="de-DE" sz="2000" dirty="0"/>
              <a:t>Vormachen (Vorlesen, Vormachen, Vormachen, Werkunterricht, Sport)</a:t>
            </a:r>
          </a:p>
          <a:p>
            <a:pPr marL="990600" lvl="1" indent="-366713" eaLnBrk="1" hangingPunct="1"/>
            <a:r>
              <a:rPr lang="de-DE" sz="2000" dirty="0"/>
              <a:t>Vorzeigen (an statischen Lernmitteln wird etwas repräsentativ gezeigt)</a:t>
            </a:r>
          </a:p>
          <a:p>
            <a:pPr marL="990600" lvl="1" indent="-366713" eaLnBrk="1" hangingPunct="1"/>
            <a:r>
              <a:rPr lang="de-DE" sz="2000" dirty="0"/>
              <a:t>Vorführen (Veranschaulichung von Prozessen, Exkursion, Experiment)</a:t>
            </a:r>
          </a:p>
          <a:p>
            <a:pPr marL="990600" lvl="1" indent="-366713" eaLnBrk="1" hangingPunct="1"/>
            <a:r>
              <a:rPr lang="de-DE" sz="2000" dirty="0"/>
              <a:t>Vortragen (die Sprache ist hier das vorherrschende Mittel)</a:t>
            </a:r>
          </a:p>
        </p:txBody>
      </p:sp>
    </p:spTree>
    <p:extLst>
      <p:ext uri="{BB962C8B-B14F-4D97-AF65-F5344CB8AC3E}">
        <p14:creationId xmlns:p14="http://schemas.microsoft.com/office/powerpoint/2010/main" val="16353672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8.2 Selbstständig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55</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fontAlgn="auto" hangingPunct="1">
              <a:spcAft>
                <a:spcPts val="0"/>
              </a:spcAft>
              <a:buFont typeface="Wingdings 2"/>
              <a:buChar char=""/>
              <a:defRPr/>
            </a:pPr>
            <a:r>
              <a:rPr lang="de-DE" sz="2000" dirty="0"/>
              <a:t>Nicht ganz ohne Hilfe des Lehrers durchführbar</a:t>
            </a:r>
          </a:p>
          <a:p>
            <a:pPr marL="444500" indent="-444500" eaLnBrk="1" fontAlgn="auto" hangingPunct="1">
              <a:spcAft>
                <a:spcPts val="0"/>
              </a:spcAft>
              <a:buFont typeface="Wingdings 2"/>
              <a:buChar char=""/>
              <a:defRPr/>
            </a:pPr>
            <a:r>
              <a:rPr lang="de-DE" sz="2000" dirty="0"/>
              <a:t>Andererseits kann nicht jede selbstständige Arbeit des Schülers als selbstständige Schülerarbeit angesehen werden</a:t>
            </a:r>
          </a:p>
          <a:p>
            <a:pPr marL="444500" indent="-444500" eaLnBrk="1" fontAlgn="auto" hangingPunct="1">
              <a:spcAft>
                <a:spcPts val="0"/>
              </a:spcAft>
              <a:buFont typeface="Wingdings 2"/>
              <a:buChar char=""/>
              <a:defRPr/>
            </a:pPr>
            <a:r>
              <a:rPr lang="de-DE" sz="2000" dirty="0"/>
              <a:t>Zwei Merkmale nach JESSIPOW</a:t>
            </a:r>
          </a:p>
          <a:p>
            <a:pPr marL="990600" lvl="1" indent="-366713" eaLnBrk="1" fontAlgn="auto" hangingPunct="1">
              <a:spcAft>
                <a:spcPts val="0"/>
              </a:spcAft>
              <a:buFont typeface="Wingdings"/>
              <a:buChar char=""/>
              <a:defRPr/>
            </a:pPr>
            <a:r>
              <a:rPr lang="de-DE" sz="2000" dirty="0"/>
              <a:t>Eine Aufgabenstellung durch den Lehrer und angemessene Zeit für die Lösung dieser Aufgabe durch die Schüler</a:t>
            </a:r>
          </a:p>
          <a:p>
            <a:pPr marL="990600" lvl="1" indent="-366713" eaLnBrk="1" fontAlgn="auto" hangingPunct="1">
              <a:spcAft>
                <a:spcPts val="0"/>
              </a:spcAft>
              <a:buFont typeface="Wingdings"/>
              <a:buChar char=""/>
              <a:defRPr/>
            </a:pPr>
            <a:r>
              <a:rPr lang="de-DE" sz="2000" dirty="0"/>
              <a:t>Die sich aus der Aufgabe ergebene Notwendigkeit für die Schüler, unter Anspannung ihrer Kräfte die besten Lösungswege zu suchen und zu beschreiten</a:t>
            </a:r>
          </a:p>
          <a:p>
            <a:pPr marL="444500" indent="-444500" eaLnBrk="1" fontAlgn="auto" hangingPunct="1">
              <a:spcAft>
                <a:spcPts val="0"/>
              </a:spcAft>
              <a:buFont typeface="Wingdings 2"/>
              <a:buChar char=""/>
              <a:defRPr/>
            </a:pPr>
            <a:r>
              <a:rPr lang="de-DE" sz="2000" dirty="0"/>
              <a:t>Selbstständige Schülerarbeit, wenn der Schüler Aufgabenstellung und Lösungsansätze richtig zuordnet, sein vorhandenes Wissen und Können anzuwenden und die gestellte Aufgabe ohne unmittelbare, jedoch Einzelheit regulierende Anleitung durch den Lehrer zu lösen vermag</a:t>
            </a:r>
          </a:p>
        </p:txBody>
      </p:sp>
    </p:spTree>
    <p:extLst>
      <p:ext uri="{BB962C8B-B14F-4D97-AF65-F5344CB8AC3E}">
        <p14:creationId xmlns:p14="http://schemas.microsoft.com/office/powerpoint/2010/main" val="1738713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8.2 Selbstständig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56</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000" dirty="0"/>
              <a:t>Positive Auswirkungen</a:t>
            </a:r>
          </a:p>
          <a:p>
            <a:pPr marL="990600" lvl="1" indent="-366713" eaLnBrk="1" hangingPunct="1"/>
            <a:r>
              <a:rPr lang="de-DE" sz="2000" dirty="0"/>
              <a:t>Die methodisch richtig gesteuerte selbstständige Schülerarbeit erhöht die Effektivität des Aneignungsprozesses – es führt zu einer tieferen und bewussteren Aneignung</a:t>
            </a:r>
          </a:p>
          <a:p>
            <a:pPr marL="990600" lvl="1" indent="-366713" eaLnBrk="1" hangingPunct="1"/>
            <a:r>
              <a:rPr lang="de-DE" sz="2000" dirty="0"/>
              <a:t>Lerneinstellung wird positiv beeinflusst</a:t>
            </a:r>
          </a:p>
          <a:p>
            <a:pPr marL="990600" lvl="1" indent="-366713" eaLnBrk="1" hangingPunct="1"/>
            <a:r>
              <a:rPr lang="de-DE" sz="2000" dirty="0"/>
              <a:t>Während hauptsächlich rezeptiver Aktionsformen kommt es in der Klasse zu Leistungsdifferenzen – durch produktive Aktionsformen werden diese deutlich verdichtet, er kommt zu einer </a:t>
            </a:r>
            <a:r>
              <a:rPr lang="de-DE" sz="2000" dirty="0" err="1"/>
              <a:t>Leistungskonglobation</a:t>
            </a:r>
            <a:endParaRPr lang="de-DE" sz="2000" dirty="0"/>
          </a:p>
          <a:p>
            <a:pPr marL="990600" lvl="1" indent="-366713" eaLnBrk="1" hangingPunct="1"/>
            <a:r>
              <a:rPr lang="de-DE" sz="2000" dirty="0"/>
              <a:t>Es erfolgt eine Fähigkeitssteigerung im selbstständigen Denken, Arbeiten und Organisieren</a:t>
            </a:r>
          </a:p>
        </p:txBody>
      </p:sp>
    </p:spTree>
    <p:extLst>
      <p:ext uri="{BB962C8B-B14F-4D97-AF65-F5344CB8AC3E}">
        <p14:creationId xmlns:p14="http://schemas.microsoft.com/office/powerpoint/2010/main" val="1988502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8.3 Erarbeitend</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57</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lnSpc>
                <a:spcPct val="90000"/>
              </a:lnSpc>
            </a:pPr>
            <a:r>
              <a:rPr lang="de-DE" sz="2000" dirty="0"/>
              <a:t>Grundform ist das Unterrichtsgespräch</a:t>
            </a:r>
          </a:p>
          <a:p>
            <a:pPr marL="444500" indent="-444500" eaLnBrk="1" hangingPunct="1">
              <a:lnSpc>
                <a:spcPct val="90000"/>
              </a:lnSpc>
            </a:pPr>
            <a:r>
              <a:rPr lang="de-DE" sz="2000" dirty="0"/>
              <a:t>Ist erfolgreich, wenn eine neue Erkenntnis erworben werden soll</a:t>
            </a:r>
          </a:p>
          <a:p>
            <a:pPr marL="444500" indent="-444500" eaLnBrk="1" hangingPunct="1">
              <a:lnSpc>
                <a:spcPct val="90000"/>
              </a:lnSpc>
            </a:pPr>
            <a:r>
              <a:rPr lang="de-DE" sz="2000" dirty="0"/>
              <a:t>Charakter zunächst von der didaktischen Aufgabe bestimmt</a:t>
            </a:r>
          </a:p>
          <a:p>
            <a:pPr marL="990600" lvl="1" indent="-366713" eaLnBrk="1" hangingPunct="1">
              <a:lnSpc>
                <a:spcPct val="90000"/>
              </a:lnSpc>
            </a:pPr>
            <a:r>
              <a:rPr lang="de-DE" sz="1800" dirty="0"/>
              <a:t>Das Unterrichtsgespräch zur Erarbeitung von neuem Wissen, zur Herausbildung von Überzeugungen und zur Entwicklung von Fähigkeiten</a:t>
            </a:r>
          </a:p>
          <a:p>
            <a:pPr marL="990600" lvl="1" indent="-366713" eaLnBrk="1" hangingPunct="1">
              <a:lnSpc>
                <a:spcPct val="90000"/>
              </a:lnSpc>
            </a:pPr>
            <a:r>
              <a:rPr lang="de-DE" sz="1800" dirty="0"/>
              <a:t>Das Wiederholungsgespräch</a:t>
            </a:r>
          </a:p>
          <a:p>
            <a:pPr marL="990600" lvl="1" indent="-366713" eaLnBrk="1" hangingPunct="1">
              <a:lnSpc>
                <a:spcPct val="90000"/>
              </a:lnSpc>
            </a:pPr>
            <a:r>
              <a:rPr lang="de-DE" sz="1800" dirty="0"/>
              <a:t>Das Prüfungsgespräch</a:t>
            </a:r>
          </a:p>
          <a:p>
            <a:pPr marL="444500" indent="-444500" eaLnBrk="1" hangingPunct="1">
              <a:lnSpc>
                <a:spcPct val="90000"/>
              </a:lnSpc>
            </a:pPr>
            <a:r>
              <a:rPr lang="de-DE" sz="2000" dirty="0"/>
              <a:t>Charakter der didaktischen Führung</a:t>
            </a:r>
          </a:p>
          <a:p>
            <a:pPr marL="990600" lvl="1" indent="-366713" eaLnBrk="1" hangingPunct="1">
              <a:lnSpc>
                <a:spcPct val="90000"/>
              </a:lnSpc>
            </a:pPr>
            <a:r>
              <a:rPr lang="de-DE" sz="1800" dirty="0"/>
              <a:t>Das Lehrergespräch mit starker Betonung des Belehrens und der direkten Führung durch den Lehrer</a:t>
            </a:r>
          </a:p>
          <a:p>
            <a:pPr marL="990600" lvl="1" indent="-366713" eaLnBrk="1" hangingPunct="1">
              <a:lnSpc>
                <a:spcPct val="90000"/>
              </a:lnSpc>
            </a:pPr>
            <a:r>
              <a:rPr lang="de-DE" sz="1800" dirty="0"/>
              <a:t>Das locker gehaltene Gespräch, bei dem der Lehrer zwar führt, jedoch stärker in den Hintergrund tritt</a:t>
            </a:r>
          </a:p>
          <a:p>
            <a:pPr marL="990600" lvl="1" indent="-366713" eaLnBrk="1" hangingPunct="1">
              <a:lnSpc>
                <a:spcPct val="90000"/>
              </a:lnSpc>
            </a:pPr>
            <a:r>
              <a:rPr lang="de-DE" sz="1800" dirty="0"/>
              <a:t>Diskussion und Debatte als Vorformen des wissenschaftlichen Gesprächs</a:t>
            </a:r>
          </a:p>
        </p:txBody>
      </p:sp>
    </p:spTree>
    <p:extLst>
      <p:ext uri="{BB962C8B-B14F-4D97-AF65-F5344CB8AC3E}">
        <p14:creationId xmlns:p14="http://schemas.microsoft.com/office/powerpoint/2010/main" val="18754887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58</a:t>
            </a:fld>
            <a:endParaRPr lang="de-DE">
              <a:solidFill>
                <a:srgbClr val="FFFFFF"/>
              </a:solidFill>
            </a:endParaRPr>
          </a:p>
        </p:txBody>
      </p:sp>
      <p:sp>
        <p:nvSpPr>
          <p:cNvPr id="16387" name="Textfeld 2"/>
          <p:cNvSpPr txBox="1">
            <a:spLocks noChangeArrowheads="1"/>
          </p:cNvSpPr>
          <p:nvPr/>
        </p:nvSpPr>
        <p:spPr bwMode="auto">
          <a:xfrm>
            <a:off x="467544"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Medien</a:t>
            </a:r>
          </a:p>
        </p:txBody>
      </p:sp>
      <p:sp>
        <p:nvSpPr>
          <p:cNvPr id="4" name="Rechteck 3"/>
          <p:cNvSpPr/>
          <p:nvPr/>
        </p:nvSpPr>
        <p:spPr>
          <a:xfrm>
            <a:off x="3799031" y="1412776"/>
            <a:ext cx="772969"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9</a:t>
            </a:r>
          </a:p>
        </p:txBody>
      </p:sp>
    </p:spTree>
    <p:extLst>
      <p:ext uri="{BB962C8B-B14F-4D97-AF65-F5344CB8AC3E}">
        <p14:creationId xmlns:p14="http://schemas.microsoft.com/office/powerpoint/2010/main" val="33518096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59</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Sind Vermittlungshilfen oder Mittler im Lernprozess</a:t>
            </a:r>
          </a:p>
          <a:p>
            <a:pPr marL="444500" indent="-444500" eaLnBrk="1" hangingPunct="1"/>
            <a:r>
              <a:rPr lang="de-DE" sz="2200" dirty="0"/>
              <a:t>Sollen das Lernen erleichtern, intensivieren und die Motivation erhöhen</a:t>
            </a:r>
          </a:p>
          <a:p>
            <a:pPr marL="444500" indent="-444500" eaLnBrk="1" hangingPunct="1"/>
            <a:r>
              <a:rPr lang="de-DE" sz="2200" dirty="0"/>
              <a:t>Funktionen</a:t>
            </a:r>
          </a:p>
          <a:p>
            <a:pPr marL="990600" lvl="1" indent="-366713" eaLnBrk="1" hangingPunct="1"/>
            <a:r>
              <a:rPr lang="de-DE" sz="2000" dirty="0"/>
              <a:t>Demonstrationsmittel</a:t>
            </a:r>
          </a:p>
          <a:p>
            <a:pPr marL="990600" lvl="1" indent="-366713" eaLnBrk="1" hangingPunct="1"/>
            <a:r>
              <a:rPr lang="de-DE" sz="2000" dirty="0"/>
              <a:t>Arbeitsmittel</a:t>
            </a:r>
          </a:p>
          <a:p>
            <a:pPr marL="990600" lvl="1" indent="-366713" eaLnBrk="1" hangingPunct="1"/>
            <a:r>
              <a:rPr lang="de-DE" sz="2000" dirty="0"/>
              <a:t>Motivationsmittel</a:t>
            </a:r>
          </a:p>
        </p:txBody>
      </p:sp>
    </p:spTree>
    <p:extLst>
      <p:ext uri="{BB962C8B-B14F-4D97-AF65-F5344CB8AC3E}">
        <p14:creationId xmlns:p14="http://schemas.microsoft.com/office/powerpoint/2010/main" val="10675487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60</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Demonstrationsmittel</a:t>
            </a:r>
          </a:p>
          <a:p>
            <a:pPr marL="1524000" lvl="2" indent="-354013" eaLnBrk="1" hangingPunct="1"/>
            <a:r>
              <a:rPr lang="de-DE" dirty="0"/>
              <a:t>Anschauung herbeiführen</a:t>
            </a:r>
          </a:p>
          <a:p>
            <a:pPr marL="1524000" lvl="2" indent="-354013" eaLnBrk="1" hangingPunct="1"/>
            <a:r>
              <a:rPr lang="de-DE" dirty="0"/>
              <a:t>Es werden zum Beispiel Arbeitswerkzeuge und Arbeitsgegenstände aus dem beruflichen Alltag im Berufsschulunterricht integriert</a:t>
            </a:r>
          </a:p>
          <a:p>
            <a:pPr marL="990600" lvl="1" indent="-366713" eaLnBrk="1" hangingPunct="1"/>
            <a:r>
              <a:rPr lang="de-DE" sz="2000" dirty="0"/>
              <a:t>Arbeitsmittel</a:t>
            </a:r>
          </a:p>
          <a:p>
            <a:pPr marL="1524000" lvl="2" indent="-354013" eaLnBrk="1" hangingPunct="1"/>
            <a:r>
              <a:rPr lang="de-DE" dirty="0"/>
              <a:t>Z. B. gedruckte Medien im Unterricht, Lernprogramme, Arbeitsbuch, Lehrbuch, Aufgabenbuch, Sachbuch und Nachschlagewerk</a:t>
            </a:r>
          </a:p>
          <a:p>
            <a:pPr marL="1524000" lvl="2" indent="-354013" eaLnBrk="1" hangingPunct="1"/>
            <a:r>
              <a:rPr lang="de-DE" dirty="0"/>
              <a:t>Gehören auch apparative Arbeitsmittel wie das Versuchsgerät im experimentellen Unterricht</a:t>
            </a:r>
          </a:p>
          <a:p>
            <a:pPr marL="1524000" lvl="2" indent="-354013" eaLnBrk="1" hangingPunct="1"/>
            <a:r>
              <a:rPr lang="de-DE" dirty="0"/>
              <a:t>Einfache Arbeitsmittel stellen z. B. das Arbeitsblatt und die Tafel dar</a:t>
            </a:r>
          </a:p>
        </p:txBody>
      </p:sp>
    </p:spTree>
    <p:extLst>
      <p:ext uri="{BB962C8B-B14F-4D97-AF65-F5344CB8AC3E}">
        <p14:creationId xmlns:p14="http://schemas.microsoft.com/office/powerpoint/2010/main" val="7916803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 Medien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Motivationsmittel</a:t>
            </a:r>
          </a:p>
          <a:p>
            <a:pPr marL="1524000" lvl="2" indent="-354013" eaLnBrk="1" hangingPunct="1"/>
            <a:r>
              <a:rPr lang="de-DE" dirty="0"/>
              <a:t>Fast alles womit Lehrer und Schüler interagieren, alles, was ihre Kommunikation miteinander trägt bzw. unterstütz, ist Lehr- und Lernmittel</a:t>
            </a:r>
          </a:p>
          <a:p>
            <a:pPr marL="1524000" lvl="2" indent="-354013" eaLnBrk="1" hangingPunct="1"/>
            <a:r>
              <a:rPr lang="de-DE" dirty="0"/>
              <a:t>Sprache, Lehrbuch, Tafel, OH-Projektor, Präparat, Kreide, Arbeitsblatt, PC, Software, Wandkarte, Modell</a:t>
            </a:r>
          </a:p>
          <a:p>
            <a:pPr marL="1524000" lvl="2" indent="-354013" eaLnBrk="1" hangingPunct="1"/>
            <a:r>
              <a:rPr lang="de-DE" dirty="0"/>
              <a:t>In der Unterrichtsplanung soll immer erst das Ziel und der Inhalt klar sein und anschließend folgt die Wahl der Medien</a:t>
            </a:r>
          </a:p>
          <a:p>
            <a:pPr marL="1524000" lvl="2" indent="-354013" eaLnBrk="1" hangingPunct="1"/>
            <a:r>
              <a:rPr lang="de-DE" dirty="0"/>
              <a:t>Allgemein ist zu sagen: Je abstrakter ein Medium ist, desto geringer ist seine Motivation</a:t>
            </a:r>
          </a:p>
        </p:txBody>
      </p:sp>
    </p:spTree>
    <p:extLst>
      <p:ext uri="{BB962C8B-B14F-4D97-AF65-F5344CB8AC3E}">
        <p14:creationId xmlns:p14="http://schemas.microsoft.com/office/powerpoint/2010/main" val="40307368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a:bodyPr>
          <a:lstStyle/>
          <a:p>
            <a:r>
              <a:rPr lang="de-DE" dirty="0"/>
              <a:t>9. Medien - Grad der Wirklichkeitserfahrung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62</a:t>
            </a:fld>
            <a:endParaRPr lang="de-DE"/>
          </a:p>
        </p:txBody>
      </p:sp>
      <p:pic>
        <p:nvPicPr>
          <p:cNvPr id="5" name="Picture 5" descr="c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1556792"/>
            <a:ext cx="5040312"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66755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9.1 </a:t>
            </a:r>
            <a:r>
              <a:rPr lang="nl-NL" dirty="0"/>
              <a:t>Tafel (Kreidetafel oder White Board)</a:t>
            </a:r>
            <a:endParaRPr lang="de-DE" dirty="0"/>
          </a:p>
        </p:txBody>
      </p:sp>
      <p:sp>
        <p:nvSpPr>
          <p:cNvPr id="4" name="Foliennummernplatzhalter 3"/>
          <p:cNvSpPr>
            <a:spLocks noGrp="1"/>
          </p:cNvSpPr>
          <p:nvPr>
            <p:ph type="sldNum" sz="quarter" idx="15"/>
          </p:nvPr>
        </p:nvSpPr>
        <p:spPr/>
        <p:txBody>
          <a:bodyPr/>
          <a:lstStyle/>
          <a:p>
            <a:fld id="{33548601-C4B6-4D19-A7D5-04150560F062}" type="slidenum">
              <a:rPr lang="de-DE" smtClean="0"/>
              <a:pPr/>
              <a:t>63</a:t>
            </a:fld>
            <a:endParaRPr lang="de-DE"/>
          </a:p>
        </p:txBody>
      </p:sp>
      <p:graphicFrame>
        <p:nvGraphicFramePr>
          <p:cNvPr id="5" name="Group 35"/>
          <p:cNvGraphicFramePr>
            <a:graphicFrameLocks noGrp="1"/>
          </p:cNvGraphicFramePr>
          <p:nvPr>
            <p:ph sz="quarter" idx="1"/>
          </p:nvPr>
        </p:nvGraphicFramePr>
        <p:xfrm>
          <a:off x="704850" y="1600200"/>
          <a:ext cx="7467600" cy="4687964"/>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1877700">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Eignet sich für: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Schrittweises Entwickeln von Sachverhalten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Erklärungen und Erläuterungen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Sammeln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Eignet sich nicht für: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Darstellungen, die länger erhalten bleiben sollen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Zeitaufwendige Schreib- und Zeichenarbeiten während des Unterrichts</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0188">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Vorteile: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Einfache Handhabung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Große Schreibfläche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Löschung, Korrektur jederzeit möglich</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Auf Grund der Größe der Schreibfläche kann die Tafel mehrere Aufgaben gleichzeitig erfüllen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Nachteile: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Kein Augenkontakt zu den Schülern beim Anschreiben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Das Abschreiben bzw. Abzeichnen ist zeitaufwändig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Gefahr hoher Fehlerhaftigkeit beim Abschreiben oder Abzeichnen der Tafelanschrift</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222995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9.2 Overhead-Projektor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64</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Vorteile</a:t>
            </a:r>
          </a:p>
          <a:p>
            <a:pPr marL="990600" lvl="1" indent="-366713" eaLnBrk="1" hangingPunct="1"/>
            <a:r>
              <a:rPr lang="de-DE" sz="2000" dirty="0"/>
              <a:t>Der Lehrer kann während des Unterrichts Blickkontakt zu den Schülern halten</a:t>
            </a:r>
          </a:p>
          <a:p>
            <a:pPr marL="990600" lvl="1" indent="-366713" eaLnBrk="1" hangingPunct="1"/>
            <a:r>
              <a:rPr lang="de-DE" sz="2000" dirty="0"/>
              <a:t>Der Raum braucht nicht verdunkelt werden</a:t>
            </a:r>
          </a:p>
          <a:p>
            <a:pPr marL="990600" lvl="1" indent="-366713" eaLnBrk="1" hangingPunct="1"/>
            <a:r>
              <a:rPr lang="de-DE" sz="2000" dirty="0"/>
              <a:t>Die Folie können mit wasserlöslichen und wasserfesten Stiften beschriftet, vorbereitet und beliebig oder wieder verwendet werden</a:t>
            </a:r>
          </a:p>
          <a:p>
            <a:pPr marL="990600" lvl="1" indent="-366713" eaLnBrk="1" hangingPunct="1"/>
            <a:r>
              <a:rPr lang="de-DE" sz="2000" dirty="0"/>
              <a:t>Von den Folien können beliebig viele Kopien gemacht werden</a:t>
            </a:r>
          </a:p>
        </p:txBody>
      </p:sp>
    </p:spTree>
    <p:extLst>
      <p:ext uri="{BB962C8B-B14F-4D97-AF65-F5344CB8AC3E}">
        <p14:creationId xmlns:p14="http://schemas.microsoft.com/office/powerpoint/2010/main" val="40075398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9.2 Overhead-Projektor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Gute Folien:</a:t>
            </a:r>
          </a:p>
          <a:p>
            <a:pPr marL="990600" lvl="1" indent="-366713" eaLnBrk="1" hangingPunct="1"/>
            <a:r>
              <a:rPr lang="de-DE" sz="2000" dirty="0"/>
              <a:t>Erzeugen Aufmerksamkeit</a:t>
            </a:r>
          </a:p>
          <a:p>
            <a:pPr marL="990600" lvl="1" indent="-366713" eaLnBrk="1" hangingPunct="1"/>
            <a:r>
              <a:rPr lang="de-DE" sz="2000" dirty="0"/>
              <a:t>Regen zum Nachdenken an</a:t>
            </a:r>
          </a:p>
          <a:p>
            <a:pPr marL="990600" lvl="1" indent="-366713" eaLnBrk="1" hangingPunct="1"/>
            <a:r>
              <a:rPr lang="de-DE" sz="2000" dirty="0"/>
              <a:t>Motivieren für die Sache</a:t>
            </a:r>
          </a:p>
          <a:p>
            <a:pPr marL="990600" lvl="1" indent="-366713" eaLnBrk="1" hangingPunct="1"/>
            <a:r>
              <a:rPr lang="de-DE" sz="2000" dirty="0"/>
              <a:t>Geben Impulse</a:t>
            </a:r>
          </a:p>
          <a:p>
            <a:pPr marL="990600" lvl="1" indent="-366713" eaLnBrk="1" hangingPunct="1"/>
            <a:r>
              <a:rPr lang="de-DE" sz="2000" dirty="0"/>
              <a:t>Verdeutlichen und visualisieren Sachverhalte</a:t>
            </a:r>
          </a:p>
          <a:p>
            <a:pPr marL="990600" lvl="1" indent="-366713" eaLnBrk="1" hangingPunct="1"/>
            <a:r>
              <a:rPr lang="de-DE" sz="2000" dirty="0"/>
              <a:t>Lassen durch den Gebrauch von Aufbau-, Unterleg-, Abdeck-, Ergänzungs-, Figurentechnik eine schrittweise Gedankenentwicklung zu</a:t>
            </a:r>
          </a:p>
          <a:p>
            <a:pPr marL="990600" lvl="1" indent="-366713" eaLnBrk="1" hangingPunct="1"/>
            <a:r>
              <a:rPr lang="de-DE" sz="2000" dirty="0"/>
              <a:t>Haben einen hohen </a:t>
            </a:r>
            <a:r>
              <a:rPr lang="de-DE" sz="2000" dirty="0" err="1"/>
              <a:t>Behaltenseffekt</a:t>
            </a:r>
            <a:endParaRPr lang="de-DE" sz="2000" dirty="0"/>
          </a:p>
          <a:p>
            <a:pPr marL="990600" lvl="1" indent="-366713" eaLnBrk="1" hangingPunct="1"/>
            <a:r>
              <a:rPr lang="de-DE" sz="2000" dirty="0"/>
              <a:t>Dokumentieren sie Arbeitsergebnisse von Gruppen und Paaren und erlauben ihre </a:t>
            </a:r>
            <a:r>
              <a:rPr lang="de-DE" sz="2000" dirty="0" err="1"/>
              <a:t>plenare</a:t>
            </a:r>
            <a:r>
              <a:rPr lang="de-DE" sz="2000" dirty="0"/>
              <a:t> Diskussion</a:t>
            </a:r>
          </a:p>
        </p:txBody>
      </p:sp>
    </p:spTree>
    <p:extLst>
      <p:ext uri="{BB962C8B-B14F-4D97-AF65-F5344CB8AC3E}">
        <p14:creationId xmlns:p14="http://schemas.microsoft.com/office/powerpoint/2010/main" val="1881368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66</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Bedingungsmomente</a:t>
            </a:r>
          </a:p>
          <a:p>
            <a:pPr marL="990600" lvl="1" indent="-366713" eaLnBrk="1" hangingPunct="1"/>
            <a:r>
              <a:rPr lang="de-DE" sz="2000" dirty="0"/>
              <a:t>Anthropogene Voraussetzungen</a:t>
            </a:r>
          </a:p>
          <a:p>
            <a:pPr marL="990600" lvl="1" indent="-366713" eaLnBrk="1" hangingPunct="1"/>
            <a:r>
              <a:rPr lang="de-DE" sz="2000" dirty="0"/>
              <a:t>Soziokulturelle Voraussetzungen</a:t>
            </a:r>
          </a:p>
          <a:p>
            <a:pPr marL="444500" indent="-444500" eaLnBrk="1" hangingPunct="1"/>
            <a:r>
              <a:rPr lang="de-DE" sz="2200" dirty="0"/>
              <a:t>Entscheidungsmomente</a:t>
            </a:r>
          </a:p>
          <a:p>
            <a:pPr marL="990600" lvl="1" indent="-366713" eaLnBrk="1" hangingPunct="1"/>
            <a:r>
              <a:rPr lang="de-DE" sz="2000" dirty="0"/>
              <a:t>Intentionalität: Unterrichtsziele</a:t>
            </a:r>
          </a:p>
          <a:p>
            <a:pPr marL="1524000" lvl="2" indent="-354013" eaLnBrk="1" hangingPunct="1"/>
            <a:r>
              <a:rPr lang="de-DE" dirty="0"/>
              <a:t>Richtziel</a:t>
            </a:r>
          </a:p>
          <a:p>
            <a:pPr marL="1524000" lvl="2" indent="-354013" eaLnBrk="1" hangingPunct="1"/>
            <a:r>
              <a:rPr lang="de-DE" dirty="0"/>
              <a:t>Groblernziel</a:t>
            </a:r>
          </a:p>
          <a:p>
            <a:pPr marL="1524000" lvl="2" indent="-354013" eaLnBrk="1" hangingPunct="1"/>
            <a:r>
              <a:rPr lang="de-DE" dirty="0"/>
              <a:t>Feinlernziele</a:t>
            </a:r>
          </a:p>
          <a:p>
            <a:pPr marL="990600" lvl="1" indent="-366713" eaLnBrk="1" hangingPunct="1"/>
            <a:r>
              <a:rPr lang="de-DE" sz="2000" dirty="0"/>
              <a:t>Thematik</a:t>
            </a:r>
          </a:p>
          <a:p>
            <a:pPr marL="1524000" lvl="2" indent="-354013" eaLnBrk="1" hangingPunct="1"/>
            <a:r>
              <a:rPr lang="de-DE" dirty="0"/>
              <a:t>Lernfeld 1</a:t>
            </a:r>
          </a:p>
          <a:p>
            <a:pPr marL="1524000" lvl="2" indent="-354013" eaLnBrk="1" hangingPunct="1"/>
            <a:r>
              <a:rPr lang="de-DE" dirty="0"/>
              <a:t>Lernsituation 1.2</a:t>
            </a:r>
          </a:p>
          <a:p>
            <a:pPr marL="1524000" lvl="2" indent="-354013" eaLnBrk="1" hangingPunct="1"/>
            <a:r>
              <a:rPr lang="de-DE" dirty="0"/>
              <a:t>Schwerpunkte</a:t>
            </a:r>
          </a:p>
        </p:txBody>
      </p:sp>
    </p:spTree>
    <p:extLst>
      <p:ext uri="{BB962C8B-B14F-4D97-AF65-F5344CB8AC3E}">
        <p14:creationId xmlns:p14="http://schemas.microsoft.com/office/powerpoint/2010/main" val="27320940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67</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1524000" lvl="2" indent="-354013" eaLnBrk="1" hangingPunct="1"/>
            <a:r>
              <a:rPr lang="de-DE" dirty="0"/>
              <a:t>Inhalt</a:t>
            </a:r>
          </a:p>
          <a:p>
            <a:pPr marL="1524000" lvl="2" indent="-354013" eaLnBrk="1" hangingPunct="1"/>
            <a:r>
              <a:rPr lang="de-DE" dirty="0"/>
              <a:t>Thema der Stunde</a:t>
            </a:r>
          </a:p>
          <a:p>
            <a:pPr marL="1524000" lvl="2" indent="-354013" eaLnBrk="1" hangingPunct="1"/>
            <a:r>
              <a:rPr lang="de-DE" dirty="0"/>
              <a:t>Vorhergehendes Thema</a:t>
            </a:r>
          </a:p>
          <a:p>
            <a:pPr marL="1524000" lvl="2" indent="-354013" eaLnBrk="1" hangingPunct="1"/>
            <a:r>
              <a:rPr lang="de-DE" dirty="0"/>
              <a:t>Nachfolgendes Thema</a:t>
            </a:r>
          </a:p>
          <a:p>
            <a:pPr marL="1524000" lvl="2" indent="-354013" eaLnBrk="1" hangingPunct="1"/>
            <a:r>
              <a:rPr lang="de-DE" dirty="0"/>
              <a:t>Gegenwartsbedeutung</a:t>
            </a:r>
          </a:p>
          <a:p>
            <a:pPr marL="1524000" lvl="2" indent="-354013" eaLnBrk="1" hangingPunct="1"/>
            <a:r>
              <a:rPr lang="de-DE" dirty="0"/>
              <a:t>Zukunftsbedeutung</a:t>
            </a:r>
          </a:p>
          <a:p>
            <a:pPr marL="1524000" lvl="2" indent="-354013" eaLnBrk="1" hangingPunct="1"/>
            <a:r>
              <a:rPr lang="de-DE" dirty="0"/>
              <a:t>Exemplarische Bedeutung</a:t>
            </a:r>
          </a:p>
          <a:p>
            <a:pPr marL="1524000" lvl="2" indent="-354013" eaLnBrk="1" hangingPunct="1"/>
            <a:r>
              <a:rPr lang="de-DE" dirty="0"/>
              <a:t>Zugänglichkeit</a:t>
            </a:r>
          </a:p>
          <a:p>
            <a:pPr marL="1524000" lvl="2" indent="-354013" eaLnBrk="1" hangingPunct="1"/>
            <a:r>
              <a:rPr lang="de-DE" dirty="0"/>
              <a:t>Sachstruktur</a:t>
            </a:r>
          </a:p>
          <a:p>
            <a:pPr marL="990600" lvl="1" indent="-366713" eaLnBrk="1" hangingPunct="1"/>
            <a:r>
              <a:rPr lang="de-DE" sz="2000" dirty="0"/>
              <a:t>Methodik</a:t>
            </a:r>
          </a:p>
          <a:p>
            <a:pPr marL="1524000" lvl="2" indent="-354013" eaLnBrk="1" hangingPunct="1"/>
            <a:r>
              <a:rPr lang="de-DE" dirty="0"/>
              <a:t>Verfahren</a:t>
            </a:r>
          </a:p>
          <a:p>
            <a:pPr marL="2543175" lvl="3" indent="-381000" eaLnBrk="1" hangingPunct="1"/>
            <a:r>
              <a:rPr lang="de-DE" sz="1600" dirty="0"/>
              <a:t>Eröffnungsphase</a:t>
            </a:r>
          </a:p>
          <a:p>
            <a:pPr marL="2543175" lvl="3" indent="-381000" eaLnBrk="1" hangingPunct="1"/>
            <a:r>
              <a:rPr lang="de-DE" sz="1600" dirty="0"/>
              <a:t>Erarbeitungsphase</a:t>
            </a:r>
          </a:p>
        </p:txBody>
      </p:sp>
    </p:spTree>
    <p:extLst>
      <p:ext uri="{BB962C8B-B14F-4D97-AF65-F5344CB8AC3E}">
        <p14:creationId xmlns:p14="http://schemas.microsoft.com/office/powerpoint/2010/main" val="8950826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9.3 Unterrichtsentwurf (Berliner Modell)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68</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2543175" lvl="3" indent="-381000" eaLnBrk="1" hangingPunct="1"/>
            <a:r>
              <a:rPr lang="de-DE" sz="1600" dirty="0"/>
              <a:t>Ergebnisphase</a:t>
            </a:r>
          </a:p>
          <a:p>
            <a:pPr marL="2543175" lvl="3" indent="-381000" eaLnBrk="1" hangingPunct="1"/>
            <a:r>
              <a:rPr lang="de-DE" sz="1600" dirty="0"/>
              <a:t>Ergebnissicherung</a:t>
            </a:r>
          </a:p>
          <a:p>
            <a:pPr marL="2543175" lvl="3" indent="-381000" eaLnBrk="1" hangingPunct="1"/>
            <a:r>
              <a:rPr lang="de-DE" sz="1600" dirty="0"/>
              <a:t>Wissensanwendung</a:t>
            </a:r>
          </a:p>
          <a:p>
            <a:pPr marL="1524000" lvl="2" indent="-354013" eaLnBrk="1" hangingPunct="1"/>
            <a:r>
              <a:rPr lang="de-DE" dirty="0"/>
              <a:t>Sozialformen</a:t>
            </a:r>
          </a:p>
          <a:p>
            <a:pPr marL="1524000" lvl="2" indent="-354013" eaLnBrk="1" hangingPunct="1"/>
            <a:r>
              <a:rPr lang="de-DE" dirty="0"/>
              <a:t>Aktionsformen</a:t>
            </a:r>
          </a:p>
          <a:p>
            <a:pPr marL="1524000" lvl="2" indent="-354013" eaLnBrk="1" hangingPunct="1"/>
            <a:r>
              <a:rPr lang="de-DE" dirty="0"/>
              <a:t>Artikulationsschema</a:t>
            </a:r>
          </a:p>
          <a:p>
            <a:pPr marL="444500" indent="-444500" eaLnBrk="1" hangingPunct="1"/>
            <a:r>
              <a:rPr lang="de-DE" dirty="0"/>
              <a:t>Literatur</a:t>
            </a:r>
          </a:p>
        </p:txBody>
      </p:sp>
    </p:spTree>
    <p:extLst>
      <p:ext uri="{BB962C8B-B14F-4D97-AF65-F5344CB8AC3E}">
        <p14:creationId xmlns:p14="http://schemas.microsoft.com/office/powerpoint/2010/main" val="3174826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69</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Lernerfolgskontrollen</a:t>
            </a:r>
          </a:p>
        </p:txBody>
      </p:sp>
      <p:sp>
        <p:nvSpPr>
          <p:cNvPr id="4" name="Rechteck 3"/>
          <p:cNvSpPr/>
          <p:nvPr/>
        </p:nvSpPr>
        <p:spPr>
          <a:xfrm>
            <a:off x="3504880" y="1412776"/>
            <a:ext cx="1361271"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10</a:t>
            </a:r>
          </a:p>
        </p:txBody>
      </p:sp>
    </p:spTree>
    <p:extLst>
      <p:ext uri="{BB962C8B-B14F-4D97-AF65-F5344CB8AC3E}">
        <p14:creationId xmlns:p14="http://schemas.microsoft.com/office/powerpoint/2010/main" val="39295627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10.1 Zusammenhang zw. Lernkontrolle und Lernziel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70</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lnSpcReduction="10000"/>
          </a:bodyPr>
          <a:lstStyle/>
          <a:p>
            <a:pPr marL="444500" indent="-444500" eaLnBrk="1" fontAlgn="auto" hangingPunct="1">
              <a:spcAft>
                <a:spcPts val="0"/>
              </a:spcAft>
              <a:buFont typeface="Wingdings 2"/>
              <a:buChar char=""/>
              <a:defRPr/>
            </a:pPr>
            <a:r>
              <a:rPr lang="de-DE" sz="2200" dirty="0"/>
              <a:t>(Es darf nur geprüft werden, was auch gelehrt worden ist)</a:t>
            </a:r>
          </a:p>
          <a:p>
            <a:pPr marL="444500" indent="-444500" eaLnBrk="1" fontAlgn="auto" hangingPunct="1">
              <a:spcAft>
                <a:spcPts val="0"/>
              </a:spcAft>
              <a:buFont typeface="Wingdings 2"/>
              <a:buChar char=""/>
              <a:defRPr/>
            </a:pPr>
            <a:r>
              <a:rPr lang="de-DE" sz="2200" dirty="0"/>
              <a:t>Ein Lernziel besteht aus zwei Teilen: Inhalt und Verhalten</a:t>
            </a:r>
          </a:p>
          <a:p>
            <a:pPr marL="444500" indent="-444500" eaLnBrk="1" fontAlgn="auto" hangingPunct="1">
              <a:spcAft>
                <a:spcPts val="0"/>
              </a:spcAft>
              <a:buFont typeface="Wingdings 2"/>
              <a:buChar char=""/>
              <a:defRPr/>
            </a:pPr>
            <a:r>
              <a:rPr lang="de-DE" sz="2200" dirty="0"/>
              <a:t>Im Verhalten können Verhaltensstufen unterschieden werden</a:t>
            </a:r>
          </a:p>
          <a:p>
            <a:pPr marL="444500" indent="-444500" eaLnBrk="1" fontAlgn="auto" hangingPunct="1">
              <a:spcAft>
                <a:spcPts val="0"/>
              </a:spcAft>
              <a:buFont typeface="Wingdings 2"/>
              <a:buChar char=""/>
              <a:defRPr/>
            </a:pPr>
            <a:r>
              <a:rPr lang="de-DE" sz="2200" dirty="0"/>
              <a:t>Im kognitiven Bereich kann man zwischen Wissen, Verstehen, Anwenden und Problemlösen unterscheiden</a:t>
            </a:r>
          </a:p>
          <a:p>
            <a:pPr marL="444500" indent="-444500" eaLnBrk="1" fontAlgn="auto" hangingPunct="1">
              <a:spcAft>
                <a:spcPts val="0"/>
              </a:spcAft>
              <a:buFont typeface="Wingdings 2"/>
              <a:buChar char=""/>
              <a:defRPr/>
            </a:pPr>
            <a:r>
              <a:rPr lang="de-DE" sz="2200" dirty="0"/>
              <a:t>Das bedeutet für die Kontrolle: Werden im Unterricht die Inhalte auf der Stufe des Wissens vermittelt, dann dürfen diese Inhalte in der Lernkontrolle auch auf der Stufe des Wissens geprüft werden</a:t>
            </a:r>
          </a:p>
          <a:p>
            <a:pPr marL="444500" indent="-444500" eaLnBrk="1" fontAlgn="auto" hangingPunct="1">
              <a:spcAft>
                <a:spcPts val="0"/>
              </a:spcAft>
              <a:buFont typeface="Wingdings" pitchFamily="2" charset="2"/>
              <a:buNone/>
              <a:defRPr/>
            </a:pPr>
            <a:r>
              <a:rPr lang="de-DE" sz="2200" dirty="0"/>
              <a:t>					konventionelle Prüfung</a:t>
            </a:r>
          </a:p>
          <a:p>
            <a:pPr marL="444500" indent="-444500" eaLnBrk="1" fontAlgn="auto" hangingPunct="1">
              <a:spcAft>
                <a:spcPts val="0"/>
              </a:spcAft>
              <a:buFont typeface="Wingdings" pitchFamily="2" charset="2"/>
              <a:buNone/>
              <a:defRPr/>
            </a:pPr>
            <a:r>
              <a:rPr lang="de-DE" sz="2200" dirty="0"/>
              <a:t>Lernkontrolle</a:t>
            </a:r>
          </a:p>
          <a:p>
            <a:pPr marL="444500" indent="-444500" eaLnBrk="1" fontAlgn="auto" hangingPunct="1">
              <a:spcAft>
                <a:spcPts val="0"/>
              </a:spcAft>
              <a:buFont typeface="Wingdings" pitchFamily="2" charset="2"/>
              <a:buNone/>
              <a:defRPr/>
            </a:pPr>
            <a:r>
              <a:rPr lang="de-DE" sz="2200" dirty="0"/>
              <a:t>					Test</a:t>
            </a:r>
          </a:p>
        </p:txBody>
      </p:sp>
      <p:sp>
        <p:nvSpPr>
          <p:cNvPr id="6" name="Line 5"/>
          <p:cNvSpPr>
            <a:spLocks noChangeShapeType="1"/>
          </p:cNvSpPr>
          <p:nvPr/>
        </p:nvSpPr>
        <p:spPr bwMode="auto">
          <a:xfrm>
            <a:off x="2411288" y="5660925"/>
            <a:ext cx="1944688"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7" name="Line 6"/>
          <p:cNvSpPr>
            <a:spLocks noChangeShapeType="1"/>
          </p:cNvSpPr>
          <p:nvPr/>
        </p:nvSpPr>
        <p:spPr bwMode="auto">
          <a:xfrm flipV="1">
            <a:off x="2411760" y="5229448"/>
            <a:ext cx="1944688"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16530116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10.2 Konventionelle Prüfung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Unterscheidung zwischen der mündlichen und schriftlichen, beide Formen können handlungsorientiert und nicht handlungsorientiert realisiert werden</a:t>
            </a:r>
          </a:p>
          <a:p>
            <a:pPr marL="444500" indent="-444500" eaLnBrk="1" hangingPunct="1"/>
            <a:r>
              <a:rPr lang="de-DE" sz="2200" dirty="0"/>
              <a:t>Informelle mündliche Prüfung bezieht sich auf das mündliche Abfragen</a:t>
            </a:r>
          </a:p>
          <a:p>
            <a:pPr marL="444500" indent="-444500" eaLnBrk="1" hangingPunct="1"/>
            <a:r>
              <a:rPr lang="de-DE" sz="2200" dirty="0"/>
              <a:t>Punktuell wird überprüft, ob bestimmt Lernschritte erreicht wurden</a:t>
            </a:r>
          </a:p>
          <a:p>
            <a:pPr marL="444500" indent="-444500" eaLnBrk="1" hangingPunct="1"/>
            <a:r>
              <a:rPr lang="de-DE" sz="2200" dirty="0"/>
              <a:t>Formelle mündliche Prüfung ist besonders bekannt</a:t>
            </a:r>
          </a:p>
          <a:p>
            <a:pPr marL="444500" indent="-444500" eaLnBrk="1" hangingPunct="1"/>
            <a:r>
              <a:rPr lang="de-DE" sz="2200" dirty="0"/>
              <a:t>In Berufsschulen hat formelle mündliche Prüfung eher in beruflichen Schulen wie Fachoberschule eine Bedeutung</a:t>
            </a:r>
          </a:p>
        </p:txBody>
      </p:sp>
    </p:spTree>
    <p:extLst>
      <p:ext uri="{BB962C8B-B14F-4D97-AF65-F5344CB8AC3E}">
        <p14:creationId xmlns:p14="http://schemas.microsoft.com/office/powerpoint/2010/main" val="38467549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10.2 Konventionelle Prüfung</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72</a:t>
            </a:fld>
            <a:endParaRPr lang="de-DE"/>
          </a:p>
        </p:txBody>
      </p:sp>
      <p:sp>
        <p:nvSpPr>
          <p:cNvPr id="6" name="Rectangle 3"/>
          <p:cNvSpPr>
            <a:spLocks noGrp="1" noChangeArrowheads="1"/>
          </p:cNvSpPr>
          <p:nvPr>
            <p:ph sz="quarter" idx="1"/>
          </p:nvPr>
        </p:nvSpPr>
        <p:spPr>
          <a:xfrm>
            <a:off x="704850" y="1600200"/>
            <a:ext cx="7611566" cy="4873625"/>
          </a:xfrm>
        </p:spPr>
        <p:txBody>
          <a:bodyPr>
            <a:normAutofit lnSpcReduction="10000"/>
          </a:bodyPr>
          <a:lstStyle/>
          <a:p>
            <a:pPr marL="444500" indent="-444500" eaLnBrk="1" hangingPunct="1">
              <a:buFont typeface="Wingdings" pitchFamily="2" charset="2"/>
              <a:buNone/>
            </a:pPr>
            <a:r>
              <a:rPr lang="de-DE" sz="2200" dirty="0"/>
              <a:t>						 								                 Informell</a:t>
            </a:r>
          </a:p>
          <a:p>
            <a:pPr marL="444500" indent="-444500" eaLnBrk="1" hangingPunct="1">
              <a:buFont typeface="Wingdings" pitchFamily="2" charset="2"/>
              <a:buNone/>
            </a:pPr>
            <a:r>
              <a:rPr lang="de-DE" sz="2200" dirty="0"/>
              <a:t>				       Mündlich</a:t>
            </a:r>
          </a:p>
          <a:p>
            <a:pPr marL="444500" indent="-444500" eaLnBrk="1" hangingPunct="1">
              <a:buFont typeface="Wingdings" pitchFamily="2" charset="2"/>
              <a:buNone/>
            </a:pPr>
            <a:r>
              <a:rPr lang="de-DE" sz="2200" dirty="0"/>
              <a:t>														                 Formell</a:t>
            </a:r>
          </a:p>
          <a:p>
            <a:pPr marL="444500" indent="-444500" eaLnBrk="1" hangingPunct="1">
              <a:buFont typeface="Wingdings" pitchFamily="2" charset="2"/>
              <a:buNone/>
            </a:pPr>
            <a:r>
              <a:rPr lang="de-DE" sz="2200" dirty="0"/>
              <a:t>Konventionelle</a:t>
            </a:r>
          </a:p>
          <a:p>
            <a:pPr marL="444500" indent="-444500" eaLnBrk="1" hangingPunct="1">
              <a:buFont typeface="Wingdings" pitchFamily="2" charset="2"/>
              <a:buNone/>
            </a:pPr>
            <a:r>
              <a:rPr lang="de-DE" sz="2200" dirty="0"/>
              <a:t>Prüfung</a:t>
            </a:r>
          </a:p>
          <a:p>
            <a:pPr marL="444500" indent="-444500" eaLnBrk="1" hangingPunct="1">
              <a:buFont typeface="Wingdings" pitchFamily="2" charset="2"/>
              <a:buNone/>
            </a:pPr>
            <a:r>
              <a:rPr lang="de-DE" sz="2200" dirty="0"/>
              <a:t>					 		   Klassenarbeit</a:t>
            </a:r>
          </a:p>
          <a:p>
            <a:pPr marL="444500" indent="-444500" eaLnBrk="1" hangingPunct="1">
              <a:buFont typeface="Wingdings" pitchFamily="2" charset="2"/>
              <a:buNone/>
            </a:pPr>
            <a:r>
              <a:rPr lang="de-DE" sz="2200" dirty="0"/>
              <a:t>				       Schriftlich</a:t>
            </a:r>
          </a:p>
          <a:p>
            <a:pPr marL="444500" indent="-444500" eaLnBrk="1" hangingPunct="1">
              <a:buFont typeface="Wingdings" pitchFamily="2" charset="2"/>
              <a:buNone/>
            </a:pPr>
            <a:r>
              <a:rPr lang="de-DE" sz="2200" dirty="0"/>
              <a:t>														              Programmiert</a:t>
            </a:r>
          </a:p>
        </p:txBody>
      </p:sp>
      <p:sp>
        <p:nvSpPr>
          <p:cNvPr id="7" name="Line 5"/>
          <p:cNvSpPr>
            <a:spLocks noChangeShapeType="1"/>
          </p:cNvSpPr>
          <p:nvPr/>
        </p:nvSpPr>
        <p:spPr bwMode="auto">
          <a:xfrm flipV="1">
            <a:off x="2699196" y="2708920"/>
            <a:ext cx="17287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 name="Line 6"/>
          <p:cNvSpPr>
            <a:spLocks noChangeShapeType="1"/>
          </p:cNvSpPr>
          <p:nvPr/>
        </p:nvSpPr>
        <p:spPr bwMode="auto">
          <a:xfrm>
            <a:off x="2699792" y="3717032"/>
            <a:ext cx="17287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Line 7"/>
          <p:cNvSpPr>
            <a:spLocks noChangeShapeType="1"/>
          </p:cNvSpPr>
          <p:nvPr/>
        </p:nvSpPr>
        <p:spPr bwMode="auto">
          <a:xfrm flipV="1">
            <a:off x="5148064" y="2205112"/>
            <a:ext cx="1439863"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Line 9"/>
          <p:cNvSpPr>
            <a:spLocks noChangeShapeType="1"/>
          </p:cNvSpPr>
          <p:nvPr/>
        </p:nvSpPr>
        <p:spPr bwMode="auto">
          <a:xfrm>
            <a:off x="5148064" y="2636589"/>
            <a:ext cx="1439863" cy="576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 name="Line 7"/>
          <p:cNvSpPr>
            <a:spLocks noChangeShapeType="1"/>
          </p:cNvSpPr>
          <p:nvPr/>
        </p:nvSpPr>
        <p:spPr bwMode="auto">
          <a:xfrm flipV="1">
            <a:off x="5300465" y="4581128"/>
            <a:ext cx="1143744" cy="3600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 name="Line 9"/>
          <p:cNvSpPr>
            <a:spLocks noChangeShapeType="1"/>
          </p:cNvSpPr>
          <p:nvPr/>
        </p:nvSpPr>
        <p:spPr bwMode="auto">
          <a:xfrm>
            <a:off x="5300465" y="4941168"/>
            <a:ext cx="1071736" cy="7200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21212495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10.3 Test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73</a:t>
            </a:fld>
            <a:endParaRPr lang="de-DE"/>
          </a:p>
        </p:txBody>
      </p:sp>
      <p:sp>
        <p:nvSpPr>
          <p:cNvPr id="5" name="Rectangle 3"/>
          <p:cNvSpPr>
            <a:spLocks noGrp="1" noChangeArrowheads="1"/>
          </p:cNvSpPr>
          <p:nvPr>
            <p:ph sz="quarter" idx="1"/>
          </p:nvPr>
        </p:nvSpPr>
        <p:spPr>
          <a:xfrm>
            <a:off x="704850" y="1600200"/>
            <a:ext cx="7467600" cy="4873625"/>
          </a:xfrm>
        </p:spPr>
        <p:txBody>
          <a:bodyPr>
            <a:normAutofit/>
          </a:bodyPr>
          <a:lstStyle/>
          <a:p>
            <a:pPr marL="444500" indent="-444500" eaLnBrk="1" hangingPunct="1"/>
            <a:r>
              <a:rPr lang="de-DE" sz="2200" dirty="0"/>
              <a:t>Sind Lernkontrollen, die nach testtheoretischer und teststatischen Kriterien abgesichert sind</a:t>
            </a:r>
          </a:p>
          <a:p>
            <a:pPr marL="444500" indent="-444500" eaLnBrk="1" hangingPunct="1"/>
            <a:r>
              <a:rPr lang="de-DE" sz="2200" dirty="0"/>
              <a:t>Die Gütekriterien sind</a:t>
            </a:r>
          </a:p>
          <a:p>
            <a:pPr marL="444500" indent="-444500" eaLnBrk="1" hangingPunct="1">
              <a:buFont typeface="Wingdings" pitchFamily="2" charset="2"/>
              <a:buNone/>
            </a:pPr>
            <a:endParaRPr lang="de-DE" sz="1000" dirty="0"/>
          </a:p>
          <a:p>
            <a:pPr marL="444500" indent="-444500" eaLnBrk="1" hangingPunct="1">
              <a:buFont typeface="Wingdings" pitchFamily="2" charset="2"/>
              <a:buNone/>
            </a:pPr>
            <a:r>
              <a:rPr lang="de-DE" sz="2200" dirty="0"/>
              <a:t>				Validität (Gültigkeit)</a:t>
            </a:r>
          </a:p>
          <a:p>
            <a:pPr marL="444500" indent="-444500" eaLnBrk="1" hangingPunct="1">
              <a:buFont typeface="Wingdings" pitchFamily="2" charset="2"/>
              <a:buNone/>
            </a:pPr>
            <a:r>
              <a:rPr lang="de-DE" sz="1000" dirty="0"/>
              <a:t>				</a:t>
            </a:r>
          </a:p>
          <a:p>
            <a:pPr marL="444500" indent="-444500" eaLnBrk="1" hangingPunct="1">
              <a:buFont typeface="Wingdings" pitchFamily="2" charset="2"/>
              <a:buNone/>
            </a:pPr>
            <a:r>
              <a:rPr lang="de-DE" sz="2200" dirty="0"/>
              <a:t>   				Reliabilität (Genauigkeit,  </a:t>
            </a:r>
          </a:p>
          <a:p>
            <a:pPr marL="444500" indent="-444500" eaLnBrk="1" hangingPunct="1">
              <a:buFont typeface="Wingdings" pitchFamily="2" charset="2"/>
              <a:buNone/>
            </a:pPr>
            <a:r>
              <a:rPr lang="de-DE" sz="2200" dirty="0"/>
              <a:t>                                   Zuverlässigkeit)</a:t>
            </a:r>
          </a:p>
          <a:p>
            <a:pPr marL="444500" indent="-444500" eaLnBrk="1" hangingPunct="1">
              <a:buFont typeface="Wingdings" pitchFamily="2" charset="2"/>
              <a:buNone/>
            </a:pPr>
            <a:endParaRPr lang="de-DE" sz="1000" dirty="0"/>
          </a:p>
          <a:p>
            <a:pPr marL="444500" indent="-444500" eaLnBrk="1" hangingPunct="1">
              <a:buFont typeface="Wingdings" pitchFamily="2" charset="2"/>
              <a:buNone/>
            </a:pPr>
            <a:r>
              <a:rPr lang="de-DE" sz="2200" dirty="0"/>
              <a:t>				Objektivität (Durchführung-, </a:t>
            </a:r>
          </a:p>
          <a:p>
            <a:pPr marL="444500" indent="-444500" eaLnBrk="1" hangingPunct="1">
              <a:buFont typeface="Wingdings" pitchFamily="2" charset="2"/>
              <a:buNone/>
            </a:pPr>
            <a:r>
              <a:rPr lang="de-DE" sz="2200" dirty="0"/>
              <a:t>                                    Auswertungs-,Interpretations-</a:t>
            </a:r>
          </a:p>
          <a:p>
            <a:pPr marL="444500" indent="-444500" eaLnBrk="1" hangingPunct="1">
              <a:buFont typeface="Wingdings" pitchFamily="2" charset="2"/>
              <a:buNone/>
            </a:pPr>
            <a:r>
              <a:rPr lang="de-DE" sz="2200" dirty="0"/>
              <a:t>                                    </a:t>
            </a:r>
            <a:r>
              <a:rPr lang="de-DE" sz="2200" dirty="0" err="1"/>
              <a:t>objektivität</a:t>
            </a:r>
            <a:r>
              <a:rPr lang="de-DE" sz="2200" dirty="0"/>
              <a:t>)</a:t>
            </a:r>
          </a:p>
        </p:txBody>
      </p:sp>
      <p:sp>
        <p:nvSpPr>
          <p:cNvPr id="6" name="Line 5"/>
          <p:cNvSpPr>
            <a:spLocks noChangeShapeType="1"/>
          </p:cNvSpPr>
          <p:nvPr/>
        </p:nvSpPr>
        <p:spPr bwMode="auto">
          <a:xfrm flipV="1">
            <a:off x="1331640" y="3284909"/>
            <a:ext cx="2016125" cy="7921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sysClr val="windowText" lastClr="000000"/>
              </a:solidFill>
              <a:effectLst/>
              <a:uLnTx/>
              <a:uFillTx/>
            </a:endParaRPr>
          </a:p>
        </p:txBody>
      </p:sp>
      <p:sp>
        <p:nvSpPr>
          <p:cNvPr id="7" name="Line 6"/>
          <p:cNvSpPr>
            <a:spLocks noChangeShapeType="1"/>
          </p:cNvSpPr>
          <p:nvPr/>
        </p:nvSpPr>
        <p:spPr bwMode="auto">
          <a:xfrm>
            <a:off x="1331739" y="4077072"/>
            <a:ext cx="2016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 name="Line 7"/>
          <p:cNvSpPr>
            <a:spLocks noChangeShapeType="1"/>
          </p:cNvSpPr>
          <p:nvPr/>
        </p:nvSpPr>
        <p:spPr bwMode="auto">
          <a:xfrm>
            <a:off x="1331739" y="4077072"/>
            <a:ext cx="2016125"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Textfeld 8"/>
          <p:cNvSpPr txBox="1"/>
          <p:nvPr/>
        </p:nvSpPr>
        <p:spPr>
          <a:xfrm>
            <a:off x="539552" y="3831431"/>
            <a:ext cx="1008062" cy="461665"/>
          </a:xfrm>
          <a:prstGeom prst="rect">
            <a:avLst/>
          </a:prstGeom>
          <a:noFill/>
        </p:spPr>
        <p:txBody>
          <a:bodyPr wrap="square" rtlCol="0">
            <a:spAutoFit/>
          </a:bodyPr>
          <a:lstStyle/>
          <a:p>
            <a:r>
              <a:rPr lang="de-DE" sz="2400" dirty="0"/>
              <a:t>Test</a:t>
            </a:r>
          </a:p>
        </p:txBody>
      </p:sp>
    </p:spTree>
    <p:extLst>
      <p:ext uri="{BB962C8B-B14F-4D97-AF65-F5344CB8AC3E}">
        <p14:creationId xmlns:p14="http://schemas.microsoft.com/office/powerpoint/2010/main" val="42061505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10.4 Validität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74</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hangingPunct="1"/>
            <a:r>
              <a:rPr lang="de-DE" sz="2200" dirty="0"/>
              <a:t>Latein </a:t>
            </a:r>
            <a:r>
              <a:rPr lang="de-DE" sz="2200" dirty="0" err="1"/>
              <a:t>validus</a:t>
            </a:r>
            <a:r>
              <a:rPr lang="de-DE" sz="2200" dirty="0"/>
              <a:t>: stark, wirksam, einflussreich, gesund</a:t>
            </a:r>
          </a:p>
          <a:p>
            <a:pPr marL="444500" indent="-444500" eaLnBrk="1" hangingPunct="1"/>
            <a:r>
              <a:rPr lang="de-DE" sz="2200" dirty="0"/>
              <a:t>Englisch valid/</a:t>
            </a:r>
            <a:r>
              <a:rPr lang="de-DE" sz="2200" dirty="0" err="1"/>
              <a:t>validity</a:t>
            </a:r>
            <a:r>
              <a:rPr lang="de-DE" sz="2200" dirty="0"/>
              <a:t>: gültig, Gültigkeit, Stichhaltigkeit</a:t>
            </a:r>
          </a:p>
          <a:p>
            <a:pPr marL="444500" indent="-444500" eaLnBrk="1" hangingPunct="1"/>
            <a:r>
              <a:rPr lang="de-DE" sz="2200" i="1" dirty="0"/>
              <a:t>„Ein Test ist valide, wenn er tatsächlich das </a:t>
            </a:r>
            <a:r>
              <a:rPr lang="de-DE" sz="2200" i="1" dirty="0" err="1"/>
              <a:t>mißt</a:t>
            </a:r>
            <a:r>
              <a:rPr lang="de-DE" sz="2200" i="1" dirty="0"/>
              <a:t>, was er zu messen vorgibt.“</a:t>
            </a:r>
          </a:p>
          <a:p>
            <a:pPr marL="444500" indent="-444500" eaLnBrk="1" hangingPunct="1"/>
            <a:r>
              <a:rPr lang="de-DE" sz="2200" dirty="0"/>
              <a:t>Bei einer Rechenaufgabe in Form einer Textaufgabe wird nicht nur das Rechnen geprüft, sondern auch da Textverständnis </a:t>
            </a:r>
            <a:r>
              <a:rPr lang="de-DE" sz="2200" dirty="0">
                <a:sym typeface="Wingdings 3" pitchFamily="18" charset="2"/>
              </a:rPr>
              <a:t> also nicht valide</a:t>
            </a:r>
          </a:p>
          <a:p>
            <a:pPr marL="444500" indent="-444500" eaLnBrk="1" hangingPunct="1"/>
            <a:r>
              <a:rPr lang="de-DE" sz="2200" dirty="0">
                <a:sym typeface="Wingdings 3" pitchFamily="18" charset="2"/>
              </a:rPr>
              <a:t>Schulleistungstests überprüfen meist nur die Inhaltsvalidität</a:t>
            </a:r>
          </a:p>
          <a:p>
            <a:pPr marL="444500" indent="-444500" eaLnBrk="1" hangingPunct="1"/>
            <a:r>
              <a:rPr lang="de-DE" sz="2200" dirty="0">
                <a:sym typeface="Wingdings 3" pitchFamily="18" charset="2"/>
              </a:rPr>
              <a:t>Test muss Lernziele widerspiegeln (Wissenstest bei Wissenslernziele)</a:t>
            </a:r>
          </a:p>
          <a:p>
            <a:pPr marL="444500" indent="-444500" eaLnBrk="1" hangingPunct="1"/>
            <a:r>
              <a:rPr lang="de-DE" sz="2200" dirty="0">
                <a:sym typeface="Wingdings 3" pitchFamily="18" charset="2"/>
              </a:rPr>
              <a:t>Schwerpunkte des Unterrichts sollten Schwerpunkte des Tests darstellen</a:t>
            </a:r>
          </a:p>
        </p:txBody>
      </p:sp>
    </p:spTree>
    <p:extLst>
      <p:ext uri="{BB962C8B-B14F-4D97-AF65-F5344CB8AC3E}">
        <p14:creationId xmlns:p14="http://schemas.microsoft.com/office/powerpoint/2010/main" val="15303252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10.5 Reliabilität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75</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Englisch </a:t>
            </a:r>
            <a:r>
              <a:rPr lang="de-DE" sz="2200" dirty="0" err="1"/>
              <a:t>reliable</a:t>
            </a:r>
            <a:r>
              <a:rPr lang="de-DE" sz="2200" dirty="0"/>
              <a:t>/</a:t>
            </a:r>
            <a:r>
              <a:rPr lang="de-DE" sz="2200" dirty="0" err="1"/>
              <a:t>reliability</a:t>
            </a:r>
            <a:r>
              <a:rPr lang="de-DE" sz="2200" dirty="0"/>
              <a:t>: genau, zuverlässig, Genauigkeit, Zuverlässigkeit</a:t>
            </a:r>
          </a:p>
          <a:p>
            <a:pPr marL="444500" indent="-444500" eaLnBrk="1" hangingPunct="1"/>
            <a:r>
              <a:rPr lang="de-DE" sz="2200" i="1" dirty="0"/>
              <a:t>„Ein Test ist </a:t>
            </a:r>
            <a:r>
              <a:rPr lang="de-DE" sz="2200" i="1" dirty="0" err="1"/>
              <a:t>reliabel</a:t>
            </a:r>
            <a:r>
              <a:rPr lang="de-DE" sz="2200" i="1" dirty="0"/>
              <a:t>, wenn er das, was er </a:t>
            </a:r>
            <a:r>
              <a:rPr lang="de-DE" sz="2200" i="1" dirty="0" err="1"/>
              <a:t>mißt</a:t>
            </a:r>
            <a:r>
              <a:rPr lang="de-DE" sz="2200" i="1" dirty="0"/>
              <a:t>, genau </a:t>
            </a:r>
            <a:r>
              <a:rPr lang="de-DE" sz="2200" i="1" dirty="0" err="1"/>
              <a:t>mißt</a:t>
            </a:r>
            <a:r>
              <a:rPr lang="de-DE" sz="2200" i="1" dirty="0"/>
              <a:t>.“</a:t>
            </a:r>
          </a:p>
          <a:p>
            <a:pPr marL="444500" indent="-444500" eaLnBrk="1" hangingPunct="1"/>
            <a:r>
              <a:rPr lang="de-DE" sz="2200" dirty="0"/>
              <a:t>Insbesondere bei einer Testwiederholung mit gleichen Probanden muss ein Test zu gleichen Ergebnissen kommen</a:t>
            </a:r>
          </a:p>
          <a:p>
            <a:pPr marL="444500" indent="-444500" eaLnBrk="1" hangingPunct="1"/>
            <a:r>
              <a:rPr lang="de-DE" sz="2200" dirty="0"/>
              <a:t>Damit ist aber noch nicht gesagt, ob der Test auch zu validen Ergebnissen führt, d. h. ob das, was er </a:t>
            </a:r>
            <a:r>
              <a:rPr lang="de-DE" sz="2200" dirty="0" err="1"/>
              <a:t>reliabel</a:t>
            </a:r>
            <a:r>
              <a:rPr lang="de-DE" sz="2200" dirty="0"/>
              <a:t> misst, das ist, was er zu messen vorgibt</a:t>
            </a:r>
          </a:p>
        </p:txBody>
      </p:sp>
    </p:spTree>
    <p:extLst>
      <p:ext uri="{BB962C8B-B14F-4D97-AF65-F5344CB8AC3E}">
        <p14:creationId xmlns:p14="http://schemas.microsoft.com/office/powerpoint/2010/main" val="30686826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76</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i="1" dirty="0"/>
              <a:t>„Die Objektivität (Vorurteilslosigkeit) eines Tests bezieht sich darauf, zu welchem Grund die Ergebnisse eines Tests unabhängig vom Untersucher sind.“</a:t>
            </a:r>
          </a:p>
          <a:p>
            <a:pPr marL="444500" indent="-444500" eaLnBrk="1" hangingPunct="1"/>
            <a:r>
              <a:rPr lang="de-DE" sz="2200" dirty="0"/>
              <a:t>Ein Schultest muss unabhängig von der Person des Lehrers sein, die ihn als Testleiter durchführt, die ihn auswertet und die die Leistungen interpretiert</a:t>
            </a:r>
          </a:p>
          <a:p>
            <a:pPr marL="444500" indent="-444500" eaLnBrk="1" hangingPunct="1"/>
            <a:r>
              <a:rPr lang="de-DE" sz="2200" dirty="0"/>
              <a:t>Man spricht daher von Durchführungs-, Auswertungs- und Interpretationsobjektivität</a:t>
            </a:r>
          </a:p>
          <a:p>
            <a:pPr marL="444500" indent="-444500" eaLnBrk="1" hangingPunct="1"/>
            <a:r>
              <a:rPr lang="de-DE" sz="2200" dirty="0"/>
              <a:t>Durchführungsobjektivität</a:t>
            </a:r>
          </a:p>
          <a:p>
            <a:pPr marL="990600" lvl="1" indent="-366713" eaLnBrk="1" hangingPunct="1"/>
            <a:r>
              <a:rPr lang="de-DE" sz="2000" dirty="0"/>
              <a:t>Es müssen die äußeren Bedingungen der Testsituation für alle Schüler gleich sein</a:t>
            </a:r>
          </a:p>
        </p:txBody>
      </p:sp>
    </p:spTree>
    <p:extLst>
      <p:ext uri="{BB962C8B-B14F-4D97-AF65-F5344CB8AC3E}">
        <p14:creationId xmlns:p14="http://schemas.microsoft.com/office/powerpoint/2010/main" val="17708656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77</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Die Anweisungen des Testautors müssen im Detail schriftlich so festgehalten sein, dass eine unterschiedliche Auslegung der Durchführungsanweisungen nicht mehr möglich ist</a:t>
            </a:r>
          </a:p>
          <a:p>
            <a:pPr marL="990600" lvl="1" indent="-366713" eaLnBrk="1" hangingPunct="1"/>
            <a:r>
              <a:rPr lang="de-DE" sz="2000" dirty="0"/>
              <a:t>Z. B. die Bearbeitungszeit, Art der Hilfsmittel, Art der Hilfen des Lehrers</a:t>
            </a:r>
          </a:p>
          <a:p>
            <a:pPr marL="444500" indent="-444500" eaLnBrk="1" hangingPunct="1"/>
            <a:r>
              <a:rPr lang="de-DE" sz="2200" dirty="0"/>
              <a:t>Auswertungsobjektivität</a:t>
            </a:r>
          </a:p>
          <a:p>
            <a:pPr marL="990600" lvl="1" indent="-366713" eaLnBrk="1" hangingPunct="1"/>
            <a:r>
              <a:rPr lang="de-DE" sz="2000" dirty="0"/>
              <a:t>Das Auswertungsergebnis muss gleich sein, egal welcher Lehrer den Test kontrolliert</a:t>
            </a:r>
          </a:p>
          <a:p>
            <a:pPr marL="990600" lvl="1" indent="-366713" eaLnBrk="1" hangingPunct="1"/>
            <a:r>
              <a:rPr lang="de-DE" sz="2000" dirty="0"/>
              <a:t>Dazu ist ein eindeutiger Lösungsschlüssel notwendig</a:t>
            </a:r>
          </a:p>
        </p:txBody>
      </p:sp>
    </p:spTree>
    <p:extLst>
      <p:ext uri="{BB962C8B-B14F-4D97-AF65-F5344CB8AC3E}">
        <p14:creationId xmlns:p14="http://schemas.microsoft.com/office/powerpoint/2010/main" val="17404991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10.6 Objektivität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78</a:t>
            </a:fld>
            <a:endParaRPr lang="de-DE"/>
          </a:p>
        </p:txBody>
      </p:sp>
      <p:sp>
        <p:nvSpPr>
          <p:cNvPr id="7"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sz="2200" dirty="0"/>
              <a:t>Interpretationsobjektivität</a:t>
            </a:r>
          </a:p>
          <a:p>
            <a:pPr marL="990600" lvl="1" indent="-366713" eaLnBrk="1" hangingPunct="1"/>
            <a:r>
              <a:rPr lang="de-DE" sz="2000" dirty="0"/>
              <a:t>Zwei unabhängige Beurteiler ziehen unabhängig voneinander aus dem gleichen Auswertungsergebnis den gleichen Schluss</a:t>
            </a:r>
          </a:p>
          <a:p>
            <a:pPr marL="990600" lvl="1" indent="-366713" eaLnBrk="1" hangingPunct="1"/>
            <a:r>
              <a:rPr lang="de-DE" sz="2000" dirty="0"/>
              <a:t>Das heißt z. B. das der gleiche Notenschlüssel als Grundlage dient</a:t>
            </a:r>
          </a:p>
          <a:p>
            <a:pPr marL="990600" lvl="1" indent="-366713" eaLnBrk="1" hangingPunct="1">
              <a:buFont typeface="Wingdings" pitchFamily="2" charset="2"/>
              <a:buNone/>
            </a:pPr>
            <a:r>
              <a:rPr lang="de-DE" sz="2000" dirty="0"/>
              <a:t>	</a:t>
            </a:r>
          </a:p>
          <a:p>
            <a:pPr marL="990600" lvl="1" indent="-366713" eaLnBrk="1" hangingPunct="1">
              <a:buFont typeface="Wingdings" pitchFamily="2" charset="2"/>
              <a:buNone/>
            </a:pPr>
            <a:r>
              <a:rPr lang="de-DE" sz="2000" dirty="0"/>
              <a:t>						           formell</a:t>
            </a:r>
          </a:p>
          <a:p>
            <a:pPr marL="444500" indent="-444500" eaLnBrk="1" hangingPunct="1">
              <a:buFont typeface="Wingdings" pitchFamily="2" charset="2"/>
              <a:buNone/>
            </a:pPr>
            <a:r>
              <a:rPr lang="de-DE" sz="2000" dirty="0"/>
              <a:t>				Normorientiert</a:t>
            </a:r>
          </a:p>
          <a:p>
            <a:pPr marL="444500" indent="-444500" eaLnBrk="1" hangingPunct="1">
              <a:buFont typeface="Wingdings" pitchFamily="2" charset="2"/>
              <a:buNone/>
            </a:pPr>
            <a:r>
              <a:rPr lang="de-DE" sz="2000" dirty="0"/>
              <a:t>														           informell</a:t>
            </a:r>
          </a:p>
          <a:p>
            <a:pPr marL="444500" indent="-444500" eaLnBrk="1" hangingPunct="1">
              <a:buFont typeface="Wingdings" pitchFamily="2" charset="2"/>
              <a:buNone/>
            </a:pPr>
            <a:r>
              <a:rPr lang="de-DE" sz="2000" dirty="0"/>
              <a:t>Test</a:t>
            </a:r>
          </a:p>
          <a:p>
            <a:pPr marL="444500" indent="-444500" eaLnBrk="1" hangingPunct="1">
              <a:buFont typeface="Wingdings" pitchFamily="2" charset="2"/>
              <a:buNone/>
            </a:pPr>
            <a:endParaRPr lang="de-DE" sz="2000" dirty="0"/>
          </a:p>
          <a:p>
            <a:pPr marL="444500" indent="-444500" eaLnBrk="1" hangingPunct="1">
              <a:buFont typeface="Wingdings" pitchFamily="2" charset="2"/>
              <a:buNone/>
            </a:pPr>
            <a:r>
              <a:rPr lang="de-DE" sz="2000" dirty="0"/>
              <a:t>				</a:t>
            </a:r>
            <a:r>
              <a:rPr lang="de-DE" sz="2000" dirty="0" err="1"/>
              <a:t>Kriteriumsorientiert</a:t>
            </a:r>
            <a:endParaRPr lang="de-DE" sz="2000" dirty="0"/>
          </a:p>
        </p:txBody>
      </p:sp>
      <p:sp>
        <p:nvSpPr>
          <p:cNvPr id="8" name="Line 5"/>
          <p:cNvSpPr>
            <a:spLocks noChangeShapeType="1"/>
          </p:cNvSpPr>
          <p:nvPr/>
        </p:nvSpPr>
        <p:spPr bwMode="auto">
          <a:xfrm flipV="1">
            <a:off x="1332880" y="4293096"/>
            <a:ext cx="2159000" cy="1008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Line 6"/>
          <p:cNvSpPr>
            <a:spLocks noChangeShapeType="1"/>
          </p:cNvSpPr>
          <p:nvPr/>
        </p:nvSpPr>
        <p:spPr bwMode="auto">
          <a:xfrm>
            <a:off x="1331640" y="5301208"/>
            <a:ext cx="2087562"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Line 7"/>
          <p:cNvSpPr>
            <a:spLocks noChangeShapeType="1"/>
          </p:cNvSpPr>
          <p:nvPr/>
        </p:nvSpPr>
        <p:spPr bwMode="auto">
          <a:xfrm flipV="1">
            <a:off x="5220617" y="3932734"/>
            <a:ext cx="1655639"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 name="Line 8"/>
          <p:cNvSpPr>
            <a:spLocks noChangeShapeType="1"/>
          </p:cNvSpPr>
          <p:nvPr/>
        </p:nvSpPr>
        <p:spPr bwMode="auto">
          <a:xfrm>
            <a:off x="5220618" y="4293096"/>
            <a:ext cx="1655638" cy="6480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33167613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10.7 Kontrollfehler</a:t>
            </a:r>
          </a:p>
        </p:txBody>
      </p:sp>
      <p:sp>
        <p:nvSpPr>
          <p:cNvPr id="4" name="Foliennummernplatzhalter 3"/>
          <p:cNvSpPr>
            <a:spLocks noGrp="1"/>
          </p:cNvSpPr>
          <p:nvPr>
            <p:ph type="sldNum" sz="quarter" idx="15"/>
          </p:nvPr>
        </p:nvSpPr>
        <p:spPr/>
        <p:txBody>
          <a:bodyPr/>
          <a:lstStyle/>
          <a:p>
            <a:fld id="{33548601-C4B6-4D19-A7D5-04150560F062}" type="slidenum">
              <a:rPr lang="de-DE" smtClean="0"/>
              <a:pPr/>
              <a:t>79</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sz="2200" dirty="0"/>
              <a:t>Reihenfolge-Effekt</a:t>
            </a:r>
          </a:p>
          <a:p>
            <a:pPr marL="990600" lvl="1" indent="-366713" eaLnBrk="1" hangingPunct="1"/>
            <a:r>
              <a:rPr lang="de-DE" sz="2000" dirty="0"/>
              <a:t>Bei der Kontrolle mehrerer Tests zeigt sich die Tendenz, die ersten Kontrollen und die ersten Wertungen strenger durchzuführen</a:t>
            </a:r>
          </a:p>
          <a:p>
            <a:pPr marL="990600" lvl="1" indent="-366713" eaLnBrk="1" hangingPunct="1"/>
            <a:r>
              <a:rPr lang="de-DE" sz="2000" dirty="0"/>
              <a:t>Im weiteren Verlauf tritt der Effekt der Gewöhnung aus</a:t>
            </a:r>
          </a:p>
          <a:p>
            <a:pPr marL="990600" lvl="1" indent="-366713" eaLnBrk="1" hangingPunct="1"/>
            <a:r>
              <a:rPr lang="de-DE" sz="2000" dirty="0"/>
              <a:t>Es wird milder bewertet</a:t>
            </a:r>
          </a:p>
          <a:p>
            <a:pPr marL="990600" lvl="1" indent="-366713" eaLnBrk="1" hangingPunct="1"/>
            <a:r>
              <a:rPr lang="de-DE" sz="2000" dirty="0"/>
              <a:t>In einer Untersuchung hat sich die Zahl 8 von 10 als sehr günstig erwiesen um diesen Fehler einzuschränken</a:t>
            </a:r>
          </a:p>
          <a:p>
            <a:pPr marL="990600" lvl="1" indent="-366713" eaLnBrk="1" hangingPunct="1"/>
            <a:r>
              <a:rPr lang="de-DE" sz="2000" dirty="0"/>
              <a:t>Man kann diesem Effekt entgegenwirken indem man die Arbeiten zweimal liest und beim ersten Lesen das Wertungsergebnis nicht sofort zum Endurteil macht</a:t>
            </a:r>
          </a:p>
          <a:p>
            <a:pPr marL="990600" lvl="1" indent="-366713" eaLnBrk="1" hangingPunct="1"/>
            <a:r>
              <a:rPr lang="de-DE" sz="2000" dirty="0"/>
              <a:t>Oder man nimmt beim ersten Lesen nur eine Vorsortierung vor</a:t>
            </a:r>
          </a:p>
        </p:txBody>
      </p:sp>
    </p:spTree>
    <p:extLst>
      <p:ext uri="{BB962C8B-B14F-4D97-AF65-F5344CB8AC3E}">
        <p14:creationId xmlns:p14="http://schemas.microsoft.com/office/powerpoint/2010/main" val="2699130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10.8 Hof-Effekt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80</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Bei einer Bewertung einer bestimmten Leistung wird auch deren Umfeld (Hof) zwangsläufig mit wahrgenommen, kontrolliert und bewertet</a:t>
            </a:r>
          </a:p>
          <a:p>
            <a:pPr marL="444500" indent="-444500" eaLnBrk="1" hangingPunct="1"/>
            <a:r>
              <a:rPr lang="de-DE" sz="2200" dirty="0"/>
              <a:t>Eine unschöne Schrift und viele Rechtschreibfehler wirken sich auf die Bewertung des Inhalts aus</a:t>
            </a:r>
          </a:p>
          <a:p>
            <a:pPr marL="444500" indent="-444500" eaLnBrk="1" hangingPunct="1"/>
            <a:r>
              <a:rPr lang="de-DE" sz="2200" dirty="0"/>
              <a:t>Ähnlich wirken Vorleistungen des Lerners, Herkunft, Verhaltensstil, Leistungen in anderen Fächern eine Rolle</a:t>
            </a:r>
          </a:p>
          <a:p>
            <a:pPr marL="444500" indent="-444500" eaLnBrk="1" hangingPunct="1"/>
            <a:r>
              <a:rPr lang="de-DE" sz="2200" dirty="0"/>
              <a:t>Dieser Effekt ist geringer, je weniger vom Umfeld bekannt ist, z. B. bei einer verdeckten Kontrolle bei der Ziffern anstatt Namen zur Identifizierung benutzt werden</a:t>
            </a:r>
          </a:p>
        </p:txBody>
      </p:sp>
    </p:spTree>
    <p:extLst>
      <p:ext uri="{BB962C8B-B14F-4D97-AF65-F5344CB8AC3E}">
        <p14:creationId xmlns:p14="http://schemas.microsoft.com/office/powerpoint/2010/main" val="40347082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10.9 Erwartungs-Effekt</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81</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Auf Grund von Vorinformationen über die Leistungen trägt der Kontroller an den Lernenden heran mit der Tendenz, diese erfüllt zu sehen</a:t>
            </a:r>
          </a:p>
          <a:p>
            <a:pPr marL="444500" indent="-444500" eaLnBrk="1" hangingPunct="1"/>
            <a:r>
              <a:rPr lang="de-DE" sz="2200" dirty="0"/>
              <a:t>So erfüllt sich diese Vorhersage selbst (</a:t>
            </a:r>
            <a:r>
              <a:rPr lang="de-DE" sz="2200" dirty="0" err="1"/>
              <a:t>self-fulifilling</a:t>
            </a:r>
            <a:r>
              <a:rPr lang="de-DE" sz="2200" dirty="0"/>
              <a:t> </a:t>
            </a:r>
            <a:r>
              <a:rPr lang="de-DE" sz="2200" dirty="0" err="1"/>
              <a:t>prophecy</a:t>
            </a:r>
            <a:r>
              <a:rPr lang="de-DE" sz="2200" dirty="0"/>
              <a:t>)</a:t>
            </a:r>
          </a:p>
          <a:p>
            <a:pPr marL="444500" indent="-444500" eaLnBrk="1" hangingPunct="1"/>
            <a:r>
              <a:rPr lang="de-DE" sz="2200" dirty="0"/>
              <a:t>Der Lernende selbst verändert sich nach diesen Erwartungen (Pygmalion-Effekt)</a:t>
            </a:r>
          </a:p>
          <a:p>
            <a:pPr marL="444500" indent="-444500" eaLnBrk="1" hangingPunct="1"/>
            <a:r>
              <a:rPr lang="de-DE" sz="2200" dirty="0"/>
              <a:t>Sich das Vorhandensein und die Wirkung dieser Effekte bewusst zu sein, ist die beste Schutzmethode</a:t>
            </a:r>
          </a:p>
        </p:txBody>
      </p:sp>
    </p:spTree>
    <p:extLst>
      <p:ext uri="{BB962C8B-B14F-4D97-AF65-F5344CB8AC3E}">
        <p14:creationId xmlns:p14="http://schemas.microsoft.com/office/powerpoint/2010/main" val="38456578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10.10  Einteilung von didaktischen Aufforderungen </a:t>
            </a:r>
            <a:br>
              <a:rPr lang="de-DE" dirty="0"/>
            </a:br>
            <a:r>
              <a:rPr lang="de-DE" dirty="0"/>
              <a:t>            nach Lernzielbereichen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82</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Kognitive Handlungen</a:t>
            </a:r>
          </a:p>
          <a:p>
            <a:pPr marL="990600" lvl="1" indent="-366713" eaLnBrk="1" hangingPunct="1"/>
            <a:r>
              <a:rPr lang="de-DE" sz="2000" dirty="0" err="1"/>
              <a:t>Descriptives</a:t>
            </a:r>
            <a:r>
              <a:rPr lang="de-DE" sz="2000" dirty="0"/>
              <a:t> Wissen		Nennen Sie…</a:t>
            </a:r>
          </a:p>
          <a:p>
            <a:pPr marL="990600" lvl="1" indent="-366713" eaLnBrk="1" hangingPunct="1"/>
            <a:r>
              <a:rPr lang="de-DE" sz="2000" dirty="0"/>
              <a:t>Verstehendes Wissen		Fügen Sie… ein.</a:t>
            </a:r>
          </a:p>
          <a:p>
            <a:pPr marL="990600" lvl="1" indent="-366713" eaLnBrk="1" hangingPunct="1"/>
            <a:r>
              <a:rPr lang="de-DE" sz="2000" dirty="0"/>
              <a:t>Anwendendes Wissen		Berechnen Sie…</a:t>
            </a:r>
          </a:p>
          <a:p>
            <a:pPr marL="990600" lvl="1" indent="-366713" eaLnBrk="1" hangingPunct="1"/>
            <a:r>
              <a:rPr lang="de-DE" sz="2000" dirty="0"/>
              <a:t>Analysierendes Wissen	Klassifizieren Sie…</a:t>
            </a:r>
          </a:p>
          <a:p>
            <a:pPr marL="990600" lvl="1" indent="-366713" eaLnBrk="1" hangingPunct="1"/>
            <a:r>
              <a:rPr lang="de-DE" sz="2000" dirty="0"/>
              <a:t>Synthetisierendes Wissen	Entwickeln Sie…</a:t>
            </a:r>
          </a:p>
          <a:p>
            <a:pPr marL="990600" lvl="1" indent="-366713" eaLnBrk="1" hangingPunct="1"/>
            <a:r>
              <a:rPr lang="de-DE" sz="2000" dirty="0"/>
              <a:t>Bewertendes Wissen		Prüfen Sie, …</a:t>
            </a:r>
          </a:p>
          <a:p>
            <a:pPr marL="444500" indent="-444500" eaLnBrk="1" hangingPunct="1"/>
            <a:r>
              <a:rPr lang="de-DE" sz="2200" dirty="0"/>
              <a:t>Affektive Handlungen</a:t>
            </a:r>
          </a:p>
          <a:p>
            <a:pPr marL="990600" lvl="1" indent="-366713" eaLnBrk="1" hangingPunct="1"/>
            <a:r>
              <a:rPr lang="de-DE" sz="2000" dirty="0"/>
              <a:t>Berücksichtigen Sie…</a:t>
            </a:r>
          </a:p>
          <a:p>
            <a:pPr marL="990600" lvl="1" indent="-366713" eaLnBrk="1" hangingPunct="1"/>
            <a:r>
              <a:rPr lang="de-DE" sz="2000" dirty="0"/>
              <a:t>Beteiligen Sie sich an…</a:t>
            </a:r>
          </a:p>
          <a:p>
            <a:pPr marL="990600" lvl="1" indent="-366713" eaLnBrk="1" hangingPunct="1"/>
            <a:r>
              <a:rPr lang="de-DE" sz="2000" dirty="0"/>
              <a:t>Setzen Sie sich für… ein.</a:t>
            </a:r>
          </a:p>
        </p:txBody>
      </p:sp>
    </p:spTree>
    <p:extLst>
      <p:ext uri="{BB962C8B-B14F-4D97-AF65-F5344CB8AC3E}">
        <p14:creationId xmlns:p14="http://schemas.microsoft.com/office/powerpoint/2010/main" val="38936967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10.10  Einteilung von didaktischen Aufforderungen </a:t>
            </a:r>
            <a:br>
              <a:rPr lang="de-DE" dirty="0"/>
            </a:br>
            <a:r>
              <a:rPr lang="de-DE" dirty="0"/>
              <a:t>            nach Lernzielbereichen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83</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990600" lvl="1" indent="-366713" eaLnBrk="1" hangingPunct="1"/>
            <a:r>
              <a:rPr lang="de-DE" sz="2000" dirty="0"/>
              <a:t>Finden Sie Beurteilungsmaßstäbe für…</a:t>
            </a:r>
          </a:p>
          <a:p>
            <a:pPr marL="990600" lvl="1" indent="-366713" eaLnBrk="1" hangingPunct="1"/>
            <a:r>
              <a:rPr lang="de-DE" sz="2000" dirty="0"/>
              <a:t>Ziehen Sie Konsequenzen aus… für…</a:t>
            </a:r>
          </a:p>
          <a:p>
            <a:pPr marL="444500" indent="-444500" eaLnBrk="1" hangingPunct="1"/>
            <a:r>
              <a:rPr lang="de-DE" sz="2200" dirty="0"/>
              <a:t>Psychomotorische Handlungen</a:t>
            </a:r>
          </a:p>
          <a:p>
            <a:pPr marL="990600" lvl="1" indent="-366713" eaLnBrk="1" hangingPunct="1"/>
            <a:r>
              <a:rPr lang="de-DE" sz="2000" dirty="0"/>
              <a:t>Messen Sie…</a:t>
            </a:r>
          </a:p>
          <a:p>
            <a:pPr marL="990600" lvl="1" indent="-366713" eaLnBrk="1" hangingPunct="1"/>
            <a:r>
              <a:rPr lang="de-DE" sz="2000" dirty="0"/>
              <a:t>Zeichnen Sie…</a:t>
            </a:r>
          </a:p>
        </p:txBody>
      </p:sp>
    </p:spTree>
    <p:extLst>
      <p:ext uri="{BB962C8B-B14F-4D97-AF65-F5344CB8AC3E}">
        <p14:creationId xmlns:p14="http://schemas.microsoft.com/office/powerpoint/2010/main" val="39044508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510081B5-7AB8-4D50-B32A-C9C1DE8C40DF}" type="slidenum">
              <a:rPr lang="de-DE">
                <a:solidFill>
                  <a:srgbClr val="FFFFFF"/>
                </a:solidFill>
              </a:rPr>
              <a:pPr eaLnBrk="1" hangingPunct="1"/>
              <a:t>84</a:t>
            </a:fld>
            <a:endParaRPr lang="de-DE">
              <a:solidFill>
                <a:srgbClr val="FFFFFF"/>
              </a:solidFill>
            </a:endParaRPr>
          </a:p>
        </p:txBody>
      </p:sp>
      <p:sp>
        <p:nvSpPr>
          <p:cNvPr id="16387" name="Textfeld 2"/>
          <p:cNvSpPr txBox="1">
            <a:spLocks noChangeArrowheads="1"/>
          </p:cNvSpPr>
          <p:nvPr/>
        </p:nvSpPr>
        <p:spPr bwMode="auto">
          <a:xfrm>
            <a:off x="755650" y="2852738"/>
            <a:ext cx="74882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e-DE" sz="4000" b="0" dirty="0">
                <a:solidFill>
                  <a:prstClr val="black"/>
                </a:solidFill>
              </a:rPr>
              <a:t>PAL-Prüfungen</a:t>
            </a:r>
          </a:p>
        </p:txBody>
      </p:sp>
      <p:sp>
        <p:nvSpPr>
          <p:cNvPr id="4" name="Rechteck 3"/>
          <p:cNvSpPr/>
          <p:nvPr/>
        </p:nvSpPr>
        <p:spPr>
          <a:xfrm>
            <a:off x="3504880" y="1412776"/>
            <a:ext cx="1361271" cy="1200329"/>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de-DE" sz="7200" cap="all" dirty="0">
                <a:ln w="0"/>
                <a:gradFill flip="none">
                  <a:gsLst>
                    <a:gs pos="0">
                      <a:srgbClr val="727CA3">
                        <a:tint val="75000"/>
                        <a:shade val="75000"/>
                        <a:satMod val="170000"/>
                      </a:srgbClr>
                    </a:gs>
                    <a:gs pos="49000">
                      <a:srgbClr val="727CA3">
                        <a:tint val="88000"/>
                        <a:shade val="65000"/>
                        <a:satMod val="172000"/>
                      </a:srgbClr>
                    </a:gs>
                    <a:gs pos="50000">
                      <a:srgbClr val="727CA3">
                        <a:shade val="65000"/>
                        <a:satMod val="130000"/>
                      </a:srgbClr>
                    </a:gs>
                    <a:gs pos="92000">
                      <a:srgbClr val="727CA3">
                        <a:shade val="50000"/>
                        <a:satMod val="120000"/>
                      </a:srgbClr>
                    </a:gs>
                    <a:gs pos="100000">
                      <a:srgbClr val="727CA3">
                        <a:shade val="48000"/>
                        <a:satMod val="120000"/>
                      </a:srgbClr>
                    </a:gs>
                  </a:gsLst>
                  <a:lin ang="5400000"/>
                </a:gradFill>
                <a:effectLst>
                  <a:reflection blurRad="12700" stA="50000" endPos="50000" dist="5000" dir="5400000" sy="-100000" rotWithShape="0"/>
                </a:effectLst>
              </a:rPr>
              <a:t>11</a:t>
            </a:r>
          </a:p>
        </p:txBody>
      </p:sp>
    </p:spTree>
    <p:extLst>
      <p:ext uri="{BB962C8B-B14F-4D97-AF65-F5344CB8AC3E}">
        <p14:creationId xmlns:p14="http://schemas.microsoft.com/office/powerpoint/2010/main" val="33984430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11.1 Entstehung und Zielsetzung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85</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r>
              <a:rPr lang="de-DE" dirty="0"/>
              <a:t>IHKs führen über 70 Jahre Abschlussprüfungen durch</a:t>
            </a:r>
          </a:p>
          <a:p>
            <a:pPr marL="444500" indent="-444500" eaLnBrk="1" hangingPunct="1"/>
            <a:r>
              <a:rPr lang="de-DE" dirty="0"/>
              <a:t>1948 nahm Prüfungsaufgaben- und Lehrmittel-Entwicklungsstelle (PAL) ihre Tätigkeit mit dem Austausch von Prüfungsaufgaben</a:t>
            </a:r>
          </a:p>
          <a:p>
            <a:pPr marL="444500" indent="-444500" eaLnBrk="1" hangingPunct="1"/>
            <a:r>
              <a:rPr lang="de-DE" dirty="0"/>
              <a:t>Nachdem das Berufsbildungsgesetz (</a:t>
            </a:r>
            <a:r>
              <a:rPr lang="de-DE" dirty="0" err="1"/>
              <a:t>BbiG</a:t>
            </a:r>
            <a:r>
              <a:rPr lang="de-DE" dirty="0"/>
              <a:t>) 1969 den zuständigen Stellen fast eine Verdreifachung des Aufwandes für die Durchführung von Prüfungen brachte, ergab sich die Notwendigkeit einer umfassenden Rationalisierung des Prüfungswesens</a:t>
            </a:r>
          </a:p>
          <a:p>
            <a:pPr marL="444500" indent="-444500" eaLnBrk="1" hangingPunct="1"/>
            <a:r>
              <a:rPr lang="de-DE" dirty="0"/>
              <a:t>Forderung nach einer verstärkten Objektivierung der Prüfung</a:t>
            </a:r>
          </a:p>
        </p:txBody>
      </p:sp>
    </p:spTree>
    <p:extLst>
      <p:ext uri="{BB962C8B-B14F-4D97-AF65-F5344CB8AC3E}">
        <p14:creationId xmlns:p14="http://schemas.microsoft.com/office/powerpoint/2010/main" val="8159699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11.1 Entstehung und Zielsetzung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86</a:t>
            </a:fld>
            <a:endParaRPr lang="de-DE"/>
          </a:p>
        </p:txBody>
      </p:sp>
      <p:sp>
        <p:nvSpPr>
          <p:cNvPr id="6" name="Rectangle 3"/>
          <p:cNvSpPr>
            <a:spLocks noGrp="1" noChangeArrowheads="1"/>
          </p:cNvSpPr>
          <p:nvPr>
            <p:ph sz="quarter" idx="1"/>
          </p:nvPr>
        </p:nvSpPr>
        <p:spPr>
          <a:xfrm>
            <a:off x="704850" y="1600200"/>
            <a:ext cx="7467600" cy="4873625"/>
          </a:xfrm>
        </p:spPr>
        <p:txBody>
          <a:bodyPr/>
          <a:lstStyle/>
          <a:p>
            <a:pPr marL="444500" indent="-444500" eaLnBrk="1" hangingPunct="1"/>
            <a:r>
              <a:rPr lang="de-DE" dirty="0"/>
              <a:t>Auch die PISA-Untersuchung 2002 bestätigte diese Ergebnisse</a:t>
            </a:r>
          </a:p>
          <a:p>
            <a:pPr marL="444500" indent="-444500" eaLnBrk="1" hangingPunct="1"/>
            <a:r>
              <a:rPr lang="de-DE" dirty="0"/>
              <a:t>Ergebnisse, Transparenz, Objektivität und Vergleichbarkeit von Prüfungsergebnissen sind durch überregional erstellte Prüfungen bundesweit besser sicher zu stellen</a:t>
            </a:r>
          </a:p>
          <a:p>
            <a:pPr marL="444500" indent="-444500" eaLnBrk="1" hangingPunct="1"/>
            <a:r>
              <a:rPr lang="de-DE" dirty="0"/>
              <a:t>Derzeit entwickelt die PAL-Aufgaben für die Zwischen- und Abschlussprüfungen in 115 gewerblich-technischen Ausbildungsberufen</a:t>
            </a:r>
          </a:p>
        </p:txBody>
      </p:sp>
    </p:spTree>
    <p:extLst>
      <p:ext uri="{BB962C8B-B14F-4D97-AF65-F5344CB8AC3E}">
        <p14:creationId xmlns:p14="http://schemas.microsoft.com/office/powerpoint/2010/main" val="17502103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11.2 Gesetzlich vorgesehene Prüfungen</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87</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hangingPunct="1"/>
            <a:r>
              <a:rPr lang="de-DE" sz="2200" dirty="0"/>
              <a:t>Jeder Auszubildender muss eine Zwischen- und Abschlussprüfung machen</a:t>
            </a:r>
          </a:p>
          <a:p>
            <a:pPr marL="444500" indent="-444500" eaLnBrk="1" hangingPunct="1"/>
            <a:r>
              <a:rPr lang="de-DE" sz="2200" dirty="0"/>
              <a:t>Diese ist in einen praktischen und theoretischen Teil gegliedert</a:t>
            </a:r>
          </a:p>
          <a:p>
            <a:pPr marL="444500" indent="-444500" eaLnBrk="1" hangingPunct="1"/>
            <a:r>
              <a:rPr lang="de-DE" sz="2200" dirty="0"/>
              <a:t>Für beide bietet PAL Prüfungen an</a:t>
            </a:r>
          </a:p>
          <a:p>
            <a:pPr marL="444500" indent="-444500" eaLnBrk="1" hangingPunct="1"/>
            <a:r>
              <a:rPr lang="de-DE" sz="2200" dirty="0"/>
              <a:t>In praktischen Prüfung in gewerblich-technischen Ausbildungsberufen muss ein Prüfungsstück oder eine Arbeitsprobe abgegeben werden</a:t>
            </a:r>
          </a:p>
          <a:p>
            <a:pPr marL="444500" indent="-444500" eaLnBrk="1" hangingPunct="1"/>
            <a:r>
              <a:rPr lang="de-DE" sz="2200" dirty="0"/>
              <a:t>Schriftliche Prüfung besteht aus 4 Teilen: Technologie, technische Mathematik, Arbeitsplanung bzw. Schaltungs- und Funktionsanalyse und Wirtschafts- und Sozialkunde</a:t>
            </a:r>
          </a:p>
          <a:p>
            <a:pPr marL="444500" indent="-444500" eaLnBrk="1" hangingPunct="1"/>
            <a:r>
              <a:rPr lang="de-DE" sz="2200" dirty="0"/>
              <a:t>Grundlage sind Prüfungsanforderungen, der Ausbildungsrahmenplan und der Rahmenplan der KMK </a:t>
            </a:r>
          </a:p>
        </p:txBody>
      </p:sp>
    </p:spTree>
    <p:extLst>
      <p:ext uri="{BB962C8B-B14F-4D97-AF65-F5344CB8AC3E}">
        <p14:creationId xmlns:p14="http://schemas.microsoft.com/office/powerpoint/2010/main" val="34479682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11.3 Entwicklung der Aufgaben durch die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88</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t>Entwicklung alles an Ausbildung Beteiligter </a:t>
            </a:r>
            <a:r>
              <a:rPr lang="de-DE" sz="2200" dirty="0">
                <a:sym typeface="Wingdings 3" pitchFamily="18" charset="2"/>
              </a:rPr>
              <a:t> Zusammenarbeit zwischen PAL und dem DGB</a:t>
            </a:r>
          </a:p>
          <a:p>
            <a:pPr marL="444500" indent="-444500" eaLnBrk="1" hangingPunct="1"/>
            <a:r>
              <a:rPr lang="de-DE" sz="2200" dirty="0">
                <a:sym typeface="Wingdings 3" pitchFamily="18" charset="2"/>
              </a:rPr>
              <a:t>Hauptausschuss besteht aus Vertretern des </a:t>
            </a:r>
            <a:r>
              <a:rPr lang="de-DE" sz="2200" dirty="0" err="1">
                <a:sym typeface="Wingdings 3" pitchFamily="18" charset="2"/>
              </a:rPr>
              <a:t>IHK‘s</a:t>
            </a:r>
            <a:r>
              <a:rPr lang="de-DE" sz="2200" dirty="0">
                <a:sym typeface="Wingdings 3" pitchFamily="18" charset="2"/>
              </a:rPr>
              <a:t> und Gewerkschaften</a:t>
            </a:r>
          </a:p>
          <a:p>
            <a:pPr marL="444500" indent="-444500" eaLnBrk="1" hangingPunct="1"/>
            <a:r>
              <a:rPr lang="de-DE" sz="2200" dirty="0">
                <a:sym typeface="Wingdings 3" pitchFamily="18" charset="2"/>
              </a:rPr>
              <a:t>Fachausschuss umfasst i. d. R. 9 Mitglieder</a:t>
            </a:r>
          </a:p>
          <a:p>
            <a:pPr marL="444500" indent="-444500" eaLnBrk="1" hangingPunct="1"/>
            <a:r>
              <a:rPr lang="de-DE" sz="2200" dirty="0">
                <a:sym typeface="Wingdings 3" pitchFamily="18" charset="2"/>
              </a:rPr>
              <a:t>In gleicher Anzahl gehören diesem Ausschuss Beauftragte der Arbeitgeber, Arbeitnehmer und Lehrer der berufsbildenden Schulen an</a:t>
            </a:r>
          </a:p>
          <a:p>
            <a:pPr marL="444500" indent="-444500" eaLnBrk="1" hangingPunct="1"/>
            <a:r>
              <a:rPr lang="de-DE" sz="2200" dirty="0">
                <a:sym typeface="Wingdings 3" pitchFamily="18" charset="2"/>
              </a:rPr>
              <a:t>Mitarbeiter arbeiten hier ehrenamtlich</a:t>
            </a:r>
          </a:p>
          <a:p>
            <a:pPr marL="444500" indent="-444500" eaLnBrk="1" hangingPunct="1"/>
            <a:r>
              <a:rPr lang="de-DE" sz="2200" dirty="0">
                <a:sym typeface="Wingdings 3" pitchFamily="18" charset="2"/>
              </a:rPr>
              <a:t>Werden von der PAL für fünf Jahre berufen</a:t>
            </a:r>
          </a:p>
          <a:p>
            <a:pPr marL="444500" indent="-444500" eaLnBrk="1" hangingPunct="1"/>
            <a:r>
              <a:rPr lang="de-DE" sz="2200" dirty="0">
                <a:sym typeface="Wingdings 3" pitchFamily="18" charset="2"/>
              </a:rPr>
              <a:t>Tagen i. d. R. zweimal jährlich bei der PAL in Stuttgart</a:t>
            </a:r>
          </a:p>
        </p:txBody>
      </p:sp>
    </p:spTree>
    <p:extLst>
      <p:ext uri="{BB962C8B-B14F-4D97-AF65-F5344CB8AC3E}">
        <p14:creationId xmlns:p14="http://schemas.microsoft.com/office/powerpoint/2010/main" val="41946503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11.4 Hauptaufgaben der PAL-Fachausschüsse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89</a:t>
            </a:fld>
            <a:endParaRPr lang="de-DE"/>
          </a:p>
        </p:txBody>
      </p:sp>
      <p:sp>
        <p:nvSpPr>
          <p:cNvPr id="5" name="Rectangle 3"/>
          <p:cNvSpPr>
            <a:spLocks noGrp="1" noChangeArrowheads="1"/>
          </p:cNvSpPr>
          <p:nvPr>
            <p:ph sz="quarter" idx="1"/>
          </p:nvPr>
        </p:nvSpPr>
        <p:spPr>
          <a:xfrm>
            <a:off x="704850" y="1600200"/>
            <a:ext cx="7467600" cy="4873625"/>
          </a:xfrm>
        </p:spPr>
        <p:txBody>
          <a:bodyPr>
            <a:normAutofit fontScale="92500"/>
          </a:bodyPr>
          <a:lstStyle/>
          <a:p>
            <a:pPr marL="444500" indent="-444500" eaLnBrk="1" fontAlgn="auto" hangingPunct="1">
              <a:spcAft>
                <a:spcPts val="0"/>
              </a:spcAft>
              <a:buFont typeface="Wingdings 2"/>
              <a:buChar char=""/>
              <a:defRPr/>
            </a:pPr>
            <a:r>
              <a:rPr lang="de-DE" sz="2200" dirty="0">
                <a:sym typeface="Wingdings 3" pitchFamily="18" charset="2"/>
              </a:rPr>
              <a:t>Auswahl, Entwicklung und Entwurf von Prüfungsaufgaben für die schriftlichen und praktischen Zwischen- und Abschlussprüfungen</a:t>
            </a:r>
          </a:p>
          <a:p>
            <a:pPr marL="444500" indent="-444500" eaLnBrk="1" fontAlgn="auto" hangingPunct="1">
              <a:spcAft>
                <a:spcPts val="0"/>
              </a:spcAft>
              <a:buFont typeface="Wingdings 2"/>
              <a:buChar char=""/>
              <a:defRPr/>
            </a:pPr>
            <a:r>
              <a:rPr lang="de-DE" sz="2200" dirty="0">
                <a:sym typeface="Wingdings 3" pitchFamily="18" charset="2"/>
              </a:rPr>
              <a:t>Festlegung des Umfangs und der Tiefe der Prüfungen in den einzelnen beruflichen Qualifikationen</a:t>
            </a:r>
          </a:p>
          <a:p>
            <a:pPr marL="444500" indent="-444500" eaLnBrk="1" fontAlgn="auto" hangingPunct="1">
              <a:spcAft>
                <a:spcPts val="0"/>
              </a:spcAft>
              <a:buFont typeface="Wingdings 2"/>
              <a:buChar char=""/>
              <a:defRPr/>
            </a:pPr>
            <a:r>
              <a:rPr lang="de-DE" sz="2200" dirty="0">
                <a:sym typeface="Wingdings 3" pitchFamily="18" charset="2"/>
              </a:rPr>
              <a:t>Kritische Durchsicht von Aufgabenentwürfen</a:t>
            </a:r>
          </a:p>
          <a:p>
            <a:pPr marL="444500" indent="-444500" eaLnBrk="1" fontAlgn="auto" hangingPunct="1">
              <a:spcAft>
                <a:spcPts val="0"/>
              </a:spcAft>
              <a:buFont typeface="Wingdings 2"/>
              <a:buChar char=""/>
              <a:defRPr/>
            </a:pPr>
            <a:r>
              <a:rPr lang="de-DE" sz="2200" dirty="0">
                <a:sym typeface="Wingdings 3" pitchFamily="18" charset="2"/>
              </a:rPr>
              <a:t>Erprobung bzw. Nachbau von Prüfungen mit dem Ziel die Durchführbarkeit der Prüfungen zu gewährleisten (Qualitätssicherung) und Verabschiedung von Prüfungsaufgaben</a:t>
            </a:r>
          </a:p>
          <a:p>
            <a:pPr marL="444500" indent="-444500" eaLnBrk="1" fontAlgn="auto" hangingPunct="1">
              <a:spcAft>
                <a:spcPts val="0"/>
              </a:spcAft>
              <a:buFont typeface="Wingdings 2"/>
              <a:buChar char=""/>
              <a:defRPr/>
            </a:pPr>
            <a:r>
              <a:rPr lang="de-DE" sz="2200" dirty="0">
                <a:sym typeface="Wingdings 3" pitchFamily="18" charset="2"/>
              </a:rPr>
              <a:t>Auswertung von statistischen Prüfungsergebnissen und Stellungnahme zu Prüfungen mit dem Ziel der Optimierung zukünftiger Prüfungen (Qualitätsoptimierung)</a:t>
            </a:r>
          </a:p>
        </p:txBody>
      </p:sp>
    </p:spTree>
    <p:extLst>
      <p:ext uri="{BB962C8B-B14F-4D97-AF65-F5344CB8AC3E}">
        <p14:creationId xmlns:p14="http://schemas.microsoft.com/office/powerpoint/2010/main" val="1264884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11.5 Organisation der Arbeit der PAL-Fachausschüsse</a:t>
            </a:r>
          </a:p>
        </p:txBody>
      </p:sp>
      <p:sp>
        <p:nvSpPr>
          <p:cNvPr id="4" name="Foliennummernplatzhalter 3"/>
          <p:cNvSpPr>
            <a:spLocks noGrp="1"/>
          </p:cNvSpPr>
          <p:nvPr>
            <p:ph type="sldNum" sz="quarter" idx="15"/>
          </p:nvPr>
        </p:nvSpPr>
        <p:spPr/>
        <p:txBody>
          <a:bodyPr/>
          <a:lstStyle/>
          <a:p>
            <a:fld id="{33548601-C4B6-4D19-A7D5-04150560F062}" type="slidenum">
              <a:rPr lang="de-DE" smtClean="0"/>
              <a:pPr/>
              <a:t>90</a:t>
            </a:fld>
            <a:endParaRPr lang="de-DE"/>
          </a:p>
        </p:txBody>
      </p:sp>
      <p:sp>
        <p:nvSpPr>
          <p:cNvPr id="5" name="Rectangle 3"/>
          <p:cNvSpPr>
            <a:spLocks noGrp="1" noChangeArrowheads="1"/>
          </p:cNvSpPr>
          <p:nvPr>
            <p:ph sz="quarter" idx="1"/>
          </p:nvPr>
        </p:nvSpPr>
        <p:spPr>
          <a:xfrm>
            <a:off x="704850" y="1600200"/>
            <a:ext cx="7467600" cy="4873625"/>
          </a:xfrm>
        </p:spPr>
        <p:txBody>
          <a:bodyPr>
            <a:normAutofit lnSpcReduction="10000"/>
          </a:bodyPr>
          <a:lstStyle/>
          <a:p>
            <a:pPr marL="444500" indent="-444500" eaLnBrk="1" hangingPunct="1">
              <a:lnSpc>
                <a:spcPct val="90000"/>
              </a:lnSpc>
            </a:pPr>
            <a:r>
              <a:rPr lang="de-DE" sz="2200" dirty="0">
                <a:sym typeface="Wingdings 3" pitchFamily="18" charset="2"/>
              </a:rPr>
              <a:t>Mitglieder der Fachausschüsse erhalten Auftrag zur Entwicklung von neuen Prüfungsaufgaben</a:t>
            </a:r>
          </a:p>
          <a:p>
            <a:pPr marL="444500" indent="-444500" eaLnBrk="1" hangingPunct="1">
              <a:lnSpc>
                <a:spcPct val="90000"/>
              </a:lnSpc>
            </a:pPr>
            <a:r>
              <a:rPr lang="de-DE" sz="2200" dirty="0">
                <a:sym typeface="Wingdings 3" pitchFamily="18" charset="2"/>
              </a:rPr>
              <a:t>Entwickelte Aufgaben werden im Fachausschuss gesichtet und vorläufig genehmigt</a:t>
            </a:r>
          </a:p>
          <a:p>
            <a:pPr marL="444500" indent="-444500" eaLnBrk="1" hangingPunct="1">
              <a:lnSpc>
                <a:spcPct val="90000"/>
              </a:lnSpc>
            </a:pPr>
            <a:r>
              <a:rPr lang="de-DE" sz="2200" dirty="0">
                <a:sym typeface="Wingdings 3" pitchFamily="18" charset="2"/>
              </a:rPr>
              <a:t>Genehmigte Aufgabenentwürfe werden vom zuständigen PAL-Projektmanager/in und vom CAD-Team der PAL in die prüfungs- und normgerechte Form gebracht</a:t>
            </a:r>
          </a:p>
          <a:p>
            <a:pPr marL="444500" indent="-444500" eaLnBrk="1" hangingPunct="1">
              <a:lnSpc>
                <a:spcPct val="90000"/>
              </a:lnSpc>
            </a:pPr>
            <a:r>
              <a:rPr lang="de-DE" sz="2200" dirty="0">
                <a:sym typeface="Wingdings 3" pitchFamily="18" charset="2"/>
              </a:rPr>
              <a:t>Mitglieder der Fachausschüsse erhalten diese Unterlagen zur Kontrolle, zum </a:t>
            </a:r>
            <a:r>
              <a:rPr lang="de-DE" sz="2200" dirty="0" err="1">
                <a:sym typeface="Wingdings 3" pitchFamily="18" charset="2"/>
              </a:rPr>
              <a:t>Vortest</a:t>
            </a:r>
            <a:r>
              <a:rPr lang="de-DE" sz="2200" dirty="0">
                <a:sym typeface="Wingdings 3" pitchFamily="18" charset="2"/>
              </a:rPr>
              <a:t>/ Nachbau und zur Stellungnahme</a:t>
            </a:r>
          </a:p>
          <a:p>
            <a:pPr marL="444500" indent="-444500" eaLnBrk="1" hangingPunct="1">
              <a:lnSpc>
                <a:spcPct val="90000"/>
              </a:lnSpc>
            </a:pPr>
            <a:r>
              <a:rPr lang="de-DE" sz="2200" dirty="0">
                <a:sym typeface="Wingdings 3" pitchFamily="18" charset="2"/>
              </a:rPr>
              <a:t>Anhand </a:t>
            </a:r>
            <a:r>
              <a:rPr lang="de-DE" sz="2200" dirty="0" err="1">
                <a:sym typeface="Wingdings 3" pitchFamily="18" charset="2"/>
              </a:rPr>
              <a:t>Stellungsnahme</a:t>
            </a:r>
            <a:r>
              <a:rPr lang="de-DE" sz="2200" dirty="0">
                <a:sym typeface="Wingdings 3" pitchFamily="18" charset="2"/>
              </a:rPr>
              <a:t> der Fachausschuss-Mitglieder bereiten PAL Vorlagen für die jeweils nächste Ausschusssitzung vor</a:t>
            </a:r>
          </a:p>
          <a:p>
            <a:pPr marL="444500" indent="-444500" eaLnBrk="1" hangingPunct="1">
              <a:lnSpc>
                <a:spcPct val="90000"/>
              </a:lnSpc>
            </a:pPr>
            <a:r>
              <a:rPr lang="de-DE" sz="2200" dirty="0">
                <a:sym typeface="Wingdings 3" pitchFamily="18" charset="2"/>
              </a:rPr>
              <a:t>Dort erfolgt dann die endgültige Verabschiedung der Aufgaben</a:t>
            </a:r>
          </a:p>
        </p:txBody>
      </p:sp>
    </p:spTree>
    <p:extLst>
      <p:ext uri="{BB962C8B-B14F-4D97-AF65-F5344CB8AC3E}">
        <p14:creationId xmlns:p14="http://schemas.microsoft.com/office/powerpoint/2010/main" val="28827241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11.6 Geschäftsfelder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91</a:t>
            </a:fld>
            <a:endParaRPr lang="de-DE"/>
          </a:p>
        </p:txBody>
      </p:sp>
      <p:graphicFrame>
        <p:nvGraphicFramePr>
          <p:cNvPr id="5" name="Group 34"/>
          <p:cNvGraphicFramePr>
            <a:graphicFrameLocks noGrp="1"/>
          </p:cNvGraphicFramePr>
          <p:nvPr>
            <p:ph sz="quarter" idx="1"/>
          </p:nvPr>
        </p:nvGraphicFramePr>
        <p:xfrm>
          <a:off x="704850" y="1600200"/>
          <a:ext cx="7467600" cy="5169382"/>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5168900">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Aufgabenentwicklung für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Zwischen- und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Abschlussprüfungen in 147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Berufen/Fachrichtungen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Darunter: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Holz- und Bauberufe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Wirtschafts- und Sozialkunde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Bekleidungsberufe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err="1">
                          <a:ln>
                            <a:noFill/>
                          </a:ln>
                          <a:solidFill>
                            <a:schemeClr val="tx1"/>
                          </a:solidFill>
                          <a:effectLst/>
                          <a:latin typeface="Tahoma" pitchFamily="34" charset="0"/>
                        </a:rPr>
                        <a:t>Schlosserische</a:t>
                      </a:r>
                      <a:r>
                        <a:rPr kumimoji="0" lang="de-DE" sz="2000" b="0" i="0" u="none" strike="noStrike" cap="none" normalizeH="0" baseline="0" dirty="0">
                          <a:ln>
                            <a:noFill/>
                          </a:ln>
                          <a:solidFill>
                            <a:schemeClr val="tx1"/>
                          </a:solidFill>
                          <a:effectLst/>
                          <a:latin typeface="Tahoma" pitchFamily="34" charset="0"/>
                        </a:rPr>
                        <a:t> Berufe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Aufgabensätze pro Jahr: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Ca. 144000 für Zwischenprüfungen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None/>
                        <a:tabLst/>
                      </a:pPr>
                      <a:r>
                        <a:rPr kumimoji="0" lang="de-DE" sz="2000" b="0" i="0" u="none" strike="noStrike" cap="none" normalizeH="0" baseline="0" dirty="0">
                          <a:ln>
                            <a:noFill/>
                          </a:ln>
                          <a:solidFill>
                            <a:schemeClr val="tx1"/>
                          </a:solidFill>
                          <a:effectLst/>
                          <a:latin typeface="Tahoma" pitchFamily="34" charset="0"/>
                        </a:rPr>
                        <a:t>Ca. 266000 für Abschlussprüfungen</a:t>
                      </a:r>
                    </a:p>
                  </a:txBody>
                  <a:tcPr marL="78449" marR="78449"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Weiterentwicklung der </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Prüfungssystems</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Aufgabenanalyse</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Statistik der Prüfung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Entwicklung neuer Prüfungs-, Auswertungs- und Beratungsverfahren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Einsatz neuer Technologien bei Herstellung und Verwendung von Prüfungsaufgaben</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Rationalisierung der Prüfungsabwicklung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2000" b="0" i="0" u="none" strike="noStrike" cap="none" normalizeH="0" baseline="0" dirty="0">
                          <a:ln>
                            <a:noFill/>
                          </a:ln>
                          <a:solidFill>
                            <a:schemeClr val="tx1"/>
                          </a:solidFill>
                          <a:effectLst/>
                          <a:latin typeface="Tahoma" pitchFamily="34" charset="0"/>
                        </a:rPr>
                        <a:t>Problemabwicklung</a:t>
                      </a:r>
                    </a:p>
                  </a:txBody>
                  <a:tcPr marL="78449" marR="78449"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974179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11.7 Aufgaben der PAL</a:t>
            </a:r>
          </a:p>
        </p:txBody>
      </p:sp>
      <p:sp>
        <p:nvSpPr>
          <p:cNvPr id="4" name="Foliennummernplatzhalter 3"/>
          <p:cNvSpPr>
            <a:spLocks noGrp="1"/>
          </p:cNvSpPr>
          <p:nvPr>
            <p:ph type="sldNum" sz="quarter" idx="15"/>
          </p:nvPr>
        </p:nvSpPr>
        <p:spPr/>
        <p:txBody>
          <a:bodyPr/>
          <a:lstStyle/>
          <a:p>
            <a:fld id="{33548601-C4B6-4D19-A7D5-04150560F062}" type="slidenum">
              <a:rPr lang="de-DE" smtClean="0"/>
              <a:pPr/>
              <a:t>92</a:t>
            </a:fld>
            <a:endParaRPr lang="de-DE"/>
          </a:p>
        </p:txBody>
      </p:sp>
      <p:sp>
        <p:nvSpPr>
          <p:cNvPr id="5" name="Rectangle 3"/>
          <p:cNvSpPr>
            <a:spLocks noGrp="1" noChangeArrowheads="1"/>
          </p:cNvSpPr>
          <p:nvPr>
            <p:ph sz="quarter" idx="1"/>
          </p:nvPr>
        </p:nvSpPr>
        <p:spPr>
          <a:xfrm>
            <a:off x="704850" y="1600200"/>
            <a:ext cx="7467600" cy="4873625"/>
          </a:xfrm>
        </p:spPr>
        <p:txBody>
          <a:bodyPr/>
          <a:lstStyle/>
          <a:p>
            <a:pPr marL="444500" indent="-444500" eaLnBrk="1" hangingPunct="1"/>
            <a:r>
              <a:rPr lang="de-DE" sz="2200" dirty="0">
                <a:sym typeface="Wingdings 3" pitchFamily="18" charset="2"/>
              </a:rPr>
              <a:t>Herstellung optimierter, bundeseinheitlicher Aufgabensätze für Zwischen- und Abschlussprüfungen in industriell-technischen Ausbildungsberufen für die 81 </a:t>
            </a:r>
            <a:r>
              <a:rPr lang="de-DE" sz="2200" dirty="0" err="1">
                <a:sym typeface="Wingdings 3" pitchFamily="18" charset="2"/>
              </a:rPr>
              <a:t>IHK‘s</a:t>
            </a:r>
            <a:r>
              <a:rPr lang="de-DE" sz="2200" dirty="0">
                <a:sym typeface="Wingdings 3" pitchFamily="18" charset="2"/>
              </a:rPr>
              <a:t> Deutschlands</a:t>
            </a:r>
          </a:p>
          <a:p>
            <a:pPr marL="444500" indent="-444500" eaLnBrk="1" hangingPunct="1"/>
            <a:r>
              <a:rPr lang="de-DE" sz="2200" dirty="0">
                <a:sym typeface="Wingdings 3" pitchFamily="18" charset="2"/>
              </a:rPr>
              <a:t>Entwicklung von Lehrmitteln und Informationsmaterial zu den industriell-technischen Zwischen- und Abschlussprüfungen</a:t>
            </a:r>
          </a:p>
          <a:p>
            <a:pPr marL="444500" indent="-444500" eaLnBrk="1" hangingPunct="1"/>
            <a:r>
              <a:rPr lang="de-DE" sz="2200" dirty="0" err="1">
                <a:sym typeface="Wingdings 3" pitchFamily="18" charset="2"/>
              </a:rPr>
              <a:t>Berücksichtiger</a:t>
            </a:r>
            <a:r>
              <a:rPr lang="de-DE" sz="2200" dirty="0">
                <a:sym typeface="Wingdings 3" pitchFamily="18" charset="2"/>
              </a:rPr>
              <a:t> wissenschaftlicher Erkenntnisse aus den Bereichen der Testtheorie und der Pädagogik sowie der Erfahrungen der Berufs- und Prüfungspraxis</a:t>
            </a:r>
          </a:p>
          <a:p>
            <a:pPr marL="444500" indent="-444500" eaLnBrk="1" hangingPunct="1"/>
            <a:r>
              <a:rPr lang="de-DE" sz="2200" dirty="0">
                <a:sym typeface="Wingdings 3" pitchFamily="18" charset="2"/>
              </a:rPr>
              <a:t>Öffentlichkeitsarbeit für industriell-technische Zwischen- und Abschlussprüfungen</a:t>
            </a:r>
          </a:p>
        </p:txBody>
      </p:sp>
    </p:spTree>
    <p:extLst>
      <p:ext uri="{BB962C8B-B14F-4D97-AF65-F5344CB8AC3E}">
        <p14:creationId xmlns:p14="http://schemas.microsoft.com/office/powerpoint/2010/main" val="37224327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11.8 Pro und Contra </a:t>
            </a:r>
          </a:p>
        </p:txBody>
      </p:sp>
      <p:sp>
        <p:nvSpPr>
          <p:cNvPr id="4" name="Foliennummernplatzhalter 3"/>
          <p:cNvSpPr>
            <a:spLocks noGrp="1"/>
          </p:cNvSpPr>
          <p:nvPr>
            <p:ph type="sldNum" sz="quarter" idx="15"/>
          </p:nvPr>
        </p:nvSpPr>
        <p:spPr/>
        <p:txBody>
          <a:bodyPr/>
          <a:lstStyle/>
          <a:p>
            <a:fld id="{33548601-C4B6-4D19-A7D5-04150560F062}" type="slidenum">
              <a:rPr lang="de-DE" smtClean="0"/>
              <a:pPr/>
              <a:t>93</a:t>
            </a:fld>
            <a:endParaRPr lang="de-DE"/>
          </a:p>
        </p:txBody>
      </p:sp>
      <p:graphicFrame>
        <p:nvGraphicFramePr>
          <p:cNvPr id="5" name="Group 46"/>
          <p:cNvGraphicFramePr>
            <a:graphicFrameLocks noGrp="1"/>
          </p:cNvGraphicFramePr>
          <p:nvPr>
            <p:ph sz="quarter" idx="1"/>
          </p:nvPr>
        </p:nvGraphicFramePr>
        <p:xfrm>
          <a:off x="704850" y="1600200"/>
          <a:ext cx="7467600" cy="4694244"/>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762002">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Betrieblicher Auftrag             vs.</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a:ln>
                            <a:noFill/>
                          </a:ln>
                          <a:solidFill>
                            <a:schemeClr val="tx1"/>
                          </a:solidFill>
                          <a:effectLst/>
                          <a:latin typeface="Tahoma" pitchFamily="34" charset="0"/>
                        </a:rPr>
                        <a:t>PAL-Prüfung</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2236">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Höhere Motivation aus Selbstständigkeit</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Fachausbilder übernehmen Wahl der Prüfungsaufgabe (berufliche Relevanz wird sichergestellt)</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Unternehmen profitiert möglicherweise wirtschaftlich</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„Trainingslager“ vor der Prüfung schwer realisierbar</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Möglicherweise subjektive Einflüsse auf die Prüfung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Kann unter Umständen kostengünstiger realisiert werden</a:t>
                      </a:r>
                    </a:p>
                  </a:txBody>
                  <a:tcPr marL="78449" marR="78449"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Qualitätssicherung der Prüfung durch Standardisierung</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Prüfung orientiert sich vornehmlich an Unternehmen der IHK</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rPr>
                        <a:t>Bundeseinheitliche Prüfung (nicht nur betriebsintern) </a:t>
                      </a:r>
                      <a:r>
                        <a:rPr kumimoji="0" lang="de-DE" sz="1800" b="0" i="0" u="none" strike="noStrike" cap="none" normalizeH="0" baseline="0" dirty="0">
                          <a:ln>
                            <a:noFill/>
                          </a:ln>
                          <a:solidFill>
                            <a:schemeClr val="tx1"/>
                          </a:solidFill>
                          <a:effectLst/>
                          <a:latin typeface="Tahoma" pitchFamily="34" charset="0"/>
                          <a:sym typeface="Wingdings 3" pitchFamily="18" charset="2"/>
                        </a:rPr>
                        <a:t> Prüfungsergebnisse sind vergleichbar (in der Allgemeinbildung schon lange gefordert  siehe PISA)</a:t>
                      </a:r>
                    </a:p>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sym typeface="Wingdings 3" pitchFamily="18" charset="2"/>
                        </a:rPr>
                        <a:t>Es wurden an alle Prüflinge die gleichen Anforderungen gestellt</a:t>
                      </a:r>
                    </a:p>
                  </a:txBody>
                  <a:tcPr marL="78449" marR="78449"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07001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11.8 Pro und Contra </a:t>
            </a:r>
          </a:p>
        </p:txBody>
      </p:sp>
      <p:sp>
        <p:nvSpPr>
          <p:cNvPr id="4" name="Foliennummernplatzhalter 3"/>
          <p:cNvSpPr>
            <a:spLocks noGrp="1"/>
          </p:cNvSpPr>
          <p:nvPr>
            <p:ph type="sldNum" sz="quarter" idx="15"/>
          </p:nvPr>
        </p:nvSpPr>
        <p:spPr/>
        <p:txBody>
          <a:bodyPr/>
          <a:lstStyle/>
          <a:p>
            <a:fld id="{33548601-C4B6-4D19-A7D5-04150560F062}" type="slidenum">
              <a:rPr lang="de-DE" smtClean="0"/>
              <a:pPr/>
              <a:t>94</a:t>
            </a:fld>
            <a:endParaRPr lang="de-DE"/>
          </a:p>
        </p:txBody>
      </p:sp>
      <p:graphicFrame>
        <p:nvGraphicFramePr>
          <p:cNvPr id="6" name="Group 15"/>
          <p:cNvGraphicFramePr>
            <a:graphicFrameLocks noGrp="1"/>
          </p:cNvGraphicFramePr>
          <p:nvPr>
            <p:ph sz="quarter" idx="1"/>
          </p:nvPr>
        </p:nvGraphicFramePr>
        <p:xfrm>
          <a:off x="704850" y="1600200"/>
          <a:ext cx="7467600" cy="2819416"/>
        </p:xfrm>
        <a:graphic>
          <a:graphicData uri="http://schemas.openxmlformats.org/drawingml/2006/table">
            <a:tbl>
              <a:tblPr/>
              <a:tblGrid>
                <a:gridCol w="3734480">
                  <a:extLst>
                    <a:ext uri="{9D8B030D-6E8A-4147-A177-3AD203B41FA5}">
                      <a16:colId xmlns:a16="http://schemas.microsoft.com/office/drawing/2014/main" val="20000"/>
                    </a:ext>
                  </a:extLst>
                </a:gridCol>
                <a:gridCol w="3733120">
                  <a:extLst>
                    <a:ext uri="{9D8B030D-6E8A-4147-A177-3AD203B41FA5}">
                      <a16:colId xmlns:a16="http://schemas.microsoft.com/office/drawing/2014/main" val="20001"/>
                    </a:ext>
                  </a:extLst>
                </a:gridCol>
              </a:tblGrid>
              <a:tr h="761986">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dirty="0">
                          <a:ln>
                            <a:noFill/>
                          </a:ln>
                          <a:solidFill>
                            <a:schemeClr val="tx1"/>
                          </a:solidFill>
                          <a:effectLst/>
                          <a:latin typeface="Tahoma" pitchFamily="34" charset="0"/>
                        </a:rPr>
                        <a:t>Betrieblicher Auftrag             vs.</a:t>
                      </a:r>
                    </a:p>
                  </a:txBody>
                  <a:tcPr marL="78449" marR="78449"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200" b="0" i="0" u="none" strike="noStrike" cap="none" normalizeH="0" baseline="0">
                          <a:ln>
                            <a:noFill/>
                          </a:ln>
                          <a:solidFill>
                            <a:schemeClr val="tx1"/>
                          </a:solidFill>
                          <a:effectLst/>
                          <a:latin typeface="Tahoma" pitchFamily="34" charset="0"/>
                        </a:rPr>
                        <a:t>PAL-Prüfung</a:t>
                      </a:r>
                    </a:p>
                  </a:txBody>
                  <a:tcPr marL="78449" marR="78449"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57414">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a:ln>
                            <a:noFill/>
                          </a:ln>
                          <a:solidFill>
                            <a:schemeClr val="tx1"/>
                          </a:solidFill>
                          <a:effectLst/>
                          <a:latin typeface="Tahoma" pitchFamily="34" charset="0"/>
                        </a:rPr>
                        <a:t>Ausbilder und Prüfer müssen bei dieser Form der Prüfung in der Lage sein, die gestellten Aufgaben fachlich einwandfrei auszuführen und zu bewerten</a:t>
                      </a:r>
                    </a:p>
                  </a:txBody>
                  <a:tcPr marL="78449" marR="78449"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6213" marR="0" lvl="0" indent="-176213" algn="l" defTabSz="914400" rtl="0" eaLnBrk="1" fontAlgn="base" latinLnBrk="0" hangingPunct="1">
                        <a:lnSpc>
                          <a:spcPct val="100000"/>
                        </a:lnSpc>
                        <a:spcBef>
                          <a:spcPct val="20000"/>
                        </a:spcBef>
                        <a:spcAft>
                          <a:spcPct val="0"/>
                        </a:spcAft>
                        <a:buClr>
                          <a:schemeClr val="folHlink"/>
                        </a:buClr>
                        <a:buSzPct val="60000"/>
                        <a:buFontTx/>
                        <a:buChar char="-"/>
                        <a:tabLst/>
                      </a:pPr>
                      <a:r>
                        <a:rPr kumimoji="0" lang="de-DE" sz="1800" b="0" i="0" u="none" strike="noStrike" cap="none" normalizeH="0" baseline="0" dirty="0">
                          <a:ln>
                            <a:noFill/>
                          </a:ln>
                          <a:solidFill>
                            <a:schemeClr val="tx1"/>
                          </a:solidFill>
                          <a:effectLst/>
                          <a:latin typeface="Tahoma" pitchFamily="34" charset="0"/>
                          <a:sym typeface="Wingdings 3" pitchFamily="18" charset="2"/>
                        </a:rPr>
                        <a:t>Der programmierte Teil der PAL-Prüfungen wird vor dem Hintergrund der Zielstellung „Entwicklung einer beruflichen Handlungskompetenz“ häufig heftig kritisiert</a:t>
                      </a:r>
                    </a:p>
                  </a:txBody>
                  <a:tcPr marL="78449" marR="78449"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179579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ctrTitle"/>
          </p:nvPr>
        </p:nvSpPr>
        <p:spPr>
          <a:xfrm>
            <a:off x="2286000" y="3124200"/>
            <a:ext cx="6172200" cy="1893888"/>
          </a:xfrm>
        </p:spPr>
        <p:txBody>
          <a:bodyPr/>
          <a:lstStyle/>
          <a:p>
            <a:pPr eaLnBrk="1" fontAlgn="auto" hangingPunct="1">
              <a:spcAft>
                <a:spcPts val="0"/>
              </a:spcAft>
              <a:defRPr/>
            </a:pPr>
            <a:r>
              <a:rPr lang="de-DE" sz="3600"/>
              <a:t>Vielen Dank für Ihre Aufmerksamkeit</a:t>
            </a:r>
            <a:endParaRPr lang="de-DE" sz="2400"/>
          </a:p>
        </p:txBody>
      </p:sp>
      <p:sp>
        <p:nvSpPr>
          <p:cNvPr id="155651" name="Rectangle 16"/>
          <p:cNvSpPr>
            <a:spLocks noGrp="1" noChangeArrowheads="1"/>
          </p:cNvSpPr>
          <p:nvPr>
            <p:ph type="subTitle" idx="1"/>
          </p:nvPr>
        </p:nvSpPr>
        <p:spPr>
          <a:xfrm>
            <a:off x="2286000" y="5003800"/>
            <a:ext cx="6172200" cy="1371600"/>
          </a:xfrm>
        </p:spPr>
        <p:txBody>
          <a:bodyPr/>
          <a:lstStyle/>
          <a:p>
            <a:pPr eaLnBrk="1" hangingPunct="1">
              <a:buFont typeface="Wingdings 2" pitchFamily="18" charset="2"/>
              <a:buNone/>
            </a:pPr>
            <a:endParaRPr lang="de-DE"/>
          </a:p>
        </p:txBody>
      </p:sp>
    </p:spTree>
    <p:extLst>
      <p:ext uri="{BB962C8B-B14F-4D97-AF65-F5344CB8AC3E}">
        <p14:creationId xmlns:p14="http://schemas.microsoft.com/office/powerpoint/2010/main" val="39332491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2_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Institutionen beruflicher Bildung</Template>
  <TotalTime>8</TotalTime>
  <Words>4993</Words>
  <Application>Microsoft Macintosh PowerPoint</Application>
  <PresentationFormat>On-screen Show (4:3)</PresentationFormat>
  <Paragraphs>879</Paragraphs>
  <Slides>95</Slides>
  <Notes>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95</vt:i4>
      </vt:variant>
    </vt:vector>
  </HeadingPairs>
  <TitlesOfParts>
    <vt:vector size="108" baseType="lpstr">
      <vt:lpstr>Arial</vt:lpstr>
      <vt:lpstr>Arial Narrow</vt:lpstr>
      <vt:lpstr>Calibri</vt:lpstr>
      <vt:lpstr>Cambria Math</vt:lpstr>
      <vt:lpstr>Century Schoolbook</vt:lpstr>
      <vt:lpstr>Symbol</vt:lpstr>
      <vt:lpstr>Tahoma</vt:lpstr>
      <vt:lpstr>Times New Roman</vt:lpstr>
      <vt:lpstr>Wingdings</vt:lpstr>
      <vt:lpstr>Wingdings 2</vt:lpstr>
      <vt:lpstr>Wingdings 3</vt:lpstr>
      <vt:lpstr>Nereus</vt:lpstr>
      <vt:lpstr>2_Nereus</vt:lpstr>
      <vt:lpstr>PowerPoint Presentation</vt:lpstr>
      <vt:lpstr>PowerPoint Presentation</vt:lpstr>
      <vt:lpstr>5.1 analytische akzentuiert – Diagnoseaufgabe</vt:lpstr>
      <vt:lpstr>5.1 analytische akzentuiert – Diagnoseaufgabe</vt:lpstr>
      <vt:lpstr>5.1 analytische akzentuiert – Fallstudie</vt:lpstr>
      <vt:lpstr>5.1 analytische akzentuiert – Fallstudie</vt:lpstr>
      <vt:lpstr>5.1 analytische akzentuiert – Instandsetzungsanalyse</vt:lpstr>
      <vt:lpstr>5.1 analytische akzentuiert – Instandsetzungsanalyse</vt:lpstr>
      <vt:lpstr>5.1 analytische akzentuiert – Konstruktionsanalyse</vt:lpstr>
      <vt:lpstr>5.1 analytische akzentuiert – Konstruktionsanalyse</vt:lpstr>
      <vt:lpstr> 5.2 synthetisch akzentuiert – Fertigungsaufgabe</vt:lpstr>
      <vt:lpstr> 5.2 synthetisch akzentuiert – Fertigungsaufgabe</vt:lpstr>
      <vt:lpstr>5.2 synthetisch akzentuiert – Inspektionsaufgabe</vt:lpstr>
      <vt:lpstr>5.2 synthetisch akzentuiert – Inspektionsaufgabe</vt:lpstr>
      <vt:lpstr>5.2 synthetisch akzentuiert – Szenariomethode</vt:lpstr>
      <vt:lpstr>5.2 synthetisch akzentuiert – Szenariomethode</vt:lpstr>
      <vt:lpstr>5.2 synthetisch akzentuiert – Konstruktionsaufgabe</vt:lpstr>
      <vt:lpstr>5.2 synthetisch akzentuiert – Konstruktionsaufgabe</vt:lpstr>
      <vt:lpstr>5.2 synthetisch akzentuiert – Instandsetzungsaufgabe</vt:lpstr>
      <vt:lpstr>5.2 synthetisch akzentuiert – Instandsetzungsaufgabe</vt:lpstr>
      <vt:lpstr>5.3 induktiv akzentuiert – Technisches Experiment</vt:lpstr>
      <vt:lpstr>5.3 induktiv akzentuiert – Technisches Experiment</vt:lpstr>
      <vt:lpstr>5.4 deduktiv akzentuiert – Konstruktionsaufgabe</vt:lpstr>
      <vt:lpstr>5.5 historisch akzentuiert – historisch-genetisches Ausbildungs- und Unterrichtsverfahren</vt:lpstr>
      <vt:lpstr>5.5 historisch akzentuiert – historisch-genetisches Ausbildungs- und Unterrichtsverfahren</vt:lpstr>
      <vt:lpstr> 5.6 reduktiv akzentuiert – Naturstudie</vt:lpstr>
      <vt:lpstr> 5.6 reduktiv akzentuiert – Naturstudie</vt:lpstr>
      <vt:lpstr>PowerPoint Presentation</vt:lpstr>
      <vt:lpstr>6.1 Definition Didaktische Reduktion</vt:lpstr>
      <vt:lpstr>6.2 Reduktionsmethoden</vt:lpstr>
      <vt:lpstr>6.3 Arten Didaktischer Reduktion</vt:lpstr>
      <vt:lpstr>6. Didaktische Reduktion nach GRÜNER</vt:lpstr>
      <vt:lpstr>PowerPoint Presentation</vt:lpstr>
      <vt:lpstr>PowerPoint Presentation</vt:lpstr>
      <vt:lpstr>PowerPoint Presentation</vt:lpstr>
      <vt:lpstr>PowerPoint Presentation</vt:lpstr>
      <vt:lpstr>PowerPoint Presentation</vt:lpstr>
      <vt:lpstr>PowerPoint Presentation</vt:lpstr>
      <vt:lpstr>6.8 Didaktisches Reduktionsfeld</vt:lpstr>
      <vt:lpstr>6.8 Didaktisches Reduktionsfeld</vt:lpstr>
      <vt:lpstr>Hauptsatz der didaktischen Vereinfachung nach HERING</vt:lpstr>
      <vt:lpstr>Bsp.: Bilanzgleichung der Photosynthese</vt:lpstr>
      <vt:lpstr>Didaktische Vereinfachung nach HERING</vt:lpstr>
      <vt:lpstr>Didaktische Vereinfachung nach HERING</vt:lpstr>
      <vt:lpstr>Didaktische Vereinfachung nach HERING</vt:lpstr>
      <vt:lpstr>PowerPoint Presentation</vt:lpstr>
      <vt:lpstr>7. Sozialformen</vt:lpstr>
      <vt:lpstr>7.1 Frontalunterricht</vt:lpstr>
      <vt:lpstr>7.2 Einzelarbeit</vt:lpstr>
      <vt:lpstr>7.3 Gruppenarbeit</vt:lpstr>
      <vt:lpstr>7.3 Gruppenarbeit</vt:lpstr>
      <vt:lpstr>PowerPoint Presentation</vt:lpstr>
      <vt:lpstr>8. Aktionsformen</vt:lpstr>
      <vt:lpstr>8.1 Darbietend</vt:lpstr>
      <vt:lpstr>8.2 Selbstständig</vt:lpstr>
      <vt:lpstr>8.2 Selbstständig</vt:lpstr>
      <vt:lpstr>8.3 Erarbeitend</vt:lpstr>
      <vt:lpstr>PowerPoint Presentation</vt:lpstr>
      <vt:lpstr>9. Medien</vt:lpstr>
      <vt:lpstr>9. Medien</vt:lpstr>
      <vt:lpstr>9. Medien</vt:lpstr>
      <vt:lpstr>9. Medien - Grad der Wirklichkeitserfahrung</vt:lpstr>
      <vt:lpstr>9.1 Tafel (Kreidetafel oder White Board)</vt:lpstr>
      <vt:lpstr>9.2 Overhead-Projektor</vt:lpstr>
      <vt:lpstr>9.2 Overhead-Projektor</vt:lpstr>
      <vt:lpstr>9.3 Unterrichtsentwurf (Berliner Modell)</vt:lpstr>
      <vt:lpstr>9.3 Unterrichtsentwurf (Berliner Modell)</vt:lpstr>
      <vt:lpstr>9.3 Unterrichtsentwurf (Berliner Modell)</vt:lpstr>
      <vt:lpstr>PowerPoint Presentation</vt:lpstr>
      <vt:lpstr>10.1 Zusammenhang zw. Lernkontrolle und Lernziel</vt:lpstr>
      <vt:lpstr>10.2 Konventionelle Prüfung</vt:lpstr>
      <vt:lpstr>10.2 Konventionelle Prüfung</vt:lpstr>
      <vt:lpstr>10.3 Test</vt:lpstr>
      <vt:lpstr>10.4 Validität</vt:lpstr>
      <vt:lpstr>10.5 Reliabilität</vt:lpstr>
      <vt:lpstr>10.6 Objektivität</vt:lpstr>
      <vt:lpstr>10.6 Objektivität</vt:lpstr>
      <vt:lpstr>10.6 Objektivität</vt:lpstr>
      <vt:lpstr>10.7 Kontrollfehler</vt:lpstr>
      <vt:lpstr>10.8 Hof-Effekt</vt:lpstr>
      <vt:lpstr>10.9 Erwartungs-Effekt</vt:lpstr>
      <vt:lpstr>10.10  Einteilung von didaktischen Aufforderungen              nach Lernzielbereichen</vt:lpstr>
      <vt:lpstr>10.10  Einteilung von didaktischen Aufforderungen              nach Lernzielbereichen</vt:lpstr>
      <vt:lpstr>PowerPoint Presentation</vt:lpstr>
      <vt:lpstr>11.1 Entstehung und Zielsetzung der PAL</vt:lpstr>
      <vt:lpstr>11.1 Entstehung und Zielsetzung der PAL</vt:lpstr>
      <vt:lpstr>11.2 Gesetzlich vorgesehene Prüfungen</vt:lpstr>
      <vt:lpstr>11.3 Entwicklung der Aufgaben durch die PAL</vt:lpstr>
      <vt:lpstr>11.4 Hauptaufgaben der PAL-Fachausschüsse</vt:lpstr>
      <vt:lpstr>11.5 Organisation der Arbeit der PAL-Fachausschüsse</vt:lpstr>
      <vt:lpstr>11.6 Geschäftsfelder der PAL</vt:lpstr>
      <vt:lpstr>11.7 Aufgaben der PAL</vt:lpstr>
      <vt:lpstr>11.8 Pro und Contra </vt:lpstr>
      <vt:lpstr>11.8 Pro und Contra </vt:lpstr>
      <vt:lpstr>Vielen Dank für Ihre Aufmerksamkeit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creator>Frank Bünning</dc:creator>
  <cp:lastModifiedBy>Hannes Tegelbeckers</cp:lastModifiedBy>
  <cp:revision>276</cp:revision>
  <cp:lastPrinted>2002-03-21T12:12:44Z</cp:lastPrinted>
  <dcterms:created xsi:type="dcterms:W3CDTF">2002-02-22T17:42:09Z</dcterms:created>
  <dcterms:modified xsi:type="dcterms:W3CDTF">2026-09-22T19:48:53Z</dcterms:modified>
</cp:coreProperties>
</file>