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52" r:id="rId1"/>
  </p:sldMasterIdLst>
  <p:notesMasterIdLst>
    <p:notesMasterId r:id="rId16"/>
  </p:notesMasterIdLst>
  <p:handoutMasterIdLst>
    <p:handoutMasterId r:id="rId17"/>
  </p:handoutMasterIdLst>
  <p:sldIdLst>
    <p:sldId id="663" r:id="rId2"/>
    <p:sldId id="665" r:id="rId3"/>
    <p:sldId id="666" r:id="rId4"/>
    <p:sldId id="667" r:id="rId5"/>
    <p:sldId id="668" r:id="rId6"/>
    <p:sldId id="669" r:id="rId7"/>
    <p:sldId id="670" r:id="rId8"/>
    <p:sldId id="671" r:id="rId9"/>
    <p:sldId id="672" r:id="rId10"/>
    <p:sldId id="718" r:id="rId11"/>
    <p:sldId id="719" r:id="rId12"/>
    <p:sldId id="676" r:id="rId13"/>
    <p:sldId id="677" r:id="rId14"/>
    <p:sldId id="674" r:id="rId15"/>
  </p:sldIdLst>
  <p:sldSz cx="9144000" cy="6858000" type="screen4x3"/>
  <p:notesSz cx="6854825" cy="9750425"/>
  <p:defaultTextStyle>
    <a:defPPr>
      <a:defRPr lang="en-US"/>
    </a:defPPr>
    <a:lvl1pPr algn="l" rtl="0" eaLnBrk="0" fontAlgn="base" hangingPunct="0">
      <a:spcBef>
        <a:spcPct val="0"/>
      </a:spcBef>
      <a:spcAft>
        <a:spcPct val="0"/>
      </a:spcAft>
      <a:defRPr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itchFamily="34" charset="0"/>
        <a:ea typeface="+mn-ea"/>
        <a:cs typeface="+mn-cs"/>
      </a:defRPr>
    </a:lvl5pPr>
    <a:lvl6pPr marL="2286000" algn="l" defTabSz="914400" rtl="0" eaLnBrk="1" latinLnBrk="0" hangingPunct="1">
      <a:defRPr b="1" kern="1200">
        <a:solidFill>
          <a:schemeClr val="tx1"/>
        </a:solidFill>
        <a:latin typeface="Tahoma" pitchFamily="34" charset="0"/>
        <a:ea typeface="+mn-ea"/>
        <a:cs typeface="+mn-cs"/>
      </a:defRPr>
    </a:lvl6pPr>
    <a:lvl7pPr marL="2743200" algn="l" defTabSz="914400" rtl="0" eaLnBrk="1" latinLnBrk="0" hangingPunct="1">
      <a:defRPr b="1" kern="1200">
        <a:solidFill>
          <a:schemeClr val="tx1"/>
        </a:solidFill>
        <a:latin typeface="Tahoma" pitchFamily="34" charset="0"/>
        <a:ea typeface="+mn-ea"/>
        <a:cs typeface="+mn-cs"/>
      </a:defRPr>
    </a:lvl7pPr>
    <a:lvl8pPr marL="3200400" algn="l" defTabSz="914400" rtl="0" eaLnBrk="1" latinLnBrk="0" hangingPunct="1">
      <a:defRPr b="1" kern="1200">
        <a:solidFill>
          <a:schemeClr val="tx1"/>
        </a:solidFill>
        <a:latin typeface="Tahoma" pitchFamily="34" charset="0"/>
        <a:ea typeface="+mn-ea"/>
        <a:cs typeface="+mn-cs"/>
      </a:defRPr>
    </a:lvl8pPr>
    <a:lvl9pPr marL="3657600" algn="l" defTabSz="914400" rtl="0" eaLnBrk="1" latinLnBrk="0" hangingPunct="1">
      <a:defRPr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B2B2B2"/>
    <a:srgbClr val="BD430A"/>
    <a:srgbClr val="0768B2"/>
    <a:srgbClr val="0A508D"/>
    <a:srgbClr val="0860A5"/>
    <a:srgbClr val="0C417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3883" autoAdjust="0"/>
  </p:normalViewPr>
  <p:slideViewPr>
    <p:cSldViewPr showGuides="1">
      <p:cViewPr varScale="1">
        <p:scale>
          <a:sx n="125" d="100"/>
          <a:sy n="125" d="100"/>
        </p:scale>
        <p:origin x="143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787" y="2040"/>
      </p:cViewPr>
      <p:guideLst>
        <p:guide orient="horz" pos="3071"/>
        <p:guide pos="215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9939" name="Rectangle 3"/>
          <p:cNvSpPr>
            <a:spLocks noGrp="1" noChangeArrowheads="1"/>
          </p:cNvSpPr>
          <p:nvPr>
            <p:ph type="dt" sz="quarter"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39940" name="Rectangle 4"/>
          <p:cNvSpPr>
            <a:spLocks noGrp="1" noChangeArrowheads="1"/>
          </p:cNvSpPr>
          <p:nvPr>
            <p:ph type="ftr" sz="quarter" idx="2"/>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9941" name="Rectangle 5"/>
          <p:cNvSpPr>
            <a:spLocks noGrp="1" noChangeArrowheads="1"/>
          </p:cNvSpPr>
          <p:nvPr>
            <p:ph type="sldNum" sz="quarter" idx="3"/>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60BF8065-B72B-48E4-8526-D638D07A292D}" type="slidenum">
              <a:rPr lang="de-DE"/>
              <a:pPr>
                <a:defRPr/>
              </a:pPr>
              <a:t>‹#›</a:t>
            </a:fld>
            <a:endParaRPr lang="de-DE"/>
          </a:p>
        </p:txBody>
      </p:sp>
    </p:spTree>
    <p:extLst>
      <p:ext uri="{BB962C8B-B14F-4D97-AF65-F5344CB8AC3E}">
        <p14:creationId xmlns:p14="http://schemas.microsoft.com/office/powerpoint/2010/main" val="167985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3" name="Rectangle 3"/>
          <p:cNvSpPr>
            <a:spLocks noGrp="1" noChangeArrowheads="1"/>
          </p:cNvSpPr>
          <p:nvPr>
            <p:ph type="dt"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12292" name="Rectangle 4"/>
          <p:cNvSpPr>
            <a:spLocks noGrp="1" noRot="1" noChangeAspect="1" noChangeArrowheads="1" noTextEdit="1"/>
          </p:cNvSpPr>
          <p:nvPr>
            <p:ph type="sldImg" idx="2"/>
          </p:nvPr>
        </p:nvSpPr>
        <p:spPr bwMode="auto">
          <a:xfrm>
            <a:off x="989013" y="730250"/>
            <a:ext cx="4876800" cy="3657600"/>
          </a:xfrm>
          <a:prstGeom prst="rect">
            <a:avLst/>
          </a:prstGeom>
          <a:noFill/>
          <a:ln w="9525">
            <a:solidFill>
              <a:srgbClr val="000000"/>
            </a:solidFill>
            <a:miter lim="800000"/>
            <a:headEnd/>
            <a:tailEnd/>
          </a:ln>
        </p:spPr>
      </p:sp>
      <p:sp>
        <p:nvSpPr>
          <p:cNvPr id="35845" name="Rectangle 5"/>
          <p:cNvSpPr>
            <a:spLocks noGrp="1" noChangeArrowheads="1"/>
          </p:cNvSpPr>
          <p:nvPr>
            <p:ph type="body" sz="quarter" idx="3"/>
          </p:nvPr>
        </p:nvSpPr>
        <p:spPr bwMode="auto">
          <a:xfrm>
            <a:off x="914400" y="4632325"/>
            <a:ext cx="5026025" cy="4387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35846" name="Rectangle 6"/>
          <p:cNvSpPr>
            <a:spLocks noGrp="1" noChangeArrowheads="1"/>
          </p:cNvSpPr>
          <p:nvPr>
            <p:ph type="ftr" sz="quarter" idx="4"/>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7" name="Rectangle 7"/>
          <p:cNvSpPr>
            <a:spLocks noGrp="1" noChangeArrowheads="1"/>
          </p:cNvSpPr>
          <p:nvPr>
            <p:ph type="sldNum" sz="quarter" idx="5"/>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12F08462-A6CB-4CDF-B233-8E4BB04E3C16}" type="slidenum">
              <a:rPr lang="de-DE"/>
              <a:pPr>
                <a:defRPr/>
              </a:pPr>
              <a:t>‹#›</a:t>
            </a:fld>
            <a:endParaRPr lang="de-DE"/>
          </a:p>
        </p:txBody>
      </p:sp>
    </p:spTree>
    <p:extLst>
      <p:ext uri="{BB962C8B-B14F-4D97-AF65-F5344CB8AC3E}">
        <p14:creationId xmlns:p14="http://schemas.microsoft.com/office/powerpoint/2010/main" val="3128101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0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1" name="Gerade Verbindung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2" name="Gerade Verbindung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3" name="Gerade Verbindung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4" name="Gerade Verbindung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5" name="Gerade Verbindung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6" name="Rechteck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8" name="Titel 7"/>
          <p:cNvSpPr>
            <a:spLocks noGrp="1"/>
          </p:cNvSpPr>
          <p:nvPr>
            <p:ph type="ctrTitle"/>
          </p:nvPr>
        </p:nvSpPr>
        <p:spPr>
          <a:xfrm>
            <a:off x="2286000" y="3124200"/>
            <a:ext cx="6172200" cy="1894362"/>
          </a:xfrm>
        </p:spPr>
        <p:txBody>
          <a:bodyPr/>
          <a:lstStyle>
            <a:lvl1pPr>
              <a:defRPr b="1"/>
            </a:lvl1pPr>
          </a:lstStyle>
          <a:p>
            <a:r>
              <a:rPr lang="de-DE"/>
              <a:t>Titelmasterformat durch Klicken bearbeiten</a:t>
            </a:r>
            <a:endParaRPr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de-DE"/>
              <a:t>Formatvorlage des Untertitelmasters durch Klicken bearbeiten</a:t>
            </a:r>
            <a:endParaRPr lang="en-US"/>
          </a:p>
        </p:txBody>
      </p:sp>
      <p:sp>
        <p:nvSpPr>
          <p:cNvPr id="22" name="Foliennummernplatzhalter 28"/>
          <p:cNvSpPr>
            <a:spLocks noGrp="1"/>
          </p:cNvSpPr>
          <p:nvPr>
            <p:ph type="sldNum" sz="quarter" idx="10"/>
          </p:nvPr>
        </p:nvSpPr>
        <p:spPr bwMode="auto">
          <a:xfrm>
            <a:off x="1325563" y="4929188"/>
            <a:ext cx="609600" cy="517525"/>
          </a:xfrm>
        </p:spPr>
        <p:txBody>
          <a:bodyPr/>
          <a:lstStyle>
            <a:lvl1pPr>
              <a:defRPr/>
            </a:lvl1pPr>
          </a:lstStyle>
          <a:p>
            <a:pPr>
              <a:defRPr/>
            </a:pPr>
            <a:fld id="{BCEA18AB-3B41-40DB-8043-67BE53D2EBAE}" type="slidenum">
              <a:rPr lang="de-DE"/>
              <a:pPr>
                <a:defRPr/>
              </a:pPr>
              <a:t>‹#›</a:t>
            </a:fld>
            <a:endParaRPr lang="de-DE"/>
          </a:p>
        </p:txBody>
      </p:sp>
    </p:spTree>
    <p:extLst>
      <p:ext uri="{BB962C8B-B14F-4D97-AF65-F5344CB8AC3E}">
        <p14:creationId xmlns:p14="http://schemas.microsoft.com/office/powerpoint/2010/main" val="5117019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lang="de-DE"/>
              <a:t>Titelmasterformat durch Klicken bearbeiten</a:t>
            </a:r>
            <a:endParaRPr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Foliennummernplatzhalter 8"/>
          <p:cNvSpPr>
            <a:spLocks noGrp="1"/>
          </p:cNvSpPr>
          <p:nvPr>
            <p:ph type="sldNum" sz="quarter" idx="10"/>
          </p:nvPr>
        </p:nvSpPr>
        <p:spPr/>
        <p:txBody>
          <a:bodyPr rtlCol="0"/>
          <a:lstStyle>
            <a:lvl1pPr>
              <a:defRPr/>
            </a:lvl1pPr>
          </a:lstStyle>
          <a:p>
            <a:pPr>
              <a:defRPr/>
            </a:pPr>
            <a:fld id="{85CC79A6-A3D6-4B03-A78B-5E0A9B55FAB9}" type="slidenum">
              <a:rPr lang="de-DE"/>
              <a:pPr>
                <a:defRPr/>
              </a:pPr>
              <a:t>‹#›</a:t>
            </a:fld>
            <a:endParaRPr lang="de-DE"/>
          </a:p>
        </p:txBody>
      </p:sp>
    </p:spTree>
    <p:extLst>
      <p:ext uri="{BB962C8B-B14F-4D97-AF65-F5344CB8AC3E}">
        <p14:creationId xmlns:p14="http://schemas.microsoft.com/office/powerpoint/2010/main" val="363123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8" name="Gerade Verbindung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9" name="Gerade Verbindung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0" name="Gerade Verbindung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1" name="Gerade Verbindung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2" name="Gerade Verbindung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3" name="Rechteck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4" name="Ellipse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5" name="Ellipse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6" name="Ellipse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Gerade Verbindung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lang="de-DE"/>
              <a:t>Titelmasterformat durch Klicken bearbeiten</a:t>
            </a:r>
            <a:endParaRPr lang="en-US"/>
          </a:p>
        </p:txBody>
      </p:sp>
      <p:sp>
        <p:nvSpPr>
          <p:cNvPr id="3" name="Textplatzhalt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de-DE"/>
              <a:t>Textmasterformat bearbeiten</a:t>
            </a:r>
          </a:p>
        </p:txBody>
      </p:sp>
      <p:sp>
        <p:nvSpPr>
          <p:cNvPr id="20" name="Foliennummernplatzhalter 5"/>
          <p:cNvSpPr>
            <a:spLocks noGrp="1"/>
          </p:cNvSpPr>
          <p:nvPr>
            <p:ph type="sldNum" sz="quarter" idx="10"/>
          </p:nvPr>
        </p:nvSpPr>
        <p:spPr bwMode="auto">
          <a:xfrm>
            <a:off x="1339850" y="4929188"/>
            <a:ext cx="609600" cy="517525"/>
          </a:xfrm>
        </p:spPr>
        <p:txBody>
          <a:bodyPr/>
          <a:lstStyle>
            <a:lvl1pPr>
              <a:defRPr/>
            </a:lvl1pPr>
          </a:lstStyle>
          <a:p>
            <a:pPr>
              <a:defRPr/>
            </a:pPr>
            <a:fld id="{CA7140C4-5431-4AB6-B132-5D4CCD4549F3}" type="slidenum">
              <a:rPr lang="de-DE"/>
              <a:pPr>
                <a:defRPr/>
              </a:pPr>
              <a:t>‹#›</a:t>
            </a:fld>
            <a:endParaRPr lang="de-DE"/>
          </a:p>
        </p:txBody>
      </p:sp>
    </p:spTree>
    <p:extLst>
      <p:ext uri="{BB962C8B-B14F-4D97-AF65-F5344CB8AC3E}">
        <p14:creationId xmlns:p14="http://schemas.microsoft.com/office/powerpoint/2010/main" val="234866791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5" name="Foliennummernplatzhalter 6"/>
          <p:cNvSpPr>
            <a:spLocks noGrp="1"/>
          </p:cNvSpPr>
          <p:nvPr>
            <p:ph type="sldNum" sz="quarter" idx="10"/>
          </p:nvPr>
        </p:nvSpPr>
        <p:spPr/>
        <p:txBody>
          <a:bodyPr/>
          <a:lstStyle>
            <a:lvl1pPr>
              <a:defRPr/>
            </a:lvl1pPr>
          </a:lstStyle>
          <a:p>
            <a:pPr>
              <a:defRPr/>
            </a:pPr>
            <a:fld id="{9B3C4066-8CFD-4E97-9A0D-CB926F440B64}" type="slidenum">
              <a:rPr lang="de-DE"/>
              <a:pPr>
                <a:defRPr/>
              </a:pPr>
              <a:t>‹#›</a:t>
            </a:fld>
            <a:endParaRPr lang="de-DE"/>
          </a:p>
        </p:txBody>
      </p:sp>
    </p:spTree>
    <p:extLst>
      <p:ext uri="{BB962C8B-B14F-4D97-AF65-F5344CB8AC3E}">
        <p14:creationId xmlns:p14="http://schemas.microsoft.com/office/powerpoint/2010/main" val="3666254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6"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7" name="Foliennummernplatzhalter 8"/>
          <p:cNvSpPr>
            <a:spLocks noGrp="1"/>
          </p:cNvSpPr>
          <p:nvPr>
            <p:ph type="sldNum" sz="quarter" idx="10"/>
          </p:nvPr>
        </p:nvSpPr>
        <p:spPr/>
        <p:txBody>
          <a:bodyPr/>
          <a:lstStyle>
            <a:lvl1pPr>
              <a:defRPr/>
            </a:lvl1pPr>
          </a:lstStyle>
          <a:p>
            <a:pPr>
              <a:defRPr/>
            </a:pPr>
            <a:fld id="{DDBF6A99-441C-49AE-AD83-9BC27C3DE34A}" type="slidenum">
              <a:rPr lang="de-DE"/>
              <a:pPr>
                <a:defRPr/>
              </a:pPr>
              <a:t>‹#›</a:t>
            </a:fld>
            <a:endParaRPr lang="de-DE"/>
          </a:p>
        </p:txBody>
      </p:sp>
    </p:spTree>
    <p:extLst>
      <p:ext uri="{BB962C8B-B14F-4D97-AF65-F5344CB8AC3E}">
        <p14:creationId xmlns:p14="http://schemas.microsoft.com/office/powerpoint/2010/main" val="4119640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3" name="Foliennummernplatzhalter 6"/>
          <p:cNvSpPr>
            <a:spLocks noGrp="1"/>
          </p:cNvSpPr>
          <p:nvPr>
            <p:ph type="sldNum" sz="quarter" idx="10"/>
          </p:nvPr>
        </p:nvSpPr>
        <p:spPr/>
        <p:txBody>
          <a:bodyPr rtlCol="0"/>
          <a:lstStyle>
            <a:lvl1pPr>
              <a:defRPr/>
            </a:lvl1pPr>
          </a:lstStyle>
          <a:p>
            <a:pPr>
              <a:defRPr/>
            </a:pPr>
            <a:fld id="{F1A2DF14-515C-43F4-AD0B-3568C5A2B60D}" type="slidenum">
              <a:rPr lang="de-DE"/>
              <a:pPr>
                <a:defRPr/>
              </a:pPr>
              <a:t>‹#›</a:t>
            </a:fld>
            <a:endParaRPr lang="de-DE"/>
          </a:p>
        </p:txBody>
      </p:sp>
    </p:spTree>
    <p:extLst>
      <p:ext uri="{BB962C8B-B14F-4D97-AF65-F5344CB8AC3E}">
        <p14:creationId xmlns:p14="http://schemas.microsoft.com/office/powerpoint/2010/main" val="2018532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3"/>
          <p:cNvSpPr>
            <a:spLocks noGrp="1"/>
          </p:cNvSpPr>
          <p:nvPr>
            <p:ph type="dt" sz="half" idx="10"/>
          </p:nvPr>
        </p:nvSpPr>
        <p:spPr/>
        <p:txBody>
          <a:bodyPr/>
          <a:lstStyle>
            <a:lvl1pPr>
              <a:defRPr/>
            </a:lvl1pPr>
          </a:lstStyle>
          <a:p>
            <a:pPr>
              <a:defRPr/>
            </a:pPr>
            <a:endParaRPr lang="en-US" dirty="0">
              <a:solidFill>
                <a:srgbClr val="464653"/>
              </a:solidFill>
            </a:endParaRPr>
          </a:p>
        </p:txBody>
      </p:sp>
      <p:sp>
        <p:nvSpPr>
          <p:cNvPr id="3"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4" name="Foliennummernplatzhalter 22"/>
          <p:cNvSpPr>
            <a:spLocks noGrp="1"/>
          </p:cNvSpPr>
          <p:nvPr>
            <p:ph type="sldNum" sz="quarter" idx="12"/>
          </p:nvPr>
        </p:nvSpPr>
        <p:spPr/>
        <p:txBody>
          <a:bodyPr/>
          <a:lstStyle>
            <a:lvl1pPr>
              <a:defRPr/>
            </a:lvl1pPr>
          </a:lstStyle>
          <a:p>
            <a:pPr>
              <a:defRPr/>
            </a:pPr>
            <a:fld id="{865328B9-E60A-4B25-A327-391175ECA0A1}" type="slidenum">
              <a:rPr lang="de-DE"/>
              <a:pPr>
                <a:defRPr/>
              </a:pPr>
              <a:t>‹#›</a:t>
            </a:fld>
            <a:endParaRPr lang="de-DE"/>
          </a:p>
        </p:txBody>
      </p:sp>
    </p:spTree>
    <p:extLst>
      <p:ext uri="{BB962C8B-B14F-4D97-AF65-F5344CB8AC3E}">
        <p14:creationId xmlns:p14="http://schemas.microsoft.com/office/powerpoint/2010/main" val="763108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6" name="Gerade Verbindung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7" name="Gerade Verbindung 17"/>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Gerade Verbindung 1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9" name="Rechteck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2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1" name="Ellipse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 name="Titel 1"/>
          <p:cNvSpPr>
            <a:spLocks noGrp="1"/>
          </p:cNvSpPr>
          <p:nvPr>
            <p:ph type="title"/>
          </p:nvPr>
        </p:nvSpPr>
        <p:spPr>
          <a:xfrm rot="5400000">
            <a:off x="3371850" y="3200400"/>
            <a:ext cx="6309360" cy="457200"/>
          </a:xfrm>
        </p:spPr>
        <p:txBody>
          <a:bodyPr/>
          <a:lstStyle>
            <a:lvl1pPr algn="l">
              <a:buNone/>
              <a:defRPr sz="2000" b="1" cap="small" baseline="0"/>
            </a:lvl1pPr>
          </a:lstStyle>
          <a:p>
            <a:r>
              <a:rPr lang="de-DE"/>
              <a:t>Titelmasterformat durch Klicken bearbeiten</a:t>
            </a:r>
            <a:endParaRPr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de-DE"/>
              <a:t>Textmasterformat bearbeiten</a:t>
            </a:r>
          </a:p>
        </p:txBody>
      </p:sp>
      <p:sp>
        <p:nvSpPr>
          <p:cNvPr id="18" name="Inhaltsplatzhalter 17"/>
          <p:cNvSpPr>
            <a:spLocks noGrp="1"/>
          </p:cNvSpPr>
          <p:nvPr>
            <p:ph sz="quarter" idx="1"/>
          </p:nvPr>
        </p:nvSpPr>
        <p:spPr>
          <a:xfrm>
            <a:off x="304800" y="274320"/>
            <a:ext cx="5638800" cy="632764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Datumsplatzhalter 20"/>
          <p:cNvSpPr>
            <a:spLocks noGrp="1"/>
          </p:cNvSpPr>
          <p:nvPr>
            <p:ph type="dt" sz="half" idx="10"/>
          </p:nvPr>
        </p:nvSpPr>
        <p:spPr/>
        <p:txBody>
          <a:bodyPr rtlCol="0"/>
          <a:lstStyle>
            <a:lvl1pPr>
              <a:defRPr/>
            </a:lvl1pPr>
          </a:lstStyle>
          <a:p>
            <a:pPr>
              <a:defRPr/>
            </a:pPr>
            <a:endParaRPr lang="en-US">
              <a:solidFill>
                <a:srgbClr val="464653"/>
              </a:solidFill>
            </a:endParaRPr>
          </a:p>
        </p:txBody>
      </p:sp>
      <p:sp>
        <p:nvSpPr>
          <p:cNvPr id="13" name="Foliennummernplatzhalter 21"/>
          <p:cNvSpPr>
            <a:spLocks noGrp="1"/>
          </p:cNvSpPr>
          <p:nvPr>
            <p:ph type="sldNum" sz="quarter" idx="11"/>
          </p:nvPr>
        </p:nvSpPr>
        <p:spPr/>
        <p:txBody>
          <a:bodyPr rtlCol="0"/>
          <a:lstStyle>
            <a:lvl1pPr>
              <a:defRPr/>
            </a:lvl1pPr>
          </a:lstStyle>
          <a:p>
            <a:pPr>
              <a:defRPr/>
            </a:pPr>
            <a:fld id="{59848D8D-98C0-47F5-8347-0F94624CC085}" type="slidenum">
              <a:rPr lang="de-DE"/>
              <a:pPr>
                <a:defRPr/>
              </a:pPr>
              <a:t>‹#›</a:t>
            </a:fld>
            <a:endParaRPr lang="de-DE"/>
          </a:p>
        </p:txBody>
      </p:sp>
      <p:sp>
        <p:nvSpPr>
          <p:cNvPr id="14" name="Fußzeilenplatzhalter 22"/>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368140088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6" name="Ellipse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7" name="Gerade Verbindung 17"/>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Rechteck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9" name="Gerade Verbindung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Gerade Verbindung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11" name="Gerade Verbindung 23"/>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2" name="Titel 1"/>
          <p:cNvSpPr>
            <a:spLocks noGrp="1"/>
          </p:cNvSpPr>
          <p:nvPr>
            <p:ph type="title"/>
          </p:nvPr>
        </p:nvSpPr>
        <p:spPr>
          <a:xfrm rot="5400000">
            <a:off x="3350133" y="3200400"/>
            <a:ext cx="6309360" cy="457200"/>
          </a:xfrm>
        </p:spPr>
        <p:txBody>
          <a:bodyPr/>
          <a:lstStyle>
            <a:lvl1pPr algn="l">
              <a:buNone/>
              <a:defRPr sz="2000" b="1"/>
            </a:lvl1pPr>
          </a:lstStyle>
          <a:p>
            <a:r>
              <a:rPr lang="de-DE"/>
              <a:t>Titelmasterformat durch Klicken bearbeiten</a:t>
            </a:r>
            <a:endParaRPr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de-DE" noProof="0"/>
              <a:t>Bild durch Klicken auf Symbol hinzufügen</a:t>
            </a:r>
            <a:endParaRPr lang="en-US" noProof="0"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de-DE"/>
              <a:t>Textmasterformat bearbeiten</a:t>
            </a:r>
          </a:p>
        </p:txBody>
      </p:sp>
      <p:sp>
        <p:nvSpPr>
          <p:cNvPr id="12" name="Datumsplatzhalter 16"/>
          <p:cNvSpPr>
            <a:spLocks noGrp="1"/>
          </p:cNvSpPr>
          <p:nvPr>
            <p:ph type="dt" sz="half" idx="10"/>
          </p:nvPr>
        </p:nvSpPr>
        <p:spPr/>
        <p:txBody>
          <a:bodyPr rtlCol="0"/>
          <a:lstStyle>
            <a:lvl1pPr>
              <a:defRPr/>
            </a:lvl1pPr>
          </a:lstStyle>
          <a:p>
            <a:pPr>
              <a:defRPr/>
            </a:pPr>
            <a:endParaRPr lang="en-US" dirty="0">
              <a:solidFill>
                <a:srgbClr val="464653"/>
              </a:solidFill>
            </a:endParaRPr>
          </a:p>
        </p:txBody>
      </p:sp>
      <p:sp>
        <p:nvSpPr>
          <p:cNvPr id="13" name="Foliennummernplatzhalter 17"/>
          <p:cNvSpPr>
            <a:spLocks noGrp="1"/>
          </p:cNvSpPr>
          <p:nvPr>
            <p:ph type="sldNum" sz="quarter" idx="11"/>
          </p:nvPr>
        </p:nvSpPr>
        <p:spPr/>
        <p:txBody>
          <a:bodyPr rtlCol="0"/>
          <a:lstStyle>
            <a:lvl1pPr>
              <a:defRPr/>
            </a:lvl1pPr>
          </a:lstStyle>
          <a:p>
            <a:pPr>
              <a:defRPr/>
            </a:pPr>
            <a:fld id="{99A255E2-4A96-4C1F-91BF-80AF1DB373DC}" type="slidenum">
              <a:rPr lang="de-DE"/>
              <a:pPr>
                <a:defRPr/>
              </a:pPr>
              <a:t>‹#›</a:t>
            </a:fld>
            <a:endParaRPr lang="de-DE"/>
          </a:p>
        </p:txBody>
      </p:sp>
      <p:sp>
        <p:nvSpPr>
          <p:cNvPr id="14" name="Fußzeilenplatzhalter 20"/>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709329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DA0D50BD-C27A-404B-923B-517A4EDFAA54}" type="slidenum">
              <a:rPr lang="de-DE"/>
              <a:pPr>
                <a:defRPr/>
              </a:pPr>
              <a:t>‹#›</a:t>
            </a:fld>
            <a:endParaRPr lang="de-DE"/>
          </a:p>
        </p:txBody>
      </p:sp>
    </p:spTree>
    <p:extLst>
      <p:ext uri="{BB962C8B-B14F-4D97-AF65-F5344CB8AC3E}">
        <p14:creationId xmlns:p14="http://schemas.microsoft.com/office/powerpoint/2010/main" val="109012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5454CFCE-A7FF-4434-945E-7AFD59BA3682}" type="slidenum">
              <a:rPr lang="de-DE"/>
              <a:pPr>
                <a:defRPr/>
              </a:pPr>
              <a:t>‹#›</a:t>
            </a:fld>
            <a:endParaRPr lang="de-DE"/>
          </a:p>
        </p:txBody>
      </p:sp>
    </p:spTree>
    <p:extLst>
      <p:ext uri="{BB962C8B-B14F-4D97-AF65-F5344CB8AC3E}">
        <p14:creationId xmlns:p14="http://schemas.microsoft.com/office/powerpoint/2010/main" val="272626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250825" y="214313"/>
            <a:ext cx="8704263" cy="5918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4" name="Foliennummernplatzhalter 3"/>
          <p:cNvSpPr>
            <a:spLocks noGrp="1"/>
          </p:cNvSpPr>
          <p:nvPr>
            <p:ph type="sldNum" sz="quarter" idx="11"/>
          </p:nvPr>
        </p:nvSpPr>
        <p:spPr>
          <a:xfrm>
            <a:off x="7042150" y="6243638"/>
            <a:ext cx="1905000" cy="457200"/>
          </a:xfrm>
        </p:spPr>
        <p:txBody>
          <a:bodyPr/>
          <a:lstStyle>
            <a:lvl1pPr>
              <a:defRPr/>
            </a:lvl1pPr>
          </a:lstStyle>
          <a:p>
            <a:pPr>
              <a:defRPr/>
            </a:pPr>
            <a:fld id="{276F40E1-FC16-476C-9199-6ED76AD89BA0}" type="slidenum">
              <a:rPr lang="de-DE"/>
              <a:pPr>
                <a:defRPr/>
              </a:pPr>
              <a:t>‹#›</a:t>
            </a:fld>
            <a:endParaRPr lang="de-DE"/>
          </a:p>
        </p:txBody>
      </p:sp>
    </p:spTree>
    <p:extLst>
      <p:ext uri="{BB962C8B-B14F-4D97-AF65-F5344CB8AC3E}">
        <p14:creationId xmlns:p14="http://schemas.microsoft.com/office/powerpoint/2010/main" val="3922151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abellenplatzhalter 2"/>
          <p:cNvSpPr>
            <a:spLocks noGrp="1"/>
          </p:cNvSpPr>
          <p:nvPr>
            <p:ph type="tbl" idx="1"/>
          </p:nvPr>
        </p:nvSpPr>
        <p:spPr>
          <a:xfrm>
            <a:off x="250825" y="2017713"/>
            <a:ext cx="8704263" cy="4114800"/>
          </a:xfrm>
        </p:spPr>
        <p:txBody>
          <a:bodyPr>
            <a:normAutofit/>
          </a:bodyPr>
          <a:lstStyle/>
          <a:p>
            <a:pPr lvl="0"/>
            <a:endParaRPr lang="de-DE" noProof="0"/>
          </a:p>
        </p:txBody>
      </p:sp>
      <p:sp>
        <p:nvSpPr>
          <p:cNvPr id="4" name="Fußzeilenplatzhalter 3"/>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5" name="Foliennummernplatzhalter 4"/>
          <p:cNvSpPr>
            <a:spLocks noGrp="1"/>
          </p:cNvSpPr>
          <p:nvPr>
            <p:ph type="sldNum" sz="quarter" idx="11"/>
          </p:nvPr>
        </p:nvSpPr>
        <p:spPr>
          <a:xfrm>
            <a:off x="7042150" y="6243638"/>
            <a:ext cx="1905000" cy="457200"/>
          </a:xfrm>
        </p:spPr>
        <p:txBody>
          <a:bodyPr/>
          <a:lstStyle>
            <a:lvl1pPr>
              <a:defRPr/>
            </a:lvl1pPr>
          </a:lstStyle>
          <a:p>
            <a:pPr>
              <a:defRPr/>
            </a:pPr>
            <a:fld id="{2CD99F12-28AF-40AF-B589-6959FC147AB8}" type="slidenum">
              <a:rPr lang="de-DE"/>
              <a:pPr>
                <a:defRPr/>
              </a:pPr>
              <a:t>‹#›</a:t>
            </a:fld>
            <a:endParaRPr lang="de-DE"/>
          </a:p>
        </p:txBody>
      </p:sp>
    </p:spTree>
    <p:extLst>
      <p:ext uri="{BB962C8B-B14F-4D97-AF65-F5344CB8AC3E}">
        <p14:creationId xmlns:p14="http://schemas.microsoft.com/office/powerpoint/2010/main" val="900592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Inhaltsplatzhalter 2"/>
          <p:cNvSpPr>
            <a:spLocks noGrp="1"/>
          </p:cNvSpPr>
          <p:nvPr>
            <p:ph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396EF5ED-E5B7-4A34-8D64-C5E876C698BB}" type="slidenum">
              <a:rPr lang="de-DE"/>
              <a:pPr>
                <a:defRPr/>
              </a:pPr>
              <a:t>‹#›</a:t>
            </a:fld>
            <a:endParaRPr lang="de-DE"/>
          </a:p>
        </p:txBody>
      </p:sp>
    </p:spTree>
    <p:extLst>
      <p:ext uri="{BB962C8B-B14F-4D97-AF65-F5344CB8AC3E}">
        <p14:creationId xmlns:p14="http://schemas.microsoft.com/office/powerpoint/2010/main" val="2461012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F1C4C193-0012-4ED1-A660-B4617C99A245}" type="slidenum">
              <a:rPr lang="de-DE"/>
              <a:pPr>
                <a:defRPr/>
              </a:pPr>
              <a:t>‹#›</a:t>
            </a:fld>
            <a:endParaRPr lang="de-DE"/>
          </a:p>
        </p:txBody>
      </p:sp>
    </p:spTree>
    <p:extLst>
      <p:ext uri="{BB962C8B-B14F-4D97-AF65-F5344CB8AC3E}">
        <p14:creationId xmlns:p14="http://schemas.microsoft.com/office/powerpoint/2010/main" val="79900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4275138" cy="4114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lipArt-Platzhalter 3"/>
          <p:cNvSpPr>
            <a:spLocks noGrp="1"/>
          </p:cNvSpPr>
          <p:nvPr>
            <p:ph type="clipArt" sz="half" idx="2"/>
          </p:nvPr>
        </p:nvSpPr>
        <p:spPr>
          <a:xfrm>
            <a:off x="4678363" y="2017713"/>
            <a:ext cx="4276725" cy="4114800"/>
          </a:xfrm>
        </p:spPr>
        <p:txBody>
          <a:bodyPr>
            <a:normAutofit/>
          </a:bodyPr>
          <a:lstStyle/>
          <a:p>
            <a:pPr lvl="0"/>
            <a:endParaRPr lang="de-DE" noProof="0"/>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F3813B49-D2D2-4C9C-AA2B-2361F48C0C9D}" type="slidenum">
              <a:rPr lang="de-DE"/>
              <a:pPr>
                <a:defRPr/>
              </a:pPr>
              <a:t>‹#›</a:t>
            </a:fld>
            <a:endParaRPr lang="de-DE"/>
          </a:p>
        </p:txBody>
      </p:sp>
    </p:spTree>
    <p:extLst>
      <p:ext uri="{BB962C8B-B14F-4D97-AF65-F5344CB8AC3E}">
        <p14:creationId xmlns:p14="http://schemas.microsoft.com/office/powerpoint/2010/main" val="263378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lang="de-DE" dirty="0"/>
              <a:t>Titelmasterformat durch Klicken bearbeiten</a:t>
            </a:r>
            <a:endParaRPr lang="en-US" dirty="0"/>
          </a:p>
        </p:txBody>
      </p:sp>
      <p:sp>
        <p:nvSpPr>
          <p:cNvPr id="1028" name="Textplatzhalt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4" name="Datumsplatzhalt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smtClean="0">
                <a:solidFill>
                  <a:schemeClr val="tx2"/>
                </a:solidFill>
              </a:defRPr>
            </a:lvl1pPr>
          </a:lstStyle>
          <a:p>
            <a:pPr>
              <a:defRPr/>
            </a:pPr>
            <a:endParaRPr lang="en-US" b="0" dirty="0">
              <a:solidFill>
                <a:srgbClr val="464653"/>
              </a:solidFill>
            </a:endParaRPr>
          </a:p>
        </p:txBody>
      </p:sp>
      <p:sp>
        <p:nvSpPr>
          <p:cNvPr id="3" name="Fußzeilenplatzhalt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de-DE" b="0">
              <a:solidFill>
                <a:srgbClr val="464653"/>
              </a:solidFill>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032" name="Gerade Verbindung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34" name="Gerade Verbindung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2" name="Ellipse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3" name="Foliennummernplatzhalt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smtClean="0">
                <a:solidFill>
                  <a:srgbClr val="FFFFFF"/>
                </a:solidFill>
              </a:defRPr>
            </a:lvl1pPr>
          </a:lstStyle>
          <a:p>
            <a:pPr>
              <a:defRPr/>
            </a:pPr>
            <a:fld id="{A08E6AA8-8F6A-4E42-B01B-62438D63E04B}" type="slidenum">
              <a:rPr lang="de-DE"/>
              <a:pPr>
                <a:defRPr/>
              </a:pPr>
              <a:t>‹#›</a:t>
            </a:fld>
            <a:endParaRPr lang="de-DE"/>
          </a:p>
        </p:txBody>
      </p:sp>
    </p:spTree>
    <p:extLst>
      <p:ext uri="{BB962C8B-B14F-4D97-AF65-F5344CB8AC3E}">
        <p14:creationId xmlns:p14="http://schemas.microsoft.com/office/powerpoint/2010/main" val="2513297586"/>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Lst>
  <p:hf hdr="0" ftr="0" dt="0"/>
  <p:txStyles>
    <p:titleStyle>
      <a:lvl1pPr algn="l" rtl="0" fontAlgn="base">
        <a:spcBef>
          <a:spcPct val="0"/>
        </a:spcBef>
        <a:spcAft>
          <a:spcPct val="0"/>
        </a:spcAft>
        <a:defRPr sz="3000" kern="1200" cap="small">
          <a:solidFill>
            <a:schemeClr val="tx2"/>
          </a:solidFill>
          <a:latin typeface="+mj-lt"/>
          <a:ea typeface="+mj-ea"/>
          <a:cs typeface="+mj-cs"/>
        </a:defRPr>
      </a:lvl1pPr>
      <a:lvl2pPr algn="l" rtl="0" fontAlgn="base">
        <a:spcBef>
          <a:spcPct val="0"/>
        </a:spcBef>
        <a:spcAft>
          <a:spcPct val="0"/>
        </a:spcAft>
        <a:defRPr sz="3000">
          <a:solidFill>
            <a:schemeClr val="tx2"/>
          </a:solidFill>
          <a:latin typeface="Century Schoolbook"/>
        </a:defRPr>
      </a:lvl2pPr>
      <a:lvl3pPr algn="l" rtl="0" fontAlgn="base">
        <a:spcBef>
          <a:spcPct val="0"/>
        </a:spcBef>
        <a:spcAft>
          <a:spcPct val="0"/>
        </a:spcAft>
        <a:defRPr sz="3000">
          <a:solidFill>
            <a:schemeClr val="tx2"/>
          </a:solidFill>
          <a:latin typeface="Century Schoolbook"/>
        </a:defRPr>
      </a:lvl3pPr>
      <a:lvl4pPr algn="l" rtl="0" fontAlgn="base">
        <a:spcBef>
          <a:spcPct val="0"/>
        </a:spcBef>
        <a:spcAft>
          <a:spcPct val="0"/>
        </a:spcAft>
        <a:defRPr sz="3000">
          <a:solidFill>
            <a:schemeClr val="tx2"/>
          </a:solidFill>
          <a:latin typeface="Century Schoolbook"/>
        </a:defRPr>
      </a:lvl4pPr>
      <a:lvl5pPr algn="l" rtl="0" fontAlgn="base">
        <a:spcBef>
          <a:spcPct val="0"/>
        </a:spcBef>
        <a:spcAft>
          <a:spcPct val="0"/>
        </a:spcAft>
        <a:defRPr sz="3000">
          <a:solidFill>
            <a:schemeClr val="tx2"/>
          </a:solidFill>
          <a:latin typeface="Century Schoolbook"/>
        </a:defRPr>
      </a:lvl5pPr>
      <a:lvl6pPr marL="457200" algn="l" rtl="0" fontAlgn="base">
        <a:spcBef>
          <a:spcPct val="0"/>
        </a:spcBef>
        <a:spcAft>
          <a:spcPct val="0"/>
        </a:spcAft>
        <a:defRPr sz="3000">
          <a:solidFill>
            <a:schemeClr val="tx2"/>
          </a:solidFill>
          <a:latin typeface="Century Schoolbook"/>
        </a:defRPr>
      </a:lvl6pPr>
      <a:lvl7pPr marL="914400" algn="l" rtl="0" fontAlgn="base">
        <a:spcBef>
          <a:spcPct val="0"/>
        </a:spcBef>
        <a:spcAft>
          <a:spcPct val="0"/>
        </a:spcAft>
        <a:defRPr sz="3000">
          <a:solidFill>
            <a:schemeClr val="tx2"/>
          </a:solidFill>
          <a:latin typeface="Century Schoolbook"/>
        </a:defRPr>
      </a:lvl7pPr>
      <a:lvl8pPr marL="1371600" algn="l" rtl="0" fontAlgn="base">
        <a:spcBef>
          <a:spcPct val="0"/>
        </a:spcBef>
        <a:spcAft>
          <a:spcPct val="0"/>
        </a:spcAft>
        <a:defRPr sz="3000">
          <a:solidFill>
            <a:schemeClr val="tx2"/>
          </a:solidFill>
          <a:latin typeface="Century Schoolbook"/>
        </a:defRPr>
      </a:lvl8pPr>
      <a:lvl9pPr marL="1828800" algn="l" rtl="0" fontAlgn="base">
        <a:spcBef>
          <a:spcPct val="0"/>
        </a:spcBef>
        <a:spcAft>
          <a:spcPct val="0"/>
        </a:spcAft>
        <a:defRPr sz="3000">
          <a:solidFill>
            <a:schemeClr val="tx2"/>
          </a:solidFill>
          <a:latin typeface="Century Schoolbook"/>
        </a:defRPr>
      </a:lvl9pPr>
    </p:titleStyle>
    <p:bodyStyle>
      <a:lvl1pPr marL="273050" indent="-273050" algn="l" rtl="0" fontAlgn="base">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fontAlgn="base">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fontAlgn="base">
        <a:spcBef>
          <a:spcPct val="20000"/>
        </a:spcBef>
        <a:spcAft>
          <a:spcPct val="0"/>
        </a:spcAft>
        <a:buClr>
          <a:srgbClr val="646C8F"/>
        </a:buClr>
        <a:buSzPct val="60000"/>
        <a:buFont typeface="Wingdings" pitchFamily="2" charset="2"/>
        <a:buChar char=""/>
        <a:defRPr kern="1200">
          <a:solidFill>
            <a:schemeClr val="tx1"/>
          </a:solidFill>
          <a:latin typeface="+mn-lt"/>
          <a:ea typeface="+mn-ea"/>
          <a:cs typeface="+mn-cs"/>
        </a:defRPr>
      </a:lvl3pPr>
      <a:lvl4pPr marL="1187450" indent="-182563" algn="l" rtl="0" fontAlgn="base">
        <a:spcBef>
          <a:spcPct val="20000"/>
        </a:spcBef>
        <a:spcAft>
          <a:spcPct val="0"/>
        </a:spcAft>
        <a:buClr>
          <a:srgbClr val="BCBFCE"/>
        </a:buClr>
        <a:buSzPct val="60000"/>
        <a:buFont typeface="Wingdings" pitchFamily="2" charset="2"/>
        <a:buChar char=""/>
        <a:defRPr kern="1200">
          <a:solidFill>
            <a:schemeClr val="tx1"/>
          </a:solidFill>
          <a:latin typeface="+mn-lt"/>
          <a:ea typeface="+mn-ea"/>
          <a:cs typeface="+mn-cs"/>
        </a:defRPr>
      </a:lvl4pPr>
      <a:lvl5pPr marL="1462088" indent="-182563" algn="l" rtl="0" fontAlgn="base">
        <a:spcBef>
          <a:spcPct val="20000"/>
        </a:spcBef>
        <a:spcAft>
          <a:spcPct val="0"/>
        </a:spcAft>
        <a:buClr>
          <a:srgbClr val="CDD8E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a:t>
            </a:fld>
            <a:endParaRPr lang="de-DE">
              <a:solidFill>
                <a:srgbClr val="FFFFFF"/>
              </a:solidFill>
            </a:endParaRPr>
          </a:p>
        </p:txBody>
      </p:sp>
      <p:sp>
        <p:nvSpPr>
          <p:cNvPr id="16387" name="Textfeld 2"/>
          <p:cNvSpPr txBox="1">
            <a:spLocks noChangeArrowheads="1"/>
          </p:cNvSpPr>
          <p:nvPr/>
        </p:nvSpPr>
        <p:spPr bwMode="auto">
          <a:xfrm>
            <a:off x="755650" y="2852738"/>
            <a:ext cx="74882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a:solidFill>
                  <a:prstClr val="black"/>
                </a:solidFill>
              </a:rPr>
              <a:t>02_Das </a:t>
            </a:r>
            <a:r>
              <a:rPr lang="de-DE" sz="4000" b="0" dirty="0">
                <a:solidFill>
                  <a:prstClr val="black"/>
                </a:solidFill>
              </a:rPr>
              <a:t>Konzept der Handlungsorientierung</a:t>
            </a:r>
          </a:p>
        </p:txBody>
      </p:sp>
    </p:spTree>
    <p:extLst>
      <p:ext uri="{BB962C8B-B14F-4D97-AF65-F5344CB8AC3E}">
        <p14:creationId xmlns:p14="http://schemas.microsoft.com/office/powerpoint/2010/main" val="2345758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title"/>
          </p:nvPr>
        </p:nvSpPr>
        <p:spPr/>
        <p:txBody>
          <a:bodyPr anchor="ctr"/>
          <a:lstStyle/>
          <a:p>
            <a:r>
              <a:rPr lang="de-DE" dirty="0"/>
              <a:t>Begründung der Handlungsorientierung</a:t>
            </a:r>
          </a:p>
        </p:txBody>
      </p:sp>
      <p:sp>
        <p:nvSpPr>
          <p:cNvPr id="11267" name="Inhaltsplatzhalter 2"/>
          <p:cNvSpPr>
            <a:spLocks noGrp="1"/>
          </p:cNvSpPr>
          <p:nvPr>
            <p:ph sz="quarter" idx="1"/>
          </p:nvPr>
        </p:nvSpPr>
        <p:spPr/>
        <p:txBody>
          <a:bodyPr>
            <a:normAutofit fontScale="92500" lnSpcReduction="20000"/>
          </a:bodyPr>
          <a:lstStyle/>
          <a:p>
            <a:pPr marL="0" indent="0">
              <a:buNone/>
            </a:pPr>
            <a:r>
              <a:rPr lang="de-DE" sz="2100" dirty="0"/>
              <a:t>„Der eigentliche Kenntniserwerb setzt in erster Linie die Aneignung entsprechender Handlungen und Operationen voraus, deren Produkt die Kenntnisse sind. […] Ein Schüler eignet sich einen Begriff an, indem er Handlungen mit den wesentlichen Merkmalen von Objekten vollzieht, indem er zum Beispiel Vergleiche anstellt und auf dieser Grundlage gegebene Gegenstände dem betreffenden Begriff zuordnet.“</a:t>
            </a:r>
          </a:p>
          <a:p>
            <a:pPr marL="0" indent="0">
              <a:buNone/>
            </a:pPr>
            <a:r>
              <a:rPr lang="de-DE" sz="2100" dirty="0"/>
              <a:t>			   (LEONTJEW/GALPERIN, 1966, S.55)</a:t>
            </a:r>
          </a:p>
          <a:p>
            <a:pPr marL="0" indent="0">
              <a:buNone/>
            </a:pPr>
            <a:endParaRPr lang="de-DE" sz="2100" dirty="0"/>
          </a:p>
          <a:p>
            <a:pPr marL="0" indent="0">
              <a:buNone/>
            </a:pPr>
            <a:endParaRPr lang="de-DE" sz="2100" dirty="0"/>
          </a:p>
          <a:p>
            <a:pPr marL="0" indent="0">
              <a:buNone/>
            </a:pPr>
            <a:r>
              <a:rPr lang="de-DE" sz="2100" dirty="0"/>
              <a:t>„Von den elementarsten sensomotorischen Handlungen (wie Stoßen und Ziehen) bis hin zu den kompliziertesten intellektuellen Operationen, welche verinnerlichte, gedanklich ausgeführte Handlungen sind (z.B. Vereinigen, Reihenbilden, Zuordnen) ist Erkenntnis ständig verknüpft mit Handlungen oder Operationen, d.h. mit Transformationen.“</a:t>
            </a:r>
          </a:p>
          <a:p>
            <a:pPr marL="0" indent="0">
              <a:buNone/>
            </a:pPr>
            <a:r>
              <a:rPr lang="de-DE" sz="2100" dirty="0"/>
              <a:t>					    (PIAGET, 1983, S.25)</a:t>
            </a:r>
          </a:p>
          <a:p>
            <a:pPr marL="0" indent="0">
              <a:buNone/>
            </a:pPr>
            <a:endParaRPr lang="de-DE" sz="2400" dirty="0"/>
          </a:p>
        </p:txBody>
      </p:sp>
      <p:sp>
        <p:nvSpPr>
          <p:cNvPr id="2" name="Foliennummernplatzhalter 1"/>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a:t>
            </a:fld>
            <a:endParaRPr lang="de-DE"/>
          </a:p>
        </p:txBody>
      </p:sp>
    </p:spTree>
    <p:extLst>
      <p:ext uri="{BB962C8B-B14F-4D97-AF65-F5344CB8AC3E}">
        <p14:creationId xmlns:p14="http://schemas.microsoft.com/office/powerpoint/2010/main" val="3917402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title"/>
          </p:nvPr>
        </p:nvSpPr>
        <p:spPr/>
        <p:txBody>
          <a:bodyPr anchor="ctr"/>
          <a:lstStyle/>
          <a:p>
            <a:r>
              <a:rPr lang="de-DE" dirty="0"/>
              <a:t>Begründung der Handlungsorientierung</a:t>
            </a:r>
          </a:p>
        </p:txBody>
      </p:sp>
      <p:sp>
        <p:nvSpPr>
          <p:cNvPr id="11267" name="Inhaltsplatzhalter 2"/>
          <p:cNvSpPr>
            <a:spLocks noGrp="1"/>
          </p:cNvSpPr>
          <p:nvPr>
            <p:ph sz="quarter" idx="1"/>
          </p:nvPr>
        </p:nvSpPr>
        <p:spPr/>
        <p:txBody>
          <a:bodyPr>
            <a:normAutofit fontScale="77500" lnSpcReduction="20000"/>
          </a:bodyPr>
          <a:lstStyle/>
          <a:p>
            <a:pPr marL="0" indent="0" algn="just">
              <a:buNone/>
            </a:pPr>
            <a:r>
              <a:rPr lang="de-DE" sz="2100" dirty="0"/>
              <a:t>„Lernen, Erziehung und Bildung ist stets eine Funktion der Tätigkeit. Überlege stets, wie Du Deinen Schüler in Tätigkeit (Aktivität) in einem Erkenntnisgebiet oder in eine menschliche Bewährungssituation versetzen kannst.“</a:t>
            </a:r>
          </a:p>
          <a:p>
            <a:pPr marL="0" indent="0" algn="just">
              <a:buNone/>
            </a:pPr>
            <a:r>
              <a:rPr lang="de-DE" sz="2100" dirty="0"/>
              <a:t>					        (HERING, 1969, S.7)</a:t>
            </a:r>
          </a:p>
          <a:p>
            <a:pPr marL="0" indent="0" algn="just">
              <a:buNone/>
            </a:pPr>
            <a:endParaRPr lang="de-DE" sz="2100" dirty="0"/>
          </a:p>
          <a:p>
            <a:pPr marL="0" indent="0" algn="just">
              <a:buNone/>
            </a:pPr>
            <a:r>
              <a:rPr lang="de-DE" sz="2100" dirty="0"/>
              <a:t>„Stoffsammlungen, also Beschreibungen von Wissen, Zusammen-fassungen von Unterrichtsergebnissen, sind dann gefährlich, wenn sie im Unterricht nicht in Tätigkeiten zurückgewandelt werden, die von lebendigen Problemen ausgehen und vom Schüler eigenes Handeln, Beobachten und Nachdenken erfordern.“</a:t>
            </a:r>
          </a:p>
          <a:p>
            <a:pPr marL="0" indent="0" algn="just">
              <a:buNone/>
            </a:pPr>
            <a:r>
              <a:rPr lang="de-DE" sz="2100" dirty="0"/>
              <a:t>					       (AEBLI, 1987, S.30 f.)</a:t>
            </a:r>
          </a:p>
          <a:p>
            <a:pPr marL="0" indent="0" algn="just">
              <a:buNone/>
            </a:pPr>
            <a:endParaRPr lang="de-DE" sz="2100" dirty="0"/>
          </a:p>
          <a:p>
            <a:pPr marL="0" indent="0" algn="just">
              <a:buNone/>
            </a:pPr>
            <a:r>
              <a:rPr lang="de-DE" sz="2100" dirty="0"/>
              <a:t>„Alle methodische Kunst liegt darin beschlossen, tote Sachverhalte in lebendige Handlungen </a:t>
            </a:r>
            <a:r>
              <a:rPr lang="de-DE" sz="2100" dirty="0" err="1"/>
              <a:t>rückzuverwandeln</a:t>
            </a:r>
            <a:r>
              <a:rPr lang="de-DE" sz="2100" dirty="0"/>
              <a:t>, aus denen sie entsprungen sind: Gegenstände in Erfindungen und Entdeckungen, Pläne in Sorgen, Verträge in Beschlüsse, Lösungen in Aufgaben …“</a:t>
            </a:r>
          </a:p>
          <a:p>
            <a:pPr marL="0" indent="0" algn="just">
              <a:buNone/>
            </a:pPr>
            <a:r>
              <a:rPr lang="de-DE" sz="2100" dirty="0"/>
              <a:t>					        (ROTH, 1976, S.123)</a:t>
            </a:r>
          </a:p>
        </p:txBody>
      </p:sp>
      <p:sp>
        <p:nvSpPr>
          <p:cNvPr id="2" name="Foliennummernplatzhalter 1"/>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3</a:t>
            </a:fld>
            <a:endParaRPr lang="de-DE"/>
          </a:p>
        </p:txBody>
      </p:sp>
    </p:spTree>
    <p:extLst>
      <p:ext uri="{BB962C8B-B14F-4D97-AF65-F5344CB8AC3E}">
        <p14:creationId xmlns:p14="http://schemas.microsoft.com/office/powerpoint/2010/main" val="2358627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Psychologische Grundlagen</a:t>
            </a:r>
          </a:p>
        </p:txBody>
      </p:sp>
      <p:sp>
        <p:nvSpPr>
          <p:cNvPr id="3" name="Inhaltsplatzhalter 2"/>
          <p:cNvSpPr>
            <a:spLocks noGrp="1"/>
          </p:cNvSpPr>
          <p:nvPr>
            <p:ph sz="quarter" idx="1"/>
          </p:nvPr>
        </p:nvSpPr>
        <p:spPr/>
        <p:txBody>
          <a:bodyPr>
            <a:normAutofit/>
          </a:bodyPr>
          <a:lstStyle/>
          <a:p>
            <a:pPr marL="0" indent="0">
              <a:buNone/>
            </a:pPr>
            <a:r>
              <a:rPr lang="de-DE" b="1" dirty="0"/>
              <a:t>Handlung</a:t>
            </a:r>
          </a:p>
          <a:p>
            <a:endParaRPr lang="de-DE" sz="2000" dirty="0"/>
          </a:p>
          <a:p>
            <a:r>
              <a:rPr lang="de-DE" sz="2000" dirty="0"/>
              <a:t>= eine Aktivität mit den Merkmalen der Zielgerichtetheit und der Bewusstheit</a:t>
            </a:r>
          </a:p>
          <a:p>
            <a:r>
              <a:rPr lang="de-DE" sz="2000" dirty="0"/>
              <a:t>Menschliche Tätigkeit vollzieht sich immer in Handlungen</a:t>
            </a:r>
          </a:p>
          <a:p>
            <a:r>
              <a:rPr lang="de-DE" sz="2000" dirty="0"/>
              <a:t>Persönlichkeitsentwicklung vollzieht sich immer in und durch Handlungen</a:t>
            </a:r>
          </a:p>
          <a:p>
            <a:pPr marL="0" indent="0">
              <a:buNone/>
            </a:pPr>
            <a:r>
              <a:rPr lang="de-DE" sz="2000" dirty="0"/>
              <a:t>			(vgl. LEONTJEW, 1979, S.103)</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4</a:t>
            </a:fld>
            <a:endParaRPr lang="de-DE"/>
          </a:p>
        </p:txBody>
      </p:sp>
    </p:spTree>
    <p:extLst>
      <p:ext uri="{BB962C8B-B14F-4D97-AF65-F5344CB8AC3E}">
        <p14:creationId xmlns:p14="http://schemas.microsoft.com/office/powerpoint/2010/main" val="2938543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Hierarchisch-sequentielles Modell der Handlungsregulation </a:t>
            </a:r>
            <a:r>
              <a:rPr lang="sv-SE" sz="2200" dirty="0"/>
              <a:t>(Hacker 1978, 1998; Volpert 1980)</a:t>
            </a:r>
            <a:br>
              <a:rPr lang="sv-SE" dirty="0"/>
            </a:br>
            <a:endParaRPr lang="de-DE" dirty="0"/>
          </a:p>
        </p:txBody>
      </p:sp>
      <p:sp>
        <p:nvSpPr>
          <p:cNvPr id="3" name="Inhaltsplatzhalter 2"/>
          <p:cNvSpPr>
            <a:spLocks noGrp="1"/>
          </p:cNvSpPr>
          <p:nvPr>
            <p:ph sz="quarter" idx="1"/>
          </p:nvPr>
        </p:nvSpPr>
        <p:spPr/>
        <p:txBody>
          <a:bodyPr>
            <a:normAutofit/>
          </a:bodyPr>
          <a:lstStyle/>
          <a:p>
            <a:r>
              <a:rPr lang="de-DE" sz="2200" b="1" dirty="0"/>
              <a:t>Tätigkeit:</a:t>
            </a:r>
            <a:r>
              <a:rPr lang="de-DE" sz="2200" dirty="0"/>
              <a:t>	    komplexere Handlungsgefüge</a:t>
            </a:r>
          </a:p>
          <a:p>
            <a:endParaRPr lang="de-DE" sz="2200" dirty="0"/>
          </a:p>
          <a:p>
            <a:r>
              <a:rPr lang="de-DE" sz="2200" b="1" dirty="0"/>
              <a:t>Handeln: </a:t>
            </a:r>
            <a:r>
              <a:rPr lang="de-DE" sz="2200" dirty="0"/>
              <a:t>	    bewusstes, zielgerichtetes Verhalten</a:t>
            </a:r>
          </a:p>
          <a:p>
            <a:endParaRPr lang="de-DE" sz="2200" dirty="0"/>
          </a:p>
          <a:p>
            <a:r>
              <a:rPr lang="de-DE" sz="2200" b="1" dirty="0"/>
              <a:t>Operationen:  </a:t>
            </a:r>
            <a:r>
              <a:rPr lang="de-DE" sz="2200" dirty="0"/>
              <a:t>unselbständige Bestandteile von  </a:t>
            </a:r>
          </a:p>
          <a:p>
            <a:pPr marL="0" indent="0">
              <a:buNone/>
            </a:pPr>
            <a:r>
              <a:rPr lang="de-DE" sz="2200" dirty="0"/>
              <a:t>		     Handlungen</a:t>
            </a:r>
          </a:p>
          <a:p>
            <a:pPr marL="0" indent="0">
              <a:buNone/>
            </a:pPr>
            <a:endParaRPr lang="de-DE" sz="2200" dirty="0"/>
          </a:p>
          <a:p>
            <a:pPr marL="0" indent="0">
              <a:buNone/>
            </a:pPr>
            <a:r>
              <a:rPr lang="de-DE" sz="2200" dirty="0"/>
              <a:t>„Handlung“ als Analyse-Einheit</a:t>
            </a:r>
          </a:p>
          <a:p>
            <a:r>
              <a:rPr lang="de-DE" sz="2200" dirty="0"/>
              <a:t>nicht Bewegungselemente (Taylor, </a:t>
            </a:r>
            <a:r>
              <a:rPr lang="de-DE" sz="2200" dirty="0" err="1"/>
              <a:t>Gilbreth</a:t>
            </a:r>
            <a:r>
              <a:rPr lang="de-DE" sz="2200" dirty="0"/>
              <a:t>)</a:t>
            </a:r>
          </a:p>
          <a:p>
            <a:r>
              <a:rPr lang="de-DE" sz="2200" dirty="0"/>
              <a:t>kleinste abgrenzbare zielbewusste Verhaltenseinheit</a:t>
            </a:r>
          </a:p>
          <a:p>
            <a:r>
              <a:rPr lang="de-DE" sz="2200" dirty="0"/>
              <a:t>basiert auf zyklischen Einheiten (TOTE- / VVR-)</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5</a:t>
            </a:fld>
            <a:endParaRPr lang="de-DE"/>
          </a:p>
        </p:txBody>
      </p:sp>
    </p:spTree>
    <p:extLst>
      <p:ext uri="{BB962C8B-B14F-4D97-AF65-F5344CB8AC3E}">
        <p14:creationId xmlns:p14="http://schemas.microsoft.com/office/powerpoint/2010/main" val="425496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Taxonomie von Selbständigkeit im Handeln</a:t>
            </a:r>
          </a:p>
        </p:txBody>
      </p:sp>
      <p:sp>
        <p:nvSpPr>
          <p:cNvPr id="3" name="Inhaltsplatzhalter 2"/>
          <p:cNvSpPr>
            <a:spLocks noGrp="1"/>
          </p:cNvSpPr>
          <p:nvPr>
            <p:ph sz="quarter" idx="1"/>
          </p:nvPr>
        </p:nvSpPr>
        <p:spPr/>
        <p:txBody>
          <a:bodyPr>
            <a:normAutofit/>
          </a:bodyPr>
          <a:lstStyle/>
          <a:p>
            <a:pPr marL="0" indent="0">
              <a:buNone/>
            </a:pPr>
            <a:r>
              <a:rPr lang="de-DE" sz="2000" dirty="0"/>
              <a:t>Stufe 1	Handlungsmuster nachvollziehen</a:t>
            </a:r>
          </a:p>
          <a:p>
            <a:endParaRPr lang="de-DE" sz="2000" dirty="0"/>
          </a:p>
          <a:p>
            <a:pPr marL="0" indent="0">
              <a:buNone/>
            </a:pPr>
            <a:r>
              <a:rPr lang="de-DE" sz="2000" dirty="0"/>
              <a:t>Stufe 2	Handlungsmuster anpassen</a:t>
            </a:r>
          </a:p>
          <a:p>
            <a:endParaRPr lang="de-DE" sz="2000" dirty="0"/>
          </a:p>
          <a:p>
            <a:pPr marL="0" indent="0">
              <a:buNone/>
            </a:pPr>
            <a:r>
              <a:rPr lang="de-DE" sz="2000" dirty="0"/>
              <a:t>Stufe 3	Handlungsmuster auswählen</a:t>
            </a:r>
          </a:p>
          <a:p>
            <a:endParaRPr lang="de-DE" sz="2000" dirty="0"/>
          </a:p>
          <a:p>
            <a:pPr marL="0" indent="0">
              <a:buNone/>
            </a:pPr>
            <a:r>
              <a:rPr lang="de-DE" sz="2000" dirty="0"/>
              <a:t>Stufe 4	Handlungsmuster kombinieren</a:t>
            </a:r>
          </a:p>
          <a:p>
            <a:endParaRPr lang="de-DE" sz="2000" dirty="0"/>
          </a:p>
          <a:p>
            <a:pPr marL="0" indent="0">
              <a:buNone/>
            </a:pPr>
            <a:r>
              <a:rPr lang="de-DE" sz="2000" dirty="0"/>
              <a:t>Stufe 5	eigene Handlungsmuster entwerfen</a:t>
            </a:r>
          </a:p>
          <a:p>
            <a:pPr marL="0" indent="0" algn="r">
              <a:buNone/>
            </a:pPr>
            <a:r>
              <a:rPr lang="de-DE" sz="2000" dirty="0"/>
              <a:t>					      </a:t>
            </a:r>
            <a:r>
              <a:rPr lang="de-DE" sz="1800" dirty="0"/>
              <a:t>Zunahme der</a:t>
            </a:r>
          </a:p>
          <a:p>
            <a:pPr marL="0" indent="0" algn="r">
              <a:buNone/>
            </a:pPr>
            <a:r>
              <a:rPr lang="de-DE" sz="1800" dirty="0"/>
              <a:t>				 	       Selbständigkeit der</a:t>
            </a:r>
          </a:p>
          <a:p>
            <a:pPr marL="0" indent="0" algn="r">
              <a:buNone/>
            </a:pPr>
            <a:r>
              <a:rPr lang="de-DE" sz="1800" dirty="0"/>
              <a:t>					      Handlungsausführung</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6</a:t>
            </a:fld>
            <a:endParaRPr lang="de-DE"/>
          </a:p>
        </p:txBody>
      </p:sp>
      <p:sp>
        <p:nvSpPr>
          <p:cNvPr id="5" name="Line 5"/>
          <p:cNvSpPr>
            <a:spLocks noChangeShapeType="1"/>
          </p:cNvSpPr>
          <p:nvPr/>
        </p:nvSpPr>
        <p:spPr bwMode="auto">
          <a:xfrm>
            <a:off x="7236296" y="1556792"/>
            <a:ext cx="0" cy="3384376"/>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de-DE"/>
          </a:p>
        </p:txBody>
      </p:sp>
    </p:spTree>
    <p:extLst>
      <p:ext uri="{BB962C8B-B14F-4D97-AF65-F5344CB8AC3E}">
        <p14:creationId xmlns:p14="http://schemas.microsoft.com/office/powerpoint/2010/main" val="205839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a:bodyPr>
          <a:lstStyle/>
          <a:p>
            <a:r>
              <a:rPr lang="de-DE" sz="2400" dirty="0"/>
              <a:t>Beziehung der Begriffe Tätigkeit, Handlung und Operation in der Theorie der Handlungsregulation </a:t>
            </a:r>
            <a:r>
              <a:rPr lang="de-DE" sz="1800" dirty="0"/>
              <a:t>(nach Hacker und </a:t>
            </a:r>
            <a:r>
              <a:rPr lang="de-DE" sz="1800" dirty="0" err="1"/>
              <a:t>Leontjew</a:t>
            </a:r>
            <a:r>
              <a:rPr lang="de-DE" sz="1800" dirty="0"/>
              <a:t>)</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7</a:t>
            </a:fld>
            <a:endParaRPr lang="de-DE"/>
          </a:p>
        </p:txBody>
      </p:sp>
      <p:pic>
        <p:nvPicPr>
          <p:cNvPr id="5" name="Picture 5" descr="Abbildung 5: Die Beziehung der Begriffe Tätigkeit, Handlung und Operation in der Theorie der HAndlungsregultation (nach Hack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12776"/>
            <a:ext cx="7010400"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8268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Eine vollständige Handlung besteht aus:</a:t>
            </a:r>
          </a:p>
        </p:txBody>
      </p:sp>
      <p:sp>
        <p:nvSpPr>
          <p:cNvPr id="3" name="Inhaltsplatzhalter 2"/>
          <p:cNvSpPr>
            <a:spLocks noGrp="1"/>
          </p:cNvSpPr>
          <p:nvPr>
            <p:ph sz="quarter" idx="1"/>
          </p:nvPr>
        </p:nvSpPr>
        <p:spPr/>
        <p:txBody>
          <a:bodyPr/>
          <a:lstStyle/>
          <a:p>
            <a:pPr marL="457200" indent="-457200" algn="ctr">
              <a:buSzPct val="100000"/>
              <a:buFont typeface="+mj-lt"/>
              <a:buAutoNum type="arabicPeriod"/>
            </a:pPr>
            <a:endParaRPr lang="de-DE" dirty="0"/>
          </a:p>
          <a:p>
            <a:pPr marL="457200" indent="-457200" algn="ctr">
              <a:buSzPct val="100000"/>
              <a:buFont typeface="+mj-lt"/>
              <a:buAutoNum type="arabicPeriod"/>
            </a:pPr>
            <a:endParaRPr lang="de-DE" dirty="0"/>
          </a:p>
          <a:p>
            <a:pPr marL="457200" indent="-457200" algn="ctr">
              <a:buSzPct val="100000"/>
              <a:buFont typeface="+mj-lt"/>
              <a:buAutoNum type="arabicPeriod"/>
            </a:pPr>
            <a:r>
              <a:rPr lang="de-DE" dirty="0"/>
              <a:t>Orientieren</a:t>
            </a:r>
          </a:p>
          <a:p>
            <a:pPr marL="457200" indent="-457200" algn="ctr">
              <a:buSzPct val="100000"/>
              <a:buFont typeface="+mj-lt"/>
              <a:buAutoNum type="arabicPeriod"/>
            </a:pPr>
            <a:endParaRPr lang="de-DE" dirty="0"/>
          </a:p>
          <a:p>
            <a:pPr marL="457200" indent="-457200" algn="ctr">
              <a:buSzPct val="100000"/>
              <a:buFont typeface="+mj-lt"/>
              <a:buAutoNum type="arabicPeriod"/>
            </a:pPr>
            <a:r>
              <a:rPr lang="de-DE" dirty="0"/>
              <a:t>Durchführen</a:t>
            </a:r>
          </a:p>
          <a:p>
            <a:pPr marL="457200" indent="-457200" algn="ctr">
              <a:buSzPct val="100000"/>
              <a:buFont typeface="+mj-lt"/>
              <a:buAutoNum type="arabicPeriod"/>
            </a:pPr>
            <a:endParaRPr lang="de-DE" dirty="0"/>
          </a:p>
          <a:p>
            <a:pPr marL="457200" indent="-457200" algn="ctr">
              <a:buSzPct val="100000"/>
              <a:buFont typeface="+mj-lt"/>
              <a:buAutoNum type="arabicPeriod"/>
            </a:pPr>
            <a:r>
              <a:rPr lang="de-DE" dirty="0"/>
              <a:t>Kontrollieren</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8</a:t>
            </a:fld>
            <a:endParaRPr lang="de-DE"/>
          </a:p>
        </p:txBody>
      </p:sp>
    </p:spTree>
    <p:extLst>
      <p:ext uri="{BB962C8B-B14F-4D97-AF65-F5344CB8AC3E}">
        <p14:creationId xmlns:p14="http://schemas.microsoft.com/office/powerpoint/2010/main" val="1918669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Vollständige Handlung nach HACKER:</a:t>
            </a:r>
          </a:p>
        </p:txBody>
      </p:sp>
      <p:sp>
        <p:nvSpPr>
          <p:cNvPr id="3" name="Inhaltsplatzhalter 2"/>
          <p:cNvSpPr>
            <a:spLocks noGrp="1"/>
          </p:cNvSpPr>
          <p:nvPr>
            <p:ph sz="quarter" idx="1"/>
          </p:nvPr>
        </p:nvSpPr>
        <p:spPr/>
        <p:txBody>
          <a:bodyPr>
            <a:normAutofit/>
          </a:bodyPr>
          <a:lstStyle/>
          <a:p>
            <a:pPr marL="0" indent="0">
              <a:buNone/>
            </a:pPr>
            <a:r>
              <a:rPr lang="de-DE" sz="2000" b="1" dirty="0"/>
              <a:t>Orientieren:</a:t>
            </a:r>
            <a:r>
              <a:rPr lang="de-DE" sz="2000" dirty="0"/>
              <a:t>	Handelnde macht sich mit der 				Handlungssituation vertraut</a:t>
            </a:r>
          </a:p>
          <a:p>
            <a:pPr marL="0" indent="0">
              <a:buNone/>
            </a:pPr>
            <a:endParaRPr lang="de-DE" sz="2000" dirty="0"/>
          </a:p>
          <a:p>
            <a:pPr marL="0" indent="0">
              <a:buNone/>
            </a:pPr>
            <a:r>
              <a:rPr lang="de-DE" sz="2000" b="1" dirty="0"/>
              <a:t>Richten:</a:t>
            </a:r>
            <a:r>
              <a:rPr lang="de-DE" sz="2000" dirty="0"/>
              <a:t>	Bildung des Handlungszieles und der 			Teilzielhierarchie</a:t>
            </a:r>
          </a:p>
          <a:p>
            <a:pPr marL="0" indent="0">
              <a:buNone/>
            </a:pPr>
            <a:endParaRPr lang="de-DE" sz="2000" dirty="0"/>
          </a:p>
          <a:p>
            <a:pPr marL="0" indent="0">
              <a:buNone/>
            </a:pPr>
            <a:r>
              <a:rPr lang="de-DE" sz="2000" b="1" dirty="0"/>
              <a:t>Entwerfen:</a:t>
            </a:r>
            <a:r>
              <a:rPr lang="de-DE" sz="2000" dirty="0"/>
              <a:t>	Erarbeitung von Handlungswegen</a:t>
            </a:r>
          </a:p>
          <a:p>
            <a:pPr marL="0" indent="0">
              <a:buNone/>
            </a:pPr>
            <a:endParaRPr lang="de-DE" sz="2000" dirty="0"/>
          </a:p>
          <a:p>
            <a:pPr marL="0" indent="0">
              <a:buNone/>
            </a:pPr>
            <a:r>
              <a:rPr lang="de-DE" sz="2000" b="1" dirty="0"/>
              <a:t>Entscheiden:</a:t>
            </a:r>
            <a:r>
              <a:rPr lang="de-DE" sz="2000" dirty="0"/>
              <a:t>	Urteils- und Entscheidungsfindung bzgl. 		Wege und Mittel</a:t>
            </a:r>
          </a:p>
          <a:p>
            <a:pPr marL="0" indent="0">
              <a:buNone/>
            </a:pPr>
            <a:endParaRPr lang="de-DE" sz="2000" dirty="0"/>
          </a:p>
          <a:p>
            <a:pPr marL="0" indent="0">
              <a:buNone/>
            </a:pPr>
            <a:r>
              <a:rPr lang="de-DE" sz="2000" b="1" dirty="0"/>
              <a:t>Kontrollieren:</a:t>
            </a:r>
            <a:r>
              <a:rPr lang="de-DE" sz="2000" dirty="0"/>
              <a:t> Kontrolle von Ablauf und Ergebnis der 		  Handlung</a:t>
            </a:r>
          </a:p>
          <a:p>
            <a:pPr marL="0" indent="0">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9</a:t>
            </a:fld>
            <a:endParaRPr lang="de-DE"/>
          </a:p>
        </p:txBody>
      </p:sp>
    </p:spTree>
    <p:extLst>
      <p:ext uri="{BB962C8B-B14F-4D97-AF65-F5344CB8AC3E}">
        <p14:creationId xmlns:p14="http://schemas.microsoft.com/office/powerpoint/2010/main" val="2234250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Bildungsrelevante Charakteristika moderner Produktionsstrukturen</a:t>
            </a:r>
          </a:p>
        </p:txBody>
      </p:sp>
      <p:sp>
        <p:nvSpPr>
          <p:cNvPr id="3" name="Inhaltsplatzhalter 2"/>
          <p:cNvSpPr>
            <a:spLocks noGrp="1"/>
          </p:cNvSpPr>
          <p:nvPr>
            <p:ph sz="quarter" idx="1"/>
          </p:nvPr>
        </p:nvSpPr>
        <p:spPr/>
        <p:txBody>
          <a:bodyPr>
            <a:normAutofit fontScale="77500" lnSpcReduction="20000"/>
          </a:bodyPr>
          <a:lstStyle/>
          <a:p>
            <a:pPr marL="457200" indent="-457200">
              <a:buSzPct val="100000"/>
              <a:buFont typeface="+mj-lt"/>
              <a:buAutoNum type="arabicPeriod"/>
            </a:pPr>
            <a:r>
              <a:rPr lang="de-DE" dirty="0"/>
              <a:t>Prozesskettenorientierte Organisation statt funktionaler Hierarchien</a:t>
            </a:r>
          </a:p>
          <a:p>
            <a:pPr marL="457200" indent="-457200">
              <a:buSzPct val="100000"/>
              <a:buFont typeface="+mj-lt"/>
              <a:buAutoNum type="arabicPeriod"/>
            </a:pPr>
            <a:r>
              <a:rPr lang="de-DE" dirty="0"/>
              <a:t>Kunden- statt Produktorientierung</a:t>
            </a:r>
          </a:p>
          <a:p>
            <a:pPr marL="457200" indent="-457200">
              <a:buSzPct val="100000"/>
              <a:buFont typeface="+mj-lt"/>
              <a:buAutoNum type="arabicPeriod"/>
            </a:pPr>
            <a:r>
              <a:rPr lang="de-DE" dirty="0"/>
              <a:t>Projekt- und Budgetverantwortung statt hierarchisch strukturiertem Aufgabenmanagement</a:t>
            </a:r>
          </a:p>
          <a:p>
            <a:pPr marL="457200" indent="-457200">
              <a:buSzPct val="100000"/>
              <a:buFont typeface="+mj-lt"/>
              <a:buAutoNum type="arabicPeriod"/>
            </a:pPr>
            <a:r>
              <a:rPr lang="de-DE" dirty="0"/>
              <a:t>Team- bzw. Gruppenarbeit statt Einzelarbeit</a:t>
            </a:r>
          </a:p>
          <a:p>
            <a:pPr marL="457200" indent="-457200">
              <a:buSzPct val="100000"/>
              <a:buFont typeface="+mj-lt"/>
              <a:buAutoNum type="arabicPeriod"/>
            </a:pPr>
            <a:r>
              <a:rPr lang="de-DE" dirty="0"/>
              <a:t>Vollständige Tätigkeiten statt Verrichtungen</a:t>
            </a:r>
          </a:p>
          <a:p>
            <a:pPr marL="457200" indent="-457200">
              <a:buSzPct val="100000"/>
              <a:buFont typeface="+mj-lt"/>
              <a:buAutoNum type="arabicPeriod"/>
            </a:pPr>
            <a:r>
              <a:rPr lang="de-DE" dirty="0"/>
              <a:t>Selbststeuerung statt standardisierte Vorgaben</a:t>
            </a:r>
          </a:p>
          <a:p>
            <a:pPr marL="457200" indent="-457200">
              <a:buSzPct val="100000"/>
              <a:buFont typeface="+mj-lt"/>
              <a:buAutoNum type="arabicPeriod"/>
            </a:pPr>
            <a:r>
              <a:rPr lang="de-DE" dirty="0"/>
              <a:t>Beteiligung statt Fremdbestimmung</a:t>
            </a:r>
          </a:p>
          <a:p>
            <a:pPr marL="457200" indent="-457200">
              <a:buSzPct val="100000"/>
              <a:buFont typeface="+mj-lt"/>
              <a:buAutoNum type="arabicPeriod"/>
            </a:pPr>
            <a:r>
              <a:rPr lang="de-DE" dirty="0"/>
              <a:t>Kontinuierliche Verbesserung statt Hoffnung auf Innovation</a:t>
            </a:r>
          </a:p>
          <a:p>
            <a:pPr marL="0" indent="0">
              <a:buSzPct val="100000"/>
              <a:buNone/>
            </a:pPr>
            <a:r>
              <a:rPr lang="de-DE" dirty="0"/>
              <a:t>				   (vgl. FRIELING, E., 1993, S.32)</a:t>
            </a:r>
          </a:p>
          <a:p>
            <a:pPr marL="457200" indent="-457200">
              <a:buSzPct val="100000"/>
              <a:buFont typeface="+mj-lt"/>
              <a:buAutoNum type="arabicPeriod"/>
            </a:pPr>
            <a:endParaRPr lang="de-DE" dirty="0"/>
          </a:p>
          <a:p>
            <a:pPr marL="457200" indent="-457200">
              <a:buSzPct val="100000"/>
              <a:buFont typeface="+mj-lt"/>
              <a:buAutoNum type="arabicPeriod"/>
            </a:pPr>
            <a:endParaRPr lang="de-DE" dirty="0"/>
          </a:p>
          <a:p>
            <a:pPr marL="0" indent="0">
              <a:buSzPct val="100000"/>
              <a:buNone/>
            </a:pPr>
            <a:r>
              <a:rPr lang="de-DE" dirty="0" err="1"/>
              <a:t>Frieling</a:t>
            </a:r>
            <a:r>
              <a:rPr lang="de-DE" dirty="0"/>
              <a:t>, E.: Personalentwicklung und Qualifizierung – Neue Ansätze und Probleme – In: Das lernende Unternehmen. – Hochheim, 1993</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10</a:t>
            </a:fld>
            <a:endParaRPr lang="de-DE"/>
          </a:p>
        </p:txBody>
      </p:sp>
    </p:spTree>
    <p:extLst>
      <p:ext uri="{BB962C8B-B14F-4D97-AF65-F5344CB8AC3E}">
        <p14:creationId xmlns:p14="http://schemas.microsoft.com/office/powerpoint/2010/main" val="2608559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Thesen zur Kennzeichnung handlungstheoretisch begründeten Unterrichts</a:t>
            </a:r>
          </a:p>
        </p:txBody>
      </p:sp>
      <p:sp>
        <p:nvSpPr>
          <p:cNvPr id="3" name="Inhaltsplatzhalter 2"/>
          <p:cNvSpPr>
            <a:spLocks noGrp="1"/>
          </p:cNvSpPr>
          <p:nvPr>
            <p:ph sz="quarter" idx="1"/>
          </p:nvPr>
        </p:nvSpPr>
        <p:spPr/>
        <p:txBody>
          <a:bodyPr>
            <a:normAutofit fontScale="70000" lnSpcReduction="20000"/>
          </a:bodyPr>
          <a:lstStyle/>
          <a:p>
            <a:pPr marL="0" indent="0">
              <a:buSzPct val="100000"/>
              <a:buNone/>
            </a:pPr>
            <a:r>
              <a:rPr lang="de-DE" dirty="0"/>
              <a:t>Handlungstheoretisch begründeten Unterricht wollen wir in Anlehnung an den in der einschlägigen Literatur üblichen Sprachgebrauch im folgenden als handlungsorientierten Unterricht (</a:t>
            </a:r>
            <a:r>
              <a:rPr lang="de-DE" dirty="0" err="1"/>
              <a:t>HoU</a:t>
            </a:r>
            <a:r>
              <a:rPr lang="de-DE" dirty="0"/>
              <a:t>) bezeichnen.</a:t>
            </a:r>
          </a:p>
          <a:p>
            <a:pPr marL="457200" indent="-457200">
              <a:buSzPct val="100000"/>
              <a:buFont typeface="+mj-lt"/>
              <a:buAutoNum type="arabicPeriod"/>
            </a:pPr>
            <a:endParaRPr lang="de-DE" dirty="0"/>
          </a:p>
          <a:p>
            <a:pPr marL="457200" indent="-457200">
              <a:buSzPct val="100000"/>
              <a:buFont typeface="+mj-lt"/>
              <a:buAutoNum type="arabicPeriod"/>
            </a:pPr>
            <a:r>
              <a:rPr lang="de-DE" dirty="0" err="1"/>
              <a:t>HoU</a:t>
            </a:r>
            <a:r>
              <a:rPr lang="de-DE" dirty="0"/>
              <a:t> ist keine Methode, sondern ein Konzept für die Gestaltung des Lernprozesses. Er ist offen für alle Gestaltungsmöglichkeiten im Rahmen der individuellen und institutionellen Bedingungen für den organisierten Lernprozess.</a:t>
            </a:r>
          </a:p>
          <a:p>
            <a:pPr marL="457200" indent="-457200">
              <a:buSzPct val="100000"/>
              <a:buFont typeface="+mj-lt"/>
              <a:buAutoNum type="arabicPeriod"/>
            </a:pPr>
            <a:endParaRPr lang="de-DE" dirty="0"/>
          </a:p>
          <a:p>
            <a:pPr marL="457200" indent="-457200">
              <a:buSzPct val="100000"/>
              <a:buFont typeface="+mj-lt"/>
              <a:buAutoNum type="arabicPeriod"/>
            </a:pPr>
            <a:r>
              <a:rPr lang="de-DE" dirty="0" err="1"/>
              <a:t>HoU</a:t>
            </a:r>
            <a:r>
              <a:rPr lang="de-DE" dirty="0"/>
              <a:t> stellt in den Mittelpunkt des Unterrichts den Lernenden als handelndes Individuum, das weitgehend selbstbestimmt, aktiv und </a:t>
            </a:r>
            <a:r>
              <a:rPr lang="de-DE" dirty="0" err="1"/>
              <a:t>reflektiv</a:t>
            </a:r>
            <a:r>
              <a:rPr lang="de-DE" dirty="0"/>
              <a:t> seinen Lernprozess mitgestaltet und eigenständig Entscheidungen zu Alternativen in den Handlungszielen, -wegen und -mitteln treffen kann.</a:t>
            </a:r>
          </a:p>
          <a:p>
            <a:pPr marL="457200" indent="-457200">
              <a:buSzPct val="100000"/>
              <a:buFont typeface="+mj-lt"/>
              <a:buAutoNum type="arabicPeriod"/>
            </a:pPr>
            <a:endParaRPr lang="de-DE" dirty="0"/>
          </a:p>
          <a:p>
            <a:pPr marL="457200" indent="-457200">
              <a:buSzPct val="100000"/>
              <a:buFont typeface="+mj-lt"/>
              <a:buAutoNum type="arabicPeriod"/>
            </a:pPr>
            <a:r>
              <a:rPr lang="de-DE" dirty="0" err="1"/>
              <a:t>HoU</a:t>
            </a:r>
            <a:r>
              <a:rPr lang="de-DE" dirty="0"/>
              <a:t> ist überwiegend selbstbestimmtes Lernen, bei dem der Lehrende mehr und mehr aus seiner dominierenden Rolle zurücktritt und als Partner des Lernenden Lernhilfe gewährt.</a:t>
            </a:r>
          </a:p>
          <a:p>
            <a:pPr marL="457200" indent="-457200">
              <a:buSzPct val="100000"/>
              <a:buFont typeface="+mj-lt"/>
              <a:buAutoNum type="arabicPeriod"/>
            </a:pPr>
            <a:endParaRPr lang="de-DE" dirty="0"/>
          </a:p>
          <a:p>
            <a:pPr marL="457200" indent="-457200">
              <a:buSzPct val="100000"/>
              <a:buFont typeface="+mj-lt"/>
              <a:buAutoNum type="arabicPeriod"/>
            </a:pPr>
            <a:r>
              <a:rPr lang="de-DE" dirty="0" err="1"/>
              <a:t>HoU</a:t>
            </a:r>
            <a:r>
              <a:rPr lang="de-DE" dirty="0"/>
              <a:t> ist überwiegend selbstgesteuertes Lernen.</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11</a:t>
            </a:fld>
            <a:endParaRPr lang="de-DE"/>
          </a:p>
        </p:txBody>
      </p:sp>
    </p:spTree>
    <p:extLst>
      <p:ext uri="{BB962C8B-B14F-4D97-AF65-F5344CB8AC3E}">
        <p14:creationId xmlns:p14="http://schemas.microsoft.com/office/powerpoint/2010/main" val="3579207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Thesen zur Kennzeichnung handlungstheoretisch begründeten Unterrichts</a:t>
            </a:r>
          </a:p>
        </p:txBody>
      </p:sp>
      <p:sp>
        <p:nvSpPr>
          <p:cNvPr id="3" name="Inhaltsplatzhalter 2"/>
          <p:cNvSpPr>
            <a:spLocks noGrp="1"/>
          </p:cNvSpPr>
          <p:nvPr>
            <p:ph sz="quarter" idx="1"/>
          </p:nvPr>
        </p:nvSpPr>
        <p:spPr/>
        <p:txBody>
          <a:bodyPr>
            <a:normAutofit fontScale="62500" lnSpcReduction="20000"/>
          </a:bodyPr>
          <a:lstStyle/>
          <a:p>
            <a:pPr marL="457200" indent="-457200">
              <a:buSzPct val="100000"/>
              <a:buFont typeface="+mj-lt"/>
              <a:buAutoNum type="arabicPeriod" startAt="5"/>
            </a:pPr>
            <a:r>
              <a:rPr lang="de-DE" dirty="0"/>
              <a:t>Gestalten von Lernprozessen bedeutet im handlungstheoretisch begründeten Unterricht in erster Linie Schaffen von Lernbedingungen.</a:t>
            </a:r>
          </a:p>
          <a:p>
            <a:pPr marL="457200" indent="-457200">
              <a:buSzPct val="100000"/>
              <a:buFont typeface="+mj-lt"/>
              <a:buAutoNum type="arabicPeriod" startAt="5"/>
            </a:pPr>
            <a:endParaRPr lang="de-DE" dirty="0"/>
          </a:p>
          <a:p>
            <a:pPr marL="457200" indent="-457200">
              <a:buSzPct val="100000"/>
              <a:buFont typeface="+mj-lt"/>
              <a:buAutoNum type="arabicPeriod" startAt="5"/>
            </a:pPr>
            <a:r>
              <a:rPr lang="de-DE" dirty="0" err="1"/>
              <a:t>HoU</a:t>
            </a:r>
            <a:r>
              <a:rPr lang="de-DE" dirty="0"/>
              <a:t> zielt auf die Herausbildung der fachlichen, methodischen und sozialen Komponente beruflicher Handlungskompetenz, d.h. auf die ganzheitliche Entwicklung der Persönlichkeit des Lernenden in der beruflichen Aus- und Weiterbildung, auf umfassende berufliche Handlungsfähigkeit, d.h. auf aktive Bewältigung beruflicher Lebenssituationen unter Abwägung eigener Interessen mit denen im sozialen Umfeld.</a:t>
            </a:r>
          </a:p>
          <a:p>
            <a:pPr marL="457200" indent="-457200">
              <a:buSzPct val="100000"/>
              <a:buFont typeface="+mj-lt"/>
              <a:buAutoNum type="arabicPeriod" startAt="5"/>
            </a:pPr>
            <a:endParaRPr lang="de-DE" dirty="0"/>
          </a:p>
          <a:p>
            <a:pPr marL="457200" indent="-457200">
              <a:buSzPct val="100000"/>
              <a:buFont typeface="+mj-lt"/>
              <a:buAutoNum type="arabicPeriod" startAt="5"/>
            </a:pPr>
            <a:r>
              <a:rPr lang="de-DE" dirty="0" err="1"/>
              <a:t>HoU</a:t>
            </a:r>
            <a:r>
              <a:rPr lang="de-DE" dirty="0"/>
              <a:t> ist auf zwei Handlungsebenen gleichermaßen gerichtet, auf das Handeln des Lernenden im organisierten Lernprozess und auf Handeln außerhalb dieses Prozesses im beruflichen und privaten Leben.</a:t>
            </a:r>
          </a:p>
          <a:p>
            <a:pPr marL="457200" indent="-457200">
              <a:buSzPct val="100000"/>
              <a:buFont typeface="+mj-lt"/>
              <a:buAutoNum type="arabicPeriod" startAt="5"/>
            </a:pPr>
            <a:endParaRPr lang="de-DE" dirty="0"/>
          </a:p>
          <a:p>
            <a:pPr marL="457200" indent="-457200">
              <a:buSzPct val="100000"/>
              <a:buFont typeface="+mj-lt"/>
              <a:buAutoNum type="arabicPeriod" startAt="5"/>
            </a:pPr>
            <a:r>
              <a:rPr lang="de-DE" dirty="0" err="1"/>
              <a:t>HoU</a:t>
            </a:r>
            <a:r>
              <a:rPr lang="de-DE" dirty="0"/>
              <a:t>  ist auf ganzheitliches Lernen als Einheit von kognitiven, emotional-</a:t>
            </a:r>
            <a:r>
              <a:rPr lang="de-DE" dirty="0" err="1"/>
              <a:t>volitiven</a:t>
            </a:r>
            <a:r>
              <a:rPr lang="de-DE" dirty="0"/>
              <a:t> und psychomotorischen Lernprozessen gerichtet, wobei sich darin individuelle und kollektive Lernaktivität ergänzen, wobei deskriptive, regulative und normative Aneignungsgegenstände angeboten und möglichst viele Sinne angesprochen werden.</a:t>
            </a:r>
          </a:p>
          <a:p>
            <a:pPr marL="457200" indent="-457200">
              <a:buSzPct val="100000"/>
              <a:buFont typeface="+mj-lt"/>
              <a:buAutoNum type="arabicPeriod" startAt="5"/>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12</a:t>
            </a:fld>
            <a:endParaRPr lang="de-DE"/>
          </a:p>
        </p:txBody>
      </p:sp>
    </p:spTree>
    <p:extLst>
      <p:ext uri="{BB962C8B-B14F-4D97-AF65-F5344CB8AC3E}">
        <p14:creationId xmlns:p14="http://schemas.microsoft.com/office/powerpoint/2010/main" val="3781066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Thesen zur Kennzeichnung handlungstheoretisch begründeten Unterrichts</a:t>
            </a:r>
          </a:p>
        </p:txBody>
      </p:sp>
      <p:sp>
        <p:nvSpPr>
          <p:cNvPr id="3" name="Inhaltsplatzhalter 2"/>
          <p:cNvSpPr>
            <a:spLocks noGrp="1"/>
          </p:cNvSpPr>
          <p:nvPr>
            <p:ph sz="quarter" idx="1"/>
          </p:nvPr>
        </p:nvSpPr>
        <p:spPr/>
        <p:txBody>
          <a:bodyPr>
            <a:normAutofit fontScale="55000" lnSpcReduction="20000"/>
          </a:bodyPr>
          <a:lstStyle/>
          <a:p>
            <a:pPr marL="457200" indent="-457200">
              <a:buSzPct val="100000"/>
              <a:buFont typeface="+mj-lt"/>
              <a:buAutoNum type="arabicPeriod" startAt="9"/>
            </a:pPr>
            <a:r>
              <a:rPr lang="de-DE" dirty="0" err="1"/>
              <a:t>HoU</a:t>
            </a:r>
            <a:r>
              <a:rPr lang="de-DE" dirty="0"/>
              <a:t> erfordert für das Gestalten  des Lernprozesses das Beachten der Grundstruktur menschlichen Handelns:</a:t>
            </a:r>
          </a:p>
          <a:p>
            <a:pPr marL="822960" lvl="1" indent="-457200">
              <a:buSzPct val="100000"/>
              <a:buFont typeface="+mj-lt"/>
              <a:buAutoNum type="arabicPeriod"/>
            </a:pPr>
            <a:r>
              <a:rPr lang="de-DE" dirty="0"/>
              <a:t>Orientierung für die vollziehende Lernhandlung – Problemanalyse, Zielbestimmung, Informationsbeschaffung, Planung des Vorgehens, Entscheidungsfindung </a:t>
            </a:r>
          </a:p>
          <a:p>
            <a:pPr marL="822960" lvl="1" indent="-457200">
              <a:buSzPct val="100000"/>
              <a:buFont typeface="+mj-lt"/>
              <a:buAutoNum type="arabicPeriod"/>
            </a:pPr>
            <a:r>
              <a:rPr lang="de-DE" dirty="0"/>
              <a:t>Ausführung der Handlung</a:t>
            </a:r>
          </a:p>
          <a:p>
            <a:pPr marL="822960" lvl="1" indent="-457200">
              <a:buSzPct val="100000"/>
              <a:buFont typeface="+mj-lt"/>
              <a:buAutoNum type="arabicPeriod"/>
            </a:pPr>
            <a:r>
              <a:rPr lang="de-DE" dirty="0"/>
              <a:t>Kontrolle und Bewertung des Handlungsergebnisses und Reflexion der Vorgehensweise</a:t>
            </a:r>
          </a:p>
          <a:p>
            <a:pPr marL="822960" lvl="1" indent="-457200">
              <a:buSzPct val="100000"/>
              <a:buFont typeface="+mj-lt"/>
              <a:buAutoNum type="arabicPeriod"/>
            </a:pPr>
            <a:endParaRPr lang="de-DE" dirty="0"/>
          </a:p>
          <a:p>
            <a:pPr marL="457200" indent="-457200">
              <a:buSzPct val="100000"/>
              <a:buFont typeface="+mj-lt"/>
              <a:buAutoNum type="arabicPeriod" startAt="9"/>
            </a:pPr>
            <a:r>
              <a:rPr lang="de-DE" dirty="0" err="1"/>
              <a:t>HoU</a:t>
            </a:r>
            <a:r>
              <a:rPr lang="de-DE" dirty="0"/>
              <a:t> folgt in erster Linie der inneren Logik des Lernens und in zweiter Linie den Strukturen der zugrunde liegenden Fachdisziplin oder der institutionell festgelegten Fächerung  - er ist fachübergreifend</a:t>
            </a:r>
          </a:p>
          <a:p>
            <a:pPr marL="457200" indent="-457200">
              <a:buSzPct val="100000"/>
              <a:buFont typeface="+mj-lt"/>
              <a:buAutoNum type="arabicPeriod" startAt="9"/>
            </a:pPr>
            <a:endParaRPr lang="de-DE" dirty="0"/>
          </a:p>
          <a:p>
            <a:pPr marL="457200" indent="-457200">
              <a:buSzPct val="100000"/>
              <a:buFont typeface="+mj-lt"/>
              <a:buAutoNum type="arabicPeriod" startAt="9"/>
            </a:pPr>
            <a:r>
              <a:rPr lang="de-DE" dirty="0" err="1"/>
              <a:t>HoU</a:t>
            </a:r>
            <a:r>
              <a:rPr lang="de-DE" dirty="0"/>
              <a:t> setzt an Stelle breitangelegten, aber oberflächlichen Lernens die vertiefende Auseinandersetzung mit exemplarischen, für das Handeln des Lernenden grundlegenden Lerngegenständen. Die so gewonnenen Erkenntnisse sollen auf ähnliche Situationen übertragen werden können.</a:t>
            </a:r>
          </a:p>
          <a:p>
            <a:pPr marL="457200" indent="-457200">
              <a:buSzPct val="100000"/>
              <a:buFont typeface="+mj-lt"/>
              <a:buAutoNum type="arabicPeriod" startAt="9"/>
            </a:pPr>
            <a:endParaRPr lang="de-DE" dirty="0"/>
          </a:p>
          <a:p>
            <a:pPr marL="457200" indent="-457200">
              <a:buSzPct val="100000"/>
              <a:buFont typeface="+mj-lt"/>
              <a:buAutoNum type="arabicPeriod" startAt="9"/>
            </a:pPr>
            <a:r>
              <a:rPr lang="de-DE" dirty="0" err="1"/>
              <a:t>HoU</a:t>
            </a:r>
            <a:r>
              <a:rPr lang="de-DE" dirty="0"/>
              <a:t> verlangt institutionelle und organisatorische Rahmenbedingungen, die für die Lernenden Handlungsspielräume und Flexibilität in der unterrichtlichen Arbeitsweise und in der Fächerzuordnung ermöglichen.</a:t>
            </a:r>
          </a:p>
          <a:p>
            <a:pPr marL="0" indent="0">
              <a:buSzPct val="100000"/>
              <a:buNone/>
            </a:pPr>
            <a:endParaRPr lang="de-DE" sz="2200" dirty="0"/>
          </a:p>
          <a:p>
            <a:pPr marL="0" indent="0">
              <a:buSzPct val="100000"/>
              <a:buNone/>
            </a:pPr>
            <a:r>
              <a:rPr lang="de-DE" sz="2200" dirty="0"/>
              <a:t>	</a:t>
            </a:r>
            <a:r>
              <a:rPr lang="de-DE" sz="1900" dirty="0"/>
              <a:t>HORTSCH, Hanno: Didaktik der Berufsbildung – Merkblätter zur Vorlesung, Dresden 1999</a:t>
            </a:r>
          </a:p>
          <a:p>
            <a:pPr marL="457200" indent="-457200">
              <a:buSzPct val="100000"/>
              <a:buFont typeface="+mj-lt"/>
              <a:buAutoNum type="arabicPeriod" startAt="9"/>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13</a:t>
            </a:fld>
            <a:endParaRPr lang="de-DE"/>
          </a:p>
        </p:txBody>
      </p:sp>
    </p:spTree>
    <p:extLst>
      <p:ext uri="{BB962C8B-B14F-4D97-AF65-F5344CB8AC3E}">
        <p14:creationId xmlns:p14="http://schemas.microsoft.com/office/powerpoint/2010/main" val="1509495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Merkmale handlungsorientierter Unterrichtsgestaltung (verkürzt Bünning)</a:t>
            </a:r>
          </a:p>
        </p:txBody>
      </p:sp>
      <p:sp>
        <p:nvSpPr>
          <p:cNvPr id="3" name="Inhaltsplatzhalter 2"/>
          <p:cNvSpPr>
            <a:spLocks noGrp="1"/>
          </p:cNvSpPr>
          <p:nvPr>
            <p:ph sz="quarter" idx="1"/>
          </p:nvPr>
        </p:nvSpPr>
        <p:spPr/>
        <p:txBody>
          <a:bodyPr>
            <a:normAutofit fontScale="85000" lnSpcReduction="20000"/>
          </a:bodyPr>
          <a:lstStyle/>
          <a:p>
            <a:r>
              <a:rPr lang="de-DE" dirty="0"/>
              <a:t>Der Lernende als handelnde Person steht im Mittelpunkt des Unterrichts.</a:t>
            </a:r>
          </a:p>
          <a:p>
            <a:endParaRPr lang="de-DE" dirty="0"/>
          </a:p>
          <a:p>
            <a:r>
              <a:rPr lang="de-DE" dirty="0"/>
              <a:t>Handlungsorientierter Unterricht ist selbstbestimmtes Lernen. Der Lehrer tritt von seiner dominierenden Rolle zurück.</a:t>
            </a:r>
          </a:p>
          <a:p>
            <a:endParaRPr lang="de-DE" dirty="0"/>
          </a:p>
          <a:p>
            <a:r>
              <a:rPr lang="de-DE" dirty="0"/>
              <a:t>Handlungsorientierter Unterricht zielt auf die ganzheitliche Entwicklung der Persönlichkeit (fachliche, methodische und soziale Komponente).</a:t>
            </a:r>
          </a:p>
          <a:p>
            <a:endParaRPr lang="de-DE" dirty="0"/>
          </a:p>
          <a:p>
            <a:r>
              <a:rPr lang="de-DE" dirty="0"/>
              <a:t>Handlungsorientierter Unterricht zielt auf die Einheit kognitiver, emotionaler und psychomotorischer Lernprozesse.</a:t>
            </a:r>
          </a:p>
          <a:p>
            <a:endParaRPr lang="de-DE" dirty="0"/>
          </a:p>
          <a:p>
            <a:r>
              <a:rPr lang="de-DE" dirty="0"/>
              <a:t>Die Gestaltung handlungsorientierten Unterrichts orientiert sich am Ablauf vollständiger Handlungen.</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14</a:t>
            </a:fld>
            <a:endParaRPr lang="de-DE"/>
          </a:p>
        </p:txBody>
      </p:sp>
    </p:spTree>
    <p:extLst>
      <p:ext uri="{BB962C8B-B14F-4D97-AF65-F5344CB8AC3E}">
        <p14:creationId xmlns:p14="http://schemas.microsoft.com/office/powerpoint/2010/main" val="22718364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Institutionen beruflicher Bildung</Template>
  <TotalTime>7</TotalTime>
  <Words>1173</Words>
  <Application>Microsoft Macintosh PowerPoint</Application>
  <PresentationFormat>On-screen Show (4:3)</PresentationFormat>
  <Paragraphs>136</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Calibri</vt:lpstr>
      <vt:lpstr>Century Schoolbook</vt:lpstr>
      <vt:lpstr>Tahoma</vt:lpstr>
      <vt:lpstr>Times New Roman</vt:lpstr>
      <vt:lpstr>Wingdings</vt:lpstr>
      <vt:lpstr>Wingdings 2</vt:lpstr>
      <vt:lpstr>1_Nereus</vt:lpstr>
      <vt:lpstr>PowerPoint Presentation</vt:lpstr>
      <vt:lpstr>Begründung der Handlungsorientierung</vt:lpstr>
      <vt:lpstr>Begründung der Handlungsorientierung</vt:lpstr>
      <vt:lpstr>Psychologische Grundlagen</vt:lpstr>
      <vt:lpstr>Hierarchisch-sequentielles Modell der Handlungsregulation (Hacker 1978, 1998; Volpert 1980) </vt:lpstr>
      <vt:lpstr>Taxonomie von Selbständigkeit im Handeln</vt:lpstr>
      <vt:lpstr>Beziehung der Begriffe Tätigkeit, Handlung und Operation in der Theorie der Handlungsregulation (nach Hacker und Leontjew)</vt:lpstr>
      <vt:lpstr>Eine vollständige Handlung besteht aus:</vt:lpstr>
      <vt:lpstr>Vollständige Handlung nach HACKER:</vt:lpstr>
      <vt:lpstr>Bildungsrelevante Charakteristika moderner Produktionsstrukturen</vt:lpstr>
      <vt:lpstr>Thesen zur Kennzeichnung handlungstheoretisch begründeten Unterrichts</vt:lpstr>
      <vt:lpstr>Thesen zur Kennzeichnung handlungstheoretisch begründeten Unterrichts</vt:lpstr>
      <vt:lpstr>Thesen zur Kennzeichnung handlungstheoretisch begründeten Unterrichts</vt:lpstr>
      <vt:lpstr>Merkmale handlungsorientierter Unterrichtsgestaltung (verkürzt Bünning)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Frank Bünning</dc:creator>
  <cp:lastModifiedBy>Hannes Tegelbeckers</cp:lastModifiedBy>
  <cp:revision>276</cp:revision>
  <cp:lastPrinted>2002-03-21T12:12:44Z</cp:lastPrinted>
  <dcterms:created xsi:type="dcterms:W3CDTF">2002-02-22T17:42:09Z</dcterms:created>
  <dcterms:modified xsi:type="dcterms:W3CDTF">2026-09-22T19:37:01Z</dcterms:modified>
</cp:coreProperties>
</file>