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40" r:id="rId1"/>
    <p:sldMasterId id="2147483769" r:id="rId2"/>
  </p:sldMasterIdLst>
  <p:notesMasterIdLst>
    <p:notesMasterId r:id="rId15"/>
  </p:notesMasterIdLst>
  <p:handoutMasterIdLst>
    <p:handoutMasterId r:id="rId16"/>
  </p:handoutMasterIdLst>
  <p:sldIdLst>
    <p:sldId id="609" r:id="rId3"/>
    <p:sldId id="606" r:id="rId4"/>
    <p:sldId id="610" r:id="rId5"/>
    <p:sldId id="611" r:id="rId6"/>
    <p:sldId id="612" r:id="rId7"/>
    <p:sldId id="613" r:id="rId8"/>
    <p:sldId id="614" r:id="rId9"/>
    <p:sldId id="615" r:id="rId10"/>
    <p:sldId id="607" r:id="rId11"/>
    <p:sldId id="616" r:id="rId12"/>
    <p:sldId id="617" r:id="rId13"/>
    <p:sldId id="618" r:id="rId14"/>
  </p:sldIdLst>
  <p:sldSz cx="9144000" cy="6858000" type="screen4x3"/>
  <p:notesSz cx="6854825" cy="97504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1">
          <p15:clr>
            <a:srgbClr val="A4A3A4"/>
          </p15:clr>
        </p15:guide>
        <p15:guide id="2" pos="215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B2B2B2"/>
    <a:srgbClr val="BD430A"/>
    <a:srgbClr val="0768B2"/>
    <a:srgbClr val="0A508D"/>
    <a:srgbClr val="0860A5"/>
    <a:srgbClr val="0C4175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3883" autoAdjust="0"/>
  </p:normalViewPr>
  <p:slideViewPr>
    <p:cSldViewPr showGuides="1">
      <p:cViewPr varScale="1">
        <p:scale>
          <a:sx n="125" d="100"/>
          <a:sy n="125" d="100"/>
        </p:scale>
        <p:origin x="143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>
        <p:scale>
          <a:sx n="100" d="100"/>
          <a:sy n="100" d="100"/>
        </p:scale>
        <p:origin x="-787" y="2040"/>
      </p:cViewPr>
      <p:guideLst>
        <p:guide orient="horz" pos="3071"/>
        <p:guide pos="215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3025" y="0"/>
            <a:ext cx="297180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3063"/>
            <a:ext cx="29718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3025" y="9263063"/>
            <a:ext cx="29718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60BF8065-B72B-48E4-8526-D638D07A292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9857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180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013" y="73025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32325"/>
            <a:ext cx="5026025" cy="438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3063"/>
            <a:ext cx="29718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9263063"/>
            <a:ext cx="29718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12F08462-A6CB-4CDF-B233-8E4BB04E3C16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81016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de-DE"/>
              <a:t>Formatvorlage des Untertitelmasters durch Klicken bearbeiten</a:t>
            </a:r>
            <a:endParaRPr kumimoji="0" lang="en-US"/>
          </a:p>
        </p:txBody>
      </p:sp>
      <p:sp>
        <p:nvSpPr>
          <p:cNvPr id="10" name="Rechteck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hteck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hteck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hteck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Gerade Verbindung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Gerade Verbindung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Gerade Verbindung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Gerade Verbindung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Gerade Verbindung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Gerade Verbindung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hteck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Foliennummernplatzhalt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pPr>
              <a:defRPr/>
            </a:pPr>
            <a:fld id="{EE7F088D-B82F-4692-9881-D4F6EC89926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04800" y="404664"/>
            <a:ext cx="7467600" cy="922114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704800" y="1600200"/>
            <a:ext cx="7467600" cy="4873752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286000" y="2060848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9" name="Rechteck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hteck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hteck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hteck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Gerade Verbindung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Gerade Verbindung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Gerade Verbindung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Gerade Verbindung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Gerade Verbindung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hteck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Gerade Verbindung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"/>
          </p:nvPr>
        </p:nvSpPr>
        <p:spPr>
          <a:xfrm>
            <a:off x="626368" y="1600200"/>
            <a:ext cx="3657600" cy="45720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4370784" y="1600200"/>
            <a:ext cx="3657600" cy="45720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</p:txBody>
      </p:sp>
      <p:sp>
        <p:nvSpPr>
          <p:cNvPr id="8" name="Titel 1"/>
          <p:cNvSpPr txBox="1">
            <a:spLocks/>
          </p:cNvSpPr>
          <p:nvPr/>
        </p:nvSpPr>
        <p:spPr>
          <a:xfrm>
            <a:off x="611560" y="476672"/>
            <a:ext cx="7467600" cy="9221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anchor="b">
            <a:normAutofit/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000" b="0" i="0" u="none" strike="noStrike" kern="1200" cap="sm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Titelmasterformat durch Klicken bearbeiten</a:t>
            </a:r>
            <a:endParaRPr kumimoji="0" lang="en-US" sz="3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554360" y="2362200"/>
            <a:ext cx="3657600" cy="38862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</p:txBody>
      </p:sp>
      <p:sp>
        <p:nvSpPr>
          <p:cNvPr id="13" name="Inhaltsplatzhalter 12"/>
          <p:cNvSpPr>
            <a:spLocks noGrp="1"/>
          </p:cNvSpPr>
          <p:nvPr>
            <p:ph sz="quarter" idx="4"/>
          </p:nvPr>
        </p:nvSpPr>
        <p:spPr>
          <a:xfrm>
            <a:off x="4442792" y="2362200"/>
            <a:ext cx="3657600" cy="38862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"/>
          </p:nvPr>
        </p:nvSpPr>
        <p:spPr>
          <a:xfrm>
            <a:off x="55436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3"/>
          </p:nvPr>
        </p:nvSpPr>
        <p:spPr>
          <a:xfrm>
            <a:off x="4427984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10" name="Titel 1"/>
          <p:cNvSpPr txBox="1">
            <a:spLocks/>
          </p:cNvSpPr>
          <p:nvPr/>
        </p:nvSpPr>
        <p:spPr>
          <a:xfrm>
            <a:off x="611560" y="476672"/>
            <a:ext cx="7467600" cy="9221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anchor="b">
            <a:normAutofit/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000" b="0" i="0" u="none" strike="noStrike" kern="1200" cap="sm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Titelmasterformat durch Klicken bearbeiten</a:t>
            </a:r>
            <a:endParaRPr kumimoji="0" lang="en-US" sz="3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611560" y="476672"/>
            <a:ext cx="7467600" cy="9221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anchor="b">
            <a:normAutofit/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000" b="0" i="0" u="none" strike="noStrike" kern="1200" cap="sm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Titelmasterformat durch Klicken bearbeiten</a:t>
            </a:r>
            <a:endParaRPr kumimoji="0" lang="en-US" sz="3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erade Verbindung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8" name="Gerade Verbindung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Gerade Verbindung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Gerade Verbindung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hteck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Gerade Verbindung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Inhaltsplatzhalt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21" name="Datumsplatzhalt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de-DE"/>
          </a:p>
        </p:txBody>
      </p:sp>
      <p:sp>
        <p:nvSpPr>
          <p:cNvPr id="22" name="Foliennummernplatzhalt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3" name="Fußzeilenplatzhalt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de-D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erade Verbindung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de-DE"/>
              <a:t>Bild durch Klicken auf Symbol hinzufügen</a:t>
            </a:r>
            <a:endParaRPr kumimoji="0"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10" name="Gerade Verbindung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hteck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Gerade Verbindung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Gerade Verbindung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Gerade Verbindung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de-DE"/>
          </a:p>
        </p:txBody>
      </p:sp>
      <p:sp>
        <p:nvSpPr>
          <p:cNvPr id="18" name="Foliennummernplatzhalt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5" name="Rechteck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6" name="Rechteck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7" name="Rechteck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0" name="Gerade Verbindung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1" name="Gerade Verbindung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2" name="Gerade Verbindung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3" name="Gerade Verbindung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4" name="Gerade Verbindung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5" name="Gerade Verbindung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6" name="Rechteck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7" name="Ellipse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8" name="Ellipse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9" name="Ellipse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20" name="Ellipse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21" name="Ellipse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de-DE"/>
              <a:t>Formatvorlage des Untertitelmasters durch Klicken bearbeiten</a:t>
            </a:r>
            <a:endParaRPr lang="en-US"/>
          </a:p>
        </p:txBody>
      </p:sp>
      <p:sp>
        <p:nvSpPr>
          <p:cNvPr id="22" name="Foliennummernplatzhalter 28"/>
          <p:cNvSpPr>
            <a:spLocks noGrp="1"/>
          </p:cNvSpPr>
          <p:nvPr>
            <p:ph type="sldNum" sz="quarter" idx="10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05188A-E5F9-4DDE-97AF-A8E018C865B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4386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6357938"/>
            <a:ext cx="12858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04800" y="404664"/>
            <a:ext cx="7467600" cy="922114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704800" y="1600200"/>
            <a:ext cx="7467600" cy="4873752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Foliennummernplatzhalter 8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1EAD199-F4D6-4932-A8DD-6DE4CF271C2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865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5" name="Rechteck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6" name="Rechteck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7" name="Rechteck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8" name="Gerade Verbindung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9" name="Gerade Verbindung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0" name="Gerade Verbindung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1" name="Gerade Verbindung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2" name="Gerade Verbindung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3" name="Rechteck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4" name="Ellipse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6" name="Ellipse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7" name="Ellipse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8" name="Ellipse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9" name="Gerade Verbindung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286000" y="2060848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0" name="Foliennummernplatzhalter 5"/>
          <p:cNvSpPr>
            <a:spLocks noGrp="1"/>
          </p:cNvSpPr>
          <p:nvPr>
            <p:ph type="sldNum" sz="quarter" idx="10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D58880-2E45-41BD-BF49-423CAB33849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9357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 txBox="1">
            <a:spLocks/>
          </p:cNvSpPr>
          <p:nvPr/>
        </p:nvSpPr>
        <p:spPr>
          <a:xfrm>
            <a:off x="611188" y="476250"/>
            <a:ext cx="7467600" cy="9223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de-DE" sz="3000" b="0" cap="small">
                <a:solidFill>
                  <a:srgbClr val="464653"/>
                </a:solidFill>
              </a:rPr>
              <a:t>Titelmasterformat durch Klicken bearbeiten</a:t>
            </a:r>
            <a:endParaRPr lang="en-US" sz="3000" b="0" cap="small" dirty="0">
              <a:solidFill>
                <a:srgbClr val="464653"/>
              </a:solidFill>
            </a:endParaRPr>
          </a:p>
        </p:txBody>
      </p:sp>
      <p:sp>
        <p:nvSpPr>
          <p:cNvPr id="9" name="Inhaltsplatzhalter 8"/>
          <p:cNvSpPr>
            <a:spLocks noGrp="1"/>
          </p:cNvSpPr>
          <p:nvPr>
            <p:ph sz="quarter" idx="1"/>
          </p:nvPr>
        </p:nvSpPr>
        <p:spPr>
          <a:xfrm>
            <a:off x="626368" y="1600200"/>
            <a:ext cx="3657600" cy="45720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4370784" y="1600200"/>
            <a:ext cx="3657600" cy="45720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Foliennummernplatzhalt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E88B20-3529-4E09-9D3C-82DF28CF38A6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58530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 txBox="1">
            <a:spLocks/>
          </p:cNvSpPr>
          <p:nvPr/>
        </p:nvSpPr>
        <p:spPr>
          <a:xfrm>
            <a:off x="611188" y="476250"/>
            <a:ext cx="7467600" cy="9223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de-DE" sz="3000" b="0" cap="small">
                <a:solidFill>
                  <a:srgbClr val="464653"/>
                </a:solidFill>
              </a:rPr>
              <a:t>Titelmasterformat durch Klicken bearbeiten</a:t>
            </a:r>
            <a:endParaRPr lang="en-US" sz="3000" b="0" cap="small" dirty="0">
              <a:solidFill>
                <a:srgbClr val="464653"/>
              </a:solidFill>
            </a:endParaRPr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554360" y="2362200"/>
            <a:ext cx="3657600" cy="38862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3" name="Inhaltsplatzhalter 12"/>
          <p:cNvSpPr>
            <a:spLocks noGrp="1"/>
          </p:cNvSpPr>
          <p:nvPr>
            <p:ph sz="quarter" idx="4"/>
          </p:nvPr>
        </p:nvSpPr>
        <p:spPr>
          <a:xfrm>
            <a:off x="4442792" y="2362200"/>
            <a:ext cx="3657600" cy="38862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"/>
          </p:nvPr>
        </p:nvSpPr>
        <p:spPr>
          <a:xfrm>
            <a:off x="55436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3"/>
          </p:nvPr>
        </p:nvSpPr>
        <p:spPr>
          <a:xfrm>
            <a:off x="4427984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7" name="Foliennummernplatzhalt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70C7BB-B7CE-42A6-B7A0-A8D35543B10C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468704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 txBox="1">
            <a:spLocks/>
          </p:cNvSpPr>
          <p:nvPr/>
        </p:nvSpPr>
        <p:spPr>
          <a:xfrm>
            <a:off x="611188" y="476250"/>
            <a:ext cx="7467600" cy="9223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de-DE" sz="3000" b="0" cap="small">
                <a:solidFill>
                  <a:srgbClr val="464653"/>
                </a:solidFill>
              </a:rPr>
              <a:t>Titelmasterformat durch Klicken bearbeiten</a:t>
            </a:r>
            <a:endParaRPr lang="en-US" sz="3000" b="0" cap="small" dirty="0">
              <a:solidFill>
                <a:srgbClr val="464653"/>
              </a:solidFill>
            </a:endParaRPr>
          </a:p>
        </p:txBody>
      </p:sp>
      <p:sp>
        <p:nvSpPr>
          <p:cNvPr id="3" name="Foliennummernplatzhalter 6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DFF4C0D2-F585-4BDA-BCF6-7CFA29A26E5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122118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994A4-3EA6-416D-B5B8-AF58ACC8DB5A}" type="datetimeFigureOut">
              <a:rPr lang="en-US">
                <a:solidFill>
                  <a:srgbClr val="464653"/>
                </a:solidFill>
              </a:rPr>
              <a:pPr>
                <a:defRPr/>
              </a:pPr>
              <a:t>9/22/26</a:t>
            </a:fld>
            <a:endParaRPr lang="en-US" dirty="0">
              <a:solidFill>
                <a:srgbClr val="464653"/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4" name="Foliennummernplatzhalt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48CC8-DC1B-4C80-A29C-E62550CAAEF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95231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erade Verbindung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 dirty="0">
              <a:solidFill>
                <a:prstClr val="black"/>
              </a:solidFill>
            </a:endParaRPr>
          </a:p>
        </p:txBody>
      </p:sp>
      <p:sp>
        <p:nvSpPr>
          <p:cNvPr id="6" name="Gerade Verbindung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 dirty="0">
              <a:solidFill>
                <a:prstClr val="black"/>
              </a:solidFill>
            </a:endParaRPr>
          </a:p>
        </p:txBody>
      </p:sp>
      <p:sp>
        <p:nvSpPr>
          <p:cNvPr id="7" name="Gerade Verbindung 17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8" name="Gerade Verbindung 1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9" name="Rechteck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0" name="Gerade Verbindung 2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8" name="Inhaltsplatzhalt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2" name="Datumsplatzhalt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5EA74D1-F734-4E0A-8BBE-2788A29B17AE}" type="datetimeFigureOut">
              <a:rPr lang="en-US">
                <a:solidFill>
                  <a:srgbClr val="464653"/>
                </a:solidFill>
              </a:rPr>
              <a:pPr>
                <a:defRPr/>
              </a:pPr>
              <a:t>9/22/26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13" name="Foliennummernplatzhalter 2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F929730-C6EE-4C27-B33F-F8E5500E758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4" name="Fußzeilenplatzhalt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65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erade Verbindung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7" name="Gerade Verbindung 1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8" name="Rechteck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9" name="Gerade Verbindung 1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10" name="Gerade Verbindung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 dirty="0">
              <a:solidFill>
                <a:prstClr val="black"/>
              </a:solidFill>
            </a:endParaRPr>
          </a:p>
        </p:txBody>
      </p:sp>
      <p:sp>
        <p:nvSpPr>
          <p:cNvPr id="11" name="Gerade Verbindung 23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2" name="Datumsplatzhalt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4C394BD-AA8D-45B7-AB86-B8526A170CAC}" type="datetimeFigureOut">
              <a:rPr lang="en-US">
                <a:solidFill>
                  <a:srgbClr val="464653"/>
                </a:solidFill>
              </a:rPr>
              <a:pPr>
                <a:defRPr/>
              </a:pPr>
              <a:t>9/22/26</a:t>
            </a:fld>
            <a:endParaRPr lang="en-US" dirty="0">
              <a:solidFill>
                <a:srgbClr val="464653"/>
              </a:solidFill>
            </a:endParaRPr>
          </a:p>
        </p:txBody>
      </p:sp>
      <p:sp>
        <p:nvSpPr>
          <p:cNvPr id="13" name="Foliennummernplatzhalt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DDCEF3E8-631B-4F9C-88CD-8913E55F5CA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4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1283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C5196A-941C-4F4D-A55B-4D4E367443C7}" type="datetimeFigureOut">
              <a:rPr lang="en-US">
                <a:solidFill>
                  <a:srgbClr val="464653"/>
                </a:solidFill>
              </a:rPr>
              <a:pPr>
                <a:defRPr/>
              </a:pPr>
              <a:t>9/22/26</a:t>
            </a:fld>
            <a:endParaRPr lang="en-US" dirty="0">
              <a:solidFill>
                <a:srgbClr val="464653"/>
              </a:solidFill>
            </a:endParaRP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6" name="Foliennummernplatzhalt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1119E4-F49F-44AE-A94F-4121505D914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823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D5E341-8269-4939-972C-AD0B4D5A2887}" type="datetimeFigureOut">
              <a:rPr lang="en-US">
                <a:solidFill>
                  <a:srgbClr val="464653"/>
                </a:solidFill>
              </a:rPr>
              <a:pPr>
                <a:defRPr/>
              </a:pPr>
              <a:t>9/22/26</a:t>
            </a:fld>
            <a:endParaRPr lang="en-US" dirty="0">
              <a:solidFill>
                <a:srgbClr val="464653"/>
              </a:solidFill>
            </a:endParaRP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6" name="Foliennummernplatzhalt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62087-E383-4CE7-86C5-E5AA1DD8434C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85400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/>
          </p:nvPr>
        </p:nvSpPr>
        <p:spPr>
          <a:xfrm>
            <a:off x="250825" y="214313"/>
            <a:ext cx="8704263" cy="5918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3116263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453007-BE9A-4008-B474-0CCEDEE2D83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1948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250825" y="2017713"/>
            <a:ext cx="8704263" cy="4114800"/>
          </a:xfrm>
        </p:spPr>
        <p:txBody>
          <a:bodyPr>
            <a:normAutofit/>
          </a:bodyPr>
          <a:lstStyle/>
          <a:p>
            <a:pPr lvl="0"/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3116263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B8E929-94FB-45CD-9D45-4984F34B9E0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33416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el und Inhalt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50825" y="2017713"/>
            <a:ext cx="8704263" cy="1981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50825" y="4151313"/>
            <a:ext cx="8704263" cy="1981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0"/>
          </p:nvPr>
        </p:nvSpPr>
        <p:spPr>
          <a:xfrm>
            <a:off x="3116263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3C6CFB-1D54-4A46-9DAB-95E7EEAEB63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49457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el und Text üb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250825" y="2017713"/>
            <a:ext cx="8704263" cy="1981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50825" y="4151313"/>
            <a:ext cx="8704263" cy="1981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0"/>
          </p:nvPr>
        </p:nvSpPr>
        <p:spPr>
          <a:xfrm>
            <a:off x="3116263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03A62-1233-4A4C-955D-FABE4F9B229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73435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el, Text und Cli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250825" y="2017713"/>
            <a:ext cx="4275138" cy="41148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lipArt-Platzhalter 3"/>
          <p:cNvSpPr>
            <a:spLocks noGrp="1"/>
          </p:cNvSpPr>
          <p:nvPr>
            <p:ph type="clipArt" sz="half" idx="2"/>
          </p:nvPr>
        </p:nvSpPr>
        <p:spPr>
          <a:xfrm>
            <a:off x="4678363" y="2017713"/>
            <a:ext cx="4276725" cy="4114800"/>
          </a:xfrm>
        </p:spPr>
        <p:txBody>
          <a:bodyPr>
            <a:normAutofit/>
          </a:bodyPr>
          <a:lstStyle/>
          <a:p>
            <a:pPr lvl="0"/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0"/>
          </p:nvPr>
        </p:nvSpPr>
        <p:spPr>
          <a:xfrm>
            <a:off x="3116263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5D395-2999-46F7-93A2-67091598DEB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0793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erade Verbindung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de-DE" dirty="0"/>
              <a:t>Titelmasterformat durch Klicken bearbeiten</a:t>
            </a:r>
            <a:endParaRPr kumimoji="0" lang="en-US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de-DE"/>
              <a:t>Textmasterformate durch Klicken bearbeiten</a:t>
            </a:r>
          </a:p>
          <a:p>
            <a:pPr lvl="1" eaLnBrk="1" latinLnBrk="0" hangingPunct="1"/>
            <a:r>
              <a:rPr kumimoji="0" lang="de-DE"/>
              <a:t>Zweite Ebene</a:t>
            </a:r>
          </a:p>
          <a:p>
            <a:pPr lvl="2" eaLnBrk="1" latinLnBrk="0" hangingPunct="1"/>
            <a:r>
              <a:rPr kumimoji="0" lang="de-DE"/>
              <a:t>Dritte Ebene</a:t>
            </a:r>
          </a:p>
          <a:p>
            <a:pPr lvl="3" eaLnBrk="1" latinLnBrk="0" hangingPunct="1"/>
            <a:r>
              <a:rPr kumimoji="0" lang="de-DE"/>
              <a:t>Vierte Ebene</a:t>
            </a:r>
          </a:p>
          <a:p>
            <a:pPr lvl="4" eaLnBrk="1" latinLnBrk="0" hangingPunct="1"/>
            <a:r>
              <a:rPr kumimoji="0" lang="de-DE"/>
              <a:t>Fünfte Ebene</a:t>
            </a:r>
            <a:endParaRPr kumimoji="0"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lang="en-US" sz="120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7" name="Gerade Verbindung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Gerade Verbindung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hteck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Gerade Verbindung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erade Verbindung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 dirty="0">
              <a:solidFill>
                <a:prstClr val="black"/>
              </a:solidFill>
            </a:endParaRPr>
          </a:p>
        </p:txBody>
      </p:sp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028" name="Textplatzhalt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4186DAE-0811-49CA-B507-F48A2B2A4134}" type="datetimeFigureOut">
              <a:rPr lang="en-US" b="0">
                <a:solidFill>
                  <a:srgbClr val="464653"/>
                </a:solidFill>
              </a:rPr>
              <a:pPr>
                <a:defRPr/>
              </a:pPr>
              <a:t>9/22/26</a:t>
            </a:fld>
            <a:endParaRPr lang="en-US" b="0" dirty="0">
              <a:solidFill>
                <a:srgbClr val="464653"/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de-DE" b="0">
              <a:solidFill>
                <a:srgbClr val="464653"/>
              </a:solidFill>
            </a:endParaRPr>
          </a:p>
        </p:txBody>
      </p:sp>
      <p:sp>
        <p:nvSpPr>
          <p:cNvPr id="7" name="Gerade Verbindung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032" name="Gerade Verbindung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034" name="Gerade Verbindung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C1B35C4-6AEB-490B-B369-3E9B8FA4D09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7695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646C8F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BCBFCE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CDD8E3"/>
        </a:buClr>
        <a:buSzPct val="68000"/>
        <a:buFont typeface="Wingdings 2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liennummernplatzhalt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510081B5-7AB8-4D50-B32A-C9C1DE8C40DF}" type="slidenum">
              <a:rPr lang="de-DE">
                <a:solidFill>
                  <a:srgbClr val="FFFFFF"/>
                </a:solidFill>
              </a:rPr>
              <a:pPr eaLnBrk="1" hangingPunct="1"/>
              <a:t>1</a:t>
            </a:fld>
            <a:endParaRPr lang="de-DE">
              <a:solidFill>
                <a:srgbClr val="FFFFFF"/>
              </a:solidFill>
            </a:endParaRPr>
          </a:p>
        </p:txBody>
      </p:sp>
      <p:sp>
        <p:nvSpPr>
          <p:cNvPr id="16387" name="Textfeld 2"/>
          <p:cNvSpPr txBox="1">
            <a:spLocks noChangeArrowheads="1"/>
          </p:cNvSpPr>
          <p:nvPr/>
        </p:nvSpPr>
        <p:spPr bwMode="auto">
          <a:xfrm>
            <a:off x="755650" y="2852738"/>
            <a:ext cx="748823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/>
            <a:r>
              <a:rPr lang="de-DE" sz="4000" b="0" dirty="0">
                <a:solidFill>
                  <a:prstClr val="black"/>
                </a:solidFill>
              </a:rPr>
              <a:t>PAL-Prüfungen</a:t>
            </a:r>
          </a:p>
        </p:txBody>
      </p:sp>
      <p:sp>
        <p:nvSpPr>
          <p:cNvPr id="4" name="Rechteck 3"/>
          <p:cNvSpPr/>
          <p:nvPr/>
        </p:nvSpPr>
        <p:spPr>
          <a:xfrm>
            <a:off x="3504880" y="1412776"/>
            <a:ext cx="1361271" cy="1200329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 eaLnBrk="1" hangingPunct="1">
              <a:defRPr/>
            </a:pPr>
            <a:r>
              <a:rPr lang="de-DE" sz="7200" cap="all" dirty="0">
                <a:ln w="0"/>
                <a:gradFill flip="none">
                  <a:gsLst>
                    <a:gs pos="0">
                      <a:srgbClr val="727CA3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727CA3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727CA3">
                        <a:shade val="65000"/>
                        <a:satMod val="130000"/>
                      </a:srgbClr>
                    </a:gs>
                    <a:gs pos="92000">
                      <a:srgbClr val="727CA3">
                        <a:shade val="50000"/>
                        <a:satMod val="120000"/>
                      </a:srgbClr>
                    </a:gs>
                    <a:gs pos="100000">
                      <a:srgbClr val="727CA3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98443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11.1 Entstehung und Zielsetzung der PAL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>
            <a:normAutofit lnSpcReduction="10000"/>
          </a:bodyPr>
          <a:lstStyle/>
          <a:p>
            <a:pPr marL="444500" indent="-444500" eaLnBrk="1" hangingPunct="1"/>
            <a:r>
              <a:rPr lang="de-DE" dirty="0"/>
              <a:t>IHKs führen über 70 Jahre Abschlussprüfungen durch</a:t>
            </a:r>
          </a:p>
          <a:p>
            <a:pPr marL="444500" indent="-444500" eaLnBrk="1" hangingPunct="1"/>
            <a:r>
              <a:rPr lang="de-DE" dirty="0"/>
              <a:t>1948 nahm Prüfungsaufgaben- und Lehrmittel-Entwicklungsstelle (PAL) ihre Tätigkeit mit dem Austausch von Prüfungsaufgaben</a:t>
            </a:r>
          </a:p>
          <a:p>
            <a:pPr marL="444500" indent="-444500" eaLnBrk="1" hangingPunct="1"/>
            <a:r>
              <a:rPr lang="de-DE" dirty="0"/>
              <a:t>Nachdem das Berufsbildungsgesetz (</a:t>
            </a:r>
            <a:r>
              <a:rPr lang="de-DE" dirty="0" err="1"/>
              <a:t>BbiG</a:t>
            </a:r>
            <a:r>
              <a:rPr lang="de-DE" dirty="0"/>
              <a:t>) 1969 den zuständigen Stellen fast eine Verdreifachung des Aufwandes für die Durchführung von Prüfungen brachte, ergab sich die Notwendigkeit einer umfassenden Rationalisierung des Prüfungswesens</a:t>
            </a:r>
          </a:p>
          <a:p>
            <a:pPr marL="444500" indent="-444500" eaLnBrk="1" hangingPunct="1"/>
            <a:r>
              <a:rPr lang="de-DE" dirty="0"/>
              <a:t>Forderung nach einer verstärkten Objektivierung der Prüfung</a:t>
            </a:r>
          </a:p>
        </p:txBody>
      </p:sp>
    </p:spTree>
    <p:extLst>
      <p:ext uri="{BB962C8B-B14F-4D97-AF65-F5344CB8AC3E}">
        <p14:creationId xmlns:p14="http://schemas.microsoft.com/office/powerpoint/2010/main" val="815969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11.1 Entstehung und Zielsetzung der PAL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444500" indent="-444500" eaLnBrk="1" hangingPunct="1"/>
            <a:r>
              <a:rPr lang="de-DE" dirty="0"/>
              <a:t>Auch die PISA-Untersuchung 2002 bestätigte diese Ergebnisse</a:t>
            </a:r>
          </a:p>
          <a:p>
            <a:pPr marL="444500" indent="-444500" eaLnBrk="1" hangingPunct="1"/>
            <a:r>
              <a:rPr lang="de-DE" dirty="0"/>
              <a:t>Ergebnisse, Transparenz, Objektivität und Vergleichbarkeit von Prüfungsergebnissen sind durch überregional erstellte Prüfungen bundesweit besser sicher zu stellen</a:t>
            </a:r>
          </a:p>
          <a:p>
            <a:pPr marL="444500" indent="-444500" eaLnBrk="1" hangingPunct="1"/>
            <a:r>
              <a:rPr lang="de-DE" dirty="0"/>
              <a:t>Derzeit entwickelt die PAL-Aufgaben für die Zwischen- und Abschlussprüfungen in 115 gewerblich-technischen Ausbildungsberufen</a:t>
            </a:r>
          </a:p>
        </p:txBody>
      </p:sp>
    </p:spTree>
    <p:extLst>
      <p:ext uri="{BB962C8B-B14F-4D97-AF65-F5344CB8AC3E}">
        <p14:creationId xmlns:p14="http://schemas.microsoft.com/office/powerpoint/2010/main" val="1750210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11.2 Gesetzlich vorgesehene Prüfungen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>
            <a:normAutofit fontScale="92500"/>
          </a:bodyPr>
          <a:lstStyle/>
          <a:p>
            <a:pPr marL="444500" indent="-444500" eaLnBrk="1" hangingPunct="1"/>
            <a:r>
              <a:rPr lang="de-DE" sz="2200" dirty="0"/>
              <a:t>Jeder Auszubildender muss eine Zwischen- und Abschlussprüfung machen</a:t>
            </a:r>
          </a:p>
          <a:p>
            <a:pPr marL="444500" indent="-444500" eaLnBrk="1" hangingPunct="1"/>
            <a:r>
              <a:rPr lang="de-DE" sz="2200" dirty="0"/>
              <a:t>Diese ist in einen praktischen und theoretischen Teil gegliedert</a:t>
            </a:r>
          </a:p>
          <a:p>
            <a:pPr marL="444500" indent="-444500" eaLnBrk="1" hangingPunct="1"/>
            <a:r>
              <a:rPr lang="de-DE" sz="2200" dirty="0"/>
              <a:t>Für beide bietet PAL Prüfungen an</a:t>
            </a:r>
          </a:p>
          <a:p>
            <a:pPr marL="444500" indent="-444500" eaLnBrk="1" hangingPunct="1"/>
            <a:r>
              <a:rPr lang="de-DE" sz="2200" dirty="0"/>
              <a:t>In praktischen Prüfung in gewerblich-technischen Ausbildungsberufen muss ein Prüfungsstück oder eine Arbeitsprobe abgegeben werden</a:t>
            </a:r>
          </a:p>
          <a:p>
            <a:pPr marL="444500" indent="-444500" eaLnBrk="1" hangingPunct="1"/>
            <a:r>
              <a:rPr lang="de-DE" sz="2200" dirty="0"/>
              <a:t>Schriftliche Prüfung besteht aus 4 Teilen: Technologie, technische Mathematik, Arbeitsplanung bzw. Schaltungs- und Funktionsanalyse und Wirtschafts- und Sozialkunde</a:t>
            </a:r>
          </a:p>
          <a:p>
            <a:pPr marL="444500" indent="-444500" eaLnBrk="1" hangingPunct="1"/>
            <a:r>
              <a:rPr lang="de-DE" sz="2200" dirty="0"/>
              <a:t>Grundlage sind Prüfungsanforderungen, der Ausbildungsrahmenplan und der Rahmenplan der KMK </a:t>
            </a:r>
          </a:p>
        </p:txBody>
      </p:sp>
    </p:spTree>
    <p:extLst>
      <p:ext uri="{BB962C8B-B14F-4D97-AF65-F5344CB8AC3E}">
        <p14:creationId xmlns:p14="http://schemas.microsoft.com/office/powerpoint/2010/main" val="3447968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11.3 Entwicklung der Aufgaben durch die PAL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444500" indent="-444500" eaLnBrk="1" hangingPunct="1"/>
            <a:r>
              <a:rPr lang="de-DE" sz="2200" dirty="0"/>
              <a:t>Entwicklung alles an Ausbildung Beteiligter </a:t>
            </a:r>
            <a:r>
              <a:rPr lang="de-DE" sz="2200" dirty="0">
                <a:sym typeface="Wingdings 3" pitchFamily="18" charset="2"/>
              </a:rPr>
              <a:t> Zusammenarbeit zwischen PAL und dem DGB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Hauptausschuss besteht aus Vertretern des </a:t>
            </a:r>
            <a:r>
              <a:rPr lang="de-DE" sz="2200" dirty="0" err="1">
                <a:sym typeface="Wingdings 3" pitchFamily="18" charset="2"/>
              </a:rPr>
              <a:t>IHK‘s</a:t>
            </a:r>
            <a:r>
              <a:rPr lang="de-DE" sz="2200" dirty="0">
                <a:sym typeface="Wingdings 3" pitchFamily="18" charset="2"/>
              </a:rPr>
              <a:t> und Gewerkschaften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Fachausschuss umfasst i. d. R. 9 Mitglieder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In gleicher Anzahl gehören diesem Ausschuss Beauftragte der Arbeitgeber, Arbeitnehmer und Lehrer der berufsbildenden Schulen an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Mitarbeiter arbeiten hier ehrenamtlich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Werden von der PAL für fünf Jahre berufen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Tagen i. d. R. zweimal jährlich bei der PAL in Stuttgart</a:t>
            </a:r>
          </a:p>
        </p:txBody>
      </p:sp>
    </p:spTree>
    <p:extLst>
      <p:ext uri="{BB962C8B-B14F-4D97-AF65-F5344CB8AC3E}">
        <p14:creationId xmlns:p14="http://schemas.microsoft.com/office/powerpoint/2010/main" val="4194650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11.4 Hauptaufgaben der PAL-Fachausschüsse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>
            <a:normAutofit fontScale="92500"/>
          </a:bodyPr>
          <a:lstStyle/>
          <a:p>
            <a:pPr marL="444500" indent="-4445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de-DE" sz="2200" dirty="0">
                <a:sym typeface="Wingdings 3" pitchFamily="18" charset="2"/>
              </a:rPr>
              <a:t>Auswahl, Entwicklung und Entwurf von Prüfungsaufgaben für die schriftlichen und praktischen Zwischen- und Abschlussprüfungen</a:t>
            </a:r>
          </a:p>
          <a:p>
            <a:pPr marL="444500" indent="-4445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de-DE" sz="2200" dirty="0">
                <a:sym typeface="Wingdings 3" pitchFamily="18" charset="2"/>
              </a:rPr>
              <a:t>Festlegung des Umfangs und der Tiefe der Prüfungen in den einzelnen beruflichen Qualifikationen</a:t>
            </a:r>
          </a:p>
          <a:p>
            <a:pPr marL="444500" indent="-4445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de-DE" sz="2200" dirty="0">
                <a:sym typeface="Wingdings 3" pitchFamily="18" charset="2"/>
              </a:rPr>
              <a:t>Kritische Durchsicht von Aufgabenentwürfen</a:t>
            </a:r>
          </a:p>
          <a:p>
            <a:pPr marL="444500" indent="-4445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de-DE" sz="2200" dirty="0">
                <a:sym typeface="Wingdings 3" pitchFamily="18" charset="2"/>
              </a:rPr>
              <a:t>Erprobung bzw. Nachbau von Prüfungen mit dem Ziel die Durchführbarkeit der Prüfungen zu gewährleisten (Qualitätssicherung) und Verabschiedung von Prüfungsaufgaben</a:t>
            </a:r>
          </a:p>
          <a:p>
            <a:pPr marL="444500" indent="-4445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de-DE" sz="2200" dirty="0">
                <a:sym typeface="Wingdings 3" pitchFamily="18" charset="2"/>
              </a:rPr>
              <a:t>Auswertung von statistischen Prüfungsergebnissen und Stellungnahme zu Prüfungen mit dem Ziel der Optimierung zukünftiger Prüfungen (Qualitätsoptimierung)</a:t>
            </a:r>
          </a:p>
        </p:txBody>
      </p:sp>
    </p:spTree>
    <p:extLst>
      <p:ext uri="{BB962C8B-B14F-4D97-AF65-F5344CB8AC3E}">
        <p14:creationId xmlns:p14="http://schemas.microsoft.com/office/powerpoint/2010/main" val="126488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de-DE" dirty="0"/>
              <a:t>11.5 Organisation der Arbeit der PAL-Fachausschüsse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>
            <a:normAutofit lnSpcReduction="10000"/>
          </a:bodyPr>
          <a:lstStyle/>
          <a:p>
            <a:pPr marL="444500" indent="-444500" eaLnBrk="1" hangingPunct="1">
              <a:lnSpc>
                <a:spcPct val="90000"/>
              </a:lnSpc>
            </a:pPr>
            <a:r>
              <a:rPr lang="de-DE" sz="2200" dirty="0">
                <a:sym typeface="Wingdings 3" pitchFamily="18" charset="2"/>
              </a:rPr>
              <a:t>Mitglieder der Fachausschüsse erhalten Auftrag zur Entwicklung von neuen Prüfungsaufgaben</a:t>
            </a:r>
          </a:p>
          <a:p>
            <a:pPr marL="444500" indent="-444500" eaLnBrk="1" hangingPunct="1">
              <a:lnSpc>
                <a:spcPct val="90000"/>
              </a:lnSpc>
            </a:pPr>
            <a:r>
              <a:rPr lang="de-DE" sz="2200" dirty="0">
                <a:sym typeface="Wingdings 3" pitchFamily="18" charset="2"/>
              </a:rPr>
              <a:t>Entwickelte Aufgaben werden im Fachausschuss gesichtet und vorläufig genehmigt</a:t>
            </a:r>
          </a:p>
          <a:p>
            <a:pPr marL="444500" indent="-444500" eaLnBrk="1" hangingPunct="1">
              <a:lnSpc>
                <a:spcPct val="90000"/>
              </a:lnSpc>
            </a:pPr>
            <a:r>
              <a:rPr lang="de-DE" sz="2200" dirty="0">
                <a:sym typeface="Wingdings 3" pitchFamily="18" charset="2"/>
              </a:rPr>
              <a:t>Genehmigte Aufgabenentwürfe werden vom zuständigen PAL-Projektmanager/in und vom CAD-Team der PAL in die prüfungs- und normgerechte Form gebracht</a:t>
            </a:r>
          </a:p>
          <a:p>
            <a:pPr marL="444500" indent="-444500" eaLnBrk="1" hangingPunct="1">
              <a:lnSpc>
                <a:spcPct val="90000"/>
              </a:lnSpc>
            </a:pPr>
            <a:r>
              <a:rPr lang="de-DE" sz="2200" dirty="0">
                <a:sym typeface="Wingdings 3" pitchFamily="18" charset="2"/>
              </a:rPr>
              <a:t>Mitglieder der Fachausschüsse erhalten diese Unterlagen zur Kontrolle, zum </a:t>
            </a:r>
            <a:r>
              <a:rPr lang="de-DE" sz="2200" dirty="0" err="1">
                <a:sym typeface="Wingdings 3" pitchFamily="18" charset="2"/>
              </a:rPr>
              <a:t>Vortest</a:t>
            </a:r>
            <a:r>
              <a:rPr lang="de-DE" sz="2200" dirty="0">
                <a:sym typeface="Wingdings 3" pitchFamily="18" charset="2"/>
              </a:rPr>
              <a:t>/ Nachbau und zur Stellungnahme</a:t>
            </a:r>
          </a:p>
          <a:p>
            <a:pPr marL="444500" indent="-444500" eaLnBrk="1" hangingPunct="1">
              <a:lnSpc>
                <a:spcPct val="90000"/>
              </a:lnSpc>
            </a:pPr>
            <a:r>
              <a:rPr lang="de-DE" sz="2200" dirty="0">
                <a:sym typeface="Wingdings 3" pitchFamily="18" charset="2"/>
              </a:rPr>
              <a:t>Anhand </a:t>
            </a:r>
            <a:r>
              <a:rPr lang="de-DE" sz="2200" dirty="0" err="1">
                <a:sym typeface="Wingdings 3" pitchFamily="18" charset="2"/>
              </a:rPr>
              <a:t>Stellungsnahme</a:t>
            </a:r>
            <a:r>
              <a:rPr lang="de-DE" sz="2200" dirty="0">
                <a:sym typeface="Wingdings 3" pitchFamily="18" charset="2"/>
              </a:rPr>
              <a:t> der Fachausschuss-Mitglieder bereiten PAL Vorlagen für die jeweils nächste Ausschusssitzung vor</a:t>
            </a:r>
          </a:p>
          <a:p>
            <a:pPr marL="444500" indent="-444500" eaLnBrk="1" hangingPunct="1">
              <a:lnSpc>
                <a:spcPct val="90000"/>
              </a:lnSpc>
            </a:pPr>
            <a:r>
              <a:rPr lang="de-DE" sz="2200" dirty="0">
                <a:sym typeface="Wingdings 3" pitchFamily="18" charset="2"/>
              </a:rPr>
              <a:t>Dort erfolgt dann die endgültige Verabschiedung der Aufgaben</a:t>
            </a:r>
          </a:p>
        </p:txBody>
      </p:sp>
    </p:spTree>
    <p:extLst>
      <p:ext uri="{BB962C8B-B14F-4D97-AF65-F5344CB8AC3E}">
        <p14:creationId xmlns:p14="http://schemas.microsoft.com/office/powerpoint/2010/main" val="2882724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11.6 Geschäftsfelder der PAL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8</a:t>
            </a:fld>
            <a:endParaRPr lang="de-DE"/>
          </a:p>
        </p:txBody>
      </p:sp>
      <p:graphicFrame>
        <p:nvGraphicFramePr>
          <p:cNvPr id="5" name="Group 34"/>
          <p:cNvGraphicFramePr>
            <a:graphicFrameLocks noGrp="1"/>
          </p:cNvGraphicFramePr>
          <p:nvPr>
            <p:ph sz="quarter" idx="1"/>
          </p:nvPr>
        </p:nvGraphicFramePr>
        <p:xfrm>
          <a:off x="704850" y="1600200"/>
          <a:ext cx="7467600" cy="5169382"/>
        </p:xfrm>
        <a:graphic>
          <a:graphicData uri="http://schemas.openxmlformats.org/drawingml/2006/table">
            <a:tbl>
              <a:tblPr/>
              <a:tblGrid>
                <a:gridCol w="373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68900"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Aufgabenentwicklung für 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Zwischen- und 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Abschlussprüfungen in 147 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Berufen/Fachrichtungen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Darunter: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Holz- und Bauberufe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Wirtschafts- und Sozialkunde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Bekleidungsberufe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Schlosserische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Berufe …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Aufgabensätze pro Jahr: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Ca. 144000 für Zwischenprüfungen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Ca. 266000 für Abschlussprüfungen</a:t>
                      </a:r>
                    </a:p>
                  </a:txBody>
                  <a:tcPr marL="78449" marR="78449"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Weiterentwicklung der 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Prüfungssystems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Aufgabenanalyse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Statistik der Prüfung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Entwicklung neuer Prüfungs-, Auswertungs- und Beratungsverfahren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Einsatz neuer Technologien bei Herstellung und Verwendung von Prüfungsaufgaben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Rationalisierung der Prüfungsabwicklung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Problemabwicklung</a:t>
                      </a:r>
                    </a:p>
                  </a:txBody>
                  <a:tcPr marL="78449" marR="78449"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417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11.7 Aufgaben der PAL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Herstellung optimierter, bundeseinheitlicher Aufgabensätze für Zwischen- und Abschlussprüfungen in industriell-technischen Ausbildungsberufen für die 81 </a:t>
            </a:r>
            <a:r>
              <a:rPr lang="de-DE" sz="2200" dirty="0" err="1">
                <a:sym typeface="Wingdings 3" pitchFamily="18" charset="2"/>
              </a:rPr>
              <a:t>IHK‘s</a:t>
            </a:r>
            <a:r>
              <a:rPr lang="de-DE" sz="2200" dirty="0">
                <a:sym typeface="Wingdings 3" pitchFamily="18" charset="2"/>
              </a:rPr>
              <a:t> Deutschlands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Entwicklung von Lehrmitteln und Informationsmaterial zu den industriell-technischen Zwischen- und Abschlussprüfungen</a:t>
            </a:r>
          </a:p>
          <a:p>
            <a:pPr marL="444500" indent="-444500" eaLnBrk="1" hangingPunct="1"/>
            <a:r>
              <a:rPr lang="de-DE" sz="2200" dirty="0" err="1">
                <a:sym typeface="Wingdings 3" pitchFamily="18" charset="2"/>
              </a:rPr>
              <a:t>Berücksichtiger</a:t>
            </a:r>
            <a:r>
              <a:rPr lang="de-DE" sz="2200" dirty="0">
                <a:sym typeface="Wingdings 3" pitchFamily="18" charset="2"/>
              </a:rPr>
              <a:t> wissenschaftlicher Erkenntnisse aus den Bereichen der Testtheorie und der Pädagogik sowie der Erfahrungen der Berufs- und Prüfungspraxis</a:t>
            </a:r>
          </a:p>
          <a:p>
            <a:pPr marL="444500" indent="-444500" eaLnBrk="1" hangingPunct="1"/>
            <a:r>
              <a:rPr lang="de-DE" sz="2200" dirty="0">
                <a:sym typeface="Wingdings 3" pitchFamily="18" charset="2"/>
              </a:rPr>
              <a:t>Öffentlichkeitsarbeit für industriell-technische Zwischen- und Abschlussprüfungen</a:t>
            </a:r>
          </a:p>
        </p:txBody>
      </p:sp>
    </p:spTree>
    <p:extLst>
      <p:ext uri="{BB962C8B-B14F-4D97-AF65-F5344CB8AC3E}">
        <p14:creationId xmlns:p14="http://schemas.microsoft.com/office/powerpoint/2010/main" val="3722432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11.8 Pro und Contra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10</a:t>
            </a:fld>
            <a:endParaRPr lang="de-DE"/>
          </a:p>
        </p:txBody>
      </p:sp>
      <p:graphicFrame>
        <p:nvGraphicFramePr>
          <p:cNvPr id="5" name="Group 46"/>
          <p:cNvGraphicFramePr>
            <a:graphicFrameLocks noGrp="1"/>
          </p:cNvGraphicFramePr>
          <p:nvPr>
            <p:ph sz="quarter" idx="1"/>
          </p:nvPr>
        </p:nvGraphicFramePr>
        <p:xfrm>
          <a:off x="704850" y="1600200"/>
          <a:ext cx="7467600" cy="4694244"/>
        </p:xfrm>
        <a:graphic>
          <a:graphicData uri="http://schemas.openxmlformats.org/drawingml/2006/table">
            <a:tbl>
              <a:tblPr/>
              <a:tblGrid>
                <a:gridCol w="373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2"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Betrieblicher Auftrag             vs.</a:t>
                      </a:r>
                    </a:p>
                  </a:txBody>
                  <a:tcPr marL="78449" marR="78449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PAL-Prüfung</a:t>
                      </a:r>
                    </a:p>
                  </a:txBody>
                  <a:tcPr marL="78449" marR="7844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2236"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Höhere Motivation aus Selbstständigkeit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Fachausbilder übernehmen Wahl der Prüfungsaufgabe (berufliche Relevanz wird sichergestellt)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Unternehmen profitiert möglicherweise wirtschaftlich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„Trainingslager“ vor der Prüfung schwer realisierbar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Möglicherweise subjektive Einflüsse auf die Prüfung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Kann unter Umständen kostengünstiger realisiert werden</a:t>
                      </a:r>
                    </a:p>
                  </a:txBody>
                  <a:tcPr marL="78449" marR="78449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Qualitätssicherung der Prüfung durch Standardisierung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Prüfung orientiert sich vornehmlich an Unternehmen der IHK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Bundeseinheitliche Prüfung (nicht nur betriebsintern) </a:t>
                      </a: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Wingdings 3" pitchFamily="18" charset="2"/>
                        </a:rPr>
                        <a:t> Prüfungsergebnisse sind vergleichbar (in der Allgemeinbildung schon lange gefordert  siehe PISA)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Wingdings 3" pitchFamily="18" charset="2"/>
                        </a:rPr>
                        <a:t>Es wurden an alle Prüflinge die gleichen Anforderungen gestellt</a:t>
                      </a:r>
                    </a:p>
                  </a:txBody>
                  <a:tcPr marL="78449" marR="7844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00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11.8 Pro und Contra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11</a:t>
            </a:fld>
            <a:endParaRPr lang="de-DE"/>
          </a:p>
        </p:txBody>
      </p:sp>
      <p:graphicFrame>
        <p:nvGraphicFramePr>
          <p:cNvPr id="6" name="Group 15"/>
          <p:cNvGraphicFramePr>
            <a:graphicFrameLocks noGrp="1"/>
          </p:cNvGraphicFramePr>
          <p:nvPr>
            <p:ph sz="quarter" idx="1"/>
          </p:nvPr>
        </p:nvGraphicFramePr>
        <p:xfrm>
          <a:off x="704850" y="1600200"/>
          <a:ext cx="7467600" cy="2819416"/>
        </p:xfrm>
        <a:graphic>
          <a:graphicData uri="http://schemas.openxmlformats.org/drawingml/2006/table">
            <a:tbl>
              <a:tblPr/>
              <a:tblGrid>
                <a:gridCol w="373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1986"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Betrieblicher Auftrag             vs.</a:t>
                      </a:r>
                    </a:p>
                  </a:txBody>
                  <a:tcPr marL="78449" marR="78449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PAL-Prüfung</a:t>
                      </a:r>
                    </a:p>
                  </a:txBody>
                  <a:tcPr marL="78449" marR="78449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14"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Ausbilder und Prüfer müssen bei dieser Form der Prüfung in der Lage sein, die gestellten Aufgaben fachlich einwandfrei auszuführen und zu bewerten</a:t>
                      </a:r>
                    </a:p>
                  </a:txBody>
                  <a:tcPr marL="78449" marR="78449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Tx/>
                        <a:buChar char="-"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Wingdings 3" pitchFamily="18" charset="2"/>
                        </a:rPr>
                        <a:t>Der programmierte Teil der PAL-Prüfungen wird vor dem Hintergrund der Zielstellung „Entwicklung einer beruflichen Handlungskompetenz“ häufig heftig kritisiert</a:t>
                      </a:r>
                    </a:p>
                  </a:txBody>
                  <a:tcPr marL="78449" marR="78449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7957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0" y="3124200"/>
            <a:ext cx="6172200" cy="18938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de-DE" sz="3600"/>
              <a:t>Vielen Dank für Ihre Aufmerksamkeit</a:t>
            </a:r>
            <a:endParaRPr lang="de-DE" sz="2400"/>
          </a:p>
        </p:txBody>
      </p:sp>
      <p:sp>
        <p:nvSpPr>
          <p:cNvPr id="155651" name="Rectangle 16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5003800"/>
            <a:ext cx="6172200" cy="13716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32491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reus">
  <a:themeElements>
    <a:clrScheme name="Okeanos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Nereus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Nereus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Nereus">
  <a:themeElements>
    <a:clrScheme name="Okeanos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Nereus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Nereus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keanos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Institutionen beruflicher Bildung</Template>
  <TotalTime>12</TotalTime>
  <Words>712</Words>
  <Application>Microsoft Macintosh PowerPoint</Application>
  <PresentationFormat>On-screen Show (4:3)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Calibri</vt:lpstr>
      <vt:lpstr>Century Schoolbook</vt:lpstr>
      <vt:lpstr>Tahoma</vt:lpstr>
      <vt:lpstr>Times New Roman</vt:lpstr>
      <vt:lpstr>Wingdings</vt:lpstr>
      <vt:lpstr>Wingdings 2</vt:lpstr>
      <vt:lpstr>Wingdings 3</vt:lpstr>
      <vt:lpstr>Nereus</vt:lpstr>
      <vt:lpstr>2_Nereus</vt:lpstr>
      <vt:lpstr>PowerPoint Presentation</vt:lpstr>
      <vt:lpstr>11.1 Entstehung und Zielsetzung der PAL</vt:lpstr>
      <vt:lpstr>11.1 Entstehung und Zielsetzung der PAL</vt:lpstr>
      <vt:lpstr>11.2 Gesetzlich vorgesehene Prüfungen</vt:lpstr>
      <vt:lpstr>11.3 Entwicklung der Aufgaben durch die PAL</vt:lpstr>
      <vt:lpstr>11.4 Hauptaufgaben der PAL-Fachausschüsse</vt:lpstr>
      <vt:lpstr>11.5 Organisation der Arbeit der PAL-Fachausschüsse</vt:lpstr>
      <vt:lpstr>11.6 Geschäftsfelder der PAL</vt:lpstr>
      <vt:lpstr>11.7 Aufgaben der PAL</vt:lpstr>
      <vt:lpstr>11.8 Pro und Contra </vt:lpstr>
      <vt:lpstr>11.8 Pro und Contra </vt:lpstr>
      <vt:lpstr>Vielen Dank für Ihre Aufmerksamkeit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</dc:title>
  <dc:creator>Frank Bünning</dc:creator>
  <cp:lastModifiedBy>Hannes Tegelbeckers</cp:lastModifiedBy>
  <cp:revision>280</cp:revision>
  <cp:lastPrinted>2002-03-21T12:12:44Z</cp:lastPrinted>
  <dcterms:created xsi:type="dcterms:W3CDTF">2002-02-22T17:42:09Z</dcterms:created>
  <dcterms:modified xsi:type="dcterms:W3CDTF">2026-09-22T19:52:39Z</dcterms:modified>
</cp:coreProperties>
</file>